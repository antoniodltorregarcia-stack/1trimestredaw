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2" r:id="rId5"/>
    <p:sldMasterId id="2147483674"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y="6858000" cx="12192000"/>
  <p:notesSz cx="7559675" cy="10691800"/>
  <p:embeddedFontLst>
    <p:embeddedFont>
      <p:font typeface="Roboto"/>
      <p:regular r:id="rId56"/>
      <p:bold r:id="rId57"/>
      <p:italic r:id="rId58"/>
      <p:boldItalic r:id="rId59"/>
    </p:embeddedFont>
    <p:embeddedFont>
      <p:font typeface="VT323"/>
      <p:regular r:id="rId60"/>
    </p:embeddedFont>
    <p:embeddedFont>
      <p:font typeface="Inter"/>
      <p:regular r:id="rId61"/>
      <p:bold r:id="rId62"/>
      <p:italic r:id="rId63"/>
      <p:boldItalic r:id="rId64"/>
    </p:embeddedFont>
    <p:embeddedFont>
      <p:font typeface="Lora"/>
      <p:regular r:id="rId65"/>
      <p:bold r:id="rId66"/>
      <p:italic r:id="rId67"/>
      <p:boldItalic r:id="rId68"/>
    </p:embeddedFont>
    <p:embeddedFont>
      <p:font typeface="Quattrocento Sans"/>
      <p:regular r:id="rId69"/>
      <p:bold r:id="rId70"/>
      <p:italic r:id="rId71"/>
      <p:boldItalic r:id="rId72"/>
    </p:embeddedFont>
    <p:embeddedFont>
      <p:font typeface="Roboto Mono"/>
      <p:regular r:id="rId73"/>
      <p:bold r:id="rId74"/>
      <p:italic r:id="rId75"/>
      <p:boldItalic r:id="rId7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7" roundtripDataSignature="AMtx7miU3fKRficueDBt+yII1mgTtfjOG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5E43AE6-D7B6-4260-96C7-2DE83A4C226C}">
  <a:tblStyle styleId="{D5E43AE6-D7B6-4260-96C7-2DE83A4C226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9548BDD8-A056-4A46-A58A-19B6B5B065C2}"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font" Target="fonts/RobotoMono-regular.fntdata"/><Relationship Id="rId72" Type="http://schemas.openxmlformats.org/officeDocument/2006/relationships/font" Target="fonts/QuattrocentoSans-boldItalic.fntdata"/><Relationship Id="rId31" Type="http://schemas.openxmlformats.org/officeDocument/2006/relationships/slide" Target="slides/slide24.xml"/><Relationship Id="rId75" Type="http://schemas.openxmlformats.org/officeDocument/2006/relationships/font" Target="fonts/RobotoMono-italic.fntdata"/><Relationship Id="rId30" Type="http://schemas.openxmlformats.org/officeDocument/2006/relationships/slide" Target="slides/slide23.xml"/><Relationship Id="rId74" Type="http://schemas.openxmlformats.org/officeDocument/2006/relationships/font" Target="fonts/RobotoMono-bold.fntdata"/><Relationship Id="rId33" Type="http://schemas.openxmlformats.org/officeDocument/2006/relationships/slide" Target="slides/slide26.xml"/><Relationship Id="rId77" Type="http://customschemas.google.com/relationships/presentationmetadata" Target="metadata"/><Relationship Id="rId32" Type="http://schemas.openxmlformats.org/officeDocument/2006/relationships/slide" Target="slides/slide25.xml"/><Relationship Id="rId76" Type="http://schemas.openxmlformats.org/officeDocument/2006/relationships/font" Target="fonts/RobotoMono-boldItalic.fntdata"/><Relationship Id="rId35" Type="http://schemas.openxmlformats.org/officeDocument/2006/relationships/slide" Target="slides/slide28.xml"/><Relationship Id="rId34" Type="http://schemas.openxmlformats.org/officeDocument/2006/relationships/slide" Target="slides/slide27.xml"/><Relationship Id="rId71" Type="http://schemas.openxmlformats.org/officeDocument/2006/relationships/font" Target="fonts/QuattrocentoSans-italic.fntdata"/><Relationship Id="rId70" Type="http://schemas.openxmlformats.org/officeDocument/2006/relationships/font" Target="fonts/QuattrocentoSans-bold.fntdata"/><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Inter-bold.fntdata"/><Relationship Id="rId61" Type="http://schemas.openxmlformats.org/officeDocument/2006/relationships/font" Target="fonts/Inter-regular.fntdata"/><Relationship Id="rId20" Type="http://schemas.openxmlformats.org/officeDocument/2006/relationships/slide" Target="slides/slide13.xml"/><Relationship Id="rId64" Type="http://schemas.openxmlformats.org/officeDocument/2006/relationships/font" Target="fonts/Inter-boldItalic.fntdata"/><Relationship Id="rId63" Type="http://schemas.openxmlformats.org/officeDocument/2006/relationships/font" Target="fonts/Inter-italic.fntdata"/><Relationship Id="rId22" Type="http://schemas.openxmlformats.org/officeDocument/2006/relationships/slide" Target="slides/slide15.xml"/><Relationship Id="rId66" Type="http://schemas.openxmlformats.org/officeDocument/2006/relationships/font" Target="fonts/Lora-bold.fntdata"/><Relationship Id="rId21" Type="http://schemas.openxmlformats.org/officeDocument/2006/relationships/slide" Target="slides/slide14.xml"/><Relationship Id="rId65" Type="http://schemas.openxmlformats.org/officeDocument/2006/relationships/font" Target="fonts/Lora-regular.fntdata"/><Relationship Id="rId24" Type="http://schemas.openxmlformats.org/officeDocument/2006/relationships/slide" Target="slides/slide17.xml"/><Relationship Id="rId68" Type="http://schemas.openxmlformats.org/officeDocument/2006/relationships/font" Target="fonts/Lora-boldItalic.fntdata"/><Relationship Id="rId23" Type="http://schemas.openxmlformats.org/officeDocument/2006/relationships/slide" Target="slides/slide16.xml"/><Relationship Id="rId67" Type="http://schemas.openxmlformats.org/officeDocument/2006/relationships/font" Target="fonts/Lora-italic.fntdata"/><Relationship Id="rId60" Type="http://schemas.openxmlformats.org/officeDocument/2006/relationships/font" Target="fonts/VT323-regular.fntdata"/><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font" Target="fonts/QuattrocentoSans-regular.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font" Target="fonts/Roboto-bold.fntdata"/><Relationship Id="rId12" Type="http://schemas.openxmlformats.org/officeDocument/2006/relationships/slide" Target="slides/slide5.xml"/><Relationship Id="rId56" Type="http://schemas.openxmlformats.org/officeDocument/2006/relationships/font" Target="fonts/Roboto-regular.fntdata"/><Relationship Id="rId15" Type="http://schemas.openxmlformats.org/officeDocument/2006/relationships/slide" Target="slides/slide8.xml"/><Relationship Id="rId59" Type="http://schemas.openxmlformats.org/officeDocument/2006/relationships/font" Target="fonts/Roboto-boldItalic.fntdata"/><Relationship Id="rId14" Type="http://schemas.openxmlformats.org/officeDocument/2006/relationships/slide" Target="slides/slide7.xml"/><Relationship Id="rId58" Type="http://schemas.openxmlformats.org/officeDocument/2006/relationships/font" Target="fonts/Roboto-italic.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s.wikipedia.org/wiki/Crimpadora" TargetMode="External"/><Relationship Id="rId3" Type="http://schemas.openxmlformats.org/officeDocument/2006/relationships/hyperlink" Target="https://www.redeszone.net/tutoriales/redes-cable/crimpar-cortar-cables-red-herramientas" TargetMode="External"/><Relationship Id="rId4" Type="http://schemas.openxmlformats.org/officeDocument/2006/relationships/hyperlink" Target="https://netpro.com.ar/producto/ht-314" TargetMode="Externa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dte.us.es/personal/benjumea/restricted/practicas/Cable-RJ45/cable14.html" TargetMode="External"/><Relationship Id="rId3" Type="http://schemas.openxmlformats.org/officeDocument/2006/relationships/hyperlink" Target="https://www.dte.us.es/personal/benjumea/restricted/practicas/Cable-RJ45/cable14.html" TargetMode="External"/><Relationship Id="rId4" Type="http://schemas.openxmlformats.org/officeDocument/2006/relationships/hyperlink" Target="https://es.wikipedia.org/wiki/RJ-45"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3: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3: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h3173d30833cc6355_44_0: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235" name="Google Shape;235;h3173d30833cc6355_44_0: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h8ed05d8588e31ed_24_3: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246" name="Google Shape;246;h8ed05d8588e31ed_24_3: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4: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4: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h8ed05d8588e31ed_3_0: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h8ed05d8588e31ed_3_0: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h8ed05d8588e31ed_3_22: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h8ed05d8588e31ed_3_22: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h8ed05d8588e31ed_3_44: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h8ed05d8588e31ed_3_44: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h3173d30833cc6355_44_8: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
        <p:nvSpPr>
          <p:cNvPr id="307" name="Google Shape;307;h3173d30833cc6355_44_8: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h8ed05d8588e31ed_4_182:notes"/>
          <p:cNvSpPr txBox="1"/>
          <p:nvPr>
            <p:ph idx="1" type="body"/>
          </p:nvPr>
        </p:nvSpPr>
        <p:spPr>
          <a:xfrm>
            <a:off x="755968" y="5078605"/>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h8ed05d8588e31ed_4_182:notes"/>
          <p:cNvSpPr/>
          <p:nvPr>
            <p:ph idx="2" type="sldImg"/>
          </p:nvPr>
        </p:nvSpPr>
        <p:spPr>
          <a:xfrm>
            <a:off x="1260194" y="80188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h8ed05d8588e31ed_4_215:notes"/>
          <p:cNvSpPr txBox="1"/>
          <p:nvPr>
            <p:ph idx="1" type="body"/>
          </p:nvPr>
        </p:nvSpPr>
        <p:spPr>
          <a:xfrm>
            <a:off x="755968" y="5078605"/>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h8ed05d8588e31ed_4_215:notes"/>
          <p:cNvSpPr/>
          <p:nvPr>
            <p:ph idx="2" type="sldImg"/>
          </p:nvPr>
        </p:nvSpPr>
        <p:spPr>
          <a:xfrm>
            <a:off x="420313" y="801885"/>
            <a:ext cx="67197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h8ed05d8588e31ed_4_267:notes"/>
          <p:cNvSpPr txBox="1"/>
          <p:nvPr>
            <p:ph idx="1" type="body"/>
          </p:nvPr>
        </p:nvSpPr>
        <p:spPr>
          <a:xfrm>
            <a:off x="755968" y="5078605"/>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h8ed05d8588e31ed_4_267:notes"/>
          <p:cNvSpPr/>
          <p:nvPr>
            <p:ph idx="2" type="sldImg"/>
          </p:nvPr>
        </p:nvSpPr>
        <p:spPr>
          <a:xfrm>
            <a:off x="1260194" y="80188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6: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6: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h3173d30833cc6355_14_0: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h3173d30833cc6355_14_0: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h3173d30833cc6355_14_283: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h3173d30833cc6355_14_283: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7: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7: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h3173d30833cc6355_23_0: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h3173d30833cc6355_23_0: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8: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8: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h56bf6ea97996a94a_1_8: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h56bf6ea97996a94a_1_8: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9: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9: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h3173d30833cc6355_8_15: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h3173d30833cc6355_8_15: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h3173d30833cc6355_27_4: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h3173d30833cc6355_27_4: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10: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0: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h3173d30833cc6355_27_22: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h3173d30833cc6355_27_22: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h17fcd86a78420194_0_3: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h17fcd86a78420194_0_3: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h3173d30833cc6355_15_81:notes"/>
          <p:cNvSpPr/>
          <p:nvPr>
            <p:ph idx="2" type="sldImg"/>
          </p:nvPr>
        </p:nvSpPr>
        <p:spPr>
          <a:xfrm>
            <a:off x="755968" y="1002356"/>
            <a:ext cx="6047700" cy="270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6" name="Google Shape;706;h3173d30833cc6355_15_81:notes"/>
          <p:cNvSpPr txBox="1"/>
          <p:nvPr>
            <p:ph idx="1" type="body"/>
          </p:nvPr>
        </p:nvSpPr>
        <p:spPr>
          <a:xfrm>
            <a:off x="755968" y="3859072"/>
            <a:ext cx="6047700" cy="3157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7" name="Google Shape;707;h3173d30833cc6355_15_81:notes"/>
          <p:cNvSpPr txBox="1"/>
          <p:nvPr>
            <p:ph idx="12" type="sldNum"/>
          </p:nvPr>
        </p:nvSpPr>
        <p:spPr>
          <a:xfrm>
            <a:off x="4282066" y="7616516"/>
            <a:ext cx="3276000" cy="4023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p12: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12: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h3173d30833cc6355_10_5: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h3173d30833cc6355_10_5: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13: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13: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h3173d30833cc6355_0_21: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h3173d30833cc6355_0_21: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h3173d30833cc6355_42_0: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h3173d30833cc6355_42_0: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p15: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15: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16: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16: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h3173d30833cc6355_37_0: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h3173d30833cc6355_37_0: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p17: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17: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h3173d30833cc6355_3_3: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h3173d30833cc6355_3_3: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h3173d30833cc6355_26_33: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h3173d30833cc6355_26_33: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p18: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18: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h3173d30833cc6355_13_57: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h3173d30833cc6355_13_57: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h3173d30833cc6355_13_101: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h3173d30833cc6355_13_101: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p19: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19: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h3173d30833cc6355_6_29: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h3173d30833cc6355_6_29: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h3173d30833cc6355_6_77: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h3173d30833cc6355_6_77: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 name="Shape 1070"/>
        <p:cNvGrpSpPr/>
        <p:nvPr/>
      </p:nvGrpSpPr>
      <p:grpSpPr>
        <a:xfrm>
          <a:off x="0" y="0"/>
          <a:ext cx="0" cy="0"/>
          <a:chOff x="0" y="0"/>
          <a:chExt cx="0" cy="0"/>
        </a:xfrm>
      </p:grpSpPr>
      <p:sp>
        <p:nvSpPr>
          <p:cNvPr id="1071" name="Google Shape;1071;h3173d30833cc6355_26_3: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h3173d30833cc6355_26_3: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h3173d30833cc6355_39_11: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h3173d30833cc6355_39_11: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h3173d30833cc6355_30_98:notes"/>
          <p:cNvSpPr/>
          <p:nvPr>
            <p:ph idx="2" type="sldImg"/>
          </p:nvPr>
        </p:nvSpPr>
        <p:spPr>
          <a:xfrm>
            <a:off x="-44" y="0"/>
            <a:ext cx="3306900" cy="3306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0" name="Google Shape;1100;h3173d30833cc6355_30_98:notes"/>
          <p:cNvSpPr txBox="1"/>
          <p:nvPr>
            <p:ph idx="1" type="body"/>
          </p:nvPr>
        </p:nvSpPr>
        <p:spPr>
          <a:xfrm>
            <a:off x="0" y="0"/>
            <a:ext cx="3306900" cy="3507900"/>
          </a:xfrm>
          <a:prstGeom prst="rect">
            <a:avLst/>
          </a:prstGeom>
          <a:noFill/>
          <a:ln>
            <a:noFill/>
          </a:ln>
        </p:spPr>
        <p:txBody>
          <a:bodyPr anchorCtr="0" anchor="t" bIns="51400" lIns="102825" spcFirstLastPara="1" rIns="102825" wrap="square" tIns="51400">
            <a:noAutofit/>
          </a:bodyPr>
          <a:lstStyle/>
          <a:p>
            <a:pPr indent="-330200" lvl="0" marL="508000" rtl="0" algn="l">
              <a:lnSpc>
                <a:spcPct val="100000"/>
              </a:lnSpc>
              <a:spcBef>
                <a:spcPts val="0"/>
              </a:spcBef>
              <a:spcAft>
                <a:spcPts val="0"/>
              </a:spcAft>
              <a:buSzPts val="1200"/>
              <a:buChar char="●"/>
            </a:pPr>
            <a:r>
              <a:rPr lang="en-US" sz="1200" u="sng">
                <a:solidFill>
                  <a:schemeClr val="hlink"/>
                </a:solidFill>
                <a:hlinkClick r:id="rId2"/>
              </a:rPr>
              <a:t>Crimpadora</a:t>
            </a:r>
            <a:r>
              <a:rPr lang="en-US" sz="1200"/>
              <a:t>: </a:t>
            </a:r>
            <a:r>
              <a:rPr lang="en-US" sz="1200" u="sng">
                <a:solidFill>
                  <a:schemeClr val="hlink"/>
                </a:solidFill>
                <a:hlinkClick r:id="rId3"/>
              </a:rPr>
              <a:t>https://www.redeszone.net/tutoriales/redes-cable/crimpar-cortar-cables-red-herramientas</a:t>
            </a:r>
            <a:endParaRPr sz="1200"/>
          </a:p>
          <a:p>
            <a:pPr indent="-330200" lvl="0" marL="508000" rtl="0" algn="l">
              <a:lnSpc>
                <a:spcPct val="100000"/>
              </a:lnSpc>
              <a:spcBef>
                <a:spcPts val="0"/>
              </a:spcBef>
              <a:spcAft>
                <a:spcPts val="0"/>
              </a:spcAft>
              <a:buSzPts val="1200"/>
              <a:buChar char="●"/>
            </a:pPr>
            <a:r>
              <a:rPr lang="en-US" sz="1200" u="sng">
                <a:solidFill>
                  <a:schemeClr val="hlink"/>
                </a:solidFill>
                <a:hlinkClick r:id="rId4"/>
              </a:rPr>
              <a:t>Impactadora</a:t>
            </a:r>
            <a:endParaRPr/>
          </a:p>
        </p:txBody>
      </p:sp>
      <p:sp>
        <p:nvSpPr>
          <p:cNvPr id="1101" name="Google Shape;1101;h3173d30833cc6355_30_98:notes"/>
          <p:cNvSpPr txBox="1"/>
          <p:nvPr>
            <p:ph idx="12" type="sldNum"/>
          </p:nvPr>
        </p:nvSpPr>
        <p:spPr>
          <a:xfrm>
            <a:off x="0" y="0"/>
            <a:ext cx="3306900" cy="3507900"/>
          </a:xfrm>
          <a:prstGeom prst="rect">
            <a:avLst/>
          </a:prstGeom>
          <a:noFill/>
          <a:ln>
            <a:noFill/>
          </a:ln>
        </p:spPr>
        <p:txBody>
          <a:bodyPr anchorCtr="0" anchor="ctr" bIns="102825" lIns="102825" spcFirstLastPara="1" rIns="102825" wrap="square" tIns="1028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h3173d30833cc6355_30_203:notes"/>
          <p:cNvSpPr/>
          <p:nvPr>
            <p:ph idx="2" type="sldImg"/>
          </p:nvPr>
        </p:nvSpPr>
        <p:spPr>
          <a:xfrm>
            <a:off x="-44" y="0"/>
            <a:ext cx="3306900" cy="3306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1" name="Google Shape;1121;h3173d30833cc6355_30_203:notes"/>
          <p:cNvSpPr txBox="1"/>
          <p:nvPr>
            <p:ph idx="1" type="body"/>
          </p:nvPr>
        </p:nvSpPr>
        <p:spPr>
          <a:xfrm>
            <a:off x="0" y="0"/>
            <a:ext cx="3306900" cy="3507900"/>
          </a:xfrm>
          <a:prstGeom prst="rect">
            <a:avLst/>
          </a:prstGeom>
          <a:noFill/>
          <a:ln>
            <a:noFill/>
          </a:ln>
        </p:spPr>
        <p:txBody>
          <a:bodyPr anchorCtr="0" anchor="t" bIns="51400" lIns="102825" spcFirstLastPara="1" rIns="102825" wrap="square" tIns="51400">
            <a:noAutofit/>
          </a:bodyPr>
          <a:lstStyle/>
          <a:p>
            <a:pPr indent="-330200" lvl="0" marL="508000" rtl="0" algn="l">
              <a:lnSpc>
                <a:spcPct val="100000"/>
              </a:lnSpc>
              <a:spcBef>
                <a:spcPts val="0"/>
              </a:spcBef>
              <a:spcAft>
                <a:spcPts val="0"/>
              </a:spcAft>
              <a:buSzPts val="1200"/>
              <a:buChar char="●"/>
            </a:pPr>
            <a:r>
              <a:rPr lang="en-US" sz="1200"/>
              <a:t>T568A/T568B, directo y cruzado: https://es.wikipedia.org/wiki/RJ-45 y </a:t>
            </a:r>
            <a:r>
              <a:rPr lang="en-US" sz="1200"/>
              <a:t>https://es.wikipedia.org/wiki/TIA-568</a:t>
            </a:r>
            <a:endParaRPr/>
          </a:p>
          <a:p>
            <a:pPr indent="-330200" lvl="0" marL="508000" rtl="0" algn="l">
              <a:lnSpc>
                <a:spcPct val="100000"/>
              </a:lnSpc>
              <a:spcBef>
                <a:spcPts val="0"/>
              </a:spcBef>
              <a:spcAft>
                <a:spcPts val="0"/>
              </a:spcAft>
              <a:buSzPts val="1200"/>
              <a:buChar char="●"/>
            </a:pPr>
            <a:r>
              <a:rPr lang="en-US" sz="1200" u="sng">
                <a:solidFill>
                  <a:schemeClr val="hlink"/>
                </a:solidFill>
                <a:hlinkClick r:id="rId2"/>
              </a:rPr>
              <a:t>Página de interés </a:t>
            </a:r>
            <a:r>
              <a:rPr lang="en-US" sz="1200" u="sng">
                <a:solidFill>
                  <a:schemeClr val="hlink"/>
                </a:solidFill>
                <a:hlinkClick r:id="rId3"/>
              </a:rPr>
              <a:t>visual</a:t>
            </a:r>
            <a:endParaRPr/>
          </a:p>
          <a:p>
            <a:pPr indent="-330200" lvl="0" marL="508000" rtl="0" algn="l">
              <a:lnSpc>
                <a:spcPct val="100000"/>
              </a:lnSpc>
              <a:spcBef>
                <a:spcPts val="0"/>
              </a:spcBef>
              <a:spcAft>
                <a:spcPts val="0"/>
              </a:spcAft>
              <a:buSzPts val="1200"/>
              <a:buChar char="●"/>
            </a:pPr>
            <a:r>
              <a:rPr lang="en-US" sz="1200"/>
              <a:t>Comprobador y fallos: https://manualspro.net/421299-labgear-76616pi-network-cable-kit-user-manual</a:t>
            </a:r>
            <a:endParaRPr/>
          </a:p>
          <a:p>
            <a:pPr indent="-330200" lvl="0" marL="508000" rtl="0" algn="l">
              <a:lnSpc>
                <a:spcPct val="100000"/>
              </a:lnSpc>
              <a:spcBef>
                <a:spcPts val="0"/>
              </a:spcBef>
              <a:spcAft>
                <a:spcPts val="0"/>
              </a:spcAft>
              <a:buSzPts val="1200"/>
              <a:buChar char="●"/>
            </a:pPr>
            <a:r>
              <a:rPr lang="en-US" sz="1200" u="sng">
                <a:solidFill>
                  <a:schemeClr val="hlink"/>
                </a:solidFill>
                <a:hlinkClick r:id="rId4"/>
              </a:rPr>
              <a:t>Imágenes</a:t>
            </a:r>
            <a:endParaRPr/>
          </a:p>
        </p:txBody>
      </p:sp>
      <p:sp>
        <p:nvSpPr>
          <p:cNvPr id="1122" name="Google Shape;1122;h3173d30833cc6355_30_203:notes"/>
          <p:cNvSpPr txBox="1"/>
          <p:nvPr>
            <p:ph idx="12" type="sldNum"/>
          </p:nvPr>
        </p:nvSpPr>
        <p:spPr>
          <a:xfrm>
            <a:off x="0" y="0"/>
            <a:ext cx="3306900" cy="3507900"/>
          </a:xfrm>
          <a:prstGeom prst="rect">
            <a:avLst/>
          </a:prstGeom>
          <a:noFill/>
          <a:ln>
            <a:noFill/>
          </a:ln>
        </p:spPr>
        <p:txBody>
          <a:bodyPr anchorCtr="0" anchor="ctr" bIns="102825" lIns="102825" spcFirstLastPara="1" rIns="102825" wrap="square" tIns="1028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2" name="Shape 12"/>
        <p:cNvGrpSpPr/>
        <p:nvPr/>
      </p:nvGrpSpPr>
      <p:grpSpPr>
        <a:xfrm>
          <a:off x="0" y="0"/>
          <a:ext cx="0" cy="0"/>
          <a:chOff x="0" y="0"/>
          <a:chExt cx="0" cy="0"/>
        </a:xfrm>
      </p:grpSpPr>
      <p:sp>
        <p:nvSpPr>
          <p:cNvPr id="13" name="Google Shape;13;p23"/>
          <p:cNvSpPr txBox="1"/>
          <p:nvPr>
            <p:ph type="title"/>
          </p:nvPr>
        </p:nvSpPr>
        <p:spPr>
          <a:xfrm>
            <a:off x="609480" y="273600"/>
            <a:ext cx="1097208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3"/>
          <p:cNvSpPr txBox="1"/>
          <p:nvPr>
            <p:ph idx="1" type="subTitle"/>
          </p:nvPr>
        </p:nvSpPr>
        <p:spPr>
          <a:xfrm>
            <a:off x="609480" y="1604520"/>
            <a:ext cx="10972080" cy="3977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5" name="Shape 15"/>
        <p:cNvGrpSpPr/>
        <p:nvPr/>
      </p:nvGrpSpPr>
      <p:grpSpPr>
        <a:xfrm>
          <a:off x="0" y="0"/>
          <a:ext cx="0" cy="0"/>
          <a:chOff x="0" y="0"/>
          <a:chExt cx="0" cy="0"/>
        </a:xfrm>
      </p:grpSpPr>
      <p:sp>
        <p:nvSpPr>
          <p:cNvPr id="16" name="Google Shape;16;p24"/>
          <p:cNvSpPr txBox="1"/>
          <p:nvPr>
            <p:ph type="title"/>
          </p:nvPr>
        </p:nvSpPr>
        <p:spPr>
          <a:xfrm>
            <a:off x="609480" y="273600"/>
            <a:ext cx="1097208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4"/>
          <p:cNvSpPr txBox="1"/>
          <p:nvPr>
            <p:ph idx="1" type="body"/>
          </p:nvPr>
        </p:nvSpPr>
        <p:spPr>
          <a:xfrm>
            <a:off x="609480" y="1604520"/>
            <a:ext cx="1097208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8" name="Shape 18"/>
        <p:cNvGrpSpPr/>
        <p:nvPr/>
      </p:nvGrpSpPr>
      <p:grpSpPr>
        <a:xfrm>
          <a:off x="0" y="0"/>
          <a:ext cx="0" cy="0"/>
          <a:chOff x="0" y="0"/>
          <a:chExt cx="0" cy="0"/>
        </a:xfrm>
      </p:grpSpPr>
      <p:sp>
        <p:nvSpPr>
          <p:cNvPr id="19" name="Google Shape;19;p25"/>
          <p:cNvSpPr txBox="1"/>
          <p:nvPr>
            <p:ph type="title"/>
          </p:nvPr>
        </p:nvSpPr>
        <p:spPr>
          <a:xfrm>
            <a:off x="609480" y="273600"/>
            <a:ext cx="1097208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5"/>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 name="Google Shape;21;p25"/>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 name="Shape 22"/>
        <p:cNvGrpSpPr/>
        <p:nvPr/>
      </p:nvGrpSpPr>
      <p:grpSpPr>
        <a:xfrm>
          <a:off x="0" y="0"/>
          <a:ext cx="0" cy="0"/>
          <a:chOff x="0" y="0"/>
          <a:chExt cx="0" cy="0"/>
        </a:xfrm>
      </p:grpSpPr>
      <p:sp>
        <p:nvSpPr>
          <p:cNvPr id="23" name="Google Shape;23;p26"/>
          <p:cNvSpPr txBox="1"/>
          <p:nvPr>
            <p:ph type="title"/>
          </p:nvPr>
        </p:nvSpPr>
        <p:spPr>
          <a:xfrm>
            <a:off x="609480" y="273600"/>
            <a:ext cx="1097208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4" name="Shape 24"/>
        <p:cNvGrpSpPr/>
        <p:nvPr/>
      </p:nvGrpSpPr>
      <p:grpSpPr>
        <a:xfrm>
          <a:off x="0" y="0"/>
          <a:ext cx="0" cy="0"/>
          <a:chOff x="0" y="0"/>
          <a:chExt cx="0" cy="0"/>
        </a:xfrm>
      </p:grpSpPr>
      <p:sp>
        <p:nvSpPr>
          <p:cNvPr id="25" name="Google Shape;25;p27"/>
          <p:cNvSpPr txBox="1"/>
          <p:nvPr>
            <p:ph idx="1" type="subTitle"/>
          </p:nvPr>
        </p:nvSpPr>
        <p:spPr>
          <a:xfrm>
            <a:off x="609480" y="273600"/>
            <a:ext cx="10972080" cy="53078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6" name="Shape 26"/>
        <p:cNvGrpSpPr/>
        <p:nvPr/>
      </p:nvGrpSpPr>
      <p:grpSpPr>
        <a:xfrm>
          <a:off x="0" y="0"/>
          <a:ext cx="0" cy="0"/>
          <a:chOff x="0" y="0"/>
          <a:chExt cx="0" cy="0"/>
        </a:xfrm>
      </p:grpSpPr>
      <p:sp>
        <p:nvSpPr>
          <p:cNvPr id="27" name="Google Shape;27;p28"/>
          <p:cNvSpPr txBox="1"/>
          <p:nvPr>
            <p:ph type="title"/>
          </p:nvPr>
        </p:nvSpPr>
        <p:spPr>
          <a:xfrm>
            <a:off x="609480" y="273600"/>
            <a:ext cx="1097208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8"/>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9" name="Google Shape;29;p28"/>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 name="Google Shape;30;p28"/>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1" name="Shape 31"/>
        <p:cNvGrpSpPr/>
        <p:nvPr/>
      </p:nvGrpSpPr>
      <p:grpSpPr>
        <a:xfrm>
          <a:off x="0" y="0"/>
          <a:ext cx="0" cy="0"/>
          <a:chOff x="0" y="0"/>
          <a:chExt cx="0" cy="0"/>
        </a:xfrm>
      </p:grpSpPr>
      <p:sp>
        <p:nvSpPr>
          <p:cNvPr id="32" name="Google Shape;32;p29"/>
          <p:cNvSpPr txBox="1"/>
          <p:nvPr>
            <p:ph type="title"/>
          </p:nvPr>
        </p:nvSpPr>
        <p:spPr>
          <a:xfrm>
            <a:off x="609480" y="273600"/>
            <a:ext cx="1097208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9"/>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 name="Google Shape;34;p29"/>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 name="Google Shape;35;p29"/>
          <p:cNvSpPr txBox="1"/>
          <p:nvPr>
            <p:ph idx="3"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6" name="Shape 36"/>
        <p:cNvGrpSpPr/>
        <p:nvPr/>
      </p:nvGrpSpPr>
      <p:grpSpPr>
        <a:xfrm>
          <a:off x="0" y="0"/>
          <a:ext cx="0" cy="0"/>
          <a:chOff x="0" y="0"/>
          <a:chExt cx="0" cy="0"/>
        </a:xfrm>
      </p:grpSpPr>
      <p:sp>
        <p:nvSpPr>
          <p:cNvPr id="37" name="Google Shape;37;p30"/>
          <p:cNvSpPr txBox="1"/>
          <p:nvPr>
            <p:ph type="title"/>
          </p:nvPr>
        </p:nvSpPr>
        <p:spPr>
          <a:xfrm>
            <a:off x="609480" y="273600"/>
            <a:ext cx="1097208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0"/>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9" name="Google Shape;39;p30"/>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0" name="Google Shape;40;p30"/>
          <p:cNvSpPr txBox="1"/>
          <p:nvPr>
            <p:ph idx="3" type="body"/>
          </p:nvPr>
        </p:nvSpPr>
        <p:spPr>
          <a:xfrm>
            <a:off x="609480" y="3682080"/>
            <a:ext cx="109720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1" name="Shape 41"/>
        <p:cNvGrpSpPr/>
        <p:nvPr/>
      </p:nvGrpSpPr>
      <p:grpSpPr>
        <a:xfrm>
          <a:off x="0" y="0"/>
          <a:ext cx="0" cy="0"/>
          <a:chOff x="0" y="0"/>
          <a:chExt cx="0" cy="0"/>
        </a:xfrm>
      </p:grpSpPr>
      <p:sp>
        <p:nvSpPr>
          <p:cNvPr id="42" name="Google Shape;42;p31"/>
          <p:cNvSpPr txBox="1"/>
          <p:nvPr>
            <p:ph type="title"/>
          </p:nvPr>
        </p:nvSpPr>
        <p:spPr>
          <a:xfrm>
            <a:off x="609480" y="273600"/>
            <a:ext cx="1097208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1"/>
          <p:cNvSpPr txBox="1"/>
          <p:nvPr>
            <p:ph idx="1" type="body"/>
          </p:nvPr>
        </p:nvSpPr>
        <p:spPr>
          <a:xfrm>
            <a:off x="609480" y="1604520"/>
            <a:ext cx="109720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4" name="Google Shape;44;p31"/>
          <p:cNvSpPr txBox="1"/>
          <p:nvPr>
            <p:ph idx="2" type="body"/>
          </p:nvPr>
        </p:nvSpPr>
        <p:spPr>
          <a:xfrm>
            <a:off x="609480" y="3682080"/>
            <a:ext cx="109720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5" name="Shape 45"/>
        <p:cNvGrpSpPr/>
        <p:nvPr/>
      </p:nvGrpSpPr>
      <p:grpSpPr>
        <a:xfrm>
          <a:off x="0" y="0"/>
          <a:ext cx="0" cy="0"/>
          <a:chOff x="0" y="0"/>
          <a:chExt cx="0" cy="0"/>
        </a:xfrm>
      </p:grpSpPr>
      <p:sp>
        <p:nvSpPr>
          <p:cNvPr id="46" name="Google Shape;46;p32"/>
          <p:cNvSpPr txBox="1"/>
          <p:nvPr>
            <p:ph type="title"/>
          </p:nvPr>
        </p:nvSpPr>
        <p:spPr>
          <a:xfrm>
            <a:off x="609480" y="273600"/>
            <a:ext cx="1097208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2"/>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8" name="Google Shape;48;p32"/>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9" name="Google Shape;49;p32"/>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0" name="Google Shape;50;p32"/>
          <p:cNvSpPr txBox="1"/>
          <p:nvPr>
            <p:ph idx="4"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1" name="Shape 51"/>
        <p:cNvGrpSpPr/>
        <p:nvPr/>
      </p:nvGrpSpPr>
      <p:grpSpPr>
        <a:xfrm>
          <a:off x="0" y="0"/>
          <a:ext cx="0" cy="0"/>
          <a:chOff x="0" y="0"/>
          <a:chExt cx="0" cy="0"/>
        </a:xfrm>
      </p:grpSpPr>
      <p:sp>
        <p:nvSpPr>
          <p:cNvPr id="52" name="Google Shape;52;p33"/>
          <p:cNvSpPr txBox="1"/>
          <p:nvPr>
            <p:ph type="title"/>
          </p:nvPr>
        </p:nvSpPr>
        <p:spPr>
          <a:xfrm>
            <a:off x="609480" y="273600"/>
            <a:ext cx="1097208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3"/>
          <p:cNvSpPr txBox="1"/>
          <p:nvPr>
            <p:ph idx="1" type="body"/>
          </p:nvPr>
        </p:nvSpPr>
        <p:spPr>
          <a:xfrm>
            <a:off x="609480" y="1604520"/>
            <a:ext cx="35326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4" name="Google Shape;54;p33"/>
          <p:cNvSpPr txBox="1"/>
          <p:nvPr>
            <p:ph idx="2" type="body"/>
          </p:nvPr>
        </p:nvSpPr>
        <p:spPr>
          <a:xfrm>
            <a:off x="4319280" y="1604520"/>
            <a:ext cx="35326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5" name="Google Shape;55;p33"/>
          <p:cNvSpPr txBox="1"/>
          <p:nvPr>
            <p:ph idx="3" type="body"/>
          </p:nvPr>
        </p:nvSpPr>
        <p:spPr>
          <a:xfrm>
            <a:off x="8028720" y="1604520"/>
            <a:ext cx="35326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6" name="Google Shape;56;p33"/>
          <p:cNvSpPr txBox="1"/>
          <p:nvPr>
            <p:ph idx="4" type="body"/>
          </p:nvPr>
        </p:nvSpPr>
        <p:spPr>
          <a:xfrm>
            <a:off x="609480" y="3682080"/>
            <a:ext cx="35326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7" name="Google Shape;57;p33"/>
          <p:cNvSpPr txBox="1"/>
          <p:nvPr>
            <p:ph idx="5" type="body"/>
          </p:nvPr>
        </p:nvSpPr>
        <p:spPr>
          <a:xfrm>
            <a:off x="4319280" y="3682080"/>
            <a:ext cx="35326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8" name="Google Shape;58;p33"/>
          <p:cNvSpPr txBox="1"/>
          <p:nvPr>
            <p:ph idx="6" type="body"/>
          </p:nvPr>
        </p:nvSpPr>
        <p:spPr>
          <a:xfrm>
            <a:off x="8028720" y="3682080"/>
            <a:ext cx="35326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9" name="Shape 59"/>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h3173d30833cc6355_30_127"/>
          <p:cNvSpPr txBox="1"/>
          <p:nvPr>
            <p:ph idx="10" type="dt"/>
          </p:nvPr>
        </p:nvSpPr>
        <p:spPr>
          <a:xfrm>
            <a:off x="457212"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h3173d30833cc6355_30_127"/>
          <p:cNvSpPr txBox="1"/>
          <p:nvPr>
            <p:ph idx="11" type="ftr"/>
          </p:nvPr>
        </p:nvSpPr>
        <p:spPr>
          <a:xfrm>
            <a:off x="3124283"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h3173d30833cc6355_30_127"/>
          <p:cNvSpPr txBox="1"/>
          <p:nvPr>
            <p:ph idx="12" type="sldNum"/>
          </p:nvPr>
        </p:nvSpPr>
        <p:spPr>
          <a:xfrm>
            <a:off x="6553375"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0" name="Shape 70"/>
        <p:cNvGrpSpPr/>
        <p:nvPr/>
      </p:nvGrpSpPr>
      <p:grpSpPr>
        <a:xfrm>
          <a:off x="0" y="0"/>
          <a:ext cx="0" cy="0"/>
          <a:chOff x="0" y="0"/>
          <a:chExt cx="0" cy="0"/>
        </a:xfrm>
      </p:grpSpPr>
      <p:sp>
        <p:nvSpPr>
          <p:cNvPr id="71" name="Google Shape;71;h3173d30833cc6355_30_131"/>
          <p:cNvSpPr txBox="1"/>
          <p:nvPr>
            <p:ph type="ctrTitle"/>
          </p:nvPr>
        </p:nvSpPr>
        <p:spPr>
          <a:xfrm>
            <a:off x="685818" y="2130425"/>
            <a:ext cx="7772700" cy="1470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h3173d30833cc6355_30_131"/>
          <p:cNvSpPr txBox="1"/>
          <p:nvPr>
            <p:ph idx="1" type="subTitle"/>
          </p:nvPr>
        </p:nvSpPr>
        <p:spPr>
          <a:xfrm>
            <a:off x="1371637" y="3886200"/>
            <a:ext cx="64011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73" name="Google Shape;73;h3173d30833cc6355_30_131"/>
          <p:cNvSpPr txBox="1"/>
          <p:nvPr>
            <p:ph idx="10" type="dt"/>
          </p:nvPr>
        </p:nvSpPr>
        <p:spPr>
          <a:xfrm>
            <a:off x="457212"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h3173d30833cc6355_30_131"/>
          <p:cNvSpPr txBox="1"/>
          <p:nvPr>
            <p:ph idx="11" type="ftr"/>
          </p:nvPr>
        </p:nvSpPr>
        <p:spPr>
          <a:xfrm>
            <a:off x="3124283"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h3173d30833cc6355_30_131"/>
          <p:cNvSpPr txBox="1"/>
          <p:nvPr>
            <p:ph idx="12" type="sldNum"/>
          </p:nvPr>
        </p:nvSpPr>
        <p:spPr>
          <a:xfrm>
            <a:off x="6553375"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6" name="Shape 76"/>
        <p:cNvGrpSpPr/>
        <p:nvPr/>
      </p:nvGrpSpPr>
      <p:grpSpPr>
        <a:xfrm>
          <a:off x="0" y="0"/>
          <a:ext cx="0" cy="0"/>
          <a:chOff x="0" y="0"/>
          <a:chExt cx="0" cy="0"/>
        </a:xfrm>
      </p:grpSpPr>
      <p:sp>
        <p:nvSpPr>
          <p:cNvPr id="77" name="Google Shape;77;h3173d30833cc6355_30_137"/>
          <p:cNvSpPr txBox="1"/>
          <p:nvPr>
            <p:ph type="title"/>
          </p:nvPr>
        </p:nvSpPr>
        <p:spPr>
          <a:xfrm>
            <a:off x="457212" y="274638"/>
            <a:ext cx="82299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h3173d30833cc6355_30_137"/>
          <p:cNvSpPr txBox="1"/>
          <p:nvPr>
            <p:ph idx="1" type="body"/>
          </p:nvPr>
        </p:nvSpPr>
        <p:spPr>
          <a:xfrm>
            <a:off x="457212" y="1600200"/>
            <a:ext cx="8229900" cy="45261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9" name="Google Shape;79;h3173d30833cc6355_30_137"/>
          <p:cNvSpPr txBox="1"/>
          <p:nvPr>
            <p:ph idx="10" type="dt"/>
          </p:nvPr>
        </p:nvSpPr>
        <p:spPr>
          <a:xfrm>
            <a:off x="457212"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h3173d30833cc6355_30_137"/>
          <p:cNvSpPr txBox="1"/>
          <p:nvPr>
            <p:ph idx="11" type="ftr"/>
          </p:nvPr>
        </p:nvSpPr>
        <p:spPr>
          <a:xfrm>
            <a:off x="3124283"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h3173d30833cc6355_30_137"/>
          <p:cNvSpPr txBox="1"/>
          <p:nvPr>
            <p:ph idx="12" type="sldNum"/>
          </p:nvPr>
        </p:nvSpPr>
        <p:spPr>
          <a:xfrm>
            <a:off x="6553375"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2" name="Shape 82"/>
        <p:cNvGrpSpPr/>
        <p:nvPr/>
      </p:nvGrpSpPr>
      <p:grpSpPr>
        <a:xfrm>
          <a:off x="0" y="0"/>
          <a:ext cx="0" cy="0"/>
          <a:chOff x="0" y="0"/>
          <a:chExt cx="0" cy="0"/>
        </a:xfrm>
      </p:grpSpPr>
      <p:sp>
        <p:nvSpPr>
          <p:cNvPr id="83" name="Google Shape;83;h3173d30833cc6355_30_143"/>
          <p:cNvSpPr txBox="1"/>
          <p:nvPr>
            <p:ph type="title"/>
          </p:nvPr>
        </p:nvSpPr>
        <p:spPr>
          <a:xfrm>
            <a:off x="722332" y="4406900"/>
            <a:ext cx="7772700" cy="13620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h3173d30833cc6355_30_143"/>
          <p:cNvSpPr txBox="1"/>
          <p:nvPr>
            <p:ph idx="1" type="body"/>
          </p:nvPr>
        </p:nvSpPr>
        <p:spPr>
          <a:xfrm>
            <a:off x="722332" y="2906713"/>
            <a:ext cx="7772700" cy="15003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85" name="Google Shape;85;h3173d30833cc6355_30_143"/>
          <p:cNvSpPr txBox="1"/>
          <p:nvPr>
            <p:ph idx="10" type="dt"/>
          </p:nvPr>
        </p:nvSpPr>
        <p:spPr>
          <a:xfrm>
            <a:off x="457212"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h3173d30833cc6355_30_143"/>
          <p:cNvSpPr txBox="1"/>
          <p:nvPr>
            <p:ph idx="11" type="ftr"/>
          </p:nvPr>
        </p:nvSpPr>
        <p:spPr>
          <a:xfrm>
            <a:off x="3124283"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h3173d30833cc6355_30_143"/>
          <p:cNvSpPr txBox="1"/>
          <p:nvPr>
            <p:ph idx="12" type="sldNum"/>
          </p:nvPr>
        </p:nvSpPr>
        <p:spPr>
          <a:xfrm>
            <a:off x="6553375"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8" name="Shape 88"/>
        <p:cNvGrpSpPr/>
        <p:nvPr/>
      </p:nvGrpSpPr>
      <p:grpSpPr>
        <a:xfrm>
          <a:off x="0" y="0"/>
          <a:ext cx="0" cy="0"/>
          <a:chOff x="0" y="0"/>
          <a:chExt cx="0" cy="0"/>
        </a:xfrm>
      </p:grpSpPr>
      <p:sp>
        <p:nvSpPr>
          <p:cNvPr id="89" name="Google Shape;89;h3173d30833cc6355_30_149"/>
          <p:cNvSpPr txBox="1"/>
          <p:nvPr>
            <p:ph type="title"/>
          </p:nvPr>
        </p:nvSpPr>
        <p:spPr>
          <a:xfrm>
            <a:off x="457212" y="274638"/>
            <a:ext cx="82299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h3173d30833cc6355_30_149"/>
          <p:cNvSpPr txBox="1"/>
          <p:nvPr>
            <p:ph idx="1" type="body"/>
          </p:nvPr>
        </p:nvSpPr>
        <p:spPr>
          <a:xfrm>
            <a:off x="457212"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91" name="Google Shape;91;h3173d30833cc6355_30_149"/>
          <p:cNvSpPr txBox="1"/>
          <p:nvPr>
            <p:ph idx="2" type="body"/>
          </p:nvPr>
        </p:nvSpPr>
        <p:spPr>
          <a:xfrm>
            <a:off x="4648324"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92" name="Google Shape;92;h3173d30833cc6355_30_149"/>
          <p:cNvSpPr txBox="1"/>
          <p:nvPr>
            <p:ph idx="10" type="dt"/>
          </p:nvPr>
        </p:nvSpPr>
        <p:spPr>
          <a:xfrm>
            <a:off x="457212"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h3173d30833cc6355_30_149"/>
          <p:cNvSpPr txBox="1"/>
          <p:nvPr>
            <p:ph idx="11" type="ftr"/>
          </p:nvPr>
        </p:nvSpPr>
        <p:spPr>
          <a:xfrm>
            <a:off x="3124283"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h3173d30833cc6355_30_149"/>
          <p:cNvSpPr txBox="1"/>
          <p:nvPr>
            <p:ph idx="12" type="sldNum"/>
          </p:nvPr>
        </p:nvSpPr>
        <p:spPr>
          <a:xfrm>
            <a:off x="6553375"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5" name="Shape 95"/>
        <p:cNvGrpSpPr/>
        <p:nvPr/>
      </p:nvGrpSpPr>
      <p:grpSpPr>
        <a:xfrm>
          <a:off x="0" y="0"/>
          <a:ext cx="0" cy="0"/>
          <a:chOff x="0" y="0"/>
          <a:chExt cx="0" cy="0"/>
        </a:xfrm>
      </p:grpSpPr>
      <p:sp>
        <p:nvSpPr>
          <p:cNvPr id="96" name="Google Shape;96;h3173d30833cc6355_30_156"/>
          <p:cNvSpPr txBox="1"/>
          <p:nvPr>
            <p:ph type="title"/>
          </p:nvPr>
        </p:nvSpPr>
        <p:spPr>
          <a:xfrm>
            <a:off x="457212" y="274638"/>
            <a:ext cx="82299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h3173d30833cc6355_30_156"/>
          <p:cNvSpPr txBox="1"/>
          <p:nvPr>
            <p:ph idx="1" type="body"/>
          </p:nvPr>
        </p:nvSpPr>
        <p:spPr>
          <a:xfrm>
            <a:off x="457212" y="1535113"/>
            <a:ext cx="40401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98" name="Google Shape;98;h3173d30833cc6355_30_156"/>
          <p:cNvSpPr txBox="1"/>
          <p:nvPr>
            <p:ph idx="2" type="body"/>
          </p:nvPr>
        </p:nvSpPr>
        <p:spPr>
          <a:xfrm>
            <a:off x="457212" y="2174875"/>
            <a:ext cx="40401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99" name="Google Shape;99;h3173d30833cc6355_30_156"/>
          <p:cNvSpPr txBox="1"/>
          <p:nvPr>
            <p:ph idx="3" type="body"/>
          </p:nvPr>
        </p:nvSpPr>
        <p:spPr>
          <a:xfrm>
            <a:off x="4645149" y="1535113"/>
            <a:ext cx="40419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00" name="Google Shape;100;h3173d30833cc6355_30_156"/>
          <p:cNvSpPr txBox="1"/>
          <p:nvPr>
            <p:ph idx="4" type="body"/>
          </p:nvPr>
        </p:nvSpPr>
        <p:spPr>
          <a:xfrm>
            <a:off x="4645149" y="2174875"/>
            <a:ext cx="40419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01" name="Google Shape;101;h3173d30833cc6355_30_156"/>
          <p:cNvSpPr txBox="1"/>
          <p:nvPr>
            <p:ph idx="10" type="dt"/>
          </p:nvPr>
        </p:nvSpPr>
        <p:spPr>
          <a:xfrm>
            <a:off x="457212"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h3173d30833cc6355_30_156"/>
          <p:cNvSpPr txBox="1"/>
          <p:nvPr>
            <p:ph idx="11" type="ftr"/>
          </p:nvPr>
        </p:nvSpPr>
        <p:spPr>
          <a:xfrm>
            <a:off x="3124283"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h3173d30833cc6355_30_156"/>
          <p:cNvSpPr txBox="1"/>
          <p:nvPr>
            <p:ph idx="12" type="sldNum"/>
          </p:nvPr>
        </p:nvSpPr>
        <p:spPr>
          <a:xfrm>
            <a:off x="6553375"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4" name="Shape 104"/>
        <p:cNvGrpSpPr/>
        <p:nvPr/>
      </p:nvGrpSpPr>
      <p:grpSpPr>
        <a:xfrm>
          <a:off x="0" y="0"/>
          <a:ext cx="0" cy="0"/>
          <a:chOff x="0" y="0"/>
          <a:chExt cx="0" cy="0"/>
        </a:xfrm>
      </p:grpSpPr>
      <p:sp>
        <p:nvSpPr>
          <p:cNvPr id="105" name="Google Shape;105;h3173d30833cc6355_30_165"/>
          <p:cNvSpPr txBox="1"/>
          <p:nvPr>
            <p:ph type="title"/>
          </p:nvPr>
        </p:nvSpPr>
        <p:spPr>
          <a:xfrm>
            <a:off x="457212" y="274638"/>
            <a:ext cx="82299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h3173d30833cc6355_30_165"/>
          <p:cNvSpPr txBox="1"/>
          <p:nvPr>
            <p:ph idx="10" type="dt"/>
          </p:nvPr>
        </p:nvSpPr>
        <p:spPr>
          <a:xfrm>
            <a:off x="457212"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h3173d30833cc6355_30_165"/>
          <p:cNvSpPr txBox="1"/>
          <p:nvPr>
            <p:ph idx="11" type="ftr"/>
          </p:nvPr>
        </p:nvSpPr>
        <p:spPr>
          <a:xfrm>
            <a:off x="3124283"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h3173d30833cc6355_30_165"/>
          <p:cNvSpPr txBox="1"/>
          <p:nvPr>
            <p:ph idx="12" type="sldNum"/>
          </p:nvPr>
        </p:nvSpPr>
        <p:spPr>
          <a:xfrm>
            <a:off x="6553375"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9" name="Shape 109"/>
        <p:cNvGrpSpPr/>
        <p:nvPr/>
      </p:nvGrpSpPr>
      <p:grpSpPr>
        <a:xfrm>
          <a:off x="0" y="0"/>
          <a:ext cx="0" cy="0"/>
          <a:chOff x="0" y="0"/>
          <a:chExt cx="0" cy="0"/>
        </a:xfrm>
      </p:grpSpPr>
      <p:sp>
        <p:nvSpPr>
          <p:cNvPr id="110" name="Google Shape;110;h3173d30833cc6355_30_170"/>
          <p:cNvSpPr txBox="1"/>
          <p:nvPr>
            <p:ph type="title"/>
          </p:nvPr>
        </p:nvSpPr>
        <p:spPr>
          <a:xfrm>
            <a:off x="457212" y="273050"/>
            <a:ext cx="3008400" cy="1162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h3173d30833cc6355_30_170"/>
          <p:cNvSpPr txBox="1"/>
          <p:nvPr>
            <p:ph idx="1" type="body"/>
          </p:nvPr>
        </p:nvSpPr>
        <p:spPr>
          <a:xfrm>
            <a:off x="3575145" y="273050"/>
            <a:ext cx="5111700" cy="58530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12" name="Google Shape;112;h3173d30833cc6355_30_170"/>
          <p:cNvSpPr txBox="1"/>
          <p:nvPr>
            <p:ph idx="2" type="body"/>
          </p:nvPr>
        </p:nvSpPr>
        <p:spPr>
          <a:xfrm>
            <a:off x="457212" y="1435100"/>
            <a:ext cx="3008400" cy="4691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13" name="Google Shape;113;h3173d30833cc6355_30_170"/>
          <p:cNvSpPr txBox="1"/>
          <p:nvPr>
            <p:ph idx="10" type="dt"/>
          </p:nvPr>
        </p:nvSpPr>
        <p:spPr>
          <a:xfrm>
            <a:off x="457212"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h3173d30833cc6355_30_170"/>
          <p:cNvSpPr txBox="1"/>
          <p:nvPr>
            <p:ph idx="11" type="ftr"/>
          </p:nvPr>
        </p:nvSpPr>
        <p:spPr>
          <a:xfrm>
            <a:off x="3124283"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h3173d30833cc6355_30_170"/>
          <p:cNvSpPr txBox="1"/>
          <p:nvPr>
            <p:ph idx="12" type="sldNum"/>
          </p:nvPr>
        </p:nvSpPr>
        <p:spPr>
          <a:xfrm>
            <a:off x="6553375"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6" name="Shape 116"/>
        <p:cNvGrpSpPr/>
        <p:nvPr/>
      </p:nvGrpSpPr>
      <p:grpSpPr>
        <a:xfrm>
          <a:off x="0" y="0"/>
          <a:ext cx="0" cy="0"/>
          <a:chOff x="0" y="0"/>
          <a:chExt cx="0" cy="0"/>
        </a:xfrm>
      </p:grpSpPr>
      <p:sp>
        <p:nvSpPr>
          <p:cNvPr id="117" name="Google Shape;117;h3173d30833cc6355_30_177"/>
          <p:cNvSpPr txBox="1"/>
          <p:nvPr>
            <p:ph type="title"/>
          </p:nvPr>
        </p:nvSpPr>
        <p:spPr>
          <a:xfrm>
            <a:off x="1792336" y="4800600"/>
            <a:ext cx="5486400" cy="5667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h3173d30833cc6355_30_177"/>
          <p:cNvSpPr/>
          <p:nvPr>
            <p:ph idx="2" type="pic"/>
          </p:nvPr>
        </p:nvSpPr>
        <p:spPr>
          <a:xfrm>
            <a:off x="1792336" y="612775"/>
            <a:ext cx="5486400" cy="4114800"/>
          </a:xfrm>
          <a:prstGeom prst="rect">
            <a:avLst/>
          </a:prstGeom>
          <a:noFill/>
          <a:ln>
            <a:noFill/>
          </a:ln>
        </p:spPr>
      </p:sp>
      <p:sp>
        <p:nvSpPr>
          <p:cNvPr id="119" name="Google Shape;119;h3173d30833cc6355_30_177"/>
          <p:cNvSpPr txBox="1"/>
          <p:nvPr>
            <p:ph idx="1" type="body"/>
          </p:nvPr>
        </p:nvSpPr>
        <p:spPr>
          <a:xfrm>
            <a:off x="1792336" y="5367338"/>
            <a:ext cx="5486400" cy="804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20" name="Google Shape;120;h3173d30833cc6355_30_177"/>
          <p:cNvSpPr txBox="1"/>
          <p:nvPr>
            <p:ph idx="10" type="dt"/>
          </p:nvPr>
        </p:nvSpPr>
        <p:spPr>
          <a:xfrm>
            <a:off x="457212"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h3173d30833cc6355_30_177"/>
          <p:cNvSpPr txBox="1"/>
          <p:nvPr>
            <p:ph idx="11" type="ftr"/>
          </p:nvPr>
        </p:nvSpPr>
        <p:spPr>
          <a:xfrm>
            <a:off x="3124283"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h3173d30833cc6355_30_177"/>
          <p:cNvSpPr txBox="1"/>
          <p:nvPr>
            <p:ph idx="12" type="sldNum"/>
          </p:nvPr>
        </p:nvSpPr>
        <p:spPr>
          <a:xfrm>
            <a:off x="6553375"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3" name="Shape 123"/>
        <p:cNvGrpSpPr/>
        <p:nvPr/>
      </p:nvGrpSpPr>
      <p:grpSpPr>
        <a:xfrm>
          <a:off x="0" y="0"/>
          <a:ext cx="0" cy="0"/>
          <a:chOff x="0" y="0"/>
          <a:chExt cx="0" cy="0"/>
        </a:xfrm>
      </p:grpSpPr>
      <p:sp>
        <p:nvSpPr>
          <p:cNvPr id="124" name="Google Shape;124;h3173d30833cc6355_30_184"/>
          <p:cNvSpPr txBox="1"/>
          <p:nvPr>
            <p:ph type="title"/>
          </p:nvPr>
        </p:nvSpPr>
        <p:spPr>
          <a:xfrm>
            <a:off x="457212" y="274638"/>
            <a:ext cx="82299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h3173d30833cc6355_30_184"/>
          <p:cNvSpPr txBox="1"/>
          <p:nvPr>
            <p:ph idx="1" type="body"/>
          </p:nvPr>
        </p:nvSpPr>
        <p:spPr>
          <a:xfrm rot="5400000">
            <a:off x="2309032" y="-251700"/>
            <a:ext cx="4526100" cy="82299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6" name="Google Shape;126;h3173d30833cc6355_30_184"/>
          <p:cNvSpPr txBox="1"/>
          <p:nvPr>
            <p:ph idx="10" type="dt"/>
          </p:nvPr>
        </p:nvSpPr>
        <p:spPr>
          <a:xfrm>
            <a:off x="457212"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h3173d30833cc6355_30_184"/>
          <p:cNvSpPr txBox="1"/>
          <p:nvPr>
            <p:ph idx="11" type="ftr"/>
          </p:nvPr>
        </p:nvSpPr>
        <p:spPr>
          <a:xfrm>
            <a:off x="3124283"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h3173d30833cc6355_30_184"/>
          <p:cNvSpPr txBox="1"/>
          <p:nvPr>
            <p:ph idx="12" type="sldNum"/>
          </p:nvPr>
        </p:nvSpPr>
        <p:spPr>
          <a:xfrm>
            <a:off x="6553375"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9" name="Shape 129"/>
        <p:cNvGrpSpPr/>
        <p:nvPr/>
      </p:nvGrpSpPr>
      <p:grpSpPr>
        <a:xfrm>
          <a:off x="0" y="0"/>
          <a:ext cx="0" cy="0"/>
          <a:chOff x="0" y="0"/>
          <a:chExt cx="0" cy="0"/>
        </a:xfrm>
      </p:grpSpPr>
      <p:sp>
        <p:nvSpPr>
          <p:cNvPr id="130" name="Google Shape;130;h3173d30833cc6355_30_190"/>
          <p:cNvSpPr txBox="1"/>
          <p:nvPr>
            <p:ph type="title"/>
          </p:nvPr>
        </p:nvSpPr>
        <p:spPr>
          <a:xfrm rot="5400000">
            <a:off x="4732582" y="2171689"/>
            <a:ext cx="5851500"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h3173d30833cc6355_30_190"/>
          <p:cNvSpPr txBox="1"/>
          <p:nvPr>
            <p:ph idx="1" type="body"/>
          </p:nvPr>
        </p:nvSpPr>
        <p:spPr>
          <a:xfrm rot="5400000">
            <a:off x="541373" y="190338"/>
            <a:ext cx="5851500" cy="60201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2" name="Google Shape;132;h3173d30833cc6355_30_190"/>
          <p:cNvSpPr txBox="1"/>
          <p:nvPr>
            <p:ph idx="10" type="dt"/>
          </p:nvPr>
        </p:nvSpPr>
        <p:spPr>
          <a:xfrm>
            <a:off x="457212"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h3173d30833cc6355_30_190"/>
          <p:cNvSpPr txBox="1"/>
          <p:nvPr>
            <p:ph idx="11" type="ftr"/>
          </p:nvPr>
        </p:nvSpPr>
        <p:spPr>
          <a:xfrm>
            <a:off x="3124283"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h3173d30833cc6355_30_190"/>
          <p:cNvSpPr txBox="1"/>
          <p:nvPr>
            <p:ph idx="12" type="sldNum"/>
          </p:nvPr>
        </p:nvSpPr>
        <p:spPr>
          <a:xfrm>
            <a:off x="6553375"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9" name="Shape 139"/>
        <p:cNvGrpSpPr/>
        <p:nvPr/>
      </p:nvGrpSpPr>
      <p:grpSpPr>
        <a:xfrm>
          <a:off x="0" y="0"/>
          <a:ext cx="0" cy="0"/>
          <a:chOff x="0" y="0"/>
          <a:chExt cx="0" cy="0"/>
        </a:xfrm>
      </p:grpSpPr>
      <p:sp>
        <p:nvSpPr>
          <p:cNvPr id="140" name="Google Shape;140;h8ed05d8588e31ed_4_323"/>
          <p:cNvSpPr txBox="1"/>
          <p:nvPr>
            <p:ph type="ctrTitle"/>
          </p:nvPr>
        </p:nvSpPr>
        <p:spPr>
          <a:xfrm>
            <a:off x="415611" y="992767"/>
            <a:ext cx="11360700" cy="27369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p:txBody>
      </p:sp>
      <p:sp>
        <p:nvSpPr>
          <p:cNvPr id="141" name="Google Shape;141;h8ed05d8588e31ed_4_323"/>
          <p:cNvSpPr txBox="1"/>
          <p:nvPr>
            <p:ph idx="1" type="subTitle"/>
          </p:nvPr>
        </p:nvSpPr>
        <p:spPr>
          <a:xfrm>
            <a:off x="415600" y="3778833"/>
            <a:ext cx="11360700" cy="10569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42" name="Google Shape;142;h8ed05d8588e31ed_4_323"/>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3" name="Shape 143"/>
        <p:cNvGrpSpPr/>
        <p:nvPr/>
      </p:nvGrpSpPr>
      <p:grpSpPr>
        <a:xfrm>
          <a:off x="0" y="0"/>
          <a:ext cx="0" cy="0"/>
          <a:chOff x="0" y="0"/>
          <a:chExt cx="0" cy="0"/>
        </a:xfrm>
      </p:grpSpPr>
      <p:sp>
        <p:nvSpPr>
          <p:cNvPr id="144" name="Google Shape;144;h8ed05d8588e31ed_4_327"/>
          <p:cNvSpPr txBox="1"/>
          <p:nvPr>
            <p:ph type="title"/>
          </p:nvPr>
        </p:nvSpPr>
        <p:spPr>
          <a:xfrm>
            <a:off x="415600" y="2867800"/>
            <a:ext cx="11360700" cy="1122300"/>
          </a:xfrm>
          <a:prstGeom prst="rect">
            <a:avLst/>
          </a:prstGeom>
        </p:spPr>
        <p:txBody>
          <a:bodyPr anchorCtr="0" anchor="ctr" bIns="121900" lIns="121900" spcFirstLastPara="1" rIns="121900" wrap="square" tIns="12190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45" name="Google Shape;145;h8ed05d8588e31ed_4_32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6" name="Shape 146"/>
        <p:cNvGrpSpPr/>
        <p:nvPr/>
      </p:nvGrpSpPr>
      <p:grpSpPr>
        <a:xfrm>
          <a:off x="0" y="0"/>
          <a:ext cx="0" cy="0"/>
          <a:chOff x="0" y="0"/>
          <a:chExt cx="0" cy="0"/>
        </a:xfrm>
      </p:grpSpPr>
      <p:sp>
        <p:nvSpPr>
          <p:cNvPr id="147" name="Google Shape;147;h8ed05d8588e31ed_4_330"/>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48" name="Google Shape;148;h8ed05d8588e31ed_4_330"/>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149" name="Google Shape;149;h8ed05d8588e31ed_4_330"/>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50" name="Shape 150"/>
        <p:cNvGrpSpPr/>
        <p:nvPr/>
      </p:nvGrpSpPr>
      <p:grpSpPr>
        <a:xfrm>
          <a:off x="0" y="0"/>
          <a:ext cx="0" cy="0"/>
          <a:chOff x="0" y="0"/>
          <a:chExt cx="0" cy="0"/>
        </a:xfrm>
      </p:grpSpPr>
      <p:sp>
        <p:nvSpPr>
          <p:cNvPr id="151" name="Google Shape;151;h8ed05d8588e31ed_4_334"/>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52" name="Google Shape;152;h8ed05d8588e31ed_4_334"/>
          <p:cNvSpPr txBox="1"/>
          <p:nvPr>
            <p:ph idx="1" type="body"/>
          </p:nvPr>
        </p:nvSpPr>
        <p:spPr>
          <a:xfrm>
            <a:off x="4156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153" name="Google Shape;153;h8ed05d8588e31ed_4_334"/>
          <p:cNvSpPr txBox="1"/>
          <p:nvPr>
            <p:ph idx="2" type="body"/>
          </p:nvPr>
        </p:nvSpPr>
        <p:spPr>
          <a:xfrm>
            <a:off x="64432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154" name="Google Shape;154;h8ed05d8588e31ed_4_33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5" name="Shape 155"/>
        <p:cNvGrpSpPr/>
        <p:nvPr/>
      </p:nvGrpSpPr>
      <p:grpSpPr>
        <a:xfrm>
          <a:off x="0" y="0"/>
          <a:ext cx="0" cy="0"/>
          <a:chOff x="0" y="0"/>
          <a:chExt cx="0" cy="0"/>
        </a:xfrm>
      </p:grpSpPr>
      <p:sp>
        <p:nvSpPr>
          <p:cNvPr id="156" name="Google Shape;156;h8ed05d8588e31ed_4_339"/>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57" name="Google Shape;157;h8ed05d8588e31ed_4_339"/>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58" name="Shape 158"/>
        <p:cNvGrpSpPr/>
        <p:nvPr/>
      </p:nvGrpSpPr>
      <p:grpSpPr>
        <a:xfrm>
          <a:off x="0" y="0"/>
          <a:ext cx="0" cy="0"/>
          <a:chOff x="0" y="0"/>
          <a:chExt cx="0" cy="0"/>
        </a:xfrm>
      </p:grpSpPr>
      <p:sp>
        <p:nvSpPr>
          <p:cNvPr id="159" name="Google Shape;159;h8ed05d8588e31ed_4_342"/>
          <p:cNvSpPr txBox="1"/>
          <p:nvPr>
            <p:ph type="title"/>
          </p:nvPr>
        </p:nvSpPr>
        <p:spPr>
          <a:xfrm>
            <a:off x="415600" y="740800"/>
            <a:ext cx="3744000" cy="1007700"/>
          </a:xfrm>
          <a:prstGeom prst="rect">
            <a:avLst/>
          </a:prstGeom>
        </p:spPr>
        <p:txBody>
          <a:bodyPr anchorCtr="0" anchor="b"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160" name="Google Shape;160;h8ed05d8588e31ed_4_342"/>
          <p:cNvSpPr txBox="1"/>
          <p:nvPr>
            <p:ph idx="1" type="body"/>
          </p:nvPr>
        </p:nvSpPr>
        <p:spPr>
          <a:xfrm>
            <a:off x="415600" y="1852800"/>
            <a:ext cx="3744000" cy="42393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161" name="Google Shape;161;h8ed05d8588e31ed_4_34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62" name="Shape 162"/>
        <p:cNvGrpSpPr/>
        <p:nvPr/>
      </p:nvGrpSpPr>
      <p:grpSpPr>
        <a:xfrm>
          <a:off x="0" y="0"/>
          <a:ext cx="0" cy="0"/>
          <a:chOff x="0" y="0"/>
          <a:chExt cx="0" cy="0"/>
        </a:xfrm>
      </p:grpSpPr>
      <p:sp>
        <p:nvSpPr>
          <p:cNvPr id="163" name="Google Shape;163;h8ed05d8588e31ed_4_346"/>
          <p:cNvSpPr txBox="1"/>
          <p:nvPr>
            <p:ph type="title"/>
          </p:nvPr>
        </p:nvSpPr>
        <p:spPr>
          <a:xfrm>
            <a:off x="653667" y="600200"/>
            <a:ext cx="8490300" cy="5454300"/>
          </a:xfrm>
          <a:prstGeom prst="rect">
            <a:avLst/>
          </a:prstGeom>
        </p:spPr>
        <p:txBody>
          <a:bodyPr anchorCtr="0" anchor="ctr" bIns="121900" lIns="121900" spcFirstLastPara="1" rIns="121900" wrap="square" tIns="12190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
        <p:nvSpPr>
          <p:cNvPr id="164" name="Google Shape;164;h8ed05d8588e31ed_4_346"/>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65" name="Shape 165"/>
        <p:cNvGrpSpPr/>
        <p:nvPr/>
      </p:nvGrpSpPr>
      <p:grpSpPr>
        <a:xfrm>
          <a:off x="0" y="0"/>
          <a:ext cx="0" cy="0"/>
          <a:chOff x="0" y="0"/>
          <a:chExt cx="0" cy="0"/>
        </a:xfrm>
      </p:grpSpPr>
      <p:sp>
        <p:nvSpPr>
          <p:cNvPr id="166" name="Google Shape;166;h8ed05d8588e31ed_4_349"/>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7" name="Google Shape;167;h8ed05d8588e31ed_4_349"/>
          <p:cNvSpPr txBox="1"/>
          <p:nvPr>
            <p:ph type="title"/>
          </p:nvPr>
        </p:nvSpPr>
        <p:spPr>
          <a:xfrm>
            <a:off x="354000" y="1644233"/>
            <a:ext cx="5393700" cy="19764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168" name="Google Shape;168;h8ed05d8588e31ed_4_349"/>
          <p:cNvSpPr txBox="1"/>
          <p:nvPr>
            <p:ph idx="1" type="subTitle"/>
          </p:nvPr>
        </p:nvSpPr>
        <p:spPr>
          <a:xfrm>
            <a:off x="354000" y="3737433"/>
            <a:ext cx="5393700" cy="16467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9" name="Google Shape;169;h8ed05d8588e31ed_4_349"/>
          <p:cNvSpPr txBox="1"/>
          <p:nvPr>
            <p:ph idx="2" type="body"/>
          </p:nvPr>
        </p:nvSpPr>
        <p:spPr>
          <a:xfrm>
            <a:off x="6586000" y="965433"/>
            <a:ext cx="5115900" cy="4926900"/>
          </a:xfrm>
          <a:prstGeom prst="rect">
            <a:avLst/>
          </a:prstGeom>
        </p:spPr>
        <p:txBody>
          <a:bodyPr anchorCtr="0" anchor="ctr"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170" name="Google Shape;170;h8ed05d8588e31ed_4_349"/>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71" name="Shape 171"/>
        <p:cNvGrpSpPr/>
        <p:nvPr/>
      </p:nvGrpSpPr>
      <p:grpSpPr>
        <a:xfrm>
          <a:off x="0" y="0"/>
          <a:ext cx="0" cy="0"/>
          <a:chOff x="0" y="0"/>
          <a:chExt cx="0" cy="0"/>
        </a:xfrm>
      </p:grpSpPr>
      <p:sp>
        <p:nvSpPr>
          <p:cNvPr id="172" name="Google Shape;172;h8ed05d8588e31ed_4_355"/>
          <p:cNvSpPr txBox="1"/>
          <p:nvPr>
            <p:ph idx="1" type="body"/>
          </p:nvPr>
        </p:nvSpPr>
        <p:spPr>
          <a:xfrm>
            <a:off x="415600" y="5640767"/>
            <a:ext cx="7998300" cy="8067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SzPts val="2400"/>
              <a:buNone/>
              <a:defRPr/>
            </a:lvl1pPr>
          </a:lstStyle>
          <a:p/>
        </p:txBody>
      </p:sp>
      <p:sp>
        <p:nvSpPr>
          <p:cNvPr id="173" name="Google Shape;173;h8ed05d8588e31ed_4_35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74" name="Shape 174"/>
        <p:cNvGrpSpPr/>
        <p:nvPr/>
      </p:nvGrpSpPr>
      <p:grpSpPr>
        <a:xfrm>
          <a:off x="0" y="0"/>
          <a:ext cx="0" cy="0"/>
          <a:chOff x="0" y="0"/>
          <a:chExt cx="0" cy="0"/>
        </a:xfrm>
      </p:grpSpPr>
      <p:sp>
        <p:nvSpPr>
          <p:cNvPr id="175" name="Google Shape;175;h8ed05d8588e31ed_4_358"/>
          <p:cNvSpPr txBox="1"/>
          <p:nvPr>
            <p:ph hasCustomPrompt="1" type="title"/>
          </p:nvPr>
        </p:nvSpPr>
        <p:spPr>
          <a:xfrm>
            <a:off x="415600" y="1474833"/>
            <a:ext cx="11360700" cy="26181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176" name="Google Shape;176;h8ed05d8588e31ed_4_358"/>
          <p:cNvSpPr txBox="1"/>
          <p:nvPr>
            <p:ph idx="1" type="body"/>
          </p:nvPr>
        </p:nvSpPr>
        <p:spPr>
          <a:xfrm>
            <a:off x="415600" y="4202967"/>
            <a:ext cx="11360700" cy="1734300"/>
          </a:xfrm>
          <a:prstGeom prst="rect">
            <a:avLst/>
          </a:prstGeom>
        </p:spPr>
        <p:txBody>
          <a:bodyPr anchorCtr="0" anchor="t" bIns="121900" lIns="121900" spcFirstLastPara="1" rIns="121900" wrap="square" tIns="121900">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177" name="Google Shape;177;h8ed05d8588e31ed_4_35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8" name="Shape 178"/>
        <p:cNvGrpSpPr/>
        <p:nvPr/>
      </p:nvGrpSpPr>
      <p:grpSpPr>
        <a:xfrm>
          <a:off x="0" y="0"/>
          <a:ext cx="0" cy="0"/>
          <a:chOff x="0" y="0"/>
          <a:chExt cx="0" cy="0"/>
        </a:xfrm>
      </p:grpSpPr>
      <p:sp>
        <p:nvSpPr>
          <p:cNvPr id="179" name="Google Shape;179;h8ed05d8588e31ed_4_36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2" Type="http://schemas.openxmlformats.org/officeDocument/2006/relationships/theme" Target="../theme/theme3.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5.xml"/><Relationship Id="rId10" Type="http://schemas.openxmlformats.org/officeDocument/2006/relationships/slideLayout" Target="../slideLayouts/slideLayout34.xml"/><Relationship Id="rId12" Type="http://schemas.openxmlformats.org/officeDocument/2006/relationships/theme" Target="../theme/theme1.xml"/><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9" Type="http://schemas.openxmlformats.org/officeDocument/2006/relationships/slideLayout" Target="../slideLayouts/slideLayout33.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21"/>
          <p:cNvSpPr txBox="1"/>
          <p:nvPr>
            <p:ph idx="10" type="dt"/>
          </p:nvPr>
        </p:nvSpPr>
        <p:spPr>
          <a:xfrm>
            <a:off x="457200" y="6356520"/>
            <a:ext cx="2133360" cy="3646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 name="Google Shape;7;p21"/>
          <p:cNvSpPr txBox="1"/>
          <p:nvPr>
            <p:ph idx="11" type="ftr"/>
          </p:nvPr>
        </p:nvSpPr>
        <p:spPr>
          <a:xfrm>
            <a:off x="3124080" y="6356520"/>
            <a:ext cx="2895120" cy="3646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p21"/>
          <p:cNvSpPr txBox="1"/>
          <p:nvPr>
            <p:ph idx="12" type="sldNum"/>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None/>
              <a:defRPr b="0" i="0" sz="1200" u="none" cap="none" strike="noStrike">
                <a:solidFill>
                  <a:srgbClr val="8B8B8B"/>
                </a:solidFill>
                <a:latin typeface="Calibri"/>
                <a:ea typeface="Calibri"/>
                <a:cs typeface="Calibri"/>
                <a:sym typeface="Calibri"/>
              </a:defRPr>
            </a:lvl1pPr>
            <a:lvl2pPr indent="0" lvl="1" marL="0" marR="0" rtl="0" algn="r">
              <a:lnSpc>
                <a:spcPct val="100000"/>
              </a:lnSpc>
              <a:spcBef>
                <a:spcPts val="0"/>
              </a:spcBef>
              <a:buNone/>
              <a:defRPr b="0" i="0" sz="1200" u="none" cap="none" strike="noStrike">
                <a:solidFill>
                  <a:srgbClr val="8B8B8B"/>
                </a:solidFill>
                <a:latin typeface="Calibri"/>
                <a:ea typeface="Calibri"/>
                <a:cs typeface="Calibri"/>
                <a:sym typeface="Calibri"/>
              </a:defRPr>
            </a:lvl2pPr>
            <a:lvl3pPr indent="0" lvl="2" marL="0" marR="0" rtl="0" algn="r">
              <a:lnSpc>
                <a:spcPct val="100000"/>
              </a:lnSpc>
              <a:spcBef>
                <a:spcPts val="0"/>
              </a:spcBef>
              <a:buNone/>
              <a:defRPr b="0" i="0" sz="1200" u="none" cap="none" strike="noStrike">
                <a:solidFill>
                  <a:srgbClr val="8B8B8B"/>
                </a:solidFill>
                <a:latin typeface="Calibri"/>
                <a:ea typeface="Calibri"/>
                <a:cs typeface="Calibri"/>
                <a:sym typeface="Calibri"/>
              </a:defRPr>
            </a:lvl3pPr>
            <a:lvl4pPr indent="0" lvl="3" marL="0" marR="0" rtl="0" algn="r">
              <a:lnSpc>
                <a:spcPct val="100000"/>
              </a:lnSpc>
              <a:spcBef>
                <a:spcPts val="0"/>
              </a:spcBef>
              <a:buNone/>
              <a:defRPr b="0" i="0" sz="1200" u="none" cap="none" strike="noStrike">
                <a:solidFill>
                  <a:srgbClr val="8B8B8B"/>
                </a:solidFill>
                <a:latin typeface="Calibri"/>
                <a:ea typeface="Calibri"/>
                <a:cs typeface="Calibri"/>
                <a:sym typeface="Calibri"/>
              </a:defRPr>
            </a:lvl4pPr>
            <a:lvl5pPr indent="0" lvl="4" marL="0" marR="0" rtl="0" algn="r">
              <a:lnSpc>
                <a:spcPct val="100000"/>
              </a:lnSpc>
              <a:spcBef>
                <a:spcPts val="0"/>
              </a:spcBef>
              <a:buNone/>
              <a:defRPr b="0" i="0" sz="1200" u="none" cap="none" strike="noStrike">
                <a:solidFill>
                  <a:srgbClr val="8B8B8B"/>
                </a:solidFill>
                <a:latin typeface="Calibri"/>
                <a:ea typeface="Calibri"/>
                <a:cs typeface="Calibri"/>
                <a:sym typeface="Calibri"/>
              </a:defRPr>
            </a:lvl5pPr>
            <a:lvl6pPr indent="0" lvl="5" marL="0" marR="0" rtl="0" algn="r">
              <a:lnSpc>
                <a:spcPct val="100000"/>
              </a:lnSpc>
              <a:spcBef>
                <a:spcPts val="0"/>
              </a:spcBef>
              <a:buNone/>
              <a:defRPr b="0" i="0" sz="1200" u="none" cap="none" strike="noStrike">
                <a:solidFill>
                  <a:srgbClr val="8B8B8B"/>
                </a:solidFill>
                <a:latin typeface="Calibri"/>
                <a:ea typeface="Calibri"/>
                <a:cs typeface="Calibri"/>
                <a:sym typeface="Calibri"/>
              </a:defRPr>
            </a:lvl6pPr>
            <a:lvl7pPr indent="0" lvl="6" marL="0" marR="0" rtl="0" algn="r">
              <a:lnSpc>
                <a:spcPct val="100000"/>
              </a:lnSpc>
              <a:spcBef>
                <a:spcPts val="0"/>
              </a:spcBef>
              <a:buNone/>
              <a:defRPr b="0" i="0" sz="1200" u="none" cap="none" strike="noStrike">
                <a:solidFill>
                  <a:srgbClr val="8B8B8B"/>
                </a:solidFill>
                <a:latin typeface="Calibri"/>
                <a:ea typeface="Calibri"/>
                <a:cs typeface="Calibri"/>
                <a:sym typeface="Calibri"/>
              </a:defRPr>
            </a:lvl7pPr>
            <a:lvl8pPr indent="0" lvl="7" marL="0" marR="0" rtl="0" algn="r">
              <a:lnSpc>
                <a:spcPct val="100000"/>
              </a:lnSpc>
              <a:spcBef>
                <a:spcPts val="0"/>
              </a:spcBef>
              <a:buNone/>
              <a:defRPr b="0" i="0" sz="1200" u="none" cap="none" strike="noStrike">
                <a:solidFill>
                  <a:srgbClr val="8B8B8B"/>
                </a:solidFill>
                <a:latin typeface="Calibri"/>
                <a:ea typeface="Calibri"/>
                <a:cs typeface="Calibri"/>
                <a:sym typeface="Calibri"/>
              </a:defRPr>
            </a:lvl8pPr>
            <a:lvl9pPr indent="0" lvl="8" marL="0" marR="0" rtl="0" algn="r">
              <a:lnSpc>
                <a:spcPct val="100000"/>
              </a:lnSpc>
              <a:spcBef>
                <a:spcPts val="0"/>
              </a:spcBef>
              <a:buNone/>
              <a:defRPr b="0" i="0" sz="1200" u="none" cap="none"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9" name="Google Shape;9;p21"/>
          <p:cNvSpPr txBox="1"/>
          <p:nvPr>
            <p:ph type="title"/>
          </p:nvPr>
        </p:nvSpPr>
        <p:spPr>
          <a:xfrm>
            <a:off x="609480" y="273600"/>
            <a:ext cx="10972080" cy="11448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0" name="Google Shape;10;p21"/>
          <p:cNvSpPr txBox="1"/>
          <p:nvPr>
            <p:ph idx="1" type="body"/>
          </p:nvPr>
        </p:nvSpPr>
        <p:spPr>
          <a:xfrm>
            <a:off x="609480" y="1604520"/>
            <a:ext cx="10972080" cy="397728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 name="Shape 60"/>
        <p:cNvGrpSpPr/>
        <p:nvPr/>
      </p:nvGrpSpPr>
      <p:grpSpPr>
        <a:xfrm>
          <a:off x="0" y="0"/>
          <a:ext cx="0" cy="0"/>
          <a:chOff x="0" y="0"/>
          <a:chExt cx="0" cy="0"/>
        </a:xfrm>
      </p:grpSpPr>
      <p:sp>
        <p:nvSpPr>
          <p:cNvPr id="61" name="Google Shape;61;h3173d30833cc6355_30_121"/>
          <p:cNvSpPr txBox="1"/>
          <p:nvPr>
            <p:ph type="title"/>
          </p:nvPr>
        </p:nvSpPr>
        <p:spPr>
          <a:xfrm>
            <a:off x="457212" y="274638"/>
            <a:ext cx="8229900" cy="1143000"/>
          </a:xfrm>
          <a:prstGeom prst="rect">
            <a:avLst/>
          </a:prstGeom>
          <a:noFill/>
          <a:ln>
            <a:noFill/>
          </a:ln>
        </p:spPr>
        <p:txBody>
          <a:bodyPr anchorCtr="0" anchor="ctr" bIns="45700" lIns="91425" spcFirstLastPara="1" rIns="91425" wrap="square" tIns="45700">
            <a:normAutofit/>
          </a:bodyPr>
          <a:lstStyle>
            <a:lvl1pPr lvl="0" marR="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2" name="Google Shape;62;h3173d30833cc6355_30_121"/>
          <p:cNvSpPr txBox="1"/>
          <p:nvPr>
            <p:ph idx="1" type="body"/>
          </p:nvPr>
        </p:nvSpPr>
        <p:spPr>
          <a:xfrm>
            <a:off x="457212" y="1600200"/>
            <a:ext cx="8229900" cy="4526100"/>
          </a:xfrm>
          <a:prstGeom prst="rect">
            <a:avLst/>
          </a:prstGeom>
          <a:noFill/>
          <a:ln>
            <a:noFill/>
          </a:ln>
        </p:spPr>
        <p:txBody>
          <a:bodyPr anchorCtr="0" anchor="t" bIns="45700" lIns="91425" spcFirstLastPara="1" rIns="91425" wrap="square" tIns="45700">
            <a:normAutofit/>
          </a:bodyPr>
          <a:lstStyle>
            <a:lvl1pPr indent="-431800" lvl="0" marL="457200" marR="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3" name="Google Shape;63;h3173d30833cc6355_30_121"/>
          <p:cNvSpPr txBox="1"/>
          <p:nvPr>
            <p:ph idx="10" type="dt"/>
          </p:nvPr>
        </p:nvSpPr>
        <p:spPr>
          <a:xfrm>
            <a:off x="457212" y="6356350"/>
            <a:ext cx="2133600" cy="3651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4" name="Google Shape;64;h3173d30833cc6355_30_121"/>
          <p:cNvSpPr txBox="1"/>
          <p:nvPr>
            <p:ph idx="11" type="ftr"/>
          </p:nvPr>
        </p:nvSpPr>
        <p:spPr>
          <a:xfrm>
            <a:off x="3124283" y="6356350"/>
            <a:ext cx="2895600" cy="3651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5" name="Google Shape;65;h3173d30833cc6355_30_121"/>
          <p:cNvSpPr txBox="1"/>
          <p:nvPr>
            <p:ph idx="12" type="sldNum"/>
          </p:nvPr>
        </p:nvSpPr>
        <p:spPr>
          <a:xfrm>
            <a:off x="6553375"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35" name="Shape 135"/>
        <p:cNvGrpSpPr/>
        <p:nvPr/>
      </p:nvGrpSpPr>
      <p:grpSpPr>
        <a:xfrm>
          <a:off x="0" y="0"/>
          <a:ext cx="0" cy="0"/>
          <a:chOff x="0" y="0"/>
          <a:chExt cx="0" cy="0"/>
        </a:xfrm>
      </p:grpSpPr>
      <p:sp>
        <p:nvSpPr>
          <p:cNvPr id="136" name="Google Shape;136;h8ed05d8588e31ed_4_31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p:txBody>
      </p:sp>
      <p:sp>
        <p:nvSpPr>
          <p:cNvPr id="137" name="Google Shape;137;h8ed05d8588e31ed_4_319"/>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nSpc>
                <a:spcPct val="115000"/>
              </a:lnSpc>
              <a:spcBef>
                <a:spcPts val="0"/>
              </a:spcBef>
              <a:spcAft>
                <a:spcPts val="0"/>
              </a:spcAft>
              <a:buClr>
                <a:schemeClr val="dk2"/>
              </a:buClr>
              <a:buSzPts val="2400"/>
              <a:buChar char="●"/>
              <a:defRPr sz="2400">
                <a:solidFill>
                  <a:schemeClr val="dk2"/>
                </a:solidFill>
              </a:defRPr>
            </a:lvl1pPr>
            <a:lvl2pPr indent="-349250" lvl="1" marL="914400">
              <a:lnSpc>
                <a:spcPct val="115000"/>
              </a:lnSpc>
              <a:spcBef>
                <a:spcPts val="0"/>
              </a:spcBef>
              <a:spcAft>
                <a:spcPts val="0"/>
              </a:spcAft>
              <a:buClr>
                <a:schemeClr val="dk2"/>
              </a:buClr>
              <a:buSzPts val="1900"/>
              <a:buChar char="○"/>
              <a:defRPr sz="1900">
                <a:solidFill>
                  <a:schemeClr val="dk2"/>
                </a:solidFill>
              </a:defRPr>
            </a:lvl2pPr>
            <a:lvl3pPr indent="-349250" lvl="2" marL="1371600">
              <a:lnSpc>
                <a:spcPct val="115000"/>
              </a:lnSpc>
              <a:spcBef>
                <a:spcPts val="0"/>
              </a:spcBef>
              <a:spcAft>
                <a:spcPts val="0"/>
              </a:spcAft>
              <a:buClr>
                <a:schemeClr val="dk2"/>
              </a:buClr>
              <a:buSzPts val="1900"/>
              <a:buChar char="■"/>
              <a:defRPr sz="1900">
                <a:solidFill>
                  <a:schemeClr val="dk2"/>
                </a:solidFill>
              </a:defRPr>
            </a:lvl3pPr>
            <a:lvl4pPr indent="-349250" lvl="3" marL="1828800">
              <a:lnSpc>
                <a:spcPct val="115000"/>
              </a:lnSpc>
              <a:spcBef>
                <a:spcPts val="0"/>
              </a:spcBef>
              <a:spcAft>
                <a:spcPts val="0"/>
              </a:spcAft>
              <a:buClr>
                <a:schemeClr val="dk2"/>
              </a:buClr>
              <a:buSzPts val="1900"/>
              <a:buChar char="●"/>
              <a:defRPr sz="1900">
                <a:solidFill>
                  <a:schemeClr val="dk2"/>
                </a:solidFill>
              </a:defRPr>
            </a:lvl4pPr>
            <a:lvl5pPr indent="-349250" lvl="4" marL="2286000">
              <a:lnSpc>
                <a:spcPct val="115000"/>
              </a:lnSpc>
              <a:spcBef>
                <a:spcPts val="0"/>
              </a:spcBef>
              <a:spcAft>
                <a:spcPts val="0"/>
              </a:spcAft>
              <a:buClr>
                <a:schemeClr val="dk2"/>
              </a:buClr>
              <a:buSzPts val="1900"/>
              <a:buChar char="○"/>
              <a:defRPr sz="1900">
                <a:solidFill>
                  <a:schemeClr val="dk2"/>
                </a:solidFill>
              </a:defRPr>
            </a:lvl5pPr>
            <a:lvl6pPr indent="-349250" lvl="5" marL="2743200">
              <a:lnSpc>
                <a:spcPct val="115000"/>
              </a:lnSpc>
              <a:spcBef>
                <a:spcPts val="0"/>
              </a:spcBef>
              <a:spcAft>
                <a:spcPts val="0"/>
              </a:spcAft>
              <a:buClr>
                <a:schemeClr val="dk2"/>
              </a:buClr>
              <a:buSzPts val="1900"/>
              <a:buChar char="■"/>
              <a:defRPr sz="1900">
                <a:solidFill>
                  <a:schemeClr val="dk2"/>
                </a:solidFill>
              </a:defRPr>
            </a:lvl6pPr>
            <a:lvl7pPr indent="-349250" lvl="6" marL="3200400">
              <a:lnSpc>
                <a:spcPct val="115000"/>
              </a:lnSpc>
              <a:spcBef>
                <a:spcPts val="0"/>
              </a:spcBef>
              <a:spcAft>
                <a:spcPts val="0"/>
              </a:spcAft>
              <a:buClr>
                <a:schemeClr val="dk2"/>
              </a:buClr>
              <a:buSzPts val="1900"/>
              <a:buChar char="●"/>
              <a:defRPr sz="1900">
                <a:solidFill>
                  <a:schemeClr val="dk2"/>
                </a:solidFill>
              </a:defRPr>
            </a:lvl7pPr>
            <a:lvl8pPr indent="-349250" lvl="7" marL="3657600">
              <a:lnSpc>
                <a:spcPct val="115000"/>
              </a:lnSpc>
              <a:spcBef>
                <a:spcPts val="0"/>
              </a:spcBef>
              <a:spcAft>
                <a:spcPts val="0"/>
              </a:spcAft>
              <a:buClr>
                <a:schemeClr val="dk2"/>
              </a:buClr>
              <a:buSzPts val="1900"/>
              <a:buChar char="○"/>
              <a:defRPr sz="1900">
                <a:solidFill>
                  <a:schemeClr val="dk2"/>
                </a:solidFill>
              </a:defRPr>
            </a:lvl8pPr>
            <a:lvl9pPr indent="-349250" lvl="8" marL="4114800">
              <a:lnSpc>
                <a:spcPct val="115000"/>
              </a:lnSpc>
              <a:spcBef>
                <a:spcPts val="0"/>
              </a:spcBef>
              <a:spcAft>
                <a:spcPts val="0"/>
              </a:spcAft>
              <a:buClr>
                <a:schemeClr val="dk2"/>
              </a:buClr>
              <a:buSzPts val="1900"/>
              <a:buChar char="■"/>
              <a:defRPr sz="1900">
                <a:solidFill>
                  <a:schemeClr val="dk2"/>
                </a:solidFill>
              </a:defRPr>
            </a:lvl9pPr>
          </a:lstStyle>
          <a:p/>
        </p:txBody>
      </p:sp>
      <p:sp>
        <p:nvSpPr>
          <p:cNvPr id="138" name="Google Shape;138;h8ed05d8588e31ed_4_319"/>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5.png"/><Relationship Id="rId8"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ecoportatil.es/blog/que-es-tarjeta-red.html" TargetMode="Externa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www.redeszone.net/tutoriales/redes-cable/direccion-mac-que-es-como-cambiarla/" TargetMode="Externa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www.asus.com/es/support/faq/1044772/" TargetMode="Externa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s://support.microsoft.com/es-es/windows/experience/connectivity-networking/essential-network-settings-and-tasks-in-windows" TargetMode="Externa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22.png"/><Relationship Id="rId9" Type="http://schemas.openxmlformats.org/officeDocument/2006/relationships/image" Target="../media/image17.png"/><Relationship Id="rId5" Type="http://schemas.openxmlformats.org/officeDocument/2006/relationships/image" Target="../media/image8.png"/><Relationship Id="rId6" Type="http://schemas.openxmlformats.org/officeDocument/2006/relationships/image" Target="../media/image11.png"/><Relationship Id="rId7" Type="http://schemas.openxmlformats.org/officeDocument/2006/relationships/image" Target="../media/image10.png"/><Relationship Id="rId8" Type="http://schemas.openxmlformats.org/officeDocument/2006/relationships/image" Target="../media/image26.png"/></Relationships>
</file>

<file path=ppt/slides/_rels/slide12.xml.rels><?xml version="1.0" encoding="UTF-8" standalone="yes"?><Relationships xmlns="http://schemas.openxmlformats.org/package/2006/relationships"><Relationship Id="rId11" Type="http://schemas.openxmlformats.org/officeDocument/2006/relationships/image" Target="../media/image40.png"/><Relationship Id="rId10" Type="http://schemas.openxmlformats.org/officeDocument/2006/relationships/image" Target="../media/image27.png"/><Relationship Id="rId13" Type="http://schemas.openxmlformats.org/officeDocument/2006/relationships/image" Target="../media/image28.png"/><Relationship Id="rId12" Type="http://schemas.openxmlformats.org/officeDocument/2006/relationships/image" Target="../media/image42.png"/><Relationship Id="rId1" Type="http://schemas.openxmlformats.org/officeDocument/2006/relationships/slideLayout" Target="../slideLayouts/slideLayout35.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22.png"/><Relationship Id="rId9" Type="http://schemas.openxmlformats.org/officeDocument/2006/relationships/image" Target="../media/image25.png"/><Relationship Id="rId14" Type="http://schemas.openxmlformats.org/officeDocument/2006/relationships/image" Target="../media/image31.png"/><Relationship Id="rId5" Type="http://schemas.openxmlformats.org/officeDocument/2006/relationships/image" Target="../media/image21.png"/><Relationship Id="rId6" Type="http://schemas.openxmlformats.org/officeDocument/2006/relationships/image" Target="../media/image20.png"/><Relationship Id="rId7" Type="http://schemas.openxmlformats.org/officeDocument/2006/relationships/image" Target="../media/image19.png"/><Relationship Id="rId8" Type="http://schemas.openxmlformats.org/officeDocument/2006/relationships/image" Target="../media/image24.png"/></Relationships>
</file>

<file path=ppt/slides/_rels/slide13.xml.rels><?xml version="1.0" encoding="UTF-8" standalone="yes"?><Relationships xmlns="http://schemas.openxmlformats.org/package/2006/relationships"><Relationship Id="rId11" Type="http://schemas.openxmlformats.org/officeDocument/2006/relationships/image" Target="../media/image40.png"/><Relationship Id="rId10" Type="http://schemas.openxmlformats.org/officeDocument/2006/relationships/image" Target="../media/image27.png"/><Relationship Id="rId13" Type="http://schemas.openxmlformats.org/officeDocument/2006/relationships/image" Target="../media/image28.png"/><Relationship Id="rId12" Type="http://schemas.openxmlformats.org/officeDocument/2006/relationships/image" Target="../media/image42.png"/><Relationship Id="rId1" Type="http://schemas.openxmlformats.org/officeDocument/2006/relationships/slideLayout" Target="../slideLayouts/slideLayout35.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22.png"/><Relationship Id="rId9" Type="http://schemas.openxmlformats.org/officeDocument/2006/relationships/image" Target="../media/image25.png"/><Relationship Id="rId14" Type="http://schemas.openxmlformats.org/officeDocument/2006/relationships/image" Target="../media/image31.png"/><Relationship Id="rId5" Type="http://schemas.openxmlformats.org/officeDocument/2006/relationships/image" Target="../media/image21.png"/><Relationship Id="rId6" Type="http://schemas.openxmlformats.org/officeDocument/2006/relationships/image" Target="../media/image20.png"/><Relationship Id="rId7" Type="http://schemas.openxmlformats.org/officeDocument/2006/relationships/image" Target="../media/image19.png"/><Relationship Id="rId8"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hyperlink" Target="https://ccnadesdecero.es/tabla-direcciones-mac/"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hyperlink" Target="https://uritprice.com/es/is-there-an-expiration-date-for-switching-mac-table-entries/" TargetMode="External"/><Relationship Id="rId4" Type="http://schemas.openxmlformats.org/officeDocument/2006/relationships/hyperlink" Target="https://ccnadesdecero.es/tienen-direcciones-ip-switche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8.png"/><Relationship Id="rId4" Type="http://schemas.openxmlformats.org/officeDocument/2006/relationships/image" Target="../media/image48.png"/><Relationship Id="rId5" Type="http://schemas.openxmlformats.org/officeDocument/2006/relationships/image" Target="../media/image5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4.png"/><Relationship Id="rId4" Type="http://schemas.openxmlformats.org/officeDocument/2006/relationships/image" Target="../media/image4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5.png"/><Relationship Id="rId4" Type="http://schemas.openxmlformats.org/officeDocument/2006/relationships/image" Target="../media/image4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5.png"/><Relationship Id="rId4" Type="http://schemas.openxmlformats.org/officeDocument/2006/relationships/image" Target="../media/image4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9.png"/><Relationship Id="rId4" Type="http://schemas.openxmlformats.org/officeDocument/2006/relationships/image" Target="../media/image46.png"/><Relationship Id="rId5" Type="http://schemas.openxmlformats.org/officeDocument/2006/relationships/image" Target="../media/image5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7.png"/><Relationship Id="rId4" Type="http://schemas.openxmlformats.org/officeDocument/2006/relationships/image" Target="../media/image49.png"/><Relationship Id="rId5" Type="http://schemas.openxmlformats.org/officeDocument/2006/relationships/image" Target="../media/image54.png"/><Relationship Id="rId6" Type="http://schemas.openxmlformats.org/officeDocument/2006/relationships/image" Target="../media/image7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3.png"/><Relationship Id="rId4" Type="http://schemas.openxmlformats.org/officeDocument/2006/relationships/image" Target="../media/image6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56.png"/><Relationship Id="rId4" Type="http://schemas.openxmlformats.org/officeDocument/2006/relationships/image" Target="../media/image6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57.png"/><Relationship Id="rId4" Type="http://schemas.openxmlformats.org/officeDocument/2006/relationships/image" Target="../media/image7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61.png"/><Relationship Id="rId4" Type="http://schemas.openxmlformats.org/officeDocument/2006/relationships/image" Target="../media/image6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image" Target="../media/image58.png"/><Relationship Id="rId4" Type="http://schemas.openxmlformats.org/officeDocument/2006/relationships/image" Target="../media/image74.png"/><Relationship Id="rId5" Type="http://schemas.openxmlformats.org/officeDocument/2006/relationships/image" Target="../media/image59.png"/><Relationship Id="rId6" Type="http://schemas.openxmlformats.org/officeDocument/2006/relationships/image" Target="../media/image6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7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67.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6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6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6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70.png"/><Relationship Id="rId4" Type="http://schemas.openxmlformats.org/officeDocument/2006/relationships/image" Target="../media/image7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64.png"/><Relationship Id="rId4" Type="http://schemas.openxmlformats.org/officeDocument/2006/relationships/image" Target="../media/image7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81.png"/><Relationship Id="rId4" Type="http://schemas.openxmlformats.org/officeDocument/2006/relationships/image" Target="../media/image7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85.png"/><Relationship Id="rId4" Type="http://schemas.openxmlformats.org/officeDocument/2006/relationships/image" Target="../media/image7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79.png"/><Relationship Id="rId4" Type="http://schemas.openxmlformats.org/officeDocument/2006/relationships/image" Target="../media/image8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8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 Id="rId3" Type="http://schemas.openxmlformats.org/officeDocument/2006/relationships/image" Target="../media/image80.png"/><Relationship Id="rId4" Type="http://schemas.openxmlformats.org/officeDocument/2006/relationships/image" Target="../media/image87.png"/><Relationship Id="rId5" Type="http://schemas.openxmlformats.org/officeDocument/2006/relationships/image" Target="../media/image8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 Id="rId3" Type="http://schemas.openxmlformats.org/officeDocument/2006/relationships/image" Target="../media/image84.png"/><Relationship Id="rId4" Type="http://schemas.openxmlformats.org/officeDocument/2006/relationships/image" Target="../media/image8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
          <p:cNvSpPr/>
          <p:nvPr/>
        </p:nvSpPr>
        <p:spPr>
          <a:xfrm>
            <a:off x="0" y="0"/>
            <a:ext cx="12191400" cy="658080"/>
          </a:xfrm>
          <a:prstGeom prst="rect">
            <a:avLst/>
          </a:prstGeom>
          <a:solidFill>
            <a:srgbClr val="12496F"/>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
          <p:cNvSpPr/>
          <p:nvPr/>
        </p:nvSpPr>
        <p:spPr>
          <a:xfrm>
            <a:off x="914400" y="1234440"/>
            <a:ext cx="10332360" cy="516960"/>
          </a:xfrm>
          <a:prstGeom prst="rect">
            <a:avLst/>
          </a:prstGeom>
          <a:noFill/>
          <a:ln>
            <a:noFill/>
          </a:ln>
        </p:spPr>
        <p:txBody>
          <a:bodyPr anchorCtr="0" anchor="t" bIns="45000" lIns="36700" spcFirstLastPara="1" rIns="36700" wrap="square" tIns="45000">
            <a:spAutoFit/>
          </a:bodyPr>
          <a:lstStyle/>
          <a:p>
            <a:pPr indent="0" lvl="0" marL="0" marR="0" rtl="0" algn="ctr">
              <a:lnSpc>
                <a:spcPct val="100000"/>
              </a:lnSpc>
              <a:spcBef>
                <a:spcPts val="0"/>
              </a:spcBef>
              <a:spcAft>
                <a:spcPts val="0"/>
              </a:spcAft>
              <a:buNone/>
            </a:pPr>
            <a:r>
              <a:rPr b="1" i="0" lang="en-US" sz="2800" u="none" cap="none" strike="noStrike">
                <a:solidFill>
                  <a:srgbClr val="12496F"/>
                </a:solidFill>
                <a:latin typeface="Arial"/>
                <a:ea typeface="Arial"/>
                <a:cs typeface="Arial"/>
                <a:sym typeface="Arial"/>
              </a:rPr>
              <a:t>Componentes de un Sistema Informático.</a:t>
            </a:r>
            <a:endParaRPr b="0" i="0" sz="2800" u="none" cap="none" strike="noStrike">
              <a:latin typeface="Arial"/>
              <a:ea typeface="Arial"/>
              <a:cs typeface="Arial"/>
              <a:sym typeface="Arial"/>
            </a:endParaRPr>
          </a:p>
        </p:txBody>
      </p:sp>
      <p:sp>
        <p:nvSpPr>
          <p:cNvPr id="186" name="Google Shape;186;p1"/>
          <p:cNvSpPr/>
          <p:nvPr/>
        </p:nvSpPr>
        <p:spPr>
          <a:xfrm>
            <a:off x="914400" y="2084760"/>
            <a:ext cx="10332360" cy="440640"/>
          </a:xfrm>
          <a:prstGeom prst="rect">
            <a:avLst/>
          </a:prstGeom>
          <a:noFill/>
          <a:ln>
            <a:noFill/>
          </a:ln>
        </p:spPr>
        <p:txBody>
          <a:bodyPr anchorCtr="0" anchor="t" bIns="45000" lIns="36700" spcFirstLastPara="1" rIns="36700" wrap="square" tIns="45000">
            <a:spAutoFit/>
          </a:bodyPr>
          <a:lstStyle/>
          <a:p>
            <a:pPr indent="0" lvl="0" marL="0" marR="0" rtl="0" algn="ctr">
              <a:lnSpc>
                <a:spcPct val="100000"/>
              </a:lnSpc>
              <a:spcBef>
                <a:spcPts val="0"/>
              </a:spcBef>
              <a:spcAft>
                <a:spcPts val="0"/>
              </a:spcAft>
              <a:buNone/>
            </a:pPr>
            <a:r>
              <a:rPr b="1" i="0" lang="en-US" sz="2300" u="none" cap="none" strike="noStrike">
                <a:solidFill>
                  <a:srgbClr val="2070B5"/>
                </a:solidFill>
                <a:latin typeface="Arial"/>
                <a:ea typeface="Arial"/>
                <a:cs typeface="Arial"/>
                <a:sym typeface="Arial"/>
              </a:rPr>
              <a:t>RA1 · Redes 2/4 · Componentes y conexiones</a:t>
            </a:r>
            <a:endParaRPr b="0" i="0" sz="2300" u="none" cap="none" strike="noStrike">
              <a:latin typeface="Arial"/>
              <a:ea typeface="Arial"/>
              <a:cs typeface="Arial"/>
              <a:sym typeface="Arial"/>
            </a:endParaRPr>
          </a:p>
        </p:txBody>
      </p:sp>
      <p:sp>
        <p:nvSpPr>
          <p:cNvPr id="187" name="Google Shape;187;p1"/>
          <p:cNvSpPr/>
          <p:nvPr/>
        </p:nvSpPr>
        <p:spPr>
          <a:xfrm>
            <a:off x="1143000" y="3063240"/>
            <a:ext cx="9920880" cy="790920"/>
          </a:xfrm>
          <a:prstGeom prst="rect">
            <a:avLst/>
          </a:prstGeom>
          <a:noFill/>
          <a:ln>
            <a:noFill/>
          </a:ln>
        </p:spPr>
        <p:txBody>
          <a:bodyPr anchorCtr="0" anchor="t" bIns="45000" lIns="36700" spcFirstLastPara="1" rIns="36700" wrap="square" tIns="45000">
            <a:spAutoFit/>
          </a:bodyPr>
          <a:lstStyle/>
          <a:p>
            <a:pPr indent="0" lvl="0" marL="0" marR="0" rtl="0" algn="ctr">
              <a:lnSpc>
                <a:spcPct val="100000"/>
              </a:lnSpc>
              <a:spcBef>
                <a:spcPts val="0"/>
              </a:spcBef>
              <a:spcAft>
                <a:spcPts val="0"/>
              </a:spcAft>
              <a:buNone/>
            </a:pPr>
            <a:r>
              <a:rPr b="0" i="0" lang="en-US" sz="2300" u="none" cap="none" strike="noStrike">
                <a:solidFill>
                  <a:srgbClr val="26303A"/>
                </a:solidFill>
                <a:latin typeface="Arial"/>
                <a:ea typeface="Arial"/>
                <a:cs typeface="Arial"/>
                <a:sym typeface="Arial"/>
              </a:rPr>
              <a:t>¿Qué función realiza cada dispositivo y cómo viaja un dato desde el PC hasta Internet?</a:t>
            </a:r>
            <a:endParaRPr b="0" i="0" sz="2300" u="none" cap="none" strike="noStrike">
              <a:latin typeface="Arial"/>
              <a:ea typeface="Arial"/>
              <a:cs typeface="Arial"/>
              <a:sym typeface="Arial"/>
            </a:endParaRPr>
          </a:p>
        </p:txBody>
      </p:sp>
      <p:sp>
        <p:nvSpPr>
          <p:cNvPr id="188" name="Google Shape;188;p1"/>
          <p:cNvSpPr/>
          <p:nvPr/>
        </p:nvSpPr>
        <p:spPr>
          <a:xfrm>
            <a:off x="1188720" y="4983480"/>
            <a:ext cx="9783720" cy="395280"/>
          </a:xfrm>
          <a:prstGeom prst="rect">
            <a:avLst/>
          </a:prstGeom>
          <a:noFill/>
          <a:ln>
            <a:noFill/>
          </a:ln>
        </p:spPr>
        <p:txBody>
          <a:bodyPr anchorCtr="0" anchor="t" bIns="45000" lIns="36700" spcFirstLastPara="1" rIns="36700" wrap="square" tIns="45000">
            <a:spAutoFit/>
          </a:bodyPr>
          <a:lstStyle/>
          <a:p>
            <a:pPr indent="0" lvl="0" marL="0" marR="0" rtl="0" algn="ctr">
              <a:lnSpc>
                <a:spcPct val="100000"/>
              </a:lnSpc>
              <a:spcBef>
                <a:spcPts val="0"/>
              </a:spcBef>
              <a:spcAft>
                <a:spcPts val="0"/>
              </a:spcAft>
              <a:buNone/>
            </a:pPr>
            <a:r>
              <a:rPr b="0" i="0" lang="en-US" sz="2000" u="none" cap="none" strike="noStrike">
                <a:solidFill>
                  <a:srgbClr val="687078"/>
                </a:solidFill>
                <a:latin typeface="Arial"/>
                <a:ea typeface="Arial"/>
                <a:cs typeface="Arial"/>
                <a:sym typeface="Arial"/>
              </a:rPr>
              <a:t>Identificar · conectar · interpretar · diagnosticar</a:t>
            </a:r>
            <a:endParaRPr b="0" i="0" sz="2000" u="none" cap="none" strike="noStrike">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
          <p:cNvSpPr/>
          <p:nvPr/>
        </p:nvSpPr>
        <p:spPr>
          <a:xfrm>
            <a:off x="0" y="0"/>
            <a:ext cx="12191400" cy="658080"/>
          </a:xfrm>
          <a:prstGeom prst="rect">
            <a:avLst/>
          </a:prstGeom>
          <a:solidFill>
            <a:srgbClr val="12496F"/>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
          <p:cNvSpPr/>
          <p:nvPr/>
        </p:nvSpPr>
        <p:spPr>
          <a:xfrm>
            <a:off x="567000" y="82440"/>
            <a:ext cx="10972500" cy="4560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1" i="0" lang="en-US" sz="2400" u="none" cap="none" strike="noStrike">
                <a:solidFill>
                  <a:srgbClr val="FFFFFF"/>
                </a:solidFill>
                <a:latin typeface="Arial"/>
                <a:ea typeface="Arial"/>
                <a:cs typeface="Arial"/>
                <a:sym typeface="Arial"/>
              </a:rPr>
              <a:t>1 · Radiografía de una red de aula: 								   Mario Arjona </a:t>
            </a:r>
            <a:endParaRPr b="1" i="0" sz="24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t/>
            </a:r>
            <a:endParaRPr b="1" sz="2400">
              <a:solidFill>
                <a:srgbClr val="FFFFFF"/>
              </a:solidFill>
            </a:endParaRPr>
          </a:p>
        </p:txBody>
      </p:sp>
      <p:sp>
        <p:nvSpPr>
          <p:cNvPr id="195" name="Google Shape;195;p2"/>
          <p:cNvSpPr/>
          <p:nvPr/>
        </p:nvSpPr>
        <p:spPr>
          <a:xfrm>
            <a:off x="700922" y="697098"/>
            <a:ext cx="10789500" cy="4407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0" i="0" lang="en-US" sz="2300" u="none" cap="none" strike="noStrike">
                <a:solidFill>
                  <a:srgbClr val="12496F"/>
                </a:solidFill>
                <a:latin typeface="Arial"/>
                <a:ea typeface="Arial"/>
                <a:cs typeface="Arial"/>
                <a:sym typeface="Arial"/>
              </a:rPr>
              <a:t>Sigue la ruta desde un ordenador hasta un servicio de Internet.</a:t>
            </a:r>
            <a:endParaRPr b="0" i="0" sz="2300" u="none" cap="none" strike="noStrike">
              <a:latin typeface="Arial"/>
              <a:ea typeface="Arial"/>
              <a:cs typeface="Arial"/>
              <a:sym typeface="Arial"/>
            </a:endParaRPr>
          </a:p>
        </p:txBody>
      </p:sp>
      <p:sp>
        <p:nvSpPr>
          <p:cNvPr id="196" name="Google Shape;196;p2"/>
          <p:cNvSpPr/>
          <p:nvPr/>
        </p:nvSpPr>
        <p:spPr>
          <a:xfrm>
            <a:off x="257238" y="3353401"/>
            <a:ext cx="1828500" cy="2510100"/>
          </a:xfrm>
          <a:prstGeom prst="roundRect">
            <a:avLst>
              <a:gd fmla="val 16667" name="adj"/>
            </a:avLst>
          </a:prstGeom>
          <a:solidFill>
            <a:schemeClr val="dk2"/>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
          <p:cNvSpPr/>
          <p:nvPr/>
        </p:nvSpPr>
        <p:spPr>
          <a:xfrm>
            <a:off x="348758" y="3506607"/>
            <a:ext cx="1645500" cy="395400"/>
          </a:xfrm>
          <a:prstGeom prst="rect">
            <a:avLst/>
          </a:prstGeom>
          <a:noFill/>
          <a:ln>
            <a:noFill/>
          </a:ln>
        </p:spPr>
        <p:txBody>
          <a:bodyPr anchorCtr="0" anchor="t" bIns="45000" lIns="36700" spcFirstLastPara="1" rIns="36700" wrap="square" tIns="45000">
            <a:spAutoFit/>
          </a:bodyPr>
          <a:lstStyle/>
          <a:p>
            <a:pPr indent="0" lvl="0" marL="0" marR="0" rtl="0" algn="ctr">
              <a:lnSpc>
                <a:spcPct val="100000"/>
              </a:lnSpc>
              <a:spcBef>
                <a:spcPts val="0"/>
              </a:spcBef>
              <a:spcAft>
                <a:spcPts val="0"/>
              </a:spcAft>
              <a:buNone/>
            </a:pPr>
            <a:r>
              <a:rPr b="1" i="0" lang="en-US" sz="2200" u="none" cap="none" strike="noStrike">
                <a:solidFill>
                  <a:schemeClr val="lt1"/>
                </a:solidFill>
                <a:latin typeface="Arial"/>
                <a:ea typeface="Arial"/>
                <a:cs typeface="Arial"/>
                <a:sym typeface="Arial"/>
              </a:rPr>
              <a:t>PC</a:t>
            </a:r>
            <a:endParaRPr b="0" i="0" sz="2200" u="none" cap="none" strike="noStrike">
              <a:solidFill>
                <a:schemeClr val="lt1"/>
              </a:solidFill>
              <a:latin typeface="Arial"/>
              <a:ea typeface="Arial"/>
              <a:cs typeface="Arial"/>
              <a:sym typeface="Arial"/>
            </a:endParaRPr>
          </a:p>
        </p:txBody>
      </p:sp>
      <p:sp>
        <p:nvSpPr>
          <p:cNvPr id="198" name="Google Shape;198;p2"/>
          <p:cNvSpPr/>
          <p:nvPr/>
        </p:nvSpPr>
        <p:spPr>
          <a:xfrm>
            <a:off x="367042" y="4270460"/>
            <a:ext cx="1608900" cy="349500"/>
          </a:xfrm>
          <a:prstGeom prst="rect">
            <a:avLst/>
          </a:prstGeom>
          <a:noFill/>
          <a:ln>
            <a:noFill/>
          </a:ln>
        </p:spPr>
        <p:txBody>
          <a:bodyPr anchorCtr="0" anchor="t" bIns="45000" lIns="36700" spcFirstLastPara="1" rIns="36700" wrap="square" tIns="45000">
            <a:spAutoFit/>
          </a:bodyPr>
          <a:lstStyle/>
          <a:p>
            <a:pPr indent="0" lvl="0" marL="0" marR="0" rtl="0" algn="ctr">
              <a:lnSpc>
                <a:spcPct val="100000"/>
              </a:lnSpc>
              <a:spcBef>
                <a:spcPts val="0"/>
              </a:spcBef>
              <a:spcAft>
                <a:spcPts val="0"/>
              </a:spcAft>
              <a:buNone/>
            </a:pPr>
            <a:r>
              <a:t/>
            </a:r>
            <a:endParaRPr b="0" i="0" sz="1700" u="none" cap="none" strike="noStrike">
              <a:solidFill>
                <a:schemeClr val="lt1"/>
              </a:solidFill>
              <a:latin typeface="Arial"/>
              <a:ea typeface="Arial"/>
              <a:cs typeface="Arial"/>
              <a:sym typeface="Arial"/>
            </a:endParaRPr>
          </a:p>
        </p:txBody>
      </p:sp>
      <p:pic>
        <p:nvPicPr>
          <p:cNvPr id="199" name="Google Shape;199;p2" title="ISP.png"/>
          <p:cNvPicPr preferRelativeResize="0"/>
          <p:nvPr/>
        </p:nvPicPr>
        <p:blipFill>
          <a:blip r:embed="rId3">
            <a:alphaModFix/>
          </a:blip>
          <a:stretch>
            <a:fillRect/>
          </a:stretch>
        </p:blipFill>
        <p:spPr>
          <a:xfrm>
            <a:off x="9576950" y="1257075"/>
            <a:ext cx="2099700" cy="2099700"/>
          </a:xfrm>
          <a:prstGeom prst="rect">
            <a:avLst/>
          </a:prstGeom>
          <a:noFill/>
          <a:ln>
            <a:noFill/>
          </a:ln>
        </p:spPr>
      </p:pic>
      <p:pic>
        <p:nvPicPr>
          <p:cNvPr id="200" name="Google Shape;200;p2" title="PC.png"/>
          <p:cNvPicPr preferRelativeResize="0"/>
          <p:nvPr/>
        </p:nvPicPr>
        <p:blipFill>
          <a:blip r:embed="rId4">
            <a:alphaModFix/>
          </a:blip>
          <a:stretch>
            <a:fillRect/>
          </a:stretch>
        </p:blipFill>
        <p:spPr>
          <a:xfrm>
            <a:off x="317738" y="1309716"/>
            <a:ext cx="1828450" cy="1828450"/>
          </a:xfrm>
          <a:prstGeom prst="rect">
            <a:avLst/>
          </a:prstGeom>
          <a:noFill/>
          <a:ln>
            <a:noFill/>
          </a:ln>
        </p:spPr>
      </p:pic>
      <p:pic>
        <p:nvPicPr>
          <p:cNvPr id="201" name="Google Shape;201;p2" title="Switch.png"/>
          <p:cNvPicPr preferRelativeResize="0"/>
          <p:nvPr/>
        </p:nvPicPr>
        <p:blipFill>
          <a:blip r:embed="rId5">
            <a:alphaModFix/>
          </a:blip>
          <a:stretch>
            <a:fillRect/>
          </a:stretch>
        </p:blipFill>
        <p:spPr>
          <a:xfrm>
            <a:off x="2532526" y="1197338"/>
            <a:ext cx="1981500" cy="1981500"/>
          </a:xfrm>
          <a:prstGeom prst="rect">
            <a:avLst/>
          </a:prstGeom>
          <a:noFill/>
          <a:ln>
            <a:noFill/>
          </a:ln>
        </p:spPr>
      </p:pic>
      <p:pic>
        <p:nvPicPr>
          <p:cNvPr id="202" name="Google Shape;202;p2" title="Router.png"/>
          <p:cNvPicPr preferRelativeResize="0"/>
          <p:nvPr/>
        </p:nvPicPr>
        <p:blipFill>
          <a:blip r:embed="rId6">
            <a:alphaModFix/>
          </a:blip>
          <a:stretch>
            <a:fillRect/>
          </a:stretch>
        </p:blipFill>
        <p:spPr>
          <a:xfrm>
            <a:off x="4900363" y="1176738"/>
            <a:ext cx="1981500" cy="1981500"/>
          </a:xfrm>
          <a:prstGeom prst="rect">
            <a:avLst/>
          </a:prstGeom>
          <a:noFill/>
          <a:ln>
            <a:noFill/>
          </a:ln>
        </p:spPr>
      </p:pic>
      <p:pic>
        <p:nvPicPr>
          <p:cNvPr id="203" name="Google Shape;203;p2" title="ONT.png"/>
          <p:cNvPicPr preferRelativeResize="0"/>
          <p:nvPr/>
        </p:nvPicPr>
        <p:blipFill>
          <a:blip r:embed="rId7">
            <a:alphaModFix/>
          </a:blip>
          <a:stretch>
            <a:fillRect/>
          </a:stretch>
        </p:blipFill>
        <p:spPr>
          <a:xfrm>
            <a:off x="7332463" y="1328663"/>
            <a:ext cx="1828450" cy="1828450"/>
          </a:xfrm>
          <a:prstGeom prst="rect">
            <a:avLst/>
          </a:prstGeom>
          <a:noFill/>
          <a:ln>
            <a:noFill/>
          </a:ln>
        </p:spPr>
      </p:pic>
      <p:sp>
        <p:nvSpPr>
          <p:cNvPr id="204" name="Google Shape;204;p2"/>
          <p:cNvSpPr/>
          <p:nvPr/>
        </p:nvSpPr>
        <p:spPr>
          <a:xfrm>
            <a:off x="2621063" y="3353401"/>
            <a:ext cx="1828500" cy="2510100"/>
          </a:xfrm>
          <a:prstGeom prst="roundRect">
            <a:avLst>
              <a:gd fmla="val 16667" name="adj"/>
            </a:avLst>
          </a:prstGeom>
          <a:solidFill>
            <a:schemeClr val="dk2"/>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Font typeface="Arial"/>
              <a:buNone/>
            </a:pPr>
            <a:r>
              <a:t/>
            </a:r>
            <a:endParaRPr sz="1700">
              <a:solidFill>
                <a:schemeClr val="dk1"/>
              </a:solidFill>
            </a:endParaRPr>
          </a:p>
          <a:p>
            <a:pPr indent="0" lvl="0" marL="0" rtl="0" algn="l">
              <a:spcBef>
                <a:spcPts val="0"/>
              </a:spcBef>
              <a:spcAft>
                <a:spcPts val="0"/>
              </a:spcAft>
              <a:buNone/>
            </a:pPr>
            <a:r>
              <a:t/>
            </a:r>
            <a:endParaRPr/>
          </a:p>
        </p:txBody>
      </p:sp>
      <p:sp>
        <p:nvSpPr>
          <p:cNvPr id="205" name="Google Shape;205;p2"/>
          <p:cNvSpPr/>
          <p:nvPr/>
        </p:nvSpPr>
        <p:spPr>
          <a:xfrm>
            <a:off x="4984888" y="3353401"/>
            <a:ext cx="1828500" cy="2510100"/>
          </a:xfrm>
          <a:prstGeom prst="roundRect">
            <a:avLst>
              <a:gd fmla="val 16667" name="adj"/>
            </a:avLst>
          </a:prstGeom>
          <a:solidFill>
            <a:schemeClr val="dk2"/>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
          <p:cNvSpPr/>
          <p:nvPr/>
        </p:nvSpPr>
        <p:spPr>
          <a:xfrm>
            <a:off x="7348713" y="3353401"/>
            <a:ext cx="1828500" cy="2510100"/>
          </a:xfrm>
          <a:prstGeom prst="roundRect">
            <a:avLst>
              <a:gd fmla="val 16667" name="adj"/>
            </a:avLst>
          </a:prstGeom>
          <a:solidFill>
            <a:schemeClr val="dk2"/>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
          <p:cNvSpPr/>
          <p:nvPr/>
        </p:nvSpPr>
        <p:spPr>
          <a:xfrm>
            <a:off x="9712538" y="3353401"/>
            <a:ext cx="1828500" cy="2510100"/>
          </a:xfrm>
          <a:prstGeom prst="roundRect">
            <a:avLst>
              <a:gd fmla="val 16667" name="adj"/>
            </a:avLst>
          </a:prstGeom>
          <a:solidFill>
            <a:schemeClr val="dk2"/>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
          <p:cNvSpPr txBox="1"/>
          <p:nvPr/>
        </p:nvSpPr>
        <p:spPr>
          <a:xfrm>
            <a:off x="6049750" y="4685050"/>
            <a:ext cx="487800" cy="1662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t/>
            </a:r>
            <a:endParaRPr sz="9600"/>
          </a:p>
        </p:txBody>
      </p:sp>
      <p:sp>
        <p:nvSpPr>
          <p:cNvPr id="209" name="Google Shape;209;p2"/>
          <p:cNvSpPr/>
          <p:nvPr/>
        </p:nvSpPr>
        <p:spPr>
          <a:xfrm>
            <a:off x="2712582" y="3506607"/>
            <a:ext cx="1645500" cy="395400"/>
          </a:xfrm>
          <a:prstGeom prst="rect">
            <a:avLst/>
          </a:prstGeom>
          <a:noFill/>
          <a:ln>
            <a:noFill/>
          </a:ln>
        </p:spPr>
        <p:txBody>
          <a:bodyPr anchorCtr="0" anchor="t" bIns="45000" lIns="36700" spcFirstLastPara="1" rIns="36700" wrap="square" tIns="45000">
            <a:noAutofit/>
          </a:bodyPr>
          <a:lstStyle/>
          <a:p>
            <a:pPr indent="0" lvl="0" marL="0" marR="0" rtl="0" algn="ctr">
              <a:lnSpc>
                <a:spcPct val="100000"/>
              </a:lnSpc>
              <a:spcBef>
                <a:spcPts val="0"/>
              </a:spcBef>
              <a:spcAft>
                <a:spcPts val="0"/>
              </a:spcAft>
              <a:buNone/>
            </a:pPr>
            <a:r>
              <a:rPr b="1" lang="en-US" sz="2200">
                <a:solidFill>
                  <a:schemeClr val="lt1"/>
                </a:solidFill>
              </a:rPr>
              <a:t>SWITCH</a:t>
            </a:r>
            <a:endParaRPr b="0" i="0" sz="2200" u="none" cap="none" strike="noStrike">
              <a:solidFill>
                <a:schemeClr val="lt1"/>
              </a:solidFill>
              <a:latin typeface="Arial"/>
              <a:ea typeface="Arial"/>
              <a:cs typeface="Arial"/>
              <a:sym typeface="Arial"/>
            </a:endParaRPr>
          </a:p>
        </p:txBody>
      </p:sp>
      <p:sp>
        <p:nvSpPr>
          <p:cNvPr id="210" name="Google Shape;210;p2"/>
          <p:cNvSpPr/>
          <p:nvPr/>
        </p:nvSpPr>
        <p:spPr>
          <a:xfrm>
            <a:off x="5076408" y="3506607"/>
            <a:ext cx="1645500" cy="395400"/>
          </a:xfrm>
          <a:prstGeom prst="rect">
            <a:avLst/>
          </a:prstGeom>
          <a:noFill/>
          <a:ln>
            <a:noFill/>
          </a:ln>
        </p:spPr>
        <p:txBody>
          <a:bodyPr anchorCtr="0" anchor="t" bIns="45000" lIns="36700" spcFirstLastPara="1" rIns="36700" wrap="square" tIns="45000">
            <a:noAutofit/>
          </a:bodyPr>
          <a:lstStyle/>
          <a:p>
            <a:pPr indent="0" lvl="0" marL="0" marR="0" rtl="0" algn="ctr">
              <a:lnSpc>
                <a:spcPct val="100000"/>
              </a:lnSpc>
              <a:spcBef>
                <a:spcPts val="0"/>
              </a:spcBef>
              <a:spcAft>
                <a:spcPts val="0"/>
              </a:spcAft>
              <a:buNone/>
            </a:pPr>
            <a:r>
              <a:rPr b="1" lang="en-US" sz="2200">
                <a:solidFill>
                  <a:schemeClr val="lt1"/>
                </a:solidFill>
              </a:rPr>
              <a:t>ROUTER</a:t>
            </a:r>
            <a:endParaRPr b="0" i="0" sz="2200" u="none" cap="none" strike="noStrike">
              <a:solidFill>
                <a:schemeClr val="lt1"/>
              </a:solidFill>
              <a:latin typeface="Arial"/>
              <a:ea typeface="Arial"/>
              <a:cs typeface="Arial"/>
              <a:sym typeface="Arial"/>
            </a:endParaRPr>
          </a:p>
        </p:txBody>
      </p:sp>
      <p:sp>
        <p:nvSpPr>
          <p:cNvPr id="211" name="Google Shape;211;p2"/>
          <p:cNvSpPr/>
          <p:nvPr/>
        </p:nvSpPr>
        <p:spPr>
          <a:xfrm>
            <a:off x="7440233" y="3506607"/>
            <a:ext cx="1645500" cy="395400"/>
          </a:xfrm>
          <a:prstGeom prst="rect">
            <a:avLst/>
          </a:prstGeom>
          <a:noFill/>
          <a:ln>
            <a:noFill/>
          </a:ln>
        </p:spPr>
        <p:txBody>
          <a:bodyPr anchorCtr="0" anchor="t" bIns="45000" lIns="36700" spcFirstLastPara="1" rIns="36700" wrap="square" tIns="45000">
            <a:noAutofit/>
          </a:bodyPr>
          <a:lstStyle/>
          <a:p>
            <a:pPr indent="0" lvl="0" marL="0" marR="0" rtl="0" algn="ctr">
              <a:lnSpc>
                <a:spcPct val="100000"/>
              </a:lnSpc>
              <a:spcBef>
                <a:spcPts val="0"/>
              </a:spcBef>
              <a:spcAft>
                <a:spcPts val="0"/>
              </a:spcAft>
              <a:buNone/>
            </a:pPr>
            <a:r>
              <a:rPr b="1" lang="en-US" sz="2200">
                <a:solidFill>
                  <a:schemeClr val="lt1"/>
                </a:solidFill>
              </a:rPr>
              <a:t>ONT</a:t>
            </a:r>
            <a:endParaRPr b="0" i="0" sz="2200" u="none" cap="none" strike="noStrike">
              <a:solidFill>
                <a:schemeClr val="lt1"/>
              </a:solidFill>
              <a:latin typeface="Arial"/>
              <a:ea typeface="Arial"/>
              <a:cs typeface="Arial"/>
              <a:sym typeface="Arial"/>
            </a:endParaRPr>
          </a:p>
        </p:txBody>
      </p:sp>
      <p:sp>
        <p:nvSpPr>
          <p:cNvPr id="212" name="Google Shape;212;p2"/>
          <p:cNvSpPr/>
          <p:nvPr/>
        </p:nvSpPr>
        <p:spPr>
          <a:xfrm>
            <a:off x="9804058" y="3506607"/>
            <a:ext cx="1645500" cy="395400"/>
          </a:xfrm>
          <a:prstGeom prst="rect">
            <a:avLst/>
          </a:prstGeom>
          <a:noFill/>
          <a:ln>
            <a:noFill/>
          </a:ln>
        </p:spPr>
        <p:txBody>
          <a:bodyPr anchorCtr="0" anchor="t" bIns="45000" lIns="36700" spcFirstLastPara="1" rIns="36700" wrap="square" tIns="45000">
            <a:noAutofit/>
          </a:bodyPr>
          <a:lstStyle/>
          <a:p>
            <a:pPr indent="0" lvl="0" marL="0" marR="0" rtl="0" algn="ctr">
              <a:lnSpc>
                <a:spcPct val="100000"/>
              </a:lnSpc>
              <a:spcBef>
                <a:spcPts val="0"/>
              </a:spcBef>
              <a:spcAft>
                <a:spcPts val="0"/>
              </a:spcAft>
              <a:buNone/>
            </a:pPr>
            <a:r>
              <a:rPr b="1" lang="en-US" sz="2200">
                <a:solidFill>
                  <a:schemeClr val="lt1"/>
                </a:solidFill>
              </a:rPr>
              <a:t>ISP</a:t>
            </a:r>
            <a:endParaRPr b="0" i="0" sz="2200" u="none" cap="none" strike="noStrike">
              <a:solidFill>
                <a:schemeClr val="lt1"/>
              </a:solidFill>
              <a:latin typeface="Arial"/>
              <a:ea typeface="Arial"/>
              <a:cs typeface="Arial"/>
              <a:sym typeface="Arial"/>
            </a:endParaRPr>
          </a:p>
        </p:txBody>
      </p:sp>
      <p:sp>
        <p:nvSpPr>
          <p:cNvPr id="213" name="Google Shape;213;p2"/>
          <p:cNvSpPr txBox="1"/>
          <p:nvPr/>
        </p:nvSpPr>
        <p:spPr>
          <a:xfrm>
            <a:off x="348750" y="4062850"/>
            <a:ext cx="16455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lt1"/>
                </a:solidFill>
              </a:rPr>
              <a:t>Equipo final del usuario, el cual consume los servicios de la red.</a:t>
            </a:r>
            <a:endParaRPr sz="1800">
              <a:solidFill>
                <a:schemeClr val="lt1"/>
              </a:solidFill>
            </a:endParaRPr>
          </a:p>
        </p:txBody>
      </p:sp>
      <p:sp>
        <p:nvSpPr>
          <p:cNvPr id="214" name="Google Shape;214;p2"/>
          <p:cNvSpPr txBox="1"/>
          <p:nvPr/>
        </p:nvSpPr>
        <p:spPr>
          <a:xfrm>
            <a:off x="2712575" y="4110775"/>
            <a:ext cx="16455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lt1"/>
                </a:solidFill>
              </a:rPr>
              <a:t>Recibe los datos y los envía solo al equipo de destino.</a:t>
            </a:r>
            <a:endParaRPr sz="1800">
              <a:solidFill>
                <a:schemeClr val="lt1"/>
              </a:solidFill>
            </a:endParaRPr>
          </a:p>
        </p:txBody>
      </p:sp>
      <p:sp>
        <p:nvSpPr>
          <p:cNvPr id="215" name="Google Shape;215;p2"/>
          <p:cNvSpPr txBox="1"/>
          <p:nvPr/>
        </p:nvSpPr>
        <p:spPr>
          <a:xfrm>
            <a:off x="5076400" y="4069575"/>
            <a:ext cx="16455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lt1"/>
                </a:solidFill>
              </a:rPr>
              <a:t>Dirige el tráfico entre redes y </a:t>
            </a:r>
            <a:r>
              <a:rPr lang="en-US" sz="1800">
                <a:solidFill>
                  <a:schemeClr val="lt1"/>
                </a:solidFill>
              </a:rPr>
              <a:t>suele</a:t>
            </a:r>
            <a:r>
              <a:rPr lang="en-US" sz="1800">
                <a:solidFill>
                  <a:schemeClr val="lt1"/>
                </a:solidFill>
              </a:rPr>
              <a:t> incluir firewall y wifi</a:t>
            </a:r>
            <a:r>
              <a:rPr lang="en-US" sz="1800">
                <a:solidFill>
                  <a:schemeClr val="lt1"/>
                </a:solidFill>
              </a:rPr>
              <a:t>.</a:t>
            </a:r>
            <a:endParaRPr sz="1800">
              <a:solidFill>
                <a:schemeClr val="lt1"/>
              </a:solidFill>
            </a:endParaRPr>
          </a:p>
        </p:txBody>
      </p:sp>
      <p:sp>
        <p:nvSpPr>
          <p:cNvPr id="216" name="Google Shape;216;p2"/>
          <p:cNvSpPr txBox="1"/>
          <p:nvPr/>
        </p:nvSpPr>
        <p:spPr>
          <a:xfrm>
            <a:off x="7440225" y="3949950"/>
            <a:ext cx="16455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lt1"/>
                </a:solidFill>
              </a:rPr>
              <a:t>Recibe la fibra óptica del ISP y convierte la señal de luz en señal eléctrica</a:t>
            </a:r>
            <a:r>
              <a:rPr lang="en-US" sz="1800">
                <a:solidFill>
                  <a:schemeClr val="lt1"/>
                </a:solidFill>
              </a:rPr>
              <a:t>.</a:t>
            </a:r>
            <a:endParaRPr sz="1800">
              <a:solidFill>
                <a:schemeClr val="lt1"/>
              </a:solidFill>
            </a:endParaRPr>
          </a:p>
        </p:txBody>
      </p:sp>
      <p:sp>
        <p:nvSpPr>
          <p:cNvPr id="217" name="Google Shape;217;p2"/>
          <p:cNvSpPr txBox="1"/>
          <p:nvPr/>
        </p:nvSpPr>
        <p:spPr>
          <a:xfrm>
            <a:off x="9804050" y="3924250"/>
            <a:ext cx="16455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lt1"/>
                </a:solidFill>
              </a:rPr>
              <a:t>Aporta la conexión del aula con internet. Sin él, no hay salida a web</a:t>
            </a:r>
            <a:r>
              <a:rPr lang="en-US" sz="1800">
                <a:solidFill>
                  <a:schemeClr val="lt1"/>
                </a:solidFill>
              </a:rPr>
              <a:t>.</a:t>
            </a:r>
            <a:endParaRPr sz="1800">
              <a:solidFill>
                <a:schemeClr val="lt1"/>
              </a:solidFill>
            </a:endParaRPr>
          </a:p>
        </p:txBody>
      </p:sp>
      <p:pic>
        <p:nvPicPr>
          <p:cNvPr id="218" name="Google Shape;218;p2" title="Flecha_curva.png"/>
          <p:cNvPicPr preferRelativeResize="0"/>
          <p:nvPr/>
        </p:nvPicPr>
        <p:blipFill>
          <a:blip r:embed="rId8">
            <a:alphaModFix/>
          </a:blip>
          <a:stretch>
            <a:fillRect/>
          </a:stretch>
        </p:blipFill>
        <p:spPr>
          <a:xfrm rot="-252816">
            <a:off x="6299594" y="5625045"/>
            <a:ext cx="1308236" cy="991833"/>
          </a:xfrm>
          <a:prstGeom prst="rect">
            <a:avLst/>
          </a:prstGeom>
          <a:noFill/>
          <a:ln>
            <a:noFill/>
          </a:ln>
        </p:spPr>
      </p:pic>
      <p:pic>
        <p:nvPicPr>
          <p:cNvPr id="219" name="Google Shape;219;p2" title="Flecha_curva.png"/>
          <p:cNvPicPr preferRelativeResize="0"/>
          <p:nvPr/>
        </p:nvPicPr>
        <p:blipFill>
          <a:blip r:embed="rId8">
            <a:alphaModFix/>
          </a:blip>
          <a:stretch>
            <a:fillRect/>
          </a:stretch>
        </p:blipFill>
        <p:spPr>
          <a:xfrm rot="-252816">
            <a:off x="8768469" y="5625045"/>
            <a:ext cx="1308236" cy="991833"/>
          </a:xfrm>
          <a:prstGeom prst="rect">
            <a:avLst/>
          </a:prstGeom>
          <a:noFill/>
          <a:ln>
            <a:noFill/>
          </a:ln>
        </p:spPr>
      </p:pic>
      <p:pic>
        <p:nvPicPr>
          <p:cNvPr id="220" name="Google Shape;220;p2" title="Flecha_curva.png"/>
          <p:cNvPicPr preferRelativeResize="0"/>
          <p:nvPr/>
        </p:nvPicPr>
        <p:blipFill>
          <a:blip r:embed="rId8">
            <a:alphaModFix/>
          </a:blip>
          <a:stretch>
            <a:fillRect/>
          </a:stretch>
        </p:blipFill>
        <p:spPr>
          <a:xfrm rot="-252816">
            <a:off x="4017369" y="5625045"/>
            <a:ext cx="1308236" cy="991833"/>
          </a:xfrm>
          <a:prstGeom prst="rect">
            <a:avLst/>
          </a:prstGeom>
          <a:noFill/>
          <a:ln>
            <a:noFill/>
          </a:ln>
        </p:spPr>
      </p:pic>
      <p:pic>
        <p:nvPicPr>
          <p:cNvPr id="221" name="Google Shape;221;p2" title="Flecha_curva.png"/>
          <p:cNvPicPr preferRelativeResize="0"/>
          <p:nvPr/>
        </p:nvPicPr>
        <p:blipFill>
          <a:blip r:embed="rId8">
            <a:alphaModFix/>
          </a:blip>
          <a:stretch>
            <a:fillRect/>
          </a:stretch>
        </p:blipFill>
        <p:spPr>
          <a:xfrm rot="-252816">
            <a:off x="1615819" y="5625045"/>
            <a:ext cx="1308236" cy="991833"/>
          </a:xfrm>
          <a:prstGeom prst="rect">
            <a:avLst/>
          </a:prstGeom>
          <a:noFill/>
          <a:ln>
            <a:noFill/>
          </a:ln>
        </p:spPr>
      </p:pic>
      <p:sp>
        <p:nvSpPr>
          <p:cNvPr id="222" name="Google Shape;222;p2"/>
          <p:cNvSpPr txBox="1"/>
          <p:nvPr/>
        </p:nvSpPr>
        <p:spPr>
          <a:xfrm>
            <a:off x="96350" y="6457800"/>
            <a:ext cx="12191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Este es</a:t>
            </a:r>
            <a:r>
              <a:rPr lang="en-US"/>
              <a:t> un ejemplo de acceso mediante fibra óptica, no una secuencia obligatoria en todas las redes. La ONT puede estar integrada en el router.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
          <p:cNvSpPr/>
          <p:nvPr/>
        </p:nvSpPr>
        <p:spPr>
          <a:xfrm>
            <a:off x="12238" y="-95500"/>
            <a:ext cx="12191400" cy="658200"/>
          </a:xfrm>
          <a:prstGeom prst="rect">
            <a:avLst/>
          </a:prstGeom>
          <a:solidFill>
            <a:srgbClr val="12496F"/>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3"/>
          <p:cNvSpPr/>
          <p:nvPr/>
        </p:nvSpPr>
        <p:spPr>
          <a:xfrm>
            <a:off x="567000" y="-95510"/>
            <a:ext cx="10972500" cy="4560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1" i="0" lang="en-US" sz="2400" u="none" cap="none" strike="noStrike">
                <a:solidFill>
                  <a:srgbClr val="FFFFFF"/>
                </a:solidFill>
                <a:latin typeface="Arial"/>
                <a:ea typeface="Arial"/>
                <a:cs typeface="Arial"/>
                <a:sym typeface="Arial"/>
              </a:rPr>
              <a:t>2 · Dispositivos finales:  Mohamed Azdiahmed</a:t>
            </a:r>
            <a:endParaRPr b="0" i="0" sz="2400" u="none" cap="none" strike="noStrike">
              <a:latin typeface="Arial"/>
              <a:ea typeface="Arial"/>
              <a:cs typeface="Arial"/>
              <a:sym typeface="Arial"/>
            </a:endParaRPr>
          </a:p>
        </p:txBody>
      </p:sp>
      <p:sp>
        <p:nvSpPr>
          <p:cNvPr id="229" name="Google Shape;229;p3"/>
          <p:cNvSpPr/>
          <p:nvPr/>
        </p:nvSpPr>
        <p:spPr>
          <a:xfrm>
            <a:off x="-57475" y="728575"/>
            <a:ext cx="5278800" cy="2891100"/>
          </a:xfrm>
          <a:prstGeom prst="roundRect">
            <a:avLst>
              <a:gd fmla="val 16667" name="adj"/>
            </a:avLst>
          </a:prstGeom>
          <a:solidFill>
            <a:srgbClr val="E7F1F9"/>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800">
              <a:solidFill>
                <a:schemeClr val="dk1"/>
              </a:solidFill>
              <a:latin typeface="Comic Sans MS"/>
              <a:ea typeface="Comic Sans MS"/>
              <a:cs typeface="Comic Sans MS"/>
              <a:sym typeface="Comic Sans MS"/>
            </a:endParaRPr>
          </a:p>
          <a:p>
            <a:pPr indent="0" lvl="0" marL="0" rtl="0" algn="l">
              <a:lnSpc>
                <a:spcPct val="115000"/>
              </a:lnSpc>
              <a:spcBef>
                <a:spcPts val="1200"/>
              </a:spcBef>
              <a:spcAft>
                <a:spcPts val="0"/>
              </a:spcAft>
              <a:buNone/>
            </a:pPr>
            <a:r>
              <a:rPr b="1" lang="en-US" sz="1200">
                <a:solidFill>
                  <a:schemeClr val="dk1"/>
                </a:solidFill>
                <a:latin typeface="Times New Roman"/>
                <a:ea typeface="Times New Roman"/>
                <a:cs typeface="Times New Roman"/>
                <a:sym typeface="Times New Roman"/>
              </a:rPr>
              <a:t>.</a:t>
            </a:r>
            <a:endParaRPr b="1" sz="1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2400">
                <a:solidFill>
                  <a:schemeClr val="dk1"/>
                </a:solidFill>
              </a:rPr>
              <a:t>Son todos los dispositivos que originan o reciben datos, como ordenadores, servidores, impresoras de red y cámaras IP  para enviar o recibir información en la red.</a:t>
            </a:r>
            <a:endParaRPr sz="2400">
              <a:solidFill>
                <a:schemeClr val="dk1"/>
              </a:solidFill>
            </a:endParaRPr>
          </a:p>
          <a:p>
            <a:pPr indent="0" lvl="0" marL="457200" rtl="0" algn="l">
              <a:lnSpc>
                <a:spcPct val="115000"/>
              </a:lnSpc>
              <a:spcBef>
                <a:spcPts val="1200"/>
              </a:spcBef>
              <a:spcAft>
                <a:spcPts val="0"/>
              </a:spcAft>
              <a:buNone/>
            </a:pPr>
            <a:r>
              <a:t/>
            </a:r>
            <a:endParaRPr sz="2400">
              <a:solidFill>
                <a:schemeClr val="dk1"/>
              </a:solidFill>
            </a:endParaRPr>
          </a:p>
          <a:p>
            <a:pPr indent="0" lvl="0" marL="0" rtl="0" algn="l">
              <a:lnSpc>
                <a:spcPct val="115000"/>
              </a:lnSpc>
              <a:spcBef>
                <a:spcPts val="2100"/>
              </a:spcBef>
              <a:spcAft>
                <a:spcPts val="1200"/>
              </a:spcAft>
              <a:buNone/>
            </a:pPr>
            <a:r>
              <a:t/>
            </a:r>
            <a:endParaRPr b="1" sz="1000">
              <a:solidFill>
                <a:schemeClr val="dk1"/>
              </a:solidFill>
              <a:latin typeface="Comic Sans MS"/>
              <a:ea typeface="Comic Sans MS"/>
              <a:cs typeface="Comic Sans MS"/>
              <a:sym typeface="Comic Sans MS"/>
            </a:endParaRPr>
          </a:p>
        </p:txBody>
      </p:sp>
      <p:sp>
        <p:nvSpPr>
          <p:cNvPr id="230" name="Google Shape;230;p3"/>
          <p:cNvSpPr/>
          <p:nvPr/>
        </p:nvSpPr>
        <p:spPr>
          <a:xfrm>
            <a:off x="12250" y="3619675"/>
            <a:ext cx="5208900" cy="3238500"/>
          </a:xfrm>
          <a:prstGeom prst="roundRect">
            <a:avLst>
              <a:gd fmla="val 16667" name="adj"/>
            </a:avLst>
          </a:prstGeom>
          <a:solidFill>
            <a:srgbClr val="EBF5EB"/>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457200" rtl="0" algn="l">
              <a:lnSpc>
                <a:spcPct val="115000"/>
              </a:lnSpc>
              <a:spcBef>
                <a:spcPts val="1200"/>
              </a:spcBef>
              <a:spcAft>
                <a:spcPts val="0"/>
              </a:spcAft>
              <a:buNone/>
            </a:pPr>
            <a:r>
              <a:t/>
            </a:r>
            <a:endParaRPr b="1" sz="1600">
              <a:solidFill>
                <a:schemeClr val="dk1"/>
              </a:solidFill>
            </a:endParaRPr>
          </a:p>
          <a:p>
            <a:pPr indent="0" lvl="0" marL="0" rtl="0" algn="l">
              <a:lnSpc>
                <a:spcPct val="115000"/>
              </a:lnSpc>
              <a:spcBef>
                <a:spcPts val="2100"/>
              </a:spcBef>
              <a:spcAft>
                <a:spcPts val="0"/>
              </a:spcAft>
              <a:buNone/>
            </a:pPr>
            <a:r>
              <a:rPr b="1" lang="en-US" sz="1700">
                <a:solidFill>
                  <a:schemeClr val="dk1"/>
                </a:solidFill>
              </a:rPr>
              <a:t>Generar datos:</a:t>
            </a:r>
            <a:r>
              <a:rPr lang="en-US" sz="1700">
                <a:solidFill>
                  <a:schemeClr val="dk1"/>
                </a:solidFill>
              </a:rPr>
              <a:t> Son el punto de origen de la información (por ejemplo, cuando escribes un mensaje o envías una tarea).</a:t>
            </a:r>
            <a:endParaRPr sz="1700">
              <a:solidFill>
                <a:schemeClr val="dk1"/>
              </a:solidFill>
            </a:endParaRPr>
          </a:p>
          <a:p>
            <a:pPr indent="0" lvl="0" marL="0" rtl="0" algn="l">
              <a:lnSpc>
                <a:spcPct val="115000"/>
              </a:lnSpc>
              <a:spcBef>
                <a:spcPts val="2100"/>
              </a:spcBef>
              <a:spcAft>
                <a:spcPts val="0"/>
              </a:spcAft>
              <a:buNone/>
            </a:pPr>
            <a:r>
              <a:rPr b="1" lang="en-US" sz="1700">
                <a:solidFill>
                  <a:schemeClr val="dk1"/>
                </a:solidFill>
              </a:rPr>
              <a:t>Recibir datos:</a:t>
            </a:r>
            <a:r>
              <a:rPr lang="en-US" sz="1700">
                <a:solidFill>
                  <a:schemeClr val="dk1"/>
                </a:solidFill>
              </a:rPr>
              <a:t> Son el punto de destino final que traduce los datos de la red para que los humanos los entiendan (por ejemplo, mostrar una página web o un video en la pantalla)</a:t>
            </a:r>
            <a:r>
              <a:rPr lang="en-US" sz="1600">
                <a:solidFill>
                  <a:schemeClr val="dk1"/>
                </a:solidFill>
              </a:rPr>
              <a:t>.</a:t>
            </a:r>
            <a:endParaRPr sz="1600">
              <a:solidFill>
                <a:schemeClr val="dk1"/>
              </a:solidFill>
            </a:endParaRPr>
          </a:p>
          <a:p>
            <a:pPr indent="0" lvl="0" marL="0" rtl="0" algn="l">
              <a:spcBef>
                <a:spcPts val="2100"/>
              </a:spcBef>
              <a:spcAft>
                <a:spcPts val="0"/>
              </a:spcAft>
              <a:buNone/>
            </a:pPr>
            <a:r>
              <a:t/>
            </a:r>
            <a:endParaRPr b="1" i="1" sz="2300" u="sng">
              <a:solidFill>
                <a:schemeClr val="dk1"/>
              </a:solidFill>
              <a:latin typeface="Comic Sans MS"/>
              <a:ea typeface="Comic Sans MS"/>
              <a:cs typeface="Comic Sans MS"/>
              <a:sym typeface="Comic Sans MS"/>
            </a:endParaRPr>
          </a:p>
        </p:txBody>
      </p:sp>
      <p:sp>
        <p:nvSpPr>
          <p:cNvPr id="231" name="Google Shape;231;p3"/>
          <p:cNvSpPr/>
          <p:nvPr/>
        </p:nvSpPr>
        <p:spPr>
          <a:xfrm>
            <a:off x="6359760" y="2286000"/>
            <a:ext cx="5097600" cy="100512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t/>
            </a:r>
            <a:endParaRPr b="0" i="0" sz="2000" u="none" cap="none" strike="noStrike">
              <a:latin typeface="Arial"/>
              <a:ea typeface="Arial"/>
              <a:cs typeface="Arial"/>
              <a:sym typeface="Arial"/>
            </a:endParaRPr>
          </a:p>
        </p:txBody>
      </p:sp>
      <p:pic>
        <p:nvPicPr>
          <p:cNvPr id="232" name="Google Shape;232;p3" title="download.jpg"/>
          <p:cNvPicPr preferRelativeResize="0"/>
          <p:nvPr/>
        </p:nvPicPr>
        <p:blipFill>
          <a:blip r:embed="rId3">
            <a:alphaModFix/>
          </a:blip>
          <a:stretch>
            <a:fillRect/>
          </a:stretch>
        </p:blipFill>
        <p:spPr>
          <a:xfrm>
            <a:off x="5221325" y="937350"/>
            <a:ext cx="6898825" cy="54229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h3173d30833cc6355_44_0"/>
          <p:cNvSpPr/>
          <p:nvPr/>
        </p:nvSpPr>
        <p:spPr>
          <a:xfrm>
            <a:off x="12238" y="-95500"/>
            <a:ext cx="12191400" cy="658200"/>
          </a:xfrm>
          <a:prstGeom prst="rect">
            <a:avLst/>
          </a:prstGeom>
          <a:solidFill>
            <a:srgbClr val="12496F"/>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h3173d30833cc6355_44_0"/>
          <p:cNvSpPr/>
          <p:nvPr/>
        </p:nvSpPr>
        <p:spPr>
          <a:xfrm>
            <a:off x="567000" y="-95510"/>
            <a:ext cx="10972500" cy="4560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lang="en-US" sz="2400">
                <a:solidFill>
                  <a:srgbClr val="FFFFFF"/>
                </a:solidFill>
              </a:rPr>
              <a:t>3</a:t>
            </a:r>
            <a:r>
              <a:rPr b="1" i="0" lang="en-US" sz="2400" u="none" cap="none" strike="noStrike">
                <a:solidFill>
                  <a:srgbClr val="FFFFFF"/>
                </a:solidFill>
                <a:latin typeface="Arial"/>
                <a:ea typeface="Arial"/>
                <a:cs typeface="Arial"/>
                <a:sym typeface="Arial"/>
              </a:rPr>
              <a:t> · Dispositivos</a:t>
            </a:r>
            <a:r>
              <a:rPr b="1" lang="en-US" sz="2400">
                <a:solidFill>
                  <a:srgbClr val="FFFFFF"/>
                </a:solidFill>
              </a:rPr>
              <a:t> </a:t>
            </a:r>
            <a:r>
              <a:rPr b="1" i="0" lang="en-US" sz="2400" u="none" cap="none" strike="noStrike">
                <a:solidFill>
                  <a:srgbClr val="FFFFFF"/>
                </a:solidFill>
                <a:latin typeface="Arial"/>
                <a:ea typeface="Arial"/>
                <a:cs typeface="Arial"/>
                <a:sym typeface="Arial"/>
              </a:rPr>
              <a:t>de interconexión:  Mohamed Azdiahmed</a:t>
            </a:r>
            <a:endParaRPr b="0" i="0" sz="2400" u="none" cap="none" strike="noStrike">
              <a:latin typeface="Arial"/>
              <a:ea typeface="Arial"/>
              <a:cs typeface="Arial"/>
              <a:sym typeface="Arial"/>
            </a:endParaRPr>
          </a:p>
        </p:txBody>
      </p:sp>
      <p:sp>
        <p:nvSpPr>
          <p:cNvPr id="239" name="Google Shape;239;h3173d30833cc6355_44_0"/>
          <p:cNvSpPr/>
          <p:nvPr/>
        </p:nvSpPr>
        <p:spPr>
          <a:xfrm>
            <a:off x="12250" y="766022"/>
            <a:ext cx="3384000" cy="2307600"/>
          </a:xfrm>
          <a:prstGeom prst="roundRect">
            <a:avLst>
              <a:gd fmla="val 16667" name="adj"/>
            </a:avLst>
          </a:prstGeom>
          <a:solidFill>
            <a:srgbClr val="E7F1F9"/>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1000">
              <a:solidFill>
                <a:schemeClr val="dk1"/>
              </a:solidFill>
              <a:latin typeface="Comic Sans MS"/>
              <a:ea typeface="Comic Sans MS"/>
              <a:cs typeface="Comic Sans MS"/>
              <a:sym typeface="Comic Sans MS"/>
            </a:endParaRPr>
          </a:p>
          <a:p>
            <a:pPr indent="0" lvl="0" marL="0" rtl="0" algn="l">
              <a:lnSpc>
                <a:spcPct val="115000"/>
              </a:lnSpc>
              <a:spcBef>
                <a:spcPts val="1200"/>
              </a:spcBef>
              <a:spcAft>
                <a:spcPts val="0"/>
              </a:spcAft>
              <a:buNone/>
            </a:pPr>
            <a:r>
              <a:t/>
            </a:r>
            <a:endParaRPr b="1" sz="1200">
              <a:solidFill>
                <a:schemeClr val="dk1"/>
              </a:solidFill>
              <a:latin typeface="Comic Sans MS"/>
              <a:ea typeface="Comic Sans MS"/>
              <a:cs typeface="Comic Sans MS"/>
              <a:sym typeface="Comic Sans MS"/>
            </a:endParaRPr>
          </a:p>
          <a:p>
            <a:pPr indent="0" lvl="0" marL="0" rtl="0" algn="l">
              <a:lnSpc>
                <a:spcPct val="115000"/>
              </a:lnSpc>
              <a:spcBef>
                <a:spcPts val="1200"/>
              </a:spcBef>
              <a:spcAft>
                <a:spcPts val="0"/>
              </a:spcAft>
              <a:buNone/>
            </a:pPr>
            <a:r>
              <a:rPr b="1" lang="en-US" sz="1200">
                <a:solidFill>
                  <a:schemeClr val="dk1"/>
                </a:solidFill>
                <a:latin typeface="Comic Sans MS"/>
                <a:ea typeface="Comic Sans MS"/>
                <a:cs typeface="Comic Sans MS"/>
                <a:sym typeface="Comic Sans MS"/>
              </a:rPr>
              <a:t>A diferencia de los dispositivos finales, los equipos de interconexión (o dispositivos intermedios) no generan ni consumen el contenido de los mensajes. Su función principal es conectar dispositivos o redes entre sí y encaminar (guiar) el tráfico de datos a través de la infraestructura.</a:t>
            </a:r>
            <a:endParaRPr b="1" sz="1200">
              <a:solidFill>
                <a:schemeClr val="dk1"/>
              </a:solidFill>
              <a:latin typeface="Comic Sans MS"/>
              <a:ea typeface="Comic Sans MS"/>
              <a:cs typeface="Comic Sans MS"/>
              <a:sym typeface="Comic Sans MS"/>
            </a:endParaRPr>
          </a:p>
          <a:p>
            <a:pPr indent="0" lvl="0" marL="0" rtl="0" algn="l">
              <a:lnSpc>
                <a:spcPct val="115000"/>
              </a:lnSpc>
              <a:spcBef>
                <a:spcPts val="1200"/>
              </a:spcBef>
              <a:spcAft>
                <a:spcPts val="0"/>
              </a:spcAft>
              <a:buNone/>
            </a:pPr>
            <a:r>
              <a:t/>
            </a:r>
            <a:endParaRPr b="1" sz="1200">
              <a:solidFill>
                <a:schemeClr val="dk1"/>
              </a:solidFill>
              <a:latin typeface="Comic Sans MS"/>
              <a:ea typeface="Comic Sans MS"/>
              <a:cs typeface="Comic Sans MS"/>
              <a:sym typeface="Comic Sans MS"/>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300"/>
          </a:p>
          <a:p>
            <a:pPr indent="0" lvl="0" marL="0" rtl="0" algn="l">
              <a:lnSpc>
                <a:spcPct val="115000"/>
              </a:lnSpc>
              <a:spcBef>
                <a:spcPts val="0"/>
              </a:spcBef>
              <a:spcAft>
                <a:spcPts val="1200"/>
              </a:spcAft>
              <a:buNone/>
            </a:pPr>
            <a:r>
              <a:t/>
            </a:r>
            <a:endParaRPr b="1" sz="1000">
              <a:solidFill>
                <a:schemeClr val="dk1"/>
              </a:solidFill>
              <a:latin typeface="Comic Sans MS"/>
              <a:ea typeface="Comic Sans MS"/>
              <a:cs typeface="Comic Sans MS"/>
              <a:sym typeface="Comic Sans MS"/>
            </a:endParaRPr>
          </a:p>
        </p:txBody>
      </p:sp>
      <p:sp>
        <p:nvSpPr>
          <p:cNvPr id="240" name="Google Shape;240;h3173d30833cc6355_44_0"/>
          <p:cNvSpPr/>
          <p:nvPr/>
        </p:nvSpPr>
        <p:spPr>
          <a:xfrm>
            <a:off x="8056500" y="766025"/>
            <a:ext cx="4135500" cy="2877000"/>
          </a:xfrm>
          <a:prstGeom prst="roundRect">
            <a:avLst>
              <a:gd fmla="val 16667" name="adj"/>
            </a:avLst>
          </a:prstGeom>
          <a:solidFill>
            <a:srgbClr val="E7F1F9"/>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1200">
                <a:solidFill>
                  <a:schemeClr val="dk1"/>
                </a:solidFill>
                <a:latin typeface="Comic Sans MS"/>
                <a:ea typeface="Comic Sans MS"/>
                <a:cs typeface="Comic Sans MS"/>
                <a:sym typeface="Comic Sans MS"/>
              </a:rPr>
              <a:t>S</a:t>
            </a:r>
            <a:r>
              <a:rPr b="1" lang="en-US">
                <a:solidFill>
                  <a:schemeClr val="dk1"/>
                </a:solidFill>
                <a:latin typeface="Comic Sans MS"/>
                <a:ea typeface="Comic Sans MS"/>
                <a:cs typeface="Comic Sans MS"/>
                <a:sym typeface="Comic Sans MS"/>
              </a:rPr>
              <a:t>witch (Conmutador):</a:t>
            </a:r>
            <a:endParaRPr b="1">
              <a:solidFill>
                <a:schemeClr val="dk1"/>
              </a:solidFill>
              <a:latin typeface="Comic Sans MS"/>
              <a:ea typeface="Comic Sans MS"/>
              <a:cs typeface="Comic Sans MS"/>
              <a:sym typeface="Comic Sans MS"/>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latin typeface="Comic Sans MS"/>
                <a:ea typeface="Comic Sans MS"/>
                <a:cs typeface="Comic Sans MS"/>
                <a:sym typeface="Comic Sans MS"/>
              </a:rPr>
              <a:t>Función:</a:t>
            </a:r>
            <a:r>
              <a:rPr lang="en-US">
                <a:solidFill>
                  <a:schemeClr val="dk1"/>
                </a:solidFill>
                <a:latin typeface="Comic Sans MS"/>
                <a:ea typeface="Comic Sans MS"/>
                <a:cs typeface="Comic Sans MS"/>
                <a:sym typeface="Comic Sans MS"/>
              </a:rPr>
              <a:t> Conecta múltiples dispositivos finales dentro de una misma red local (LAN) a través de cables de red.</a:t>
            </a:r>
            <a:endParaRPr>
              <a:solidFill>
                <a:schemeClr val="dk1"/>
              </a:solidFill>
              <a:latin typeface="Comic Sans MS"/>
              <a:ea typeface="Comic Sans MS"/>
              <a:cs typeface="Comic Sans MS"/>
              <a:sym typeface="Comic Sans MS"/>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latin typeface="Comic Sans MS"/>
                <a:ea typeface="Comic Sans MS"/>
                <a:cs typeface="Comic Sans MS"/>
                <a:sym typeface="Comic Sans MS"/>
              </a:rPr>
              <a:t>Cómo actúa:</a:t>
            </a:r>
            <a:r>
              <a:rPr lang="en-US">
                <a:solidFill>
                  <a:schemeClr val="dk1"/>
                </a:solidFill>
                <a:latin typeface="Comic Sans MS"/>
                <a:ea typeface="Comic Sans MS"/>
                <a:cs typeface="Comic Sans MS"/>
                <a:sym typeface="Comic Sans MS"/>
              </a:rPr>
              <a:t> Lee la dirección física de cada equipo conectado y normalmente reenvía las tramas conocidas por el puerto asociado a la MAC de destino; las difusiones y los destinos desconocidos pueden salir por varios puertos </a:t>
            </a:r>
            <a:endParaRPr sz="1800">
              <a:solidFill>
                <a:schemeClr val="dk1"/>
              </a:solidFill>
              <a:latin typeface="Comic Sans MS"/>
              <a:ea typeface="Comic Sans MS"/>
              <a:cs typeface="Comic Sans MS"/>
              <a:sym typeface="Comic Sans MS"/>
            </a:endParaRPr>
          </a:p>
        </p:txBody>
      </p:sp>
      <p:sp>
        <p:nvSpPr>
          <p:cNvPr id="241" name="Google Shape;241;h3173d30833cc6355_44_0"/>
          <p:cNvSpPr/>
          <p:nvPr/>
        </p:nvSpPr>
        <p:spPr>
          <a:xfrm>
            <a:off x="108625" y="3642900"/>
            <a:ext cx="3384000" cy="2669100"/>
          </a:xfrm>
          <a:prstGeom prst="roundRect">
            <a:avLst>
              <a:gd fmla="val 16667" name="adj"/>
            </a:avLst>
          </a:prstGeom>
          <a:solidFill>
            <a:srgbClr val="E7F1F9"/>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1100">
              <a:solidFill>
                <a:schemeClr val="dk1"/>
              </a:solidFill>
              <a:latin typeface="Comic Sans MS"/>
              <a:ea typeface="Comic Sans MS"/>
              <a:cs typeface="Comic Sans MS"/>
              <a:sym typeface="Comic Sans MS"/>
            </a:endParaRPr>
          </a:p>
          <a:p>
            <a:pPr indent="0" lvl="0" marL="0" rtl="0" algn="l">
              <a:lnSpc>
                <a:spcPct val="115000"/>
              </a:lnSpc>
              <a:spcBef>
                <a:spcPts val="1200"/>
              </a:spcBef>
              <a:spcAft>
                <a:spcPts val="0"/>
              </a:spcAft>
              <a:buNone/>
            </a:pPr>
            <a:r>
              <a:t/>
            </a:r>
            <a:endParaRPr b="1" sz="1300">
              <a:solidFill>
                <a:schemeClr val="dk1"/>
              </a:solidFill>
              <a:latin typeface="Comic Sans MS"/>
              <a:ea typeface="Comic Sans MS"/>
              <a:cs typeface="Comic Sans MS"/>
              <a:sym typeface="Comic Sans MS"/>
            </a:endParaRPr>
          </a:p>
          <a:p>
            <a:pPr indent="0" lvl="0" marL="0" rtl="0" algn="l">
              <a:lnSpc>
                <a:spcPct val="115000"/>
              </a:lnSpc>
              <a:spcBef>
                <a:spcPts val="1200"/>
              </a:spcBef>
              <a:spcAft>
                <a:spcPts val="0"/>
              </a:spcAft>
              <a:buNone/>
            </a:pPr>
            <a:r>
              <a:t/>
            </a:r>
            <a:endParaRPr b="1">
              <a:solidFill>
                <a:schemeClr val="dk1"/>
              </a:solidFill>
              <a:latin typeface="Comic Sans MS"/>
              <a:ea typeface="Comic Sans MS"/>
              <a:cs typeface="Comic Sans MS"/>
              <a:sym typeface="Comic Sans MS"/>
            </a:endParaRPr>
          </a:p>
          <a:p>
            <a:pPr indent="0" lvl="0" marL="0" rtl="0" algn="l">
              <a:lnSpc>
                <a:spcPct val="115000"/>
              </a:lnSpc>
              <a:spcBef>
                <a:spcPts val="0"/>
              </a:spcBef>
              <a:spcAft>
                <a:spcPts val="0"/>
              </a:spcAft>
              <a:buNone/>
            </a:pPr>
            <a:r>
              <a:t/>
            </a:r>
            <a:endParaRPr b="1">
              <a:solidFill>
                <a:schemeClr val="dk1"/>
              </a:solidFill>
              <a:latin typeface="Comic Sans MS"/>
              <a:ea typeface="Comic Sans MS"/>
              <a:cs typeface="Comic Sans MS"/>
              <a:sym typeface="Comic Sans MS"/>
            </a:endParaRPr>
          </a:p>
          <a:p>
            <a:pPr indent="0" lvl="0" marL="0" rtl="0" algn="l">
              <a:lnSpc>
                <a:spcPct val="115000"/>
              </a:lnSpc>
              <a:spcBef>
                <a:spcPts val="0"/>
              </a:spcBef>
              <a:spcAft>
                <a:spcPts val="0"/>
              </a:spcAft>
              <a:buClr>
                <a:schemeClr val="dk1"/>
              </a:buClr>
              <a:buSzPts val="1100"/>
              <a:buFont typeface="Arial"/>
              <a:buNone/>
            </a:pPr>
            <a:r>
              <a:rPr b="1" lang="en-US" sz="1200">
                <a:solidFill>
                  <a:schemeClr val="dk1"/>
                </a:solidFill>
                <a:latin typeface="Comic Sans MS"/>
                <a:ea typeface="Comic Sans MS"/>
                <a:cs typeface="Comic Sans MS"/>
                <a:sym typeface="Comic Sans MS"/>
              </a:rPr>
              <a:t>Router (Enrutador):</a:t>
            </a:r>
            <a:endParaRPr b="1" sz="1200">
              <a:solidFill>
                <a:schemeClr val="dk1"/>
              </a:solidFill>
              <a:latin typeface="Comic Sans MS"/>
              <a:ea typeface="Comic Sans MS"/>
              <a:cs typeface="Comic Sans MS"/>
              <a:sym typeface="Comic Sans MS"/>
            </a:endParaRPr>
          </a:p>
          <a:p>
            <a:pPr indent="-279400" lvl="0" marL="457200" rtl="0" algn="l">
              <a:lnSpc>
                <a:spcPct val="115000"/>
              </a:lnSpc>
              <a:spcBef>
                <a:spcPts val="0"/>
              </a:spcBef>
              <a:spcAft>
                <a:spcPts val="0"/>
              </a:spcAft>
              <a:buClr>
                <a:schemeClr val="dk1"/>
              </a:buClr>
              <a:buSzPts val="800"/>
              <a:buChar char="●"/>
            </a:pPr>
            <a:r>
              <a:rPr b="1" lang="en-US" sz="1200">
                <a:solidFill>
                  <a:schemeClr val="dk1"/>
                </a:solidFill>
                <a:latin typeface="Comic Sans MS"/>
                <a:ea typeface="Comic Sans MS"/>
                <a:cs typeface="Comic Sans MS"/>
                <a:sym typeface="Comic Sans MS"/>
              </a:rPr>
              <a:t>Función: </a:t>
            </a:r>
            <a:r>
              <a:rPr lang="en-US" sz="1200">
                <a:solidFill>
                  <a:schemeClr val="dk1"/>
                </a:solidFill>
                <a:latin typeface="Comic Sans MS"/>
                <a:ea typeface="Comic Sans MS"/>
                <a:cs typeface="Comic Sans MS"/>
                <a:sym typeface="Comic Sans MS"/>
              </a:rPr>
              <a:t>Interconecta redes totalmente diferentes (por ejemplo, une tu red doméstica local con la red global de Internet).</a:t>
            </a:r>
            <a:endParaRPr sz="1200">
              <a:solidFill>
                <a:schemeClr val="dk1"/>
              </a:solidFill>
              <a:latin typeface="Comic Sans MS"/>
              <a:ea typeface="Comic Sans MS"/>
              <a:cs typeface="Comic Sans MS"/>
              <a:sym typeface="Comic Sans MS"/>
            </a:endParaRPr>
          </a:p>
          <a:p>
            <a:pPr indent="-279400" lvl="0" marL="457200" rtl="0" algn="l">
              <a:lnSpc>
                <a:spcPct val="115000"/>
              </a:lnSpc>
              <a:spcBef>
                <a:spcPts val="0"/>
              </a:spcBef>
              <a:spcAft>
                <a:spcPts val="0"/>
              </a:spcAft>
              <a:buClr>
                <a:schemeClr val="dk1"/>
              </a:buClr>
              <a:buSzPts val="800"/>
              <a:buChar char="●"/>
            </a:pPr>
            <a:r>
              <a:rPr b="1" lang="en-US" sz="1200">
                <a:solidFill>
                  <a:schemeClr val="dk1"/>
                </a:solidFill>
                <a:latin typeface="Comic Sans MS"/>
                <a:ea typeface="Comic Sans MS"/>
                <a:cs typeface="Comic Sans MS"/>
                <a:sym typeface="Comic Sans MS"/>
              </a:rPr>
              <a:t>Cómo actúa: </a:t>
            </a:r>
            <a:r>
              <a:rPr lang="en-US" sz="1200">
                <a:solidFill>
                  <a:schemeClr val="dk1"/>
                </a:solidFill>
                <a:latin typeface="Comic Sans MS"/>
                <a:ea typeface="Comic Sans MS"/>
                <a:cs typeface="Comic Sans MS"/>
                <a:sym typeface="Comic Sans MS"/>
              </a:rPr>
              <a:t>Analiza la dirección IP de destino de los datos y consulta su tabla de encaminamiento y selecciona el siguiente salto según las rutas disponibles.</a:t>
            </a:r>
            <a:endParaRPr sz="1500">
              <a:solidFill>
                <a:schemeClr val="dk1"/>
              </a:solidFill>
              <a:latin typeface="Comic Sans MS"/>
              <a:ea typeface="Comic Sans MS"/>
              <a:cs typeface="Comic Sans MS"/>
              <a:sym typeface="Comic Sans MS"/>
            </a:endParaRPr>
          </a:p>
          <a:p>
            <a:pPr indent="0" lvl="0" marL="0" rtl="0" algn="l">
              <a:lnSpc>
                <a:spcPct val="115000"/>
              </a:lnSpc>
              <a:spcBef>
                <a:spcPts val="1200"/>
              </a:spcBef>
              <a:spcAft>
                <a:spcPts val="0"/>
              </a:spcAft>
              <a:buNone/>
            </a:pPr>
            <a:r>
              <a:t/>
            </a:r>
            <a:endParaRPr b="1" sz="1300">
              <a:solidFill>
                <a:schemeClr val="dk1"/>
              </a:solidFill>
              <a:latin typeface="Comic Sans MS"/>
              <a:ea typeface="Comic Sans MS"/>
              <a:cs typeface="Comic Sans MS"/>
              <a:sym typeface="Comic Sans MS"/>
            </a:endParaRPr>
          </a:p>
          <a:p>
            <a:pPr indent="0" lvl="0" marL="0" rtl="0" algn="l">
              <a:lnSpc>
                <a:spcPct val="115000"/>
              </a:lnSpc>
              <a:spcBef>
                <a:spcPts val="1200"/>
              </a:spcBef>
              <a:spcAft>
                <a:spcPts val="0"/>
              </a:spcAft>
              <a:buClr>
                <a:schemeClr val="dk1"/>
              </a:buClr>
              <a:buSzPts val="1100"/>
              <a:buFont typeface="Arial"/>
              <a:buNone/>
            </a:pPr>
            <a:r>
              <a:t/>
            </a:r>
            <a:endParaRPr sz="13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p>
          <a:p>
            <a:pPr indent="0" lvl="0" marL="0" rtl="0" algn="l">
              <a:lnSpc>
                <a:spcPct val="115000"/>
              </a:lnSpc>
              <a:spcBef>
                <a:spcPts val="0"/>
              </a:spcBef>
              <a:spcAft>
                <a:spcPts val="1200"/>
              </a:spcAft>
              <a:buNone/>
            </a:pPr>
            <a:r>
              <a:t/>
            </a:r>
            <a:endParaRPr b="1" sz="1100">
              <a:solidFill>
                <a:schemeClr val="dk1"/>
              </a:solidFill>
              <a:latin typeface="Comic Sans MS"/>
              <a:ea typeface="Comic Sans MS"/>
              <a:cs typeface="Comic Sans MS"/>
              <a:sym typeface="Comic Sans MS"/>
            </a:endParaRPr>
          </a:p>
        </p:txBody>
      </p:sp>
      <p:sp>
        <p:nvSpPr>
          <p:cNvPr id="242" name="Google Shape;242;h3173d30833cc6355_44_0"/>
          <p:cNvSpPr/>
          <p:nvPr/>
        </p:nvSpPr>
        <p:spPr>
          <a:xfrm>
            <a:off x="8013150" y="3731975"/>
            <a:ext cx="4222200" cy="2504400"/>
          </a:xfrm>
          <a:prstGeom prst="roundRect">
            <a:avLst>
              <a:gd fmla="val 16667" name="adj"/>
            </a:avLst>
          </a:prstGeom>
          <a:solidFill>
            <a:srgbClr val="E7F1F9"/>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a:solidFill>
                  <a:schemeClr val="dk1"/>
                </a:solidFill>
                <a:latin typeface="Comic Sans MS"/>
                <a:ea typeface="Comic Sans MS"/>
                <a:cs typeface="Comic Sans MS"/>
                <a:sym typeface="Comic Sans MS"/>
              </a:rPr>
              <a:t>AP (Access Point / Punto de Acceso Wi-Fi):</a:t>
            </a:r>
            <a:endParaRPr b="1">
              <a:solidFill>
                <a:schemeClr val="dk1"/>
              </a:solidFill>
              <a:latin typeface="Comic Sans MS"/>
              <a:ea typeface="Comic Sans MS"/>
              <a:cs typeface="Comic Sans MS"/>
              <a:sym typeface="Comic Sans MS"/>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latin typeface="Comic Sans MS"/>
                <a:ea typeface="Comic Sans MS"/>
                <a:cs typeface="Comic Sans MS"/>
                <a:sym typeface="Comic Sans MS"/>
              </a:rPr>
              <a:t>Función:</a:t>
            </a:r>
            <a:r>
              <a:rPr lang="en-US">
                <a:solidFill>
                  <a:schemeClr val="dk1"/>
                </a:solidFill>
                <a:latin typeface="Comic Sans MS"/>
                <a:ea typeface="Comic Sans MS"/>
                <a:cs typeface="Comic Sans MS"/>
                <a:sym typeface="Comic Sans MS"/>
              </a:rPr>
              <a:t> Extiende la red cableada hacia el entorno inalámbrico.</a:t>
            </a:r>
            <a:endParaRPr>
              <a:solidFill>
                <a:schemeClr val="dk1"/>
              </a:solidFill>
              <a:latin typeface="Comic Sans MS"/>
              <a:ea typeface="Comic Sans MS"/>
              <a:cs typeface="Comic Sans MS"/>
              <a:sym typeface="Comic Sans MS"/>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latin typeface="Comic Sans MS"/>
                <a:ea typeface="Comic Sans MS"/>
                <a:cs typeface="Comic Sans MS"/>
                <a:sym typeface="Comic Sans MS"/>
              </a:rPr>
              <a:t>Cómo actúa:</a:t>
            </a:r>
            <a:r>
              <a:rPr lang="en-US">
                <a:solidFill>
                  <a:schemeClr val="dk1"/>
                </a:solidFill>
                <a:latin typeface="Comic Sans MS"/>
                <a:ea typeface="Comic Sans MS"/>
                <a:cs typeface="Comic Sans MS"/>
                <a:sym typeface="Comic Sans MS"/>
              </a:rPr>
              <a:t> Recibe los datos que viajan por cable desde el </a:t>
            </a:r>
            <a:r>
              <a:rPr i="1" lang="en-US">
                <a:solidFill>
                  <a:schemeClr val="dk1"/>
                </a:solidFill>
                <a:latin typeface="Comic Sans MS"/>
                <a:ea typeface="Comic Sans MS"/>
                <a:cs typeface="Comic Sans MS"/>
                <a:sym typeface="Comic Sans MS"/>
              </a:rPr>
              <a:t>switch</a:t>
            </a:r>
            <a:r>
              <a:rPr lang="en-US">
                <a:solidFill>
                  <a:schemeClr val="dk1"/>
                </a:solidFill>
                <a:latin typeface="Comic Sans MS"/>
                <a:ea typeface="Comic Sans MS"/>
                <a:cs typeface="Comic Sans MS"/>
                <a:sym typeface="Comic Sans MS"/>
              </a:rPr>
              <a:t> o </a:t>
            </a:r>
            <a:r>
              <a:rPr i="1" lang="en-US">
                <a:solidFill>
                  <a:schemeClr val="dk1"/>
                </a:solidFill>
                <a:latin typeface="Comic Sans MS"/>
                <a:ea typeface="Comic Sans MS"/>
                <a:cs typeface="Comic Sans MS"/>
                <a:sym typeface="Comic Sans MS"/>
              </a:rPr>
              <a:t>router</a:t>
            </a:r>
            <a:r>
              <a:rPr lang="en-US">
                <a:solidFill>
                  <a:schemeClr val="dk1"/>
                </a:solidFill>
                <a:latin typeface="Comic Sans MS"/>
                <a:ea typeface="Comic Sans MS"/>
                <a:cs typeface="Comic Sans MS"/>
                <a:sym typeface="Comic Sans MS"/>
              </a:rPr>
              <a:t> y los emite en forma de ondas de radio hacia dispositivos móviles, portátiles o cámaras IP sin cables.</a:t>
            </a:r>
            <a:endParaRPr>
              <a:solidFill>
                <a:schemeClr val="dk1"/>
              </a:solidFill>
              <a:latin typeface="Comic Sans MS"/>
              <a:ea typeface="Comic Sans MS"/>
              <a:cs typeface="Comic Sans MS"/>
              <a:sym typeface="Comic Sans MS"/>
            </a:endParaRPr>
          </a:p>
        </p:txBody>
      </p:sp>
      <p:pic>
        <p:nvPicPr>
          <p:cNvPr id="243" name="Google Shape;243;h3173d30833cc6355_44_0" title="images.jpg"/>
          <p:cNvPicPr preferRelativeResize="0"/>
          <p:nvPr/>
        </p:nvPicPr>
        <p:blipFill>
          <a:blip r:embed="rId3">
            <a:alphaModFix/>
          </a:blip>
          <a:stretch>
            <a:fillRect/>
          </a:stretch>
        </p:blipFill>
        <p:spPr>
          <a:xfrm>
            <a:off x="3396250" y="1099525"/>
            <a:ext cx="4660250" cy="52927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h8ed05d8588e31ed_24_3"/>
          <p:cNvSpPr/>
          <p:nvPr/>
        </p:nvSpPr>
        <p:spPr>
          <a:xfrm>
            <a:off x="12238" y="-95500"/>
            <a:ext cx="12191400" cy="658200"/>
          </a:xfrm>
          <a:prstGeom prst="rect">
            <a:avLst/>
          </a:prstGeom>
          <a:solidFill>
            <a:srgbClr val="12496F"/>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Font typeface="Arial"/>
              <a:buNone/>
            </a:pPr>
            <a:r>
              <a:rPr b="1" lang="en-US" sz="1950">
                <a:solidFill>
                  <a:schemeClr val="lt1"/>
                </a:solidFill>
              </a:rPr>
              <a:t>2 · Dispositivos finales y de interconexión: Mohamed Azdiahmed</a:t>
            </a:r>
            <a:endParaRPr>
              <a:solidFill>
                <a:schemeClr val="dk1"/>
              </a:solidFill>
            </a:endParaRPr>
          </a:p>
        </p:txBody>
      </p:sp>
      <p:sp>
        <p:nvSpPr>
          <p:cNvPr id="249" name="Google Shape;249;h8ed05d8588e31ed_24_3"/>
          <p:cNvSpPr/>
          <p:nvPr/>
        </p:nvSpPr>
        <p:spPr>
          <a:xfrm>
            <a:off x="2291800" y="1198000"/>
            <a:ext cx="7479000" cy="658200"/>
          </a:xfrm>
          <a:prstGeom prst="roundRect">
            <a:avLst>
              <a:gd fmla="val 12232" name="adj"/>
            </a:avLst>
          </a:prstGeom>
          <a:solidFill>
            <a:srgbClr val="FBF3D8"/>
          </a:solid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Font typeface="Arial"/>
              <a:buNone/>
            </a:pPr>
            <a:r>
              <a:rPr lang="en-US" sz="2100">
                <a:solidFill>
                  <a:schemeClr val="dk1"/>
                </a:solidFill>
              </a:rPr>
              <a:t>n ejemplo de aplicación en la red de un centro educativo</a:t>
            </a:r>
            <a:endParaRPr>
              <a:solidFill>
                <a:schemeClr val="dk1"/>
              </a:solidFill>
            </a:endParaRPr>
          </a:p>
        </p:txBody>
      </p:sp>
      <p:sp>
        <p:nvSpPr>
          <p:cNvPr id="250" name="Google Shape;250;h8ed05d8588e31ed_24_3"/>
          <p:cNvSpPr/>
          <p:nvPr/>
        </p:nvSpPr>
        <p:spPr>
          <a:xfrm>
            <a:off x="951150" y="2066925"/>
            <a:ext cx="10477500" cy="3846300"/>
          </a:xfrm>
          <a:prstGeom prst="roundRect">
            <a:avLst>
              <a:gd fmla="val 12232" name="adj"/>
            </a:avLst>
          </a:prstGeom>
          <a:solidFill>
            <a:srgbClr val="FBF3D8"/>
          </a:solidFill>
          <a:ln>
            <a:noFill/>
          </a:ln>
        </p:spPr>
        <p:txBody>
          <a:bodyPr anchorCtr="0" anchor="ctr" bIns="45700" lIns="91425" spcFirstLastPara="1" rIns="91425" wrap="square" tIns="45700">
            <a:noAutofit/>
          </a:bodyPr>
          <a:lstStyle/>
          <a:p>
            <a:pPr indent="0" lvl="0" marL="0" rtl="0" algn="l">
              <a:lnSpc>
                <a:spcPct val="165000"/>
              </a:lnSpc>
              <a:spcBef>
                <a:spcPts val="0"/>
              </a:spcBef>
              <a:spcAft>
                <a:spcPts val="0"/>
              </a:spcAft>
              <a:buClr>
                <a:schemeClr val="dk1"/>
              </a:buClr>
              <a:buFont typeface="Arial"/>
              <a:buNone/>
            </a:pPr>
            <a:r>
              <a:rPr lang="en-US" sz="1700">
                <a:solidFill>
                  <a:schemeClr val="dk1"/>
                </a:solidFill>
                <a:latin typeface="Lora"/>
                <a:ea typeface="Lora"/>
                <a:cs typeface="Lora"/>
                <a:sym typeface="Lora"/>
              </a:rPr>
              <a:t>n la aula de informatica de nuestro instituto se trabaja tanto con los dispositivos finales como las de interconexion , para que los alumnos o los usuarios tengan clase , cuando hablamos de los dispositivos finales se refiere a los aparatos que tocamos nosotros sea como la computadora o el PC (por donde se emite la tarea ) o la pantalla de los docente ( que la recibe ) , ahora toca hablar de los dispositivos de interconexion que es como este camino de donde va la tarea sea por el switch que conecta entre los dispositivos o el router que interconecta la redes en nuestra clase , y aqui se puede establecer una relacion complementaria</a:t>
            </a:r>
            <a:endParaRPr sz="1600">
              <a:solidFill>
                <a:schemeClr val="dk1"/>
              </a:solidFill>
              <a:latin typeface="Lora"/>
              <a:ea typeface="Lora"/>
              <a:cs typeface="Lora"/>
              <a:sym typeface="Lora"/>
            </a:endParaRPr>
          </a:p>
        </p:txBody>
      </p:sp>
      <p:sp>
        <p:nvSpPr>
          <p:cNvPr id="251" name="Google Shape;251;h8ed05d8588e31ed_24_3"/>
          <p:cNvSpPr txBox="1"/>
          <p:nvPr/>
        </p:nvSpPr>
        <p:spPr>
          <a:xfrm>
            <a:off x="1611400" y="1175650"/>
            <a:ext cx="8422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
          <p:cNvSpPr/>
          <p:nvPr/>
        </p:nvSpPr>
        <p:spPr>
          <a:xfrm>
            <a:off x="0" y="0"/>
            <a:ext cx="12191400" cy="658080"/>
          </a:xfrm>
          <a:prstGeom prst="rect">
            <a:avLst/>
          </a:prstGeom>
          <a:solidFill>
            <a:srgbClr val="12496F"/>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4"/>
          <p:cNvSpPr/>
          <p:nvPr/>
        </p:nvSpPr>
        <p:spPr>
          <a:xfrm>
            <a:off x="567000" y="82440"/>
            <a:ext cx="10972440" cy="45612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1" i="0" lang="en-US" sz="2400" u="none" cap="none" strike="noStrike">
                <a:solidFill>
                  <a:srgbClr val="FFFFFF"/>
                </a:solidFill>
                <a:latin typeface="Arial"/>
                <a:ea typeface="Arial"/>
                <a:cs typeface="Arial"/>
                <a:sym typeface="Arial"/>
              </a:rPr>
              <a:t>3 · NIC: el adaptador de red: Pablo Borr</a:t>
            </a:r>
            <a:r>
              <a:rPr b="1" lang="en-US" sz="2400">
                <a:solidFill>
                  <a:srgbClr val="FFFFFF"/>
                </a:solidFill>
              </a:rPr>
              <a:t>ás</a:t>
            </a:r>
            <a:endParaRPr b="1" sz="2400">
              <a:solidFill>
                <a:srgbClr val="FFFFFF"/>
              </a:solidFill>
            </a:endParaRPr>
          </a:p>
        </p:txBody>
      </p:sp>
      <p:sp>
        <p:nvSpPr>
          <p:cNvPr id="258" name="Google Shape;258;p4"/>
          <p:cNvSpPr/>
          <p:nvPr/>
        </p:nvSpPr>
        <p:spPr>
          <a:xfrm>
            <a:off x="713160" y="813960"/>
            <a:ext cx="10789560" cy="44064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lang="en-US" sz="2300">
                <a:solidFill>
                  <a:srgbClr val="12496F"/>
                </a:solidFill>
              </a:rPr>
              <a:t>Una NIC conecta el sistema informático a un medio de comunicación. </a:t>
            </a:r>
            <a:r>
              <a:rPr lang="en-US" sz="2300">
                <a:solidFill>
                  <a:srgbClr val="12496F"/>
                </a:solidFill>
              </a:rPr>
              <a:t>Su propósito principal es actuar como la interfaz física o virtual entre el ordenador y la red de datos. </a:t>
            </a:r>
            <a:endParaRPr b="0" i="0" sz="2300" u="none" cap="none" strike="noStrike">
              <a:latin typeface="Arial"/>
              <a:ea typeface="Arial"/>
              <a:cs typeface="Arial"/>
              <a:sym typeface="Arial"/>
            </a:endParaRPr>
          </a:p>
        </p:txBody>
      </p:sp>
      <p:sp>
        <p:nvSpPr>
          <p:cNvPr id="259" name="Google Shape;259;p4"/>
          <p:cNvSpPr/>
          <p:nvPr/>
        </p:nvSpPr>
        <p:spPr>
          <a:xfrm>
            <a:off x="594341" y="2187401"/>
            <a:ext cx="10007700" cy="3789900"/>
          </a:xfrm>
          <a:prstGeom prst="roundRect">
            <a:avLst>
              <a:gd fmla="val 16667" name="adj"/>
            </a:avLst>
          </a:prstGeom>
          <a:solidFill>
            <a:srgbClr val="E7F1F9"/>
          </a:solidFill>
          <a:ln>
            <a:noFill/>
          </a:ln>
          <a:effectLst>
            <a:outerShdw blurRad="73943" rotWithShape="0" dir="5400000" dist="42634">
              <a:srgbClr val="000000">
                <a:alpha val="34900"/>
              </a:srgbClr>
            </a:outerShdw>
          </a:effectLst>
        </p:spPr>
        <p:txBody>
          <a:bodyPr anchorCtr="0" anchor="ctr" bIns="169175" lIns="169175" spcFirstLastPara="1" rIns="169175" wrap="square" tIns="169175">
            <a:noAutofit/>
          </a:bodyPr>
          <a:lstStyle/>
          <a:p>
            <a:pPr indent="0" lvl="0" marL="0" rtl="0" algn="l">
              <a:spcBef>
                <a:spcPts val="0"/>
              </a:spcBef>
              <a:spcAft>
                <a:spcPts val="0"/>
              </a:spcAft>
              <a:buNone/>
            </a:pPr>
            <a:r>
              <a:t/>
            </a:r>
            <a:endParaRPr/>
          </a:p>
        </p:txBody>
      </p:sp>
      <p:sp>
        <p:nvSpPr>
          <p:cNvPr id="260" name="Google Shape;260;p4"/>
          <p:cNvSpPr/>
          <p:nvPr/>
        </p:nvSpPr>
        <p:spPr>
          <a:xfrm>
            <a:off x="882118" y="2373256"/>
            <a:ext cx="9432600" cy="731700"/>
          </a:xfrm>
          <a:prstGeom prst="rect">
            <a:avLst/>
          </a:prstGeom>
          <a:noFill/>
          <a:ln>
            <a:noFill/>
          </a:ln>
        </p:spPr>
        <p:txBody>
          <a:bodyPr anchorCtr="0" anchor="t" bIns="83275" lIns="67900" spcFirstLastPara="1" rIns="67900" wrap="square" tIns="83275">
            <a:spAutoFit/>
          </a:bodyPr>
          <a:lstStyle/>
          <a:p>
            <a:pPr indent="0" lvl="0" marL="0" marR="0" rtl="0" algn="l">
              <a:lnSpc>
                <a:spcPct val="100000"/>
              </a:lnSpc>
              <a:spcBef>
                <a:spcPts val="0"/>
              </a:spcBef>
              <a:spcAft>
                <a:spcPts val="0"/>
              </a:spcAft>
              <a:buNone/>
            </a:pPr>
            <a:r>
              <a:rPr b="1" i="0" lang="en-US" sz="2901" u="none" cap="none" strike="noStrike">
                <a:solidFill>
                  <a:srgbClr val="12496F"/>
                </a:solidFill>
                <a:latin typeface="Arial"/>
                <a:ea typeface="Arial"/>
                <a:cs typeface="Arial"/>
                <a:sym typeface="Arial"/>
              </a:rPr>
              <a:t>Ethernet</a:t>
            </a:r>
            <a:endParaRPr b="0" i="0" sz="2901" u="none" cap="none" strike="noStrike">
              <a:latin typeface="Arial"/>
              <a:ea typeface="Arial"/>
              <a:cs typeface="Arial"/>
              <a:sym typeface="Arial"/>
            </a:endParaRPr>
          </a:p>
        </p:txBody>
      </p:sp>
      <p:sp>
        <p:nvSpPr>
          <p:cNvPr id="261" name="Google Shape;261;p4"/>
          <p:cNvSpPr/>
          <p:nvPr/>
        </p:nvSpPr>
        <p:spPr>
          <a:xfrm>
            <a:off x="882100" y="3104950"/>
            <a:ext cx="5447100" cy="2695200"/>
          </a:xfrm>
          <a:prstGeom prst="rect">
            <a:avLst/>
          </a:prstGeom>
          <a:noFill/>
          <a:ln>
            <a:noFill/>
          </a:ln>
        </p:spPr>
        <p:txBody>
          <a:bodyPr anchorCtr="0" anchor="t" bIns="83275" lIns="67900" spcFirstLastPara="1" rIns="67900" wrap="square" tIns="83275">
            <a:spAutoFit/>
          </a:bodyPr>
          <a:lstStyle/>
          <a:p>
            <a:pPr indent="0" lvl="0" marL="0" marR="0" rtl="0" algn="l">
              <a:lnSpc>
                <a:spcPct val="100000"/>
              </a:lnSpc>
              <a:spcBef>
                <a:spcPts val="0"/>
              </a:spcBef>
              <a:spcAft>
                <a:spcPts val="0"/>
              </a:spcAft>
              <a:buNone/>
            </a:pPr>
            <a:r>
              <a:rPr b="0" i="0" lang="en-US" u="none" cap="none" strike="noStrike">
                <a:solidFill>
                  <a:srgbClr val="26303A"/>
                </a:solidFill>
                <a:latin typeface="Arial"/>
                <a:ea typeface="Arial"/>
                <a:cs typeface="Arial"/>
                <a:sym typeface="Arial"/>
              </a:rPr>
              <a:t>Interfaz de red cableada. Habitualmente usa un puerto 8P8C («RJ-45»)</a:t>
            </a:r>
            <a:r>
              <a:rPr lang="en-US">
                <a:solidFill>
                  <a:srgbClr val="26303A"/>
                </a:solidFill>
              </a:rPr>
              <a:t>, permitiendo conexiones físicas mediante cables de pares trenzados que ofrecen gran estabilidad y velocidad de transmisión. </a:t>
            </a:r>
            <a:endParaRPr>
              <a:solidFill>
                <a:srgbClr val="26303A"/>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Tipos de Estándares</a:t>
            </a:r>
            <a:r>
              <a:rPr lang="en-US">
                <a:solidFill>
                  <a:schemeClr val="dk1"/>
                </a:solidFill>
              </a:rPr>
              <a:t>:</a:t>
            </a:r>
            <a:endParaRPr>
              <a:solidFill>
                <a:schemeClr val="dk1"/>
              </a:solidFill>
            </a:endParaRPr>
          </a:p>
          <a:p>
            <a:pPr indent="-317500" lvl="0" marL="457200" rtl="0" algn="l">
              <a:lnSpc>
                <a:spcPct val="115000"/>
              </a:lnSpc>
              <a:spcBef>
                <a:spcPts val="1200"/>
              </a:spcBef>
              <a:spcAft>
                <a:spcPts val="0"/>
              </a:spcAft>
              <a:buClr>
                <a:schemeClr val="dk1"/>
              </a:buClr>
              <a:buSzPts val="1400"/>
              <a:buChar char="●"/>
            </a:pPr>
            <a:r>
              <a:rPr i="1" lang="en-US">
                <a:solidFill>
                  <a:schemeClr val="dk1"/>
                </a:solidFill>
              </a:rPr>
              <a:t>Fast Ethernet</a:t>
            </a:r>
            <a:r>
              <a:rPr lang="en-US">
                <a:solidFill>
                  <a:schemeClr val="dk1"/>
                </a:solidFill>
              </a:rPr>
              <a:t>: Hasta 100 Mbps.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i="1" lang="en-US">
                <a:solidFill>
                  <a:schemeClr val="dk1"/>
                </a:solidFill>
              </a:rPr>
              <a:t>Gigabit Ethernet (1000BASE-T)</a:t>
            </a:r>
            <a:r>
              <a:rPr lang="en-US">
                <a:solidFill>
                  <a:schemeClr val="dk1"/>
                </a:solidFill>
              </a:rPr>
              <a:t>: Transmisión de hasta 1 Gbps (estándar en la mayoría de placas base modernas).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i="1" lang="en-US">
                <a:solidFill>
                  <a:schemeClr val="dk1"/>
                </a:solidFill>
              </a:rPr>
              <a:t>10 Gigabit Ethernet (10GBASE-T)</a:t>
            </a:r>
            <a:r>
              <a:rPr lang="en-US">
                <a:solidFill>
                  <a:schemeClr val="dk1"/>
                </a:solidFill>
              </a:rPr>
              <a:t>: Diseñado para servidores y estaciones de trabajo de alto rendimiento.</a:t>
            </a:r>
            <a:endParaRPr>
              <a:solidFill>
                <a:schemeClr val="dk1"/>
              </a:solidFill>
            </a:endParaRPr>
          </a:p>
          <a:p>
            <a:pPr indent="0" lvl="0" marL="0" marR="0" rtl="0" algn="l">
              <a:lnSpc>
                <a:spcPct val="100000"/>
              </a:lnSpc>
              <a:spcBef>
                <a:spcPts val="1200"/>
              </a:spcBef>
              <a:spcAft>
                <a:spcPts val="0"/>
              </a:spcAft>
              <a:buNone/>
            </a:pPr>
            <a:r>
              <a:t/>
            </a:r>
            <a:endParaRPr>
              <a:solidFill>
                <a:srgbClr val="26303A"/>
              </a:solidFill>
            </a:endParaRPr>
          </a:p>
        </p:txBody>
      </p:sp>
      <p:sp>
        <p:nvSpPr>
          <p:cNvPr id="262" name="Google Shape;262;p4"/>
          <p:cNvSpPr txBox="1"/>
          <p:nvPr/>
        </p:nvSpPr>
        <p:spPr>
          <a:xfrm>
            <a:off x="68488" y="6448500"/>
            <a:ext cx="12078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t>Fuente: </a:t>
            </a:r>
            <a:r>
              <a:rPr b="1" lang="en-US" u="sng">
                <a:solidFill>
                  <a:schemeClr val="hlink"/>
                </a:solidFill>
                <a:hlinkClick r:id="rId3"/>
              </a:rPr>
              <a:t>https://ecoportatil.es/blog/que-es-tarjeta-red.html</a:t>
            </a:r>
            <a:endParaRPr b="1"/>
          </a:p>
        </p:txBody>
      </p:sp>
      <p:pic>
        <p:nvPicPr>
          <p:cNvPr id="263" name="Google Shape;263;p4"/>
          <p:cNvPicPr preferRelativeResize="0"/>
          <p:nvPr/>
        </p:nvPicPr>
        <p:blipFill>
          <a:blip r:embed="rId4">
            <a:alphaModFix/>
          </a:blip>
          <a:stretch>
            <a:fillRect/>
          </a:stretch>
        </p:blipFill>
        <p:spPr>
          <a:xfrm>
            <a:off x="6942975" y="2439800"/>
            <a:ext cx="3283450" cy="3283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h8ed05d8588e31ed_3_0"/>
          <p:cNvSpPr/>
          <p:nvPr/>
        </p:nvSpPr>
        <p:spPr>
          <a:xfrm>
            <a:off x="0" y="0"/>
            <a:ext cx="12191400" cy="658200"/>
          </a:xfrm>
          <a:prstGeom prst="rect">
            <a:avLst/>
          </a:prstGeom>
          <a:solidFill>
            <a:srgbClr val="12496F"/>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h8ed05d8588e31ed_3_0"/>
          <p:cNvSpPr/>
          <p:nvPr/>
        </p:nvSpPr>
        <p:spPr>
          <a:xfrm>
            <a:off x="567000" y="82440"/>
            <a:ext cx="10972500" cy="4560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i="0" lang="en-US" sz="2400" u="none" cap="none" strike="noStrike">
                <a:solidFill>
                  <a:srgbClr val="FFFFFF"/>
                </a:solidFill>
                <a:latin typeface="Arial"/>
                <a:ea typeface="Arial"/>
                <a:cs typeface="Arial"/>
                <a:sym typeface="Arial"/>
              </a:rPr>
              <a:t>3 · NIC: el adaptador de red: Pablo Borr</a:t>
            </a:r>
            <a:r>
              <a:rPr b="1" lang="en-US" sz="2400">
                <a:solidFill>
                  <a:srgbClr val="FFFFFF"/>
                </a:solidFill>
              </a:rPr>
              <a:t>ás (Parte 2)</a:t>
            </a:r>
            <a:endParaRPr b="1" sz="2400">
              <a:solidFill>
                <a:srgbClr val="FFFFFF"/>
              </a:solidFill>
            </a:endParaRPr>
          </a:p>
        </p:txBody>
      </p:sp>
      <p:sp>
        <p:nvSpPr>
          <p:cNvPr id="270" name="Google Shape;270;h8ed05d8588e31ed_3_0"/>
          <p:cNvSpPr/>
          <p:nvPr/>
        </p:nvSpPr>
        <p:spPr>
          <a:xfrm>
            <a:off x="713160" y="813960"/>
            <a:ext cx="10789500" cy="4407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lang="en-US" sz="2300">
                <a:solidFill>
                  <a:srgbClr val="12496F"/>
                </a:solidFill>
              </a:rPr>
              <a:t>Una NIC conecta el sistema informático a un medio de comunicación. Su propósito principal es actuar como la interfaz física o virtual entre el ordenador y la red de datos. </a:t>
            </a:r>
            <a:endParaRPr b="0" i="0" sz="2300" u="none" cap="none" strike="noStrike">
              <a:latin typeface="Arial"/>
              <a:ea typeface="Arial"/>
              <a:cs typeface="Arial"/>
              <a:sym typeface="Arial"/>
            </a:endParaRPr>
          </a:p>
        </p:txBody>
      </p:sp>
      <p:sp>
        <p:nvSpPr>
          <p:cNvPr id="271" name="Google Shape;271;h8ed05d8588e31ed_3_0"/>
          <p:cNvSpPr/>
          <p:nvPr/>
        </p:nvSpPr>
        <p:spPr>
          <a:xfrm>
            <a:off x="594359" y="2187401"/>
            <a:ext cx="10007700" cy="3789900"/>
          </a:xfrm>
          <a:prstGeom prst="roundRect">
            <a:avLst>
              <a:gd fmla="val 16667" name="adj"/>
            </a:avLst>
          </a:prstGeom>
          <a:solidFill>
            <a:srgbClr val="EBF5EB"/>
          </a:solidFill>
          <a:ln>
            <a:noFill/>
          </a:ln>
          <a:effectLst>
            <a:outerShdw blurRad="73942" rotWithShape="0" dir="5400000" dist="42633">
              <a:srgbClr val="000000">
                <a:alpha val="34900"/>
              </a:srgbClr>
            </a:outerShdw>
          </a:effectLst>
        </p:spPr>
        <p:txBody>
          <a:bodyPr anchorCtr="0" anchor="ctr" bIns="169175" lIns="169175" spcFirstLastPara="1" rIns="169175" wrap="square" tIns="169175">
            <a:noAutofit/>
          </a:bodyPr>
          <a:lstStyle/>
          <a:p>
            <a:pPr indent="0" lvl="0" marL="0" rtl="0" algn="l">
              <a:spcBef>
                <a:spcPts val="0"/>
              </a:spcBef>
              <a:spcAft>
                <a:spcPts val="0"/>
              </a:spcAft>
              <a:buNone/>
            </a:pPr>
            <a:r>
              <a:t/>
            </a:r>
            <a:endParaRPr/>
          </a:p>
        </p:txBody>
      </p:sp>
      <p:sp>
        <p:nvSpPr>
          <p:cNvPr id="272" name="Google Shape;272;h8ed05d8588e31ed_3_0"/>
          <p:cNvSpPr/>
          <p:nvPr/>
        </p:nvSpPr>
        <p:spPr>
          <a:xfrm>
            <a:off x="882133" y="2373255"/>
            <a:ext cx="9432600" cy="731700"/>
          </a:xfrm>
          <a:prstGeom prst="rect">
            <a:avLst/>
          </a:prstGeom>
          <a:noFill/>
          <a:ln>
            <a:noFill/>
          </a:ln>
        </p:spPr>
        <p:txBody>
          <a:bodyPr anchorCtr="0" anchor="t" bIns="83275" lIns="67900" spcFirstLastPara="1" rIns="67900" wrap="square" tIns="83275">
            <a:noAutofit/>
          </a:bodyPr>
          <a:lstStyle/>
          <a:p>
            <a:pPr indent="0" lvl="0" marL="0" marR="0" rtl="0" algn="l">
              <a:lnSpc>
                <a:spcPct val="100000"/>
              </a:lnSpc>
              <a:spcBef>
                <a:spcPts val="0"/>
              </a:spcBef>
              <a:spcAft>
                <a:spcPts val="0"/>
              </a:spcAft>
              <a:buNone/>
            </a:pPr>
            <a:r>
              <a:rPr b="1" i="0" lang="en-US" sz="2900" u="none" cap="none" strike="noStrike">
                <a:solidFill>
                  <a:srgbClr val="12496F"/>
                </a:solidFill>
                <a:latin typeface="Arial"/>
                <a:ea typeface="Arial"/>
                <a:cs typeface="Arial"/>
                <a:sym typeface="Arial"/>
              </a:rPr>
              <a:t>Wi-Fi</a:t>
            </a:r>
            <a:endParaRPr b="0" i="0" sz="2900" u="none" cap="none" strike="noStrike">
              <a:latin typeface="Arial"/>
              <a:ea typeface="Arial"/>
              <a:cs typeface="Arial"/>
              <a:sym typeface="Arial"/>
            </a:endParaRPr>
          </a:p>
        </p:txBody>
      </p:sp>
      <p:sp>
        <p:nvSpPr>
          <p:cNvPr id="273" name="Google Shape;273;h8ed05d8588e31ed_3_0"/>
          <p:cNvSpPr/>
          <p:nvPr/>
        </p:nvSpPr>
        <p:spPr>
          <a:xfrm>
            <a:off x="882114" y="3287182"/>
            <a:ext cx="9432600" cy="2690100"/>
          </a:xfrm>
          <a:prstGeom prst="rect">
            <a:avLst/>
          </a:prstGeom>
          <a:noFill/>
          <a:ln>
            <a:noFill/>
          </a:ln>
        </p:spPr>
        <p:txBody>
          <a:bodyPr anchorCtr="0" anchor="t" bIns="83275" lIns="67900" spcFirstLastPara="1" rIns="67900" wrap="square" tIns="83275">
            <a:noAutofit/>
          </a:bodyPr>
          <a:lstStyle/>
          <a:p>
            <a:pPr indent="0" lvl="0" marL="0" marR="0" rtl="0" algn="l">
              <a:lnSpc>
                <a:spcPct val="100000"/>
              </a:lnSpc>
              <a:spcBef>
                <a:spcPts val="0"/>
              </a:spcBef>
              <a:spcAft>
                <a:spcPts val="0"/>
              </a:spcAft>
              <a:buNone/>
            </a:pPr>
            <a:r>
              <a:t/>
            </a:r>
            <a:endParaRPr b="0" i="0" sz="3701" u="none" cap="none" strike="noStrike">
              <a:latin typeface="Arial"/>
              <a:ea typeface="Arial"/>
              <a:cs typeface="Arial"/>
              <a:sym typeface="Arial"/>
            </a:endParaRPr>
          </a:p>
        </p:txBody>
      </p:sp>
      <p:sp>
        <p:nvSpPr>
          <p:cNvPr id="274" name="Google Shape;274;h8ed05d8588e31ed_3_0"/>
          <p:cNvSpPr txBox="1"/>
          <p:nvPr/>
        </p:nvSpPr>
        <p:spPr>
          <a:xfrm>
            <a:off x="68488" y="6448500"/>
            <a:ext cx="12078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t>Fuente: </a:t>
            </a:r>
            <a:r>
              <a:rPr b="1" lang="en-US" u="sng">
                <a:solidFill>
                  <a:schemeClr val="hlink"/>
                </a:solidFill>
                <a:hlinkClick r:id="rId3"/>
              </a:rPr>
              <a:t>https://www.redeszone.net/tutoriales/redes-cable/direccion-mac-que-es-como-cambiarla/</a:t>
            </a:r>
            <a:endParaRPr b="1"/>
          </a:p>
        </p:txBody>
      </p:sp>
      <p:sp>
        <p:nvSpPr>
          <p:cNvPr id="275" name="Google Shape;275;h8ed05d8588e31ed_3_0"/>
          <p:cNvSpPr/>
          <p:nvPr/>
        </p:nvSpPr>
        <p:spPr>
          <a:xfrm>
            <a:off x="882100" y="3104950"/>
            <a:ext cx="5447100" cy="2695200"/>
          </a:xfrm>
          <a:prstGeom prst="rect">
            <a:avLst/>
          </a:prstGeom>
          <a:noFill/>
          <a:ln>
            <a:noFill/>
          </a:ln>
        </p:spPr>
        <p:txBody>
          <a:bodyPr anchorCtr="0" anchor="t" bIns="83275" lIns="67900" spcFirstLastPara="1" rIns="67900" wrap="square" tIns="83275">
            <a:noAutofit/>
          </a:bodyPr>
          <a:lstStyle/>
          <a:p>
            <a:pPr indent="0" lvl="0" marL="0" marR="0" rtl="0" algn="l">
              <a:lnSpc>
                <a:spcPct val="100000"/>
              </a:lnSpc>
              <a:spcBef>
                <a:spcPts val="0"/>
              </a:spcBef>
              <a:spcAft>
                <a:spcPts val="0"/>
              </a:spcAft>
              <a:buNone/>
            </a:pPr>
            <a:r>
              <a:rPr lang="en-US" sz="1300">
                <a:solidFill>
                  <a:srgbClr val="26303A"/>
                </a:solidFill>
              </a:rPr>
              <a:t>Interfaz inalámbrica IEEE 802.11. Requiere cobertura y autenticación en la WLAN para poder establecer la comunicación sin cables.</a:t>
            </a:r>
            <a:endParaRPr sz="1300">
              <a:solidFill>
                <a:srgbClr val="26303A"/>
              </a:solidFill>
            </a:endParaRPr>
          </a:p>
          <a:p>
            <a:pPr indent="0" lvl="0" marL="0" marR="0" rtl="0" algn="l">
              <a:lnSpc>
                <a:spcPct val="100000"/>
              </a:lnSpc>
              <a:spcBef>
                <a:spcPts val="0"/>
              </a:spcBef>
              <a:spcAft>
                <a:spcPts val="0"/>
              </a:spcAft>
              <a:buNone/>
            </a:pPr>
            <a:r>
              <a:t/>
            </a:r>
            <a:endParaRPr sz="1300">
              <a:solidFill>
                <a:srgbClr val="26303A"/>
              </a:solidFill>
            </a:endParaRPr>
          </a:p>
          <a:p>
            <a:pPr indent="0" lvl="0" marL="0" rtl="0" algn="l">
              <a:lnSpc>
                <a:spcPct val="115000"/>
              </a:lnSpc>
              <a:spcBef>
                <a:spcPts val="1200"/>
              </a:spcBef>
              <a:spcAft>
                <a:spcPts val="0"/>
              </a:spcAft>
              <a:buClr>
                <a:schemeClr val="dk1"/>
              </a:buClr>
              <a:buSzPts val="1100"/>
              <a:buFont typeface="Arial"/>
              <a:buNone/>
            </a:pPr>
            <a:r>
              <a:rPr b="1" lang="en-US" sz="1300">
                <a:solidFill>
                  <a:schemeClr val="dk1"/>
                </a:solidFill>
              </a:rPr>
              <a:t>Evolución de Estándares</a:t>
            </a:r>
            <a:r>
              <a:rPr lang="en-US" sz="1300">
                <a:solidFill>
                  <a:schemeClr val="dk1"/>
                </a:solidFill>
              </a:rPr>
              <a:t>:</a:t>
            </a:r>
            <a:endParaRPr sz="1300">
              <a:solidFill>
                <a:schemeClr val="dk1"/>
              </a:solidFill>
            </a:endParaRPr>
          </a:p>
          <a:p>
            <a:pPr indent="-311150" lvl="0" marL="457200" rtl="0" algn="l">
              <a:lnSpc>
                <a:spcPct val="115000"/>
              </a:lnSpc>
              <a:spcBef>
                <a:spcPts val="1200"/>
              </a:spcBef>
              <a:spcAft>
                <a:spcPts val="0"/>
              </a:spcAft>
              <a:buClr>
                <a:schemeClr val="dk1"/>
              </a:buClr>
              <a:buSzPts val="1300"/>
              <a:buChar char="●"/>
            </a:pPr>
            <a:r>
              <a:rPr i="1" lang="en-US" sz="1300">
                <a:solidFill>
                  <a:schemeClr val="dk1"/>
                </a:solidFill>
              </a:rPr>
              <a:t>Wi-Fi 5 (802.11ac)</a:t>
            </a:r>
            <a:r>
              <a:rPr lang="en-US" sz="1300">
                <a:solidFill>
                  <a:schemeClr val="dk1"/>
                </a:solidFill>
              </a:rPr>
              <a:t>: Opera principalmente en la banda de 5 GHz.</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i="1" lang="en-US" sz="1300">
                <a:solidFill>
                  <a:schemeClr val="dk1"/>
                </a:solidFill>
              </a:rPr>
              <a:t>Wi-Fi 6 / 6E (802.11ax)</a:t>
            </a:r>
            <a:r>
              <a:rPr lang="en-US" sz="1300">
                <a:solidFill>
                  <a:schemeClr val="dk1"/>
                </a:solidFill>
              </a:rPr>
              <a:t>: Introduce la banda de 6 GHz, mejorando el rendimiento en entornos densos con múltiples dispositivos conectados.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i="1" lang="en-US" sz="1300">
                <a:solidFill>
                  <a:schemeClr val="dk1"/>
                </a:solidFill>
              </a:rPr>
              <a:t>Wi-Fi 7 (802.11be)</a:t>
            </a:r>
            <a:r>
              <a:rPr lang="en-US" sz="1300">
                <a:solidFill>
                  <a:schemeClr val="dk1"/>
                </a:solidFill>
              </a:rPr>
              <a:t>: Maximiza el ancho de banda y reduce la latencia a niveles comparables con conexiones cableadas.</a:t>
            </a:r>
            <a:endParaRPr sz="1300">
              <a:solidFill>
                <a:schemeClr val="dk1"/>
              </a:solidFill>
            </a:endParaRPr>
          </a:p>
          <a:p>
            <a:pPr indent="0" lvl="0" marL="0" marR="0" rtl="0" algn="l">
              <a:lnSpc>
                <a:spcPct val="100000"/>
              </a:lnSpc>
              <a:spcBef>
                <a:spcPts val="1200"/>
              </a:spcBef>
              <a:spcAft>
                <a:spcPts val="0"/>
              </a:spcAft>
              <a:buNone/>
            </a:pPr>
            <a:r>
              <a:t/>
            </a:r>
            <a:endParaRPr sz="1300">
              <a:solidFill>
                <a:srgbClr val="26303A"/>
              </a:solidFill>
            </a:endParaRPr>
          </a:p>
        </p:txBody>
      </p:sp>
      <p:pic>
        <p:nvPicPr>
          <p:cNvPr id="276" name="Google Shape;276;h8ed05d8588e31ed_3_0"/>
          <p:cNvPicPr preferRelativeResize="0"/>
          <p:nvPr/>
        </p:nvPicPr>
        <p:blipFill>
          <a:blip r:embed="rId4">
            <a:alphaModFix/>
          </a:blip>
          <a:stretch>
            <a:fillRect/>
          </a:stretch>
        </p:blipFill>
        <p:spPr>
          <a:xfrm>
            <a:off x="7438750" y="2516000"/>
            <a:ext cx="2703074" cy="31479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h8ed05d8588e31ed_3_22"/>
          <p:cNvSpPr/>
          <p:nvPr/>
        </p:nvSpPr>
        <p:spPr>
          <a:xfrm>
            <a:off x="0" y="0"/>
            <a:ext cx="12191400" cy="658200"/>
          </a:xfrm>
          <a:prstGeom prst="rect">
            <a:avLst/>
          </a:prstGeom>
          <a:solidFill>
            <a:srgbClr val="12496F"/>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h8ed05d8588e31ed_3_22"/>
          <p:cNvSpPr/>
          <p:nvPr/>
        </p:nvSpPr>
        <p:spPr>
          <a:xfrm>
            <a:off x="567000" y="82440"/>
            <a:ext cx="10972500" cy="4560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i="0" lang="en-US" sz="2400" u="none" cap="none" strike="noStrike">
                <a:solidFill>
                  <a:srgbClr val="FFFFFF"/>
                </a:solidFill>
                <a:latin typeface="Arial"/>
                <a:ea typeface="Arial"/>
                <a:cs typeface="Arial"/>
                <a:sym typeface="Arial"/>
              </a:rPr>
              <a:t>3 · NIC: el adaptador de red: Pablo Borr</a:t>
            </a:r>
            <a:r>
              <a:rPr b="1" lang="en-US" sz="2400">
                <a:solidFill>
                  <a:srgbClr val="FFFFFF"/>
                </a:solidFill>
              </a:rPr>
              <a:t>ás (Parte 3)</a:t>
            </a:r>
            <a:endParaRPr b="1" sz="2400">
              <a:solidFill>
                <a:srgbClr val="FFFFFF"/>
              </a:solidFill>
            </a:endParaRPr>
          </a:p>
        </p:txBody>
      </p:sp>
      <p:sp>
        <p:nvSpPr>
          <p:cNvPr id="283" name="Google Shape;283;h8ed05d8588e31ed_3_22"/>
          <p:cNvSpPr/>
          <p:nvPr/>
        </p:nvSpPr>
        <p:spPr>
          <a:xfrm>
            <a:off x="713160" y="813960"/>
            <a:ext cx="10789500" cy="4407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lang="en-US" sz="2300">
                <a:solidFill>
                  <a:srgbClr val="12496F"/>
                </a:solidFill>
              </a:rPr>
              <a:t>Una NIC conecta el sistema informático a un medio de comunicación. Su propósito principal es actuar como la interfaz física o virtual entre el ordenador y la red de datos. </a:t>
            </a:r>
            <a:endParaRPr b="0" i="0" sz="2300" u="none" cap="none" strike="noStrike">
              <a:latin typeface="Arial"/>
              <a:ea typeface="Arial"/>
              <a:cs typeface="Arial"/>
              <a:sym typeface="Arial"/>
            </a:endParaRPr>
          </a:p>
        </p:txBody>
      </p:sp>
      <p:sp>
        <p:nvSpPr>
          <p:cNvPr id="284" name="Google Shape;284;h8ed05d8588e31ed_3_22"/>
          <p:cNvSpPr/>
          <p:nvPr/>
        </p:nvSpPr>
        <p:spPr>
          <a:xfrm>
            <a:off x="594350" y="2187401"/>
            <a:ext cx="10007700" cy="3789900"/>
          </a:xfrm>
          <a:prstGeom prst="roundRect">
            <a:avLst>
              <a:gd fmla="val 16667" name="adj"/>
            </a:avLst>
          </a:prstGeom>
          <a:solidFill>
            <a:srgbClr val="FFF2E0"/>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h8ed05d8588e31ed_3_22"/>
          <p:cNvSpPr/>
          <p:nvPr/>
        </p:nvSpPr>
        <p:spPr>
          <a:xfrm>
            <a:off x="749880" y="4500759"/>
            <a:ext cx="5097600" cy="3954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t/>
            </a:r>
            <a:endParaRPr b="0" i="0" sz="2000" u="none" cap="none" strike="noStrike">
              <a:latin typeface="Arial"/>
              <a:ea typeface="Arial"/>
              <a:cs typeface="Arial"/>
              <a:sym typeface="Arial"/>
            </a:endParaRPr>
          </a:p>
        </p:txBody>
      </p:sp>
      <p:sp>
        <p:nvSpPr>
          <p:cNvPr id="286" name="Google Shape;286;h8ed05d8588e31ed_3_22"/>
          <p:cNvSpPr/>
          <p:nvPr/>
        </p:nvSpPr>
        <p:spPr>
          <a:xfrm>
            <a:off x="749880" y="4994679"/>
            <a:ext cx="5097600" cy="10050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t/>
            </a:r>
            <a:endParaRPr b="0" i="0" sz="2000" u="none" cap="none" strike="noStrike">
              <a:latin typeface="Arial"/>
              <a:ea typeface="Arial"/>
              <a:cs typeface="Arial"/>
              <a:sym typeface="Arial"/>
            </a:endParaRPr>
          </a:p>
        </p:txBody>
      </p:sp>
      <p:sp>
        <p:nvSpPr>
          <p:cNvPr id="287" name="Google Shape;287;h8ed05d8588e31ed_3_22"/>
          <p:cNvSpPr txBox="1"/>
          <p:nvPr/>
        </p:nvSpPr>
        <p:spPr>
          <a:xfrm>
            <a:off x="68488" y="6448500"/>
            <a:ext cx="12078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t>Fuente: </a:t>
            </a:r>
            <a:r>
              <a:rPr b="1" lang="en-US" u="sng">
                <a:solidFill>
                  <a:schemeClr val="hlink"/>
                </a:solidFill>
                <a:hlinkClick r:id="rId3"/>
              </a:rPr>
              <a:t>https://www.asus.com/es/support/faq/1044772/</a:t>
            </a:r>
            <a:endParaRPr b="1"/>
          </a:p>
        </p:txBody>
      </p:sp>
      <p:sp>
        <p:nvSpPr>
          <p:cNvPr id="288" name="Google Shape;288;h8ed05d8588e31ed_3_22"/>
          <p:cNvSpPr/>
          <p:nvPr/>
        </p:nvSpPr>
        <p:spPr>
          <a:xfrm>
            <a:off x="882133" y="2373255"/>
            <a:ext cx="9432600" cy="731700"/>
          </a:xfrm>
          <a:prstGeom prst="rect">
            <a:avLst/>
          </a:prstGeom>
          <a:noFill/>
          <a:ln>
            <a:noFill/>
          </a:ln>
        </p:spPr>
        <p:txBody>
          <a:bodyPr anchorCtr="0" anchor="t" bIns="83275" lIns="67900" spcFirstLastPara="1" rIns="67900" wrap="square" tIns="83275">
            <a:noAutofit/>
          </a:bodyPr>
          <a:lstStyle/>
          <a:p>
            <a:pPr indent="0" lvl="0" marL="0" marR="0" rtl="0" algn="l">
              <a:lnSpc>
                <a:spcPct val="100000"/>
              </a:lnSpc>
              <a:spcBef>
                <a:spcPts val="0"/>
              </a:spcBef>
              <a:spcAft>
                <a:spcPts val="0"/>
              </a:spcAft>
              <a:buNone/>
            </a:pPr>
            <a:r>
              <a:rPr b="1" lang="en-US" sz="2900">
                <a:solidFill>
                  <a:srgbClr val="12496F"/>
                </a:solidFill>
              </a:rPr>
              <a:t>Dirección MAC</a:t>
            </a:r>
            <a:endParaRPr b="0" i="0" sz="2900" u="none" cap="none" strike="noStrike">
              <a:latin typeface="Arial"/>
              <a:ea typeface="Arial"/>
              <a:cs typeface="Arial"/>
              <a:sym typeface="Arial"/>
            </a:endParaRPr>
          </a:p>
        </p:txBody>
      </p:sp>
      <p:sp>
        <p:nvSpPr>
          <p:cNvPr id="289" name="Google Shape;289;h8ed05d8588e31ed_3_22"/>
          <p:cNvSpPr/>
          <p:nvPr/>
        </p:nvSpPr>
        <p:spPr>
          <a:xfrm>
            <a:off x="882100" y="3104950"/>
            <a:ext cx="5836500" cy="2695200"/>
          </a:xfrm>
          <a:prstGeom prst="rect">
            <a:avLst/>
          </a:prstGeom>
          <a:noFill/>
          <a:ln>
            <a:noFill/>
          </a:ln>
        </p:spPr>
        <p:txBody>
          <a:bodyPr anchorCtr="0" anchor="t" bIns="83275" lIns="67900" spcFirstLastPara="1" rIns="67900" wrap="square" tIns="83275">
            <a:noAutofit/>
          </a:bodyPr>
          <a:lstStyle/>
          <a:p>
            <a:pPr indent="0" lvl="0" marL="0" marR="0" rtl="0" algn="l">
              <a:lnSpc>
                <a:spcPct val="100000"/>
              </a:lnSpc>
              <a:spcBef>
                <a:spcPts val="0"/>
              </a:spcBef>
              <a:spcAft>
                <a:spcPts val="0"/>
              </a:spcAft>
              <a:buNone/>
            </a:pPr>
            <a:r>
              <a:rPr lang="en-US" sz="1300">
                <a:solidFill>
                  <a:srgbClr val="26303A"/>
                </a:solidFill>
              </a:rPr>
              <a:t>Identificador de enlace de la interfaz. Puede cambiarse o aleatorizarse en algunos sistemas, evitando el rastreo en redes públicas o inalámbricas.</a:t>
            </a:r>
            <a:endParaRPr sz="1300">
              <a:solidFill>
                <a:srgbClr val="26303A"/>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US" sz="1300">
                <a:solidFill>
                  <a:schemeClr val="dk1"/>
                </a:solidFill>
              </a:rPr>
              <a:t>Cambio y Aleatorización de MAC</a:t>
            </a:r>
            <a:r>
              <a:rPr lang="en-US" sz="1300">
                <a:solidFill>
                  <a:schemeClr val="dk1"/>
                </a:solidFill>
              </a:rPr>
              <a:t>:</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US" sz="1300">
                <a:solidFill>
                  <a:schemeClr val="dk1"/>
                </a:solidFill>
              </a:rPr>
              <a:t>MAC Spoofing</a:t>
            </a:r>
            <a:r>
              <a:rPr lang="en-US" sz="1300">
                <a:solidFill>
                  <a:schemeClr val="dk1"/>
                </a:solidFill>
              </a:rPr>
              <a:t>: Modificación por software de la dirección física declarada ante la red con fines de pruebas o administración de sistemas.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US" sz="1300">
                <a:solidFill>
                  <a:schemeClr val="dk1"/>
                </a:solidFill>
              </a:rPr>
              <a:t>Aleatorización de dirección</a:t>
            </a:r>
            <a:r>
              <a:rPr lang="en-US" sz="1300">
                <a:solidFill>
                  <a:schemeClr val="dk1"/>
                </a:solidFill>
              </a:rPr>
              <a:t>: Función integrada en sistemas operativos modernos (Windows, Android, iOS) que genera una dirección MAC aleatoria diferente para cada red Wi-Fi. Esto evita que empresas o terceros rastreen la ubicación del dispositivo a través de sus intentos de conexión.</a:t>
            </a:r>
            <a:endParaRPr sz="1300">
              <a:solidFill>
                <a:schemeClr val="dk1"/>
              </a:solidFill>
            </a:endParaRPr>
          </a:p>
          <a:p>
            <a:pPr indent="0" lvl="0" marL="0" marR="0" rtl="0" algn="l">
              <a:lnSpc>
                <a:spcPct val="100000"/>
              </a:lnSpc>
              <a:spcBef>
                <a:spcPts val="1200"/>
              </a:spcBef>
              <a:spcAft>
                <a:spcPts val="0"/>
              </a:spcAft>
              <a:buNone/>
            </a:pPr>
            <a:r>
              <a:t/>
            </a:r>
            <a:endParaRPr sz="1300">
              <a:solidFill>
                <a:srgbClr val="26303A"/>
              </a:solidFill>
            </a:endParaRPr>
          </a:p>
        </p:txBody>
      </p:sp>
      <p:pic>
        <p:nvPicPr>
          <p:cNvPr id="290" name="Google Shape;290;h8ed05d8588e31ed_3_22"/>
          <p:cNvPicPr preferRelativeResize="0"/>
          <p:nvPr/>
        </p:nvPicPr>
        <p:blipFill>
          <a:blip r:embed="rId4">
            <a:alphaModFix/>
          </a:blip>
          <a:stretch>
            <a:fillRect/>
          </a:stretch>
        </p:blipFill>
        <p:spPr>
          <a:xfrm>
            <a:off x="6578125" y="3167292"/>
            <a:ext cx="3681725" cy="18301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h8ed05d8588e31ed_3_44"/>
          <p:cNvSpPr/>
          <p:nvPr/>
        </p:nvSpPr>
        <p:spPr>
          <a:xfrm>
            <a:off x="0" y="0"/>
            <a:ext cx="12191400" cy="658200"/>
          </a:xfrm>
          <a:prstGeom prst="rect">
            <a:avLst/>
          </a:prstGeom>
          <a:solidFill>
            <a:srgbClr val="12496F"/>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h8ed05d8588e31ed_3_44"/>
          <p:cNvSpPr/>
          <p:nvPr/>
        </p:nvSpPr>
        <p:spPr>
          <a:xfrm>
            <a:off x="567000" y="82440"/>
            <a:ext cx="10972500" cy="4560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i="0" lang="en-US" sz="2400" u="none" cap="none" strike="noStrike">
                <a:solidFill>
                  <a:srgbClr val="FFFFFF"/>
                </a:solidFill>
                <a:latin typeface="Arial"/>
                <a:ea typeface="Arial"/>
                <a:cs typeface="Arial"/>
                <a:sym typeface="Arial"/>
              </a:rPr>
              <a:t>3 · NIC: el adaptador de red: Pablo Borr</a:t>
            </a:r>
            <a:r>
              <a:rPr b="1" lang="en-US" sz="2400">
                <a:solidFill>
                  <a:srgbClr val="FFFFFF"/>
                </a:solidFill>
              </a:rPr>
              <a:t>ás (Parte 4)</a:t>
            </a:r>
            <a:endParaRPr b="1" sz="2400">
              <a:solidFill>
                <a:srgbClr val="FFFFFF"/>
              </a:solidFill>
            </a:endParaRPr>
          </a:p>
        </p:txBody>
      </p:sp>
      <p:sp>
        <p:nvSpPr>
          <p:cNvPr id="297" name="Google Shape;297;h8ed05d8588e31ed_3_44"/>
          <p:cNvSpPr/>
          <p:nvPr/>
        </p:nvSpPr>
        <p:spPr>
          <a:xfrm>
            <a:off x="713160" y="813960"/>
            <a:ext cx="10789500" cy="4407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lang="en-US" sz="2300">
                <a:solidFill>
                  <a:srgbClr val="12496F"/>
                </a:solidFill>
              </a:rPr>
              <a:t>Una NIC conecta el sistema informático a un medio de comunicación. Su propósito principal es actuar como la interfaz física o virtual entre el ordenador y la red de datos. </a:t>
            </a:r>
            <a:endParaRPr b="0" i="0" sz="2300" u="none" cap="none" strike="noStrike">
              <a:latin typeface="Arial"/>
              <a:ea typeface="Arial"/>
              <a:cs typeface="Arial"/>
              <a:sym typeface="Arial"/>
            </a:endParaRPr>
          </a:p>
        </p:txBody>
      </p:sp>
      <p:sp>
        <p:nvSpPr>
          <p:cNvPr id="298" name="Google Shape;298;h8ed05d8588e31ed_3_44"/>
          <p:cNvSpPr/>
          <p:nvPr/>
        </p:nvSpPr>
        <p:spPr>
          <a:xfrm>
            <a:off x="606279" y="2197742"/>
            <a:ext cx="10007700" cy="3789900"/>
          </a:xfrm>
          <a:prstGeom prst="roundRect">
            <a:avLst>
              <a:gd fmla="val 16667" name="adj"/>
            </a:avLst>
          </a:prstGeom>
          <a:solidFill>
            <a:srgbClr val="F3ECF9"/>
          </a:solidFill>
          <a:ln>
            <a:noFill/>
          </a:ln>
          <a:effectLst>
            <a:outerShdw blurRad="73942" rotWithShape="0" dir="5400000" dist="42633">
              <a:srgbClr val="000000">
                <a:alpha val="34900"/>
              </a:srgbClr>
            </a:outerShdw>
          </a:effectLst>
        </p:spPr>
        <p:txBody>
          <a:bodyPr anchorCtr="0" anchor="ctr" bIns="169175" lIns="169175" spcFirstLastPara="1" rIns="169175" wrap="square" tIns="169175">
            <a:noAutofit/>
          </a:bodyPr>
          <a:lstStyle/>
          <a:p>
            <a:pPr indent="0" lvl="0" marL="0" rtl="0" algn="l">
              <a:spcBef>
                <a:spcPts val="0"/>
              </a:spcBef>
              <a:spcAft>
                <a:spcPts val="0"/>
              </a:spcAft>
              <a:buNone/>
            </a:pPr>
            <a:r>
              <a:t/>
            </a:r>
            <a:endParaRPr/>
          </a:p>
        </p:txBody>
      </p:sp>
      <p:sp>
        <p:nvSpPr>
          <p:cNvPr id="299" name="Google Shape;299;h8ed05d8588e31ed_3_44"/>
          <p:cNvSpPr txBox="1"/>
          <p:nvPr/>
        </p:nvSpPr>
        <p:spPr>
          <a:xfrm>
            <a:off x="68488" y="6448500"/>
            <a:ext cx="12078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t>Fuente: </a:t>
            </a:r>
            <a:r>
              <a:rPr b="1" lang="en-US" u="sng">
                <a:solidFill>
                  <a:schemeClr val="hlink"/>
                </a:solidFill>
                <a:hlinkClick r:id="rId3"/>
              </a:rPr>
              <a:t>https://support.microsoft.com/es-es/windows/experience/connectivity-networking/essential-network-settings-and-tasks-in-windows</a:t>
            </a:r>
            <a:endParaRPr b="1"/>
          </a:p>
        </p:txBody>
      </p:sp>
      <p:sp>
        <p:nvSpPr>
          <p:cNvPr id="300" name="Google Shape;300;h8ed05d8588e31ed_3_44"/>
          <p:cNvSpPr/>
          <p:nvPr/>
        </p:nvSpPr>
        <p:spPr>
          <a:xfrm>
            <a:off x="749880" y="4500759"/>
            <a:ext cx="5097600" cy="3954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t/>
            </a:r>
            <a:endParaRPr b="0" i="0" sz="2000" u="none" cap="none" strike="noStrike">
              <a:latin typeface="Arial"/>
              <a:ea typeface="Arial"/>
              <a:cs typeface="Arial"/>
              <a:sym typeface="Arial"/>
            </a:endParaRPr>
          </a:p>
        </p:txBody>
      </p:sp>
      <p:sp>
        <p:nvSpPr>
          <p:cNvPr id="301" name="Google Shape;301;h8ed05d8588e31ed_3_44"/>
          <p:cNvSpPr/>
          <p:nvPr/>
        </p:nvSpPr>
        <p:spPr>
          <a:xfrm>
            <a:off x="749880" y="4994679"/>
            <a:ext cx="5097600" cy="10050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t/>
            </a:r>
            <a:endParaRPr b="0" i="0" sz="2000" u="none" cap="none" strike="noStrike">
              <a:latin typeface="Arial"/>
              <a:ea typeface="Arial"/>
              <a:cs typeface="Arial"/>
              <a:sym typeface="Arial"/>
            </a:endParaRPr>
          </a:p>
        </p:txBody>
      </p:sp>
      <p:sp>
        <p:nvSpPr>
          <p:cNvPr id="302" name="Google Shape;302;h8ed05d8588e31ed_3_44"/>
          <p:cNvSpPr/>
          <p:nvPr/>
        </p:nvSpPr>
        <p:spPr>
          <a:xfrm>
            <a:off x="882133" y="2278825"/>
            <a:ext cx="9432600" cy="731700"/>
          </a:xfrm>
          <a:prstGeom prst="rect">
            <a:avLst/>
          </a:prstGeom>
          <a:noFill/>
          <a:ln>
            <a:noFill/>
          </a:ln>
        </p:spPr>
        <p:txBody>
          <a:bodyPr anchorCtr="0" anchor="t" bIns="83275" lIns="67900" spcFirstLastPara="1" rIns="67900" wrap="square" tIns="83275">
            <a:noAutofit/>
          </a:bodyPr>
          <a:lstStyle/>
          <a:p>
            <a:pPr indent="0" lvl="0" marL="0" marR="0" rtl="0" algn="l">
              <a:lnSpc>
                <a:spcPct val="100000"/>
              </a:lnSpc>
              <a:spcBef>
                <a:spcPts val="0"/>
              </a:spcBef>
              <a:spcAft>
                <a:spcPts val="0"/>
              </a:spcAft>
              <a:buNone/>
            </a:pPr>
            <a:r>
              <a:rPr b="1" lang="en-US" sz="2900">
                <a:solidFill>
                  <a:srgbClr val="12496F"/>
                </a:solidFill>
              </a:rPr>
              <a:t>Qué observar en Windows</a:t>
            </a:r>
            <a:endParaRPr b="0" i="0" sz="2900" u="none" cap="none" strike="noStrike">
              <a:latin typeface="Arial"/>
              <a:ea typeface="Arial"/>
              <a:cs typeface="Arial"/>
              <a:sym typeface="Arial"/>
            </a:endParaRPr>
          </a:p>
        </p:txBody>
      </p:sp>
      <p:sp>
        <p:nvSpPr>
          <p:cNvPr id="303" name="Google Shape;303;h8ed05d8588e31ed_3_44"/>
          <p:cNvSpPr/>
          <p:nvPr/>
        </p:nvSpPr>
        <p:spPr>
          <a:xfrm>
            <a:off x="882100" y="2880678"/>
            <a:ext cx="6344100" cy="2695200"/>
          </a:xfrm>
          <a:prstGeom prst="rect">
            <a:avLst/>
          </a:prstGeom>
          <a:noFill/>
          <a:ln>
            <a:noFill/>
          </a:ln>
        </p:spPr>
        <p:txBody>
          <a:bodyPr anchorCtr="0" anchor="t" bIns="83275" lIns="67900" spcFirstLastPara="1" rIns="67900" wrap="square" tIns="83275">
            <a:noAutofit/>
          </a:bodyPr>
          <a:lstStyle/>
          <a:p>
            <a:pPr indent="0" lvl="0" marL="0" marR="0" rtl="0" algn="l">
              <a:lnSpc>
                <a:spcPct val="100000"/>
              </a:lnSpc>
              <a:spcBef>
                <a:spcPts val="0"/>
              </a:spcBef>
              <a:spcAft>
                <a:spcPts val="0"/>
              </a:spcAft>
              <a:buNone/>
            </a:pPr>
            <a:r>
              <a:rPr lang="en-US" sz="1100">
                <a:solidFill>
                  <a:schemeClr val="dk1"/>
                </a:solidFill>
              </a:rPr>
              <a:t>Al revisar el estado de la red en este sistema operativo, es posible analizar elementos clave como el adaptador, la velocidad del enlace, el estado actual de la conexión, la dirección física y el controlador encargado de administrar el dispositivo.</a:t>
            </a:r>
            <a:endParaRPr sz="1100">
              <a:solidFill>
                <a:schemeClr val="dk1"/>
              </a:solidFill>
            </a:endParaRPr>
          </a:p>
          <a:p>
            <a:pPr indent="0" lvl="0" marL="0" marR="0" rtl="0" algn="l">
              <a:lnSpc>
                <a:spcPct val="100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US" sz="1100">
                <a:solidFill>
                  <a:schemeClr val="dk1"/>
                </a:solidFill>
              </a:rPr>
              <a:t>Adaptador</a:t>
            </a:r>
            <a:r>
              <a:rPr lang="en-US" sz="1100">
                <a:solidFill>
                  <a:schemeClr val="dk1"/>
                </a:solidFill>
              </a:rPr>
              <a:t>: Identifica el hardware o interfaz de red utilizado. Puedes consultarlo rápidamente ejecutando el comando ipconfig.</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US" sz="1100">
                <a:solidFill>
                  <a:schemeClr val="dk1"/>
                </a:solidFill>
              </a:rPr>
              <a:t>Velocidad del enlace</a:t>
            </a:r>
            <a:r>
              <a:rPr lang="en-US" sz="1100">
                <a:solidFill>
                  <a:schemeClr val="dk1"/>
                </a:solidFill>
              </a:rPr>
              <a:t>: Muestra el ancho de banda máximo disponible en la conexión. Se puede verificar directamente en las propiedades de estado de la red en Windows.</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US" sz="1100">
                <a:solidFill>
                  <a:schemeClr val="dk1"/>
                </a:solidFill>
              </a:rPr>
              <a:t>Estado</a:t>
            </a:r>
            <a:r>
              <a:rPr lang="en-US" sz="1100">
                <a:solidFill>
                  <a:schemeClr val="dk1"/>
                </a:solidFill>
              </a:rPr>
              <a:t>: Indica si la interfaz está conectada, activa o presenta problemas. Puedes ver su estado operativo con el comando netsh interface show interface.</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US" sz="1100">
                <a:solidFill>
                  <a:schemeClr val="dk1"/>
                </a:solidFill>
              </a:rPr>
              <a:t>Dirección física</a:t>
            </a:r>
            <a:r>
              <a:rPr lang="en-US" sz="1100">
                <a:solidFill>
                  <a:schemeClr val="dk1"/>
                </a:solidFill>
              </a:rPr>
              <a:t>: Corresponde a la dirección MAC única asignada al dispositivo. Se puede consultar detalladamente en la consola mediante el comando ipconfig /all o de forma rápida con getmac.</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US" sz="1100">
                <a:solidFill>
                  <a:schemeClr val="dk1"/>
                </a:solidFill>
              </a:rPr>
              <a:t>Controlador</a:t>
            </a:r>
            <a:r>
              <a:rPr lang="en-US" sz="1100">
                <a:solidFill>
                  <a:schemeClr val="dk1"/>
                </a:solidFill>
              </a:rPr>
              <a:t>: Es el software encargado de permitir que el sistema operativo controle la NIC. Puedes gestionarlo y actualizarlo abriendo el Administrador de dispositivos con el comando devmgmt.msc.</a:t>
            </a:r>
            <a:endParaRPr sz="1100">
              <a:solidFill>
                <a:schemeClr val="dk1"/>
              </a:solidFill>
            </a:endParaRPr>
          </a:p>
          <a:p>
            <a:pPr indent="0" lvl="0" marL="0" marR="0" rtl="0" algn="l">
              <a:lnSpc>
                <a:spcPct val="100000"/>
              </a:lnSpc>
              <a:spcBef>
                <a:spcPts val="0"/>
              </a:spcBef>
              <a:spcAft>
                <a:spcPts val="0"/>
              </a:spcAft>
              <a:buNone/>
            </a:pPr>
            <a:r>
              <a:t/>
            </a:r>
            <a:endParaRPr sz="1100">
              <a:solidFill>
                <a:schemeClr val="dk1"/>
              </a:solidFill>
            </a:endParaRPr>
          </a:p>
        </p:txBody>
      </p:sp>
      <p:pic>
        <p:nvPicPr>
          <p:cNvPr id="304" name="Google Shape;304;h8ed05d8588e31ed_3_44"/>
          <p:cNvPicPr preferRelativeResize="0"/>
          <p:nvPr/>
        </p:nvPicPr>
        <p:blipFill>
          <a:blip r:embed="rId4">
            <a:alphaModFix/>
          </a:blip>
          <a:stretch>
            <a:fillRect/>
          </a:stretch>
        </p:blipFill>
        <p:spPr>
          <a:xfrm>
            <a:off x="7397050" y="3103617"/>
            <a:ext cx="2969050" cy="19781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h3173d30833cc6355_44_8"/>
          <p:cNvSpPr/>
          <p:nvPr/>
        </p:nvSpPr>
        <p:spPr>
          <a:xfrm>
            <a:off x="567000" y="1816423"/>
            <a:ext cx="11469300" cy="4762200"/>
          </a:xfrm>
          <a:prstGeom prst="roundRect">
            <a:avLst>
              <a:gd fmla="val 16667" name="adj"/>
            </a:avLst>
          </a:prstGeom>
          <a:solidFill>
            <a:srgbClr val="FFF2E0"/>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lang="en-US" sz="2200"/>
              <a:t>En la aula de informatica  de nuestro  instituto se trabaja tanto con los dispositivos  finales como las de interconexion , para  que   los  alumnos  o  los  usuarios  tengan  clase , cuando hablamos  de los dispositivos  finales  se refiere a los  aparat</a:t>
            </a:r>
            <a:r>
              <a:rPr lang="en-US" sz="2200"/>
              <a:t>os  que tocamos  nosotros   sea  como  la  computadura  o el PC (por donde  se emite  la tarea  ) o   la  pantalla  de los  docente  ( que la  recibe )  ,  ahora  to</a:t>
            </a:r>
            <a:r>
              <a:rPr lang="en-US" sz="2200"/>
              <a:t>ca hablar   de los dispositivos de interconexion  que  es  como  este  camino   de donde va  la tarea   sea por el  switch que  conecta   entre  los dispositivos o  el router   que interconecta  la redes  en nuestra  clase , y  aqui  se puede  establecer  una relacion complementaria </a:t>
            </a:r>
            <a:endParaRPr sz="2200"/>
          </a:p>
        </p:txBody>
      </p:sp>
      <p:sp>
        <p:nvSpPr>
          <p:cNvPr id="310" name="Google Shape;310;h3173d30833cc6355_44_8"/>
          <p:cNvSpPr/>
          <p:nvPr/>
        </p:nvSpPr>
        <p:spPr>
          <a:xfrm>
            <a:off x="12238" y="-95500"/>
            <a:ext cx="12191400" cy="658200"/>
          </a:xfrm>
          <a:prstGeom prst="rect">
            <a:avLst/>
          </a:prstGeom>
          <a:solidFill>
            <a:srgbClr val="12496F"/>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h3173d30833cc6355_44_8"/>
          <p:cNvSpPr/>
          <p:nvPr/>
        </p:nvSpPr>
        <p:spPr>
          <a:xfrm>
            <a:off x="567000" y="-95510"/>
            <a:ext cx="10972500" cy="4560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lang="en-US" sz="2400">
                <a:solidFill>
                  <a:srgbClr val="FFFFFF"/>
                </a:solidFill>
              </a:rPr>
              <a:t>4</a:t>
            </a:r>
            <a:r>
              <a:rPr b="1" i="0" lang="en-US" sz="2400" u="none" cap="none" strike="noStrike">
                <a:solidFill>
                  <a:srgbClr val="FFFFFF"/>
                </a:solidFill>
                <a:latin typeface="Arial"/>
                <a:ea typeface="Arial"/>
                <a:cs typeface="Arial"/>
                <a:sym typeface="Arial"/>
              </a:rPr>
              <a:t> · Dispositivos finales y de interconexión:  Mohamed Azdiahmed</a:t>
            </a:r>
            <a:endParaRPr b="0" i="0" sz="2400" u="none" cap="none" strike="noStrike">
              <a:latin typeface="Arial"/>
              <a:ea typeface="Arial"/>
              <a:cs typeface="Arial"/>
              <a:sym typeface="Arial"/>
            </a:endParaRPr>
          </a:p>
        </p:txBody>
      </p:sp>
      <p:sp>
        <p:nvSpPr>
          <p:cNvPr id="312" name="Google Shape;312;h3173d30833cc6355_44_8"/>
          <p:cNvSpPr/>
          <p:nvPr/>
        </p:nvSpPr>
        <p:spPr>
          <a:xfrm>
            <a:off x="936550" y="818650"/>
            <a:ext cx="10529700" cy="658200"/>
          </a:xfrm>
          <a:prstGeom prst="roundRect">
            <a:avLst>
              <a:gd fmla="val 16667" name="adj"/>
            </a:avLst>
          </a:prstGeom>
          <a:solidFill>
            <a:srgbClr val="E7F1F9"/>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lang="en-US" sz="3150">
                <a:solidFill>
                  <a:srgbClr val="1D2125"/>
                </a:solidFill>
                <a:highlight>
                  <a:srgbClr val="F8F9FA"/>
                </a:highlight>
              </a:rPr>
              <a:t>un ejemplo de aplicación en la red de un centro educativo</a:t>
            </a:r>
            <a:r>
              <a:rPr lang="en-US" sz="3100">
                <a:solidFill>
                  <a:schemeClr val="dk1"/>
                </a:solidFill>
              </a:rPr>
              <a:t> </a:t>
            </a:r>
            <a:endParaRPr sz="3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D5E1"/>
        </a:solidFill>
      </p:bgPr>
    </p:bg>
    <p:spTree>
      <p:nvGrpSpPr>
        <p:cNvPr id="316" name="Shape 316"/>
        <p:cNvGrpSpPr/>
        <p:nvPr/>
      </p:nvGrpSpPr>
      <p:grpSpPr>
        <a:xfrm>
          <a:off x="0" y="0"/>
          <a:ext cx="0" cy="0"/>
          <a:chOff x="0" y="0"/>
          <a:chExt cx="0" cy="0"/>
        </a:xfrm>
      </p:grpSpPr>
      <p:pic>
        <p:nvPicPr>
          <p:cNvPr descr="image.png" id="317" name="Google Shape;317;h8ed05d8588e31ed_4_18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18" name="Google Shape;318;h8ed05d8588e31ed_4_182"/>
          <p:cNvSpPr/>
          <p:nvPr/>
        </p:nvSpPr>
        <p:spPr>
          <a:xfrm>
            <a:off x="247650" y="247650"/>
            <a:ext cx="11696700" cy="5810400"/>
          </a:xfrm>
          <a:prstGeom prst="roundRect">
            <a:avLst>
              <a:gd fmla="val 1639" name="adj"/>
            </a:avLst>
          </a:prstGeom>
          <a:solidFill>
            <a:srgbClr val="EFF3F8"/>
          </a:solidFill>
          <a:ln cap="flat" cmpd="sng" w="9525">
            <a:solidFill>
              <a:srgbClr val="47556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319" name="Google Shape;319;h8ed05d8588e31ed_4_182"/>
          <p:cNvSpPr/>
          <p:nvPr/>
        </p:nvSpPr>
        <p:spPr>
          <a:xfrm>
            <a:off x="247650" y="6210300"/>
            <a:ext cx="11696700" cy="400500"/>
          </a:xfrm>
          <a:prstGeom prst="roundRect">
            <a:avLst>
              <a:gd fmla="val 19047" name="adj"/>
            </a:avLst>
          </a:prstGeom>
          <a:solidFill>
            <a:srgbClr val="98A5B6"/>
          </a:solidFill>
          <a:ln cap="flat" cmpd="sng" w="9525">
            <a:solidFill>
              <a:srgbClr val="47556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320" name="Google Shape;320;h8ed05d8588e31ed_4_182"/>
          <p:cNvSpPr/>
          <p:nvPr/>
        </p:nvSpPr>
        <p:spPr>
          <a:xfrm>
            <a:off x="0" y="13275"/>
            <a:ext cx="12192000" cy="624900"/>
          </a:xfrm>
          <a:prstGeom prst="rect">
            <a:avLst/>
          </a:prstGeom>
          <a:solidFill>
            <a:srgbClr val="2E496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321" name="Google Shape;321;h8ed05d8588e31ed_4_182"/>
          <p:cNvSpPr/>
          <p:nvPr/>
        </p:nvSpPr>
        <p:spPr>
          <a:xfrm>
            <a:off x="390525" y="6281737"/>
            <a:ext cx="905700" cy="257100"/>
          </a:xfrm>
          <a:prstGeom prst="roundRect">
            <a:avLst>
              <a:gd fmla="val 50000" name="adj"/>
            </a:avLst>
          </a:prstGeom>
          <a:solidFill>
            <a:srgbClr val="30AF5F"/>
          </a:solidFill>
          <a:ln cap="flat" cmpd="sng" w="9525">
            <a:solidFill>
              <a:srgbClr val="16653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322" name="Google Shape;322;h8ed05d8588e31ed_4_182"/>
          <p:cNvSpPr/>
          <p:nvPr/>
        </p:nvSpPr>
        <p:spPr>
          <a:xfrm>
            <a:off x="9803903" y="6286500"/>
            <a:ext cx="1997700" cy="248100"/>
          </a:xfrm>
          <a:prstGeom prst="roundRect">
            <a:avLst>
              <a:gd fmla="val 46153" name="adj"/>
            </a:avLst>
          </a:prstGeom>
          <a:solidFill>
            <a:srgbClr val="818C9B"/>
          </a:solidFill>
          <a:ln cap="flat" cmpd="sng" w="9525">
            <a:solidFill>
              <a:srgbClr val="ADB7C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323" name="Google Shape;323;h8ed05d8588e31ed_4_182"/>
          <p:cNvSpPr/>
          <p:nvPr/>
        </p:nvSpPr>
        <p:spPr>
          <a:xfrm>
            <a:off x="257175" y="628650"/>
            <a:ext cx="11678100" cy="9600"/>
          </a:xfrm>
          <a:prstGeom prst="rect">
            <a:avLst/>
          </a:prstGeom>
          <a:solidFill>
            <a:srgbClr val="0369A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324" name="Google Shape;324;h8ed05d8588e31ed_4_182"/>
          <p:cNvSpPr/>
          <p:nvPr/>
        </p:nvSpPr>
        <p:spPr>
          <a:xfrm>
            <a:off x="9972675" y="868709"/>
            <a:ext cx="1733700" cy="624900"/>
          </a:xfrm>
          <a:prstGeom prst="roundRect">
            <a:avLst>
              <a:gd fmla="val 9147" name="adj"/>
            </a:avLst>
          </a:prstGeom>
          <a:solidFill>
            <a:srgbClr val="0F172A"/>
          </a:solidFill>
          <a:ln cap="flat" cmpd="sng" w="19075">
            <a:solidFill>
              <a:srgbClr val="47556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325" name="Google Shape;325;h8ed05d8588e31ed_4_182"/>
          <p:cNvSpPr/>
          <p:nvPr/>
        </p:nvSpPr>
        <p:spPr>
          <a:xfrm>
            <a:off x="6191250" y="1819275"/>
            <a:ext cx="5514900" cy="4000500"/>
          </a:xfrm>
          <a:prstGeom prst="roundRect">
            <a:avLst>
              <a:gd fmla="val 2380" name="adj"/>
            </a:avLst>
          </a:prstGeom>
          <a:solidFill>
            <a:srgbClr val="0F172A"/>
          </a:solidFill>
          <a:ln cap="flat" cmpd="sng" w="9525">
            <a:solidFill>
              <a:srgbClr val="94A3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326" name="Google Shape;326;h8ed05d8588e31ed_4_182"/>
          <p:cNvSpPr/>
          <p:nvPr/>
        </p:nvSpPr>
        <p:spPr>
          <a:xfrm>
            <a:off x="485775" y="857250"/>
            <a:ext cx="1601700" cy="228900"/>
          </a:xfrm>
          <a:prstGeom prst="roundRect">
            <a:avLst>
              <a:gd fmla="val 41666" name="adj"/>
            </a:avLst>
          </a:prstGeom>
          <a:solidFill>
            <a:srgbClr val="1DA1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327" name="Google Shape;327;h8ed05d8588e31ed_4_182"/>
          <p:cNvSpPr/>
          <p:nvPr/>
        </p:nvSpPr>
        <p:spPr>
          <a:xfrm>
            <a:off x="485775" y="1988475"/>
            <a:ext cx="5514900" cy="3708000"/>
          </a:xfrm>
          <a:prstGeom prst="roundRect">
            <a:avLst>
              <a:gd fmla="val 8040" name="adj"/>
            </a:avLst>
          </a:prstGeom>
          <a:solidFill>
            <a:srgbClr val="CDECFE"/>
          </a:solidFill>
          <a:ln cap="flat" cmpd="sng" w="9525">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328" name="Google Shape;328;h8ed05d8588e31ed_4_182"/>
          <p:cNvSpPr/>
          <p:nvPr/>
        </p:nvSpPr>
        <p:spPr>
          <a:xfrm>
            <a:off x="6315075" y="4901505"/>
            <a:ext cx="5267700" cy="426900"/>
          </a:xfrm>
          <a:prstGeom prst="roundRect">
            <a:avLst>
              <a:gd fmla="val 13393" name="adj"/>
            </a:avLst>
          </a:prstGeom>
          <a:solidFill>
            <a:srgbClr val="0F172A"/>
          </a:solidFill>
          <a:ln cap="flat" cmpd="sng" w="19075">
            <a:solidFill>
              <a:srgbClr val="47556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pic>
        <p:nvPicPr>
          <p:cNvPr descr="image.png" id="329" name="Google Shape;329;h8ed05d8588e31ed_4_182"/>
          <p:cNvPicPr preferRelativeResize="0"/>
          <p:nvPr/>
        </p:nvPicPr>
        <p:blipFill rotWithShape="1">
          <a:blip r:embed="rId4">
            <a:alphaModFix/>
          </a:blip>
          <a:srcRect b="0" l="0" r="0" t="0"/>
          <a:stretch/>
        </p:blipFill>
        <p:spPr>
          <a:xfrm>
            <a:off x="533400" y="6343650"/>
            <a:ext cx="133350" cy="133350"/>
          </a:xfrm>
          <a:prstGeom prst="rect">
            <a:avLst/>
          </a:prstGeom>
          <a:noFill/>
          <a:ln>
            <a:noFill/>
          </a:ln>
        </p:spPr>
      </p:pic>
      <p:pic>
        <p:nvPicPr>
          <p:cNvPr descr="image.png" id="330" name="Google Shape;330;h8ed05d8588e31ed_4_182"/>
          <p:cNvPicPr preferRelativeResize="0"/>
          <p:nvPr/>
        </p:nvPicPr>
        <p:blipFill rotWithShape="1">
          <a:blip r:embed="rId5">
            <a:alphaModFix/>
          </a:blip>
          <a:srcRect b="0" l="0" r="0" t="0"/>
          <a:stretch/>
        </p:blipFill>
        <p:spPr>
          <a:xfrm>
            <a:off x="9908678" y="6348412"/>
            <a:ext cx="123825" cy="123825"/>
          </a:xfrm>
          <a:prstGeom prst="rect">
            <a:avLst/>
          </a:prstGeom>
          <a:noFill/>
          <a:ln>
            <a:noFill/>
          </a:ln>
        </p:spPr>
      </p:pic>
      <p:pic>
        <p:nvPicPr>
          <p:cNvPr descr="image.png" id="331" name="Google Shape;331;h8ed05d8588e31ed_4_182"/>
          <p:cNvPicPr preferRelativeResize="0"/>
          <p:nvPr/>
        </p:nvPicPr>
        <p:blipFill rotWithShape="1">
          <a:blip r:embed="rId6">
            <a:alphaModFix/>
          </a:blip>
          <a:srcRect b="0" l="0" r="0" t="0"/>
          <a:stretch/>
        </p:blipFill>
        <p:spPr>
          <a:xfrm>
            <a:off x="390525" y="290387"/>
            <a:ext cx="152400" cy="152400"/>
          </a:xfrm>
          <a:prstGeom prst="rect">
            <a:avLst/>
          </a:prstGeom>
          <a:noFill/>
          <a:ln>
            <a:noFill/>
          </a:ln>
        </p:spPr>
      </p:pic>
      <p:pic>
        <p:nvPicPr>
          <p:cNvPr descr="image.png" id="332" name="Google Shape;332;h8ed05d8588e31ed_4_182"/>
          <p:cNvPicPr preferRelativeResize="0"/>
          <p:nvPr/>
        </p:nvPicPr>
        <p:blipFill rotWithShape="1">
          <a:blip r:embed="rId7">
            <a:alphaModFix/>
          </a:blip>
          <a:srcRect b="0" l="0" r="0" t="0"/>
          <a:stretch/>
        </p:blipFill>
        <p:spPr>
          <a:xfrm>
            <a:off x="6315075" y="2310705"/>
            <a:ext cx="5267325" cy="2476500"/>
          </a:xfrm>
          <a:prstGeom prst="rect">
            <a:avLst/>
          </a:prstGeom>
          <a:noFill/>
          <a:ln>
            <a:noFill/>
          </a:ln>
        </p:spPr>
      </p:pic>
      <p:pic>
        <p:nvPicPr>
          <p:cNvPr descr="image.png" id="333" name="Google Shape;333;h8ed05d8588e31ed_4_182"/>
          <p:cNvPicPr preferRelativeResize="0"/>
          <p:nvPr/>
        </p:nvPicPr>
        <p:blipFill rotWithShape="1">
          <a:blip r:embed="rId8">
            <a:alphaModFix/>
          </a:blip>
          <a:srcRect b="0" l="0" r="0" t="0"/>
          <a:stretch/>
        </p:blipFill>
        <p:spPr>
          <a:xfrm>
            <a:off x="6334125" y="2329755"/>
            <a:ext cx="5229224" cy="2438400"/>
          </a:xfrm>
          <a:prstGeom prst="rect">
            <a:avLst/>
          </a:prstGeom>
          <a:noFill/>
          <a:ln>
            <a:noFill/>
          </a:ln>
        </p:spPr>
      </p:pic>
      <p:pic>
        <p:nvPicPr>
          <p:cNvPr descr="image.png" id="334" name="Google Shape;334;h8ed05d8588e31ed_4_182"/>
          <p:cNvPicPr preferRelativeResize="0"/>
          <p:nvPr/>
        </p:nvPicPr>
        <p:blipFill rotWithShape="1">
          <a:blip r:embed="rId9">
            <a:alphaModFix/>
          </a:blip>
          <a:srcRect b="0" l="0" r="0" t="0"/>
          <a:stretch/>
        </p:blipFill>
        <p:spPr>
          <a:xfrm>
            <a:off x="685800" y="2404422"/>
            <a:ext cx="190500" cy="190500"/>
          </a:xfrm>
          <a:prstGeom prst="rect">
            <a:avLst/>
          </a:prstGeom>
          <a:noFill/>
          <a:ln>
            <a:noFill/>
          </a:ln>
        </p:spPr>
      </p:pic>
      <p:sp>
        <p:nvSpPr>
          <p:cNvPr id="335" name="Google Shape;335;h8ed05d8588e31ed_4_182"/>
          <p:cNvSpPr txBox="1"/>
          <p:nvPr/>
        </p:nvSpPr>
        <p:spPr>
          <a:xfrm>
            <a:off x="714375" y="6319837"/>
            <a:ext cx="543300" cy="169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F8FAFC"/>
                </a:solidFill>
                <a:latin typeface="Quattrocento Sans"/>
                <a:ea typeface="Quattrocento Sans"/>
                <a:cs typeface="Quattrocento Sans"/>
                <a:sym typeface="Quattrocento Sans"/>
              </a:rPr>
              <a:t>Inicio</a:t>
            </a:r>
            <a:endParaRPr sz="1500"/>
          </a:p>
        </p:txBody>
      </p:sp>
      <p:sp>
        <p:nvSpPr>
          <p:cNvPr id="336" name="Google Shape;336;h8ed05d8588e31ed_4_182"/>
          <p:cNvSpPr txBox="1"/>
          <p:nvPr/>
        </p:nvSpPr>
        <p:spPr>
          <a:xfrm>
            <a:off x="10137278" y="6324600"/>
            <a:ext cx="1664100" cy="13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900" u="none" cap="none" strike="noStrike">
                <a:solidFill>
                  <a:srgbClr val="1E293B"/>
                </a:solidFill>
                <a:latin typeface="Quattrocento Sans"/>
                <a:ea typeface="Quattrocento Sans"/>
                <a:cs typeface="Quattrocento Sans"/>
                <a:sym typeface="Quattrocento Sans"/>
              </a:rPr>
              <a:t>SLIDE 1 / </a:t>
            </a:r>
            <a:r>
              <a:rPr b="1" lang="en-US" sz="900">
                <a:solidFill>
                  <a:srgbClr val="1E293B"/>
                </a:solidFill>
                <a:latin typeface="Quattrocento Sans"/>
                <a:ea typeface="Quattrocento Sans"/>
                <a:cs typeface="Quattrocento Sans"/>
                <a:sym typeface="Quattrocento Sans"/>
              </a:rPr>
              <a:t>3</a:t>
            </a:r>
            <a:r>
              <a:rPr b="1" i="0" lang="en-US" sz="900" u="none" cap="none" strike="noStrike">
                <a:solidFill>
                  <a:srgbClr val="1E293B"/>
                </a:solidFill>
                <a:latin typeface="Quattrocento Sans"/>
                <a:ea typeface="Quattrocento Sans"/>
                <a:cs typeface="Quattrocento Sans"/>
                <a:sym typeface="Quattrocento Sans"/>
              </a:rPr>
              <a:t>| OS 2002</a:t>
            </a:r>
            <a:endParaRPr sz="1500"/>
          </a:p>
        </p:txBody>
      </p:sp>
      <p:sp>
        <p:nvSpPr>
          <p:cNvPr id="337" name="Google Shape;337;h8ed05d8588e31ed_4_182"/>
          <p:cNvSpPr txBox="1"/>
          <p:nvPr/>
        </p:nvSpPr>
        <p:spPr>
          <a:xfrm>
            <a:off x="666750" y="160950"/>
            <a:ext cx="91467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Quattrocento Sans"/>
                <a:ea typeface="Quattrocento Sans"/>
                <a:cs typeface="Quattrocento Sans"/>
                <a:sym typeface="Quattrocento Sans"/>
              </a:rPr>
              <a:t>S</a:t>
            </a:r>
            <a:r>
              <a:rPr b="1" lang="en-US" sz="2400">
                <a:solidFill>
                  <a:srgbClr val="FFFFFF"/>
                </a:solidFill>
                <a:latin typeface="Quattrocento Sans"/>
                <a:ea typeface="Quattrocento Sans"/>
                <a:cs typeface="Quattrocento Sans"/>
                <a:sym typeface="Quattrocento Sans"/>
              </a:rPr>
              <a:t>4 · Switch: qué hace realmente CRISTIAN</a:t>
            </a:r>
            <a:endParaRPr b="1" sz="2400">
              <a:solidFill>
                <a:srgbClr val="FFFFFF"/>
              </a:solidFill>
              <a:latin typeface="Quattrocento Sans"/>
              <a:ea typeface="Quattrocento Sans"/>
              <a:cs typeface="Quattrocento Sans"/>
              <a:sym typeface="Quattrocento Sans"/>
            </a:endParaRPr>
          </a:p>
        </p:txBody>
      </p:sp>
      <p:sp>
        <p:nvSpPr>
          <p:cNvPr id="338" name="Google Shape;338;h8ed05d8588e31ed_4_182"/>
          <p:cNvSpPr txBox="1"/>
          <p:nvPr/>
        </p:nvSpPr>
        <p:spPr>
          <a:xfrm>
            <a:off x="10106025" y="963959"/>
            <a:ext cx="1562100" cy="320100"/>
          </a:xfrm>
          <a:prstGeom prst="rect">
            <a:avLst/>
          </a:prstGeom>
          <a:noFill/>
          <a:ln>
            <a:noFill/>
          </a:ln>
        </p:spPr>
        <p:txBody>
          <a:bodyPr anchorCtr="0" anchor="t" bIns="0" lIns="0" spcFirstLastPara="1" rIns="0" wrap="square" tIns="0">
            <a:spAutoFit/>
          </a:bodyPr>
          <a:lstStyle/>
          <a:p>
            <a:pPr indent="0" lvl="0" marL="0" marR="0" rtl="0" algn="l">
              <a:lnSpc>
                <a:spcPct val="86666"/>
              </a:lnSpc>
              <a:spcBef>
                <a:spcPts val="0"/>
              </a:spcBef>
              <a:spcAft>
                <a:spcPts val="0"/>
              </a:spcAft>
              <a:buNone/>
            </a:pPr>
            <a:r>
              <a:rPr b="0" i="0" lang="en-US" sz="1200" u="none" cap="none" strike="noStrike">
                <a:solidFill>
                  <a:srgbClr val="38BDF8"/>
                </a:solidFill>
                <a:latin typeface="VT323"/>
                <a:ea typeface="VT323"/>
                <a:cs typeface="VT323"/>
                <a:sym typeface="VT323"/>
              </a:rPr>
              <a:t>[DEVICE]: HARDWARE FISICO</a:t>
            </a:r>
            <a:br>
              <a:rPr b="0" i="0" lang="en-US" sz="1900" u="none" cap="none" strike="noStrike">
                <a:solidFill>
                  <a:schemeClr val="dk1"/>
                </a:solidFill>
                <a:latin typeface="Calibri"/>
                <a:ea typeface="Calibri"/>
                <a:cs typeface="Calibri"/>
                <a:sym typeface="Calibri"/>
              </a:rPr>
            </a:br>
            <a:r>
              <a:rPr b="0" i="0" lang="en-US" sz="1200" u="none" cap="none" strike="noStrike">
                <a:solidFill>
                  <a:srgbClr val="38BDF8"/>
                </a:solidFill>
                <a:latin typeface="VT323"/>
                <a:ea typeface="VT323"/>
                <a:cs typeface="VT323"/>
                <a:sym typeface="VT323"/>
              </a:rPr>
              <a:t> PORTS: RJ45 ETHERNET</a:t>
            </a:r>
            <a:endParaRPr sz="1500"/>
          </a:p>
        </p:txBody>
      </p:sp>
      <p:sp>
        <p:nvSpPr>
          <p:cNvPr id="339" name="Google Shape;339;h8ed05d8588e31ed_4_182"/>
          <p:cNvSpPr txBox="1"/>
          <p:nvPr/>
        </p:nvSpPr>
        <p:spPr>
          <a:xfrm>
            <a:off x="600075" y="895350"/>
            <a:ext cx="1468500" cy="1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F8FAFC"/>
                </a:solidFill>
                <a:latin typeface="Quattrocento Sans"/>
                <a:ea typeface="Quattrocento Sans"/>
                <a:cs typeface="Quattrocento Sans"/>
                <a:sym typeface="Quattrocento Sans"/>
              </a:rPr>
              <a:t>HARDWARE DE RED</a:t>
            </a:r>
            <a:endParaRPr sz="1500"/>
          </a:p>
        </p:txBody>
      </p:sp>
      <p:sp>
        <p:nvSpPr>
          <p:cNvPr id="340" name="Google Shape;340;h8ed05d8588e31ed_4_182"/>
          <p:cNvSpPr txBox="1"/>
          <p:nvPr/>
        </p:nvSpPr>
        <p:spPr>
          <a:xfrm>
            <a:off x="485775" y="1104900"/>
            <a:ext cx="6317700" cy="384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500" u="none" cap="none" strike="noStrike">
                <a:solidFill>
                  <a:srgbClr val="0F172A"/>
                </a:solidFill>
                <a:latin typeface="Quattrocento Sans"/>
                <a:ea typeface="Quattrocento Sans"/>
                <a:cs typeface="Quattrocento Sans"/>
                <a:sym typeface="Quattrocento Sans"/>
              </a:rPr>
              <a:t>¿Qué es un Switch de red?</a:t>
            </a:r>
            <a:endParaRPr sz="1500"/>
          </a:p>
        </p:txBody>
      </p:sp>
      <p:sp>
        <p:nvSpPr>
          <p:cNvPr id="341" name="Google Shape;341;h8ed05d8588e31ed_4_182"/>
          <p:cNvSpPr txBox="1"/>
          <p:nvPr/>
        </p:nvSpPr>
        <p:spPr>
          <a:xfrm>
            <a:off x="5790009" y="4996755"/>
            <a:ext cx="6317100" cy="1848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1200" u="none" cap="none" strike="noStrike">
                <a:solidFill>
                  <a:srgbClr val="38BDF8"/>
                </a:solidFill>
                <a:latin typeface="VT323"/>
                <a:ea typeface="VT323"/>
                <a:cs typeface="VT323"/>
                <a:sym typeface="VT323"/>
              </a:rPr>
              <a:t>PUERTOS RJ45 &gt;&gt; CONEXION CABLEADA LAN</a:t>
            </a:r>
            <a:endParaRPr sz="1500"/>
          </a:p>
        </p:txBody>
      </p:sp>
      <p:sp>
        <p:nvSpPr>
          <p:cNvPr id="342" name="Google Shape;342;h8ed05d8588e31ed_4_182"/>
          <p:cNvSpPr txBox="1"/>
          <p:nvPr/>
        </p:nvSpPr>
        <p:spPr>
          <a:xfrm>
            <a:off x="685800" y="2363919"/>
            <a:ext cx="6713700" cy="231000"/>
          </a:xfrm>
          <a:prstGeom prst="rect">
            <a:avLst/>
          </a:prstGeom>
          <a:noFill/>
          <a:ln>
            <a:noFill/>
          </a:ln>
        </p:spPr>
        <p:txBody>
          <a:bodyPr anchorCtr="0" anchor="t" bIns="0" lIns="266700" spcFirstLastPara="1" rIns="0" wrap="square" tIns="0">
            <a:spAutoFit/>
          </a:bodyPr>
          <a:lstStyle/>
          <a:p>
            <a:pPr indent="0" lvl="0" marL="0" marR="0" rtl="0" algn="l">
              <a:spcBef>
                <a:spcPts val="0"/>
              </a:spcBef>
              <a:spcAft>
                <a:spcPts val="0"/>
              </a:spcAft>
              <a:buNone/>
            </a:pPr>
            <a:r>
              <a:rPr b="1" i="0" lang="en-US" sz="1500" u="none" cap="none" strike="noStrike">
                <a:solidFill>
                  <a:srgbClr val="0369A1"/>
                </a:solidFill>
                <a:latin typeface="Quattrocento Sans"/>
                <a:ea typeface="Quattrocento Sans"/>
                <a:cs typeface="Quattrocento Sans"/>
                <a:sym typeface="Quattrocento Sans"/>
              </a:rPr>
              <a:t>Dispositivo Físico LAN</a:t>
            </a:r>
            <a:endParaRPr sz="1500"/>
          </a:p>
        </p:txBody>
      </p:sp>
      <p:sp>
        <p:nvSpPr>
          <p:cNvPr id="343" name="Google Shape;343;h8ed05d8588e31ed_4_182"/>
          <p:cNvSpPr txBox="1"/>
          <p:nvPr/>
        </p:nvSpPr>
        <p:spPr>
          <a:xfrm>
            <a:off x="685800" y="2859371"/>
            <a:ext cx="5210100" cy="24189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00" u="none" cap="none" strike="noStrike">
                <a:solidFill>
                  <a:srgbClr val="1E293B"/>
                </a:solidFill>
                <a:latin typeface="Quattrocento Sans"/>
                <a:ea typeface="Quattrocento Sans"/>
                <a:cs typeface="Quattrocento Sans"/>
                <a:sym typeface="Quattrocento Sans"/>
              </a:rPr>
              <a:t>Es un </a:t>
            </a:r>
            <a:r>
              <a:rPr b="1" i="0" lang="en-US" sz="1300" u="none" cap="none" strike="noStrike">
                <a:solidFill>
                  <a:srgbClr val="1E293B"/>
                </a:solidFill>
                <a:latin typeface="Quattrocento Sans"/>
                <a:ea typeface="Quattrocento Sans"/>
                <a:cs typeface="Quattrocento Sans"/>
                <a:sym typeface="Quattrocento Sans"/>
              </a:rPr>
              <a:t>aparato electrónico físico</a:t>
            </a:r>
            <a:r>
              <a:rPr b="0" i="0" lang="en-US" sz="1300" u="none" cap="none" strike="noStrike">
                <a:solidFill>
                  <a:srgbClr val="1E293B"/>
                </a:solidFill>
                <a:latin typeface="Quattrocento Sans"/>
                <a:ea typeface="Quattrocento Sans"/>
                <a:cs typeface="Quattrocento Sans"/>
                <a:sym typeface="Quattrocento Sans"/>
              </a:rPr>
              <a:t> provisto de múltiples puertos RJ45.</a:t>
            </a:r>
            <a:endParaRPr b="0" i="0" sz="1300" u="none" cap="none" strike="noStrike">
              <a:solidFill>
                <a:srgbClr val="1E293B"/>
              </a:solidFill>
              <a:latin typeface="Quattrocento Sans"/>
              <a:ea typeface="Quattrocento Sans"/>
              <a:cs typeface="Quattrocento Sans"/>
              <a:sym typeface="Quattrocento Sans"/>
            </a:endParaRPr>
          </a:p>
          <a:p>
            <a:pPr indent="0" lvl="0" marL="0" marR="0" rtl="0" algn="l">
              <a:lnSpc>
                <a:spcPct val="139925"/>
              </a:lnSpc>
              <a:spcBef>
                <a:spcPts val="0"/>
              </a:spcBef>
              <a:spcAft>
                <a:spcPts val="0"/>
              </a:spcAft>
              <a:buNone/>
            </a:pPr>
            <a:r>
              <a:rPr b="1" lang="en-US" sz="1300">
                <a:solidFill>
                  <a:srgbClr val="12496F"/>
                </a:solidFill>
                <a:latin typeface="Quattrocento Sans"/>
                <a:ea typeface="Quattrocento Sans"/>
                <a:cs typeface="Quattrocento Sans"/>
                <a:sym typeface="Quattrocento Sans"/>
              </a:rPr>
              <a:t>Tipos:</a:t>
            </a:r>
            <a:endParaRPr b="1" sz="1300">
              <a:solidFill>
                <a:srgbClr val="12496F"/>
              </a:solidFill>
              <a:latin typeface="Quattrocento Sans"/>
              <a:ea typeface="Quattrocento Sans"/>
              <a:cs typeface="Quattrocento Sans"/>
              <a:sym typeface="Quattrocento Sans"/>
            </a:endParaRPr>
          </a:p>
          <a:p>
            <a:pPr indent="-311150" lvl="0" marL="457200" marR="0" rtl="0" algn="l">
              <a:lnSpc>
                <a:spcPct val="139925"/>
              </a:lnSpc>
              <a:spcBef>
                <a:spcPts val="0"/>
              </a:spcBef>
              <a:spcAft>
                <a:spcPts val="0"/>
              </a:spcAft>
              <a:buClr>
                <a:srgbClr val="12496F"/>
              </a:buClr>
              <a:buSzPts val="1500"/>
              <a:buFont typeface="Quattrocento Sans"/>
              <a:buChar char="●"/>
            </a:pPr>
            <a:r>
              <a:rPr b="1" lang="en-US" sz="1300">
                <a:solidFill>
                  <a:srgbClr val="1E293B"/>
                </a:solidFill>
                <a:latin typeface="Quattrocento Sans"/>
                <a:ea typeface="Quattrocento Sans"/>
                <a:cs typeface="Quattrocento Sans"/>
                <a:sym typeface="Quattrocento Sans"/>
              </a:rPr>
              <a:t>No gestionables:</a:t>
            </a:r>
            <a:r>
              <a:rPr lang="en-US" sz="1100">
                <a:solidFill>
                  <a:srgbClr val="1E293B"/>
                </a:solidFill>
                <a:latin typeface="Quattrocento Sans"/>
                <a:ea typeface="Quattrocento Sans"/>
                <a:cs typeface="Quattrocento Sans"/>
                <a:sym typeface="Quattrocento Sans"/>
              </a:rPr>
              <a:t> (Funcionan al conectarlos, sin configuración )</a:t>
            </a:r>
            <a:endParaRPr sz="1100">
              <a:solidFill>
                <a:srgbClr val="1E293B"/>
              </a:solidFill>
              <a:latin typeface="Quattrocento Sans"/>
              <a:ea typeface="Quattrocento Sans"/>
              <a:cs typeface="Quattrocento Sans"/>
              <a:sym typeface="Quattrocento Sans"/>
            </a:endParaRPr>
          </a:p>
          <a:p>
            <a:pPr indent="0" lvl="0" marL="457200" marR="0" rtl="0" algn="l">
              <a:lnSpc>
                <a:spcPct val="139925"/>
              </a:lnSpc>
              <a:spcBef>
                <a:spcPts val="0"/>
              </a:spcBef>
              <a:spcAft>
                <a:spcPts val="0"/>
              </a:spcAft>
              <a:buNone/>
            </a:pPr>
            <a:r>
              <a:t/>
            </a:r>
            <a:endParaRPr sz="1100">
              <a:solidFill>
                <a:srgbClr val="1E293B"/>
              </a:solidFill>
              <a:latin typeface="Quattrocento Sans"/>
              <a:ea typeface="Quattrocento Sans"/>
              <a:cs typeface="Quattrocento Sans"/>
              <a:sym typeface="Quattrocento Sans"/>
            </a:endParaRPr>
          </a:p>
          <a:p>
            <a:pPr indent="-311150" lvl="0" marL="457200" marR="0" rtl="0" algn="l">
              <a:lnSpc>
                <a:spcPct val="100000"/>
              </a:lnSpc>
              <a:spcBef>
                <a:spcPts val="0"/>
              </a:spcBef>
              <a:spcAft>
                <a:spcPts val="0"/>
              </a:spcAft>
              <a:buClr>
                <a:srgbClr val="12496F"/>
              </a:buClr>
              <a:buSzPts val="1500"/>
              <a:buFont typeface="Quattrocento Sans"/>
              <a:buChar char="●"/>
            </a:pPr>
            <a:r>
              <a:rPr b="1" lang="en-US" sz="1300">
                <a:solidFill>
                  <a:srgbClr val="1E293B"/>
                </a:solidFill>
                <a:latin typeface="Quattrocento Sans"/>
                <a:ea typeface="Quattrocento Sans"/>
                <a:cs typeface="Quattrocento Sans"/>
                <a:sym typeface="Quattrocento Sans"/>
              </a:rPr>
              <a:t>Gestionables:</a:t>
            </a:r>
            <a:r>
              <a:rPr lang="en-US" sz="1300">
                <a:solidFill>
                  <a:srgbClr val="1E293B"/>
                </a:solidFill>
                <a:latin typeface="Quattrocento Sans"/>
                <a:ea typeface="Quattrocento Sans"/>
                <a:cs typeface="Quattrocento Sans"/>
                <a:sym typeface="Quattrocento Sans"/>
              </a:rPr>
              <a:t> </a:t>
            </a:r>
            <a:r>
              <a:rPr lang="en-US" sz="1100">
                <a:solidFill>
                  <a:srgbClr val="1E293B"/>
                </a:solidFill>
                <a:latin typeface="Quattrocento Sans"/>
                <a:ea typeface="Quattrocento Sans"/>
                <a:cs typeface="Quattrocento Sans"/>
                <a:sym typeface="Quattrocento Sans"/>
              </a:rPr>
              <a:t>(Se pueden configurar: VLAN, límite de ancho de banda, etc. No todos hacen encaminamiento IP: eso lo hacen los de capa 3 ).</a:t>
            </a:r>
            <a:endParaRPr sz="1100">
              <a:solidFill>
                <a:srgbClr val="1E293B"/>
              </a:solidFill>
              <a:latin typeface="Quattrocento Sans"/>
              <a:ea typeface="Quattrocento Sans"/>
              <a:cs typeface="Quattrocento Sans"/>
              <a:sym typeface="Quattrocento Sans"/>
            </a:endParaRPr>
          </a:p>
          <a:p>
            <a:pPr indent="0" lvl="0" marL="457200" marR="0" rtl="0" algn="l">
              <a:lnSpc>
                <a:spcPct val="100000"/>
              </a:lnSpc>
              <a:spcBef>
                <a:spcPts val="0"/>
              </a:spcBef>
              <a:spcAft>
                <a:spcPts val="0"/>
              </a:spcAft>
              <a:buNone/>
            </a:pPr>
            <a:r>
              <a:t/>
            </a:r>
            <a:endParaRPr sz="1100">
              <a:solidFill>
                <a:srgbClr val="1E293B"/>
              </a:solidFill>
              <a:latin typeface="Quattrocento Sans"/>
              <a:ea typeface="Quattrocento Sans"/>
              <a:cs typeface="Quattrocento Sans"/>
              <a:sym typeface="Quattrocento Sans"/>
            </a:endParaRPr>
          </a:p>
          <a:p>
            <a:pPr indent="-311150" lvl="0" marL="457200" marR="0" rtl="0" algn="l">
              <a:lnSpc>
                <a:spcPct val="139925"/>
              </a:lnSpc>
              <a:spcBef>
                <a:spcPts val="0"/>
              </a:spcBef>
              <a:spcAft>
                <a:spcPts val="0"/>
              </a:spcAft>
              <a:buClr>
                <a:srgbClr val="12496F"/>
              </a:buClr>
              <a:buSzPts val="1500"/>
              <a:buFont typeface="Quattrocento Sans"/>
              <a:buChar char="●"/>
            </a:pPr>
            <a:r>
              <a:rPr b="1" lang="en-US" sz="1300">
                <a:solidFill>
                  <a:srgbClr val="1E293B"/>
                </a:solidFill>
                <a:latin typeface="Quattrocento Sans"/>
                <a:ea typeface="Quattrocento Sans"/>
                <a:cs typeface="Quattrocento Sans"/>
                <a:sym typeface="Quattrocento Sans"/>
              </a:rPr>
              <a:t>Switch de mayor capacidad para distribución o núcleo:</a:t>
            </a:r>
            <a:r>
              <a:rPr lang="en-US" sz="1300">
                <a:solidFill>
                  <a:srgbClr val="1E293B"/>
                </a:solidFill>
                <a:latin typeface="Quattrocento Sans"/>
                <a:ea typeface="Quattrocento Sans"/>
                <a:cs typeface="Quattrocento Sans"/>
                <a:sym typeface="Quattrocento Sans"/>
              </a:rPr>
              <a:t> </a:t>
            </a:r>
            <a:r>
              <a:rPr lang="en-US" sz="1100">
                <a:solidFill>
                  <a:srgbClr val="1E293B"/>
                </a:solidFill>
                <a:latin typeface="Quattrocento Sans"/>
                <a:ea typeface="Quattrocento Sans"/>
                <a:cs typeface="Quattrocento Sans"/>
                <a:sym typeface="Quattrocento Sans"/>
              </a:rPr>
              <a:t>(Más velocidad y puertos, para agrupar el tráfico de otros switches de la red )</a:t>
            </a:r>
            <a:endParaRPr sz="1100">
              <a:solidFill>
                <a:srgbClr val="1E293B"/>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None/>
            </a:pPr>
            <a:r>
              <a:t/>
            </a:r>
            <a:endParaRPr sz="1100">
              <a:solidFill>
                <a:srgbClr val="1E293B"/>
              </a:solidFill>
              <a:latin typeface="Quattrocento Sans"/>
              <a:ea typeface="Quattrocento Sans"/>
              <a:cs typeface="Quattrocento Sans"/>
              <a:sym typeface="Quattrocento Sans"/>
            </a:endParaRPr>
          </a:p>
        </p:txBody>
      </p:sp>
      <p:sp>
        <p:nvSpPr>
          <p:cNvPr id="344" name="Google Shape;344;h8ed05d8588e31ed_4_182"/>
          <p:cNvSpPr/>
          <p:nvPr/>
        </p:nvSpPr>
        <p:spPr>
          <a:xfrm>
            <a:off x="0" y="0"/>
            <a:ext cx="12191100" cy="658500"/>
          </a:xfrm>
          <a:prstGeom prst="rect">
            <a:avLst/>
          </a:prstGeom>
          <a:solidFill>
            <a:srgbClr val="24496E"/>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h8ed05d8588e31ed_4_182"/>
          <p:cNvSpPr/>
          <p:nvPr/>
        </p:nvSpPr>
        <p:spPr>
          <a:xfrm>
            <a:off x="567000" y="82440"/>
            <a:ext cx="10972500" cy="4560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i="0" lang="en-US" sz="2400" u="none" cap="none" strike="noStrike">
                <a:solidFill>
                  <a:srgbClr val="FFFFFF"/>
                </a:solidFill>
                <a:latin typeface="Arial"/>
                <a:ea typeface="Arial"/>
                <a:cs typeface="Arial"/>
                <a:sym typeface="Arial"/>
              </a:rPr>
              <a:t>4 · Switch: qué hace realmente </a:t>
            </a:r>
            <a:r>
              <a:rPr b="1" lang="en-US" sz="2400">
                <a:solidFill>
                  <a:srgbClr val="FFFFFF"/>
                </a:solidFill>
              </a:rPr>
              <a:t>CRISTIAN</a:t>
            </a:r>
            <a:endParaRPr b="0" i="0" sz="2400" u="none" cap="none" strike="noStrike">
              <a:latin typeface="Arial"/>
              <a:ea typeface="Arial"/>
              <a:cs typeface="Arial"/>
              <a:sym typeface="Arial"/>
            </a:endParaRPr>
          </a:p>
        </p:txBody>
      </p:sp>
      <p:sp>
        <p:nvSpPr>
          <p:cNvPr id="346" name="Google Shape;346;h8ed05d8588e31ed_4_182"/>
          <p:cNvSpPr txBox="1"/>
          <p:nvPr/>
        </p:nvSpPr>
        <p:spPr>
          <a:xfrm>
            <a:off x="1436724" y="6341100"/>
            <a:ext cx="8163900" cy="13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900">
                <a:solidFill>
                  <a:srgbClr val="F8FAFC"/>
                </a:solidFill>
                <a:latin typeface="Quattrocento Sans"/>
                <a:ea typeface="Quattrocento Sans"/>
                <a:cs typeface="Quattrocento Sans"/>
                <a:sym typeface="Quattrocento Sans"/>
              </a:rPr>
              <a:t>Fuente: https://www.pccomponentes.com/blog/switch-de-red-que-es-caracteristicas-y-los-mejores</a:t>
            </a:r>
            <a:endParaRPr b="1" sz="9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D5E1"/>
        </a:solidFill>
      </p:bgPr>
    </p:bg>
    <p:spTree>
      <p:nvGrpSpPr>
        <p:cNvPr id="350" name="Shape 350"/>
        <p:cNvGrpSpPr/>
        <p:nvPr/>
      </p:nvGrpSpPr>
      <p:grpSpPr>
        <a:xfrm>
          <a:off x="0" y="0"/>
          <a:ext cx="0" cy="0"/>
          <a:chOff x="0" y="0"/>
          <a:chExt cx="0" cy="0"/>
        </a:xfrm>
      </p:grpSpPr>
      <p:pic>
        <p:nvPicPr>
          <p:cNvPr descr="image.png" id="351" name="Google Shape;351;h8ed05d8588e31ed_4_21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52" name="Google Shape;352;h8ed05d8588e31ed_4_215"/>
          <p:cNvSpPr/>
          <p:nvPr/>
        </p:nvSpPr>
        <p:spPr>
          <a:xfrm>
            <a:off x="247651" y="257175"/>
            <a:ext cx="11696700" cy="5810400"/>
          </a:xfrm>
          <a:prstGeom prst="roundRect">
            <a:avLst>
              <a:gd fmla="val 1639" name="adj"/>
            </a:avLst>
          </a:prstGeom>
          <a:solidFill>
            <a:srgbClr val="EFF3F8"/>
          </a:solidFill>
          <a:ln cap="flat" cmpd="sng" w="12700">
            <a:solidFill>
              <a:srgbClr val="47556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Calibri"/>
              <a:ea typeface="Calibri"/>
              <a:cs typeface="Calibri"/>
              <a:sym typeface="Calibri"/>
            </a:endParaRPr>
          </a:p>
        </p:txBody>
      </p:sp>
      <p:sp>
        <p:nvSpPr>
          <p:cNvPr id="353" name="Google Shape;353;h8ed05d8588e31ed_4_215"/>
          <p:cNvSpPr/>
          <p:nvPr/>
        </p:nvSpPr>
        <p:spPr>
          <a:xfrm>
            <a:off x="247651" y="6210300"/>
            <a:ext cx="11696700" cy="400500"/>
          </a:xfrm>
          <a:prstGeom prst="roundRect">
            <a:avLst>
              <a:gd fmla="val 19047" name="adj"/>
            </a:avLst>
          </a:prstGeom>
          <a:solidFill>
            <a:srgbClr val="98A5B6"/>
          </a:solidFill>
          <a:ln cap="flat" cmpd="sng" w="12700">
            <a:solidFill>
              <a:srgbClr val="47556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Calibri"/>
              <a:ea typeface="Calibri"/>
              <a:cs typeface="Calibri"/>
              <a:sym typeface="Calibri"/>
            </a:endParaRPr>
          </a:p>
        </p:txBody>
      </p:sp>
      <p:sp>
        <p:nvSpPr>
          <p:cNvPr id="354" name="Google Shape;354;h8ed05d8588e31ed_4_215"/>
          <p:cNvSpPr/>
          <p:nvPr/>
        </p:nvSpPr>
        <p:spPr>
          <a:xfrm>
            <a:off x="257175" y="257175"/>
            <a:ext cx="11678100" cy="381300"/>
          </a:xfrm>
          <a:prstGeom prst="rect">
            <a:avLst/>
          </a:prstGeom>
          <a:solidFill>
            <a:srgbClr val="148EC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Calibri"/>
              <a:ea typeface="Calibri"/>
              <a:cs typeface="Calibri"/>
              <a:sym typeface="Calibri"/>
            </a:endParaRPr>
          </a:p>
        </p:txBody>
      </p:sp>
      <p:sp>
        <p:nvSpPr>
          <p:cNvPr id="355" name="Google Shape;355;h8ed05d8588e31ed_4_215"/>
          <p:cNvSpPr/>
          <p:nvPr/>
        </p:nvSpPr>
        <p:spPr>
          <a:xfrm>
            <a:off x="390525" y="6281737"/>
            <a:ext cx="905700" cy="257100"/>
          </a:xfrm>
          <a:prstGeom prst="roundRect">
            <a:avLst>
              <a:gd fmla="val 50000" name="adj"/>
            </a:avLst>
          </a:prstGeom>
          <a:solidFill>
            <a:srgbClr val="30AF5F"/>
          </a:solidFill>
          <a:ln cap="flat" cmpd="sng" w="12700">
            <a:solidFill>
              <a:srgbClr val="16653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Calibri"/>
              <a:ea typeface="Calibri"/>
              <a:cs typeface="Calibri"/>
              <a:sym typeface="Calibri"/>
            </a:endParaRPr>
          </a:p>
        </p:txBody>
      </p:sp>
      <p:sp>
        <p:nvSpPr>
          <p:cNvPr id="356" name="Google Shape;356;h8ed05d8588e31ed_4_215"/>
          <p:cNvSpPr/>
          <p:nvPr/>
        </p:nvSpPr>
        <p:spPr>
          <a:xfrm>
            <a:off x="9803903" y="6286500"/>
            <a:ext cx="1997700" cy="248100"/>
          </a:xfrm>
          <a:prstGeom prst="roundRect">
            <a:avLst>
              <a:gd fmla="val 46153" name="adj"/>
            </a:avLst>
          </a:prstGeom>
          <a:solidFill>
            <a:srgbClr val="818C9B"/>
          </a:solidFill>
          <a:ln cap="flat" cmpd="sng" w="12700">
            <a:solidFill>
              <a:srgbClr val="ADB7C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Calibri"/>
              <a:ea typeface="Calibri"/>
              <a:cs typeface="Calibri"/>
              <a:sym typeface="Calibri"/>
            </a:endParaRPr>
          </a:p>
        </p:txBody>
      </p:sp>
      <p:sp>
        <p:nvSpPr>
          <p:cNvPr id="357" name="Google Shape;357;h8ed05d8588e31ed_4_215"/>
          <p:cNvSpPr/>
          <p:nvPr/>
        </p:nvSpPr>
        <p:spPr>
          <a:xfrm>
            <a:off x="257175" y="628651"/>
            <a:ext cx="11678100" cy="9600"/>
          </a:xfrm>
          <a:prstGeom prst="rect">
            <a:avLst/>
          </a:prstGeom>
          <a:solidFill>
            <a:srgbClr val="0369A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Calibri"/>
              <a:ea typeface="Calibri"/>
              <a:cs typeface="Calibri"/>
              <a:sym typeface="Calibri"/>
            </a:endParaRPr>
          </a:p>
        </p:txBody>
      </p:sp>
      <p:sp>
        <p:nvSpPr>
          <p:cNvPr id="358" name="Google Shape;358;h8ed05d8588e31ed_4_215"/>
          <p:cNvSpPr/>
          <p:nvPr/>
        </p:nvSpPr>
        <p:spPr>
          <a:xfrm>
            <a:off x="9972675" y="868709"/>
            <a:ext cx="1733700" cy="624900"/>
          </a:xfrm>
          <a:prstGeom prst="roundRect">
            <a:avLst>
              <a:gd fmla="val 9147" name="adj"/>
            </a:avLst>
          </a:prstGeom>
          <a:solidFill>
            <a:srgbClr val="0F172A"/>
          </a:solidFill>
          <a:ln cap="flat" cmpd="sng" w="19075">
            <a:solidFill>
              <a:srgbClr val="47556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Calibri"/>
              <a:ea typeface="Calibri"/>
              <a:cs typeface="Calibri"/>
              <a:sym typeface="Calibri"/>
            </a:endParaRPr>
          </a:p>
        </p:txBody>
      </p:sp>
      <p:sp>
        <p:nvSpPr>
          <p:cNvPr id="359" name="Google Shape;359;h8ed05d8588e31ed_4_215"/>
          <p:cNvSpPr/>
          <p:nvPr/>
        </p:nvSpPr>
        <p:spPr>
          <a:xfrm>
            <a:off x="9054484" y="1793844"/>
            <a:ext cx="2747100" cy="4000500"/>
          </a:xfrm>
          <a:prstGeom prst="roundRect">
            <a:avLst>
              <a:gd fmla="val 2617" name="adj"/>
            </a:avLst>
          </a:prstGeom>
          <a:solidFill>
            <a:srgbClr val="D8ECFC"/>
          </a:solidFill>
          <a:ln cap="flat" cmpd="sng" w="1270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Calibri"/>
              <a:ea typeface="Calibri"/>
              <a:cs typeface="Calibri"/>
              <a:sym typeface="Calibri"/>
            </a:endParaRPr>
          </a:p>
        </p:txBody>
      </p:sp>
      <p:sp>
        <p:nvSpPr>
          <p:cNvPr id="360" name="Google Shape;360;h8ed05d8588e31ed_4_215"/>
          <p:cNvSpPr/>
          <p:nvPr/>
        </p:nvSpPr>
        <p:spPr>
          <a:xfrm>
            <a:off x="3330333" y="1819275"/>
            <a:ext cx="2747100" cy="4000500"/>
          </a:xfrm>
          <a:prstGeom prst="roundRect">
            <a:avLst>
              <a:gd fmla="val 2617" name="adj"/>
            </a:avLst>
          </a:prstGeom>
          <a:solidFill>
            <a:srgbClr val="CDECFE"/>
          </a:solidFill>
          <a:ln cap="flat" cmpd="sng" w="1270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Calibri"/>
              <a:ea typeface="Calibri"/>
              <a:cs typeface="Calibri"/>
              <a:sym typeface="Calibri"/>
            </a:endParaRPr>
          </a:p>
        </p:txBody>
      </p:sp>
      <p:sp>
        <p:nvSpPr>
          <p:cNvPr id="361" name="Google Shape;361;h8ed05d8588e31ed_4_215"/>
          <p:cNvSpPr/>
          <p:nvPr/>
        </p:nvSpPr>
        <p:spPr>
          <a:xfrm>
            <a:off x="6192408" y="1819275"/>
            <a:ext cx="2747100" cy="4000500"/>
          </a:xfrm>
          <a:prstGeom prst="roundRect">
            <a:avLst>
              <a:gd fmla="val 2617" name="adj"/>
            </a:avLst>
          </a:prstGeom>
          <a:solidFill>
            <a:srgbClr val="F8FAFC"/>
          </a:solidFill>
          <a:ln cap="flat" cmpd="sng" w="12700">
            <a:solidFill>
              <a:srgbClr val="94A3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Calibri"/>
              <a:ea typeface="Calibri"/>
              <a:cs typeface="Calibri"/>
              <a:sym typeface="Calibri"/>
            </a:endParaRPr>
          </a:p>
        </p:txBody>
      </p:sp>
      <p:sp>
        <p:nvSpPr>
          <p:cNvPr id="362" name="Google Shape;362;h8ed05d8588e31ed_4_215"/>
          <p:cNvSpPr/>
          <p:nvPr/>
        </p:nvSpPr>
        <p:spPr>
          <a:xfrm>
            <a:off x="485775" y="857251"/>
            <a:ext cx="1620900" cy="228900"/>
          </a:xfrm>
          <a:prstGeom prst="roundRect">
            <a:avLst>
              <a:gd fmla="val 41666" name="adj"/>
            </a:avLst>
          </a:prstGeom>
          <a:solidFill>
            <a:srgbClr val="1DA1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Calibri"/>
              <a:ea typeface="Calibri"/>
              <a:cs typeface="Calibri"/>
              <a:sym typeface="Calibri"/>
            </a:endParaRPr>
          </a:p>
        </p:txBody>
      </p:sp>
      <p:sp>
        <p:nvSpPr>
          <p:cNvPr id="363" name="Google Shape;363;h8ed05d8588e31ed_4_215"/>
          <p:cNvSpPr/>
          <p:nvPr/>
        </p:nvSpPr>
        <p:spPr>
          <a:xfrm>
            <a:off x="9205497" y="5192484"/>
            <a:ext cx="2444700" cy="401700"/>
          </a:xfrm>
          <a:prstGeom prst="roundRect">
            <a:avLst>
              <a:gd fmla="val 14222" name="adj"/>
            </a:avLst>
          </a:prstGeom>
          <a:solidFill>
            <a:srgbClr val="0F172A"/>
          </a:solidFill>
          <a:ln cap="flat" cmpd="sng" w="19075">
            <a:solidFill>
              <a:srgbClr val="47556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Calibri"/>
              <a:ea typeface="Calibri"/>
              <a:cs typeface="Calibri"/>
              <a:sym typeface="Calibri"/>
            </a:endParaRPr>
          </a:p>
        </p:txBody>
      </p:sp>
      <p:sp>
        <p:nvSpPr>
          <p:cNvPr id="364" name="Google Shape;364;h8ed05d8588e31ed_4_215"/>
          <p:cNvSpPr/>
          <p:nvPr/>
        </p:nvSpPr>
        <p:spPr>
          <a:xfrm>
            <a:off x="3481348" y="5217915"/>
            <a:ext cx="2444700" cy="401700"/>
          </a:xfrm>
          <a:prstGeom prst="roundRect">
            <a:avLst>
              <a:gd fmla="val 14222" name="adj"/>
            </a:avLst>
          </a:prstGeom>
          <a:solidFill>
            <a:srgbClr val="0F172A"/>
          </a:solidFill>
          <a:ln cap="flat" cmpd="sng" w="19075">
            <a:solidFill>
              <a:srgbClr val="47556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Calibri"/>
              <a:ea typeface="Calibri"/>
              <a:cs typeface="Calibri"/>
              <a:sym typeface="Calibri"/>
            </a:endParaRPr>
          </a:p>
        </p:txBody>
      </p:sp>
      <p:sp>
        <p:nvSpPr>
          <p:cNvPr id="365" name="Google Shape;365;h8ed05d8588e31ed_4_215"/>
          <p:cNvSpPr/>
          <p:nvPr/>
        </p:nvSpPr>
        <p:spPr>
          <a:xfrm>
            <a:off x="6343423" y="5217915"/>
            <a:ext cx="2444700" cy="401700"/>
          </a:xfrm>
          <a:prstGeom prst="roundRect">
            <a:avLst>
              <a:gd fmla="val 14222" name="adj"/>
            </a:avLst>
          </a:prstGeom>
          <a:solidFill>
            <a:srgbClr val="0F172A"/>
          </a:solidFill>
          <a:ln cap="flat" cmpd="sng" w="19075">
            <a:solidFill>
              <a:srgbClr val="47556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Calibri"/>
              <a:ea typeface="Calibri"/>
              <a:cs typeface="Calibri"/>
              <a:sym typeface="Calibri"/>
            </a:endParaRPr>
          </a:p>
        </p:txBody>
      </p:sp>
      <p:pic>
        <p:nvPicPr>
          <p:cNvPr descr="image.png" id="366" name="Google Shape;366;h8ed05d8588e31ed_4_215"/>
          <p:cNvPicPr preferRelativeResize="0"/>
          <p:nvPr/>
        </p:nvPicPr>
        <p:blipFill rotWithShape="1">
          <a:blip r:embed="rId4">
            <a:alphaModFix/>
          </a:blip>
          <a:srcRect b="0" l="0" r="0" t="0"/>
          <a:stretch/>
        </p:blipFill>
        <p:spPr>
          <a:xfrm>
            <a:off x="533400" y="6343651"/>
            <a:ext cx="133351" cy="133351"/>
          </a:xfrm>
          <a:prstGeom prst="rect">
            <a:avLst/>
          </a:prstGeom>
          <a:noFill/>
          <a:ln>
            <a:noFill/>
          </a:ln>
        </p:spPr>
      </p:pic>
      <p:pic>
        <p:nvPicPr>
          <p:cNvPr descr="image.png" id="367" name="Google Shape;367;h8ed05d8588e31ed_4_215"/>
          <p:cNvPicPr preferRelativeResize="0"/>
          <p:nvPr/>
        </p:nvPicPr>
        <p:blipFill rotWithShape="1">
          <a:blip r:embed="rId5">
            <a:alphaModFix/>
          </a:blip>
          <a:srcRect b="0" l="0" r="0" t="0"/>
          <a:stretch/>
        </p:blipFill>
        <p:spPr>
          <a:xfrm>
            <a:off x="9908679" y="6348412"/>
            <a:ext cx="123825" cy="123825"/>
          </a:xfrm>
          <a:prstGeom prst="rect">
            <a:avLst/>
          </a:prstGeom>
          <a:noFill/>
          <a:ln>
            <a:noFill/>
          </a:ln>
        </p:spPr>
      </p:pic>
      <p:pic>
        <p:nvPicPr>
          <p:cNvPr descr="image.png" id="368" name="Google Shape;368;h8ed05d8588e31ed_4_215"/>
          <p:cNvPicPr preferRelativeResize="0"/>
          <p:nvPr/>
        </p:nvPicPr>
        <p:blipFill rotWithShape="1">
          <a:blip r:embed="rId6">
            <a:alphaModFix/>
          </a:blip>
          <a:srcRect b="0" l="0" r="0" t="0"/>
          <a:stretch/>
        </p:blipFill>
        <p:spPr>
          <a:xfrm>
            <a:off x="409575" y="366712"/>
            <a:ext cx="152400" cy="152400"/>
          </a:xfrm>
          <a:prstGeom prst="rect">
            <a:avLst/>
          </a:prstGeom>
          <a:noFill/>
          <a:ln>
            <a:noFill/>
          </a:ln>
        </p:spPr>
      </p:pic>
      <p:pic>
        <p:nvPicPr>
          <p:cNvPr descr="image.png" id="369" name="Google Shape;369;h8ed05d8588e31ed_4_215"/>
          <p:cNvPicPr preferRelativeResize="0"/>
          <p:nvPr/>
        </p:nvPicPr>
        <p:blipFill rotWithShape="1">
          <a:blip r:embed="rId7">
            <a:alphaModFix/>
          </a:blip>
          <a:srcRect b="0" l="0" r="0" t="0"/>
          <a:stretch/>
        </p:blipFill>
        <p:spPr>
          <a:xfrm>
            <a:off x="9272025" y="1993869"/>
            <a:ext cx="419100" cy="419100"/>
          </a:xfrm>
          <a:prstGeom prst="rect">
            <a:avLst/>
          </a:prstGeom>
          <a:noFill/>
          <a:ln>
            <a:noFill/>
          </a:ln>
        </p:spPr>
      </p:pic>
      <p:pic>
        <p:nvPicPr>
          <p:cNvPr descr="image.png" id="370" name="Google Shape;370;h8ed05d8588e31ed_4_215"/>
          <p:cNvPicPr preferRelativeResize="0"/>
          <p:nvPr/>
        </p:nvPicPr>
        <p:blipFill rotWithShape="1">
          <a:blip r:embed="rId8">
            <a:alphaModFix/>
          </a:blip>
          <a:srcRect b="0" l="0" r="0" t="0"/>
          <a:stretch/>
        </p:blipFill>
        <p:spPr>
          <a:xfrm>
            <a:off x="3514825" y="2007151"/>
            <a:ext cx="419100" cy="419100"/>
          </a:xfrm>
          <a:prstGeom prst="rect">
            <a:avLst/>
          </a:prstGeom>
          <a:noFill/>
          <a:ln>
            <a:noFill/>
          </a:ln>
        </p:spPr>
      </p:pic>
      <p:pic>
        <p:nvPicPr>
          <p:cNvPr descr="image.png" id="371" name="Google Shape;371;h8ed05d8588e31ed_4_215"/>
          <p:cNvPicPr preferRelativeResize="0"/>
          <p:nvPr/>
        </p:nvPicPr>
        <p:blipFill rotWithShape="1">
          <a:blip r:embed="rId9">
            <a:alphaModFix/>
          </a:blip>
          <a:srcRect b="0" l="0" r="0" t="0"/>
          <a:stretch/>
        </p:blipFill>
        <p:spPr>
          <a:xfrm>
            <a:off x="6343851" y="2019300"/>
            <a:ext cx="419100" cy="419100"/>
          </a:xfrm>
          <a:prstGeom prst="rect">
            <a:avLst/>
          </a:prstGeom>
          <a:noFill/>
          <a:ln>
            <a:noFill/>
          </a:ln>
        </p:spPr>
      </p:pic>
      <p:pic>
        <p:nvPicPr>
          <p:cNvPr descr="image.png" id="372" name="Google Shape;372;h8ed05d8588e31ed_4_215"/>
          <p:cNvPicPr preferRelativeResize="0"/>
          <p:nvPr/>
        </p:nvPicPr>
        <p:blipFill rotWithShape="1">
          <a:blip r:embed="rId10">
            <a:alphaModFix/>
          </a:blip>
          <a:srcRect b="0" l="0" r="0" t="0"/>
          <a:stretch/>
        </p:blipFill>
        <p:spPr>
          <a:xfrm>
            <a:off x="9362512" y="2098644"/>
            <a:ext cx="238125" cy="209551"/>
          </a:xfrm>
          <a:prstGeom prst="rect">
            <a:avLst/>
          </a:prstGeom>
          <a:noFill/>
          <a:ln>
            <a:noFill/>
          </a:ln>
        </p:spPr>
      </p:pic>
      <p:pic>
        <p:nvPicPr>
          <p:cNvPr descr="image.png" id="373" name="Google Shape;373;h8ed05d8588e31ed_4_215"/>
          <p:cNvPicPr preferRelativeResize="0"/>
          <p:nvPr/>
        </p:nvPicPr>
        <p:blipFill rotWithShape="1">
          <a:blip r:embed="rId11">
            <a:alphaModFix/>
          </a:blip>
          <a:srcRect b="0" l="0" r="0" t="0"/>
          <a:stretch/>
        </p:blipFill>
        <p:spPr>
          <a:xfrm>
            <a:off x="3605312" y="2111925"/>
            <a:ext cx="238125" cy="209551"/>
          </a:xfrm>
          <a:prstGeom prst="rect">
            <a:avLst/>
          </a:prstGeom>
          <a:noFill/>
          <a:ln>
            <a:noFill/>
          </a:ln>
        </p:spPr>
      </p:pic>
      <p:pic>
        <p:nvPicPr>
          <p:cNvPr descr="image.png" id="374" name="Google Shape;374;h8ed05d8588e31ed_4_215"/>
          <p:cNvPicPr preferRelativeResize="0"/>
          <p:nvPr/>
        </p:nvPicPr>
        <p:blipFill rotWithShape="1">
          <a:blip r:embed="rId12">
            <a:alphaModFix/>
          </a:blip>
          <a:srcRect b="0" l="0" r="0" t="0"/>
          <a:stretch/>
        </p:blipFill>
        <p:spPr>
          <a:xfrm>
            <a:off x="6448625" y="2124075"/>
            <a:ext cx="209551" cy="209551"/>
          </a:xfrm>
          <a:prstGeom prst="rect">
            <a:avLst/>
          </a:prstGeom>
          <a:noFill/>
          <a:ln>
            <a:noFill/>
          </a:ln>
        </p:spPr>
      </p:pic>
      <p:sp>
        <p:nvSpPr>
          <p:cNvPr id="375" name="Google Shape;375;h8ed05d8588e31ed_4_215"/>
          <p:cNvSpPr txBox="1"/>
          <p:nvPr/>
        </p:nvSpPr>
        <p:spPr>
          <a:xfrm>
            <a:off x="714375" y="6319837"/>
            <a:ext cx="543300" cy="169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8FAFC"/>
                </a:solidFill>
                <a:latin typeface="Quattrocento Sans"/>
                <a:ea typeface="Quattrocento Sans"/>
                <a:cs typeface="Quattrocento Sans"/>
                <a:sym typeface="Quattrocento Sans"/>
              </a:rPr>
              <a:t>Inicio</a:t>
            </a:r>
            <a:endParaRPr b="0" i="0" sz="1500" u="none" cap="none" strike="noStrike">
              <a:solidFill>
                <a:srgbClr val="000000"/>
              </a:solidFill>
              <a:latin typeface="Arial"/>
              <a:ea typeface="Arial"/>
              <a:cs typeface="Arial"/>
              <a:sym typeface="Arial"/>
            </a:endParaRPr>
          </a:p>
        </p:txBody>
      </p:sp>
      <p:sp>
        <p:nvSpPr>
          <p:cNvPr id="376" name="Google Shape;376;h8ed05d8588e31ed_4_215"/>
          <p:cNvSpPr txBox="1"/>
          <p:nvPr/>
        </p:nvSpPr>
        <p:spPr>
          <a:xfrm>
            <a:off x="10137279" y="6324600"/>
            <a:ext cx="1664100" cy="138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1E293B"/>
                </a:solidFill>
                <a:latin typeface="Quattrocento Sans"/>
                <a:ea typeface="Quattrocento Sans"/>
                <a:cs typeface="Quattrocento Sans"/>
                <a:sym typeface="Quattrocento Sans"/>
              </a:rPr>
              <a:t>SLIDE </a:t>
            </a:r>
            <a:r>
              <a:rPr b="1" lang="en-US" sz="900">
                <a:solidFill>
                  <a:srgbClr val="1E293B"/>
                </a:solidFill>
                <a:latin typeface="Quattrocento Sans"/>
                <a:ea typeface="Quattrocento Sans"/>
                <a:cs typeface="Quattrocento Sans"/>
                <a:sym typeface="Quattrocento Sans"/>
              </a:rPr>
              <a:t>2</a:t>
            </a:r>
            <a:r>
              <a:rPr b="1" i="0" lang="en-US" sz="900" u="none" cap="none" strike="noStrike">
                <a:solidFill>
                  <a:srgbClr val="1E293B"/>
                </a:solidFill>
                <a:latin typeface="Quattrocento Sans"/>
                <a:ea typeface="Quattrocento Sans"/>
                <a:cs typeface="Quattrocento Sans"/>
                <a:sym typeface="Quattrocento Sans"/>
              </a:rPr>
              <a:t> / 3 | OS 2002</a:t>
            </a:r>
            <a:endParaRPr b="0" i="0" sz="1500" u="none" cap="none" strike="noStrike">
              <a:solidFill>
                <a:srgbClr val="000000"/>
              </a:solidFill>
              <a:latin typeface="Arial"/>
              <a:ea typeface="Arial"/>
              <a:cs typeface="Arial"/>
              <a:sym typeface="Arial"/>
            </a:endParaRPr>
          </a:p>
        </p:txBody>
      </p:sp>
      <p:sp>
        <p:nvSpPr>
          <p:cNvPr id="377" name="Google Shape;377;h8ed05d8588e31ed_4_215"/>
          <p:cNvSpPr txBox="1"/>
          <p:nvPr/>
        </p:nvSpPr>
        <p:spPr>
          <a:xfrm>
            <a:off x="657225" y="352425"/>
            <a:ext cx="52260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Quattrocento Sans"/>
                <a:ea typeface="Quattrocento Sans"/>
                <a:cs typeface="Quattrocento Sans"/>
                <a:sym typeface="Quattrocento Sans"/>
              </a:rPr>
              <a:t>Switch_Features.exe [Diapositiva 3 de 3]</a:t>
            </a:r>
            <a:endParaRPr b="0" i="0" sz="1500" u="none" cap="none" strike="noStrike">
              <a:solidFill>
                <a:srgbClr val="000000"/>
              </a:solidFill>
              <a:latin typeface="Arial"/>
              <a:ea typeface="Arial"/>
              <a:cs typeface="Arial"/>
              <a:sym typeface="Arial"/>
            </a:endParaRPr>
          </a:p>
        </p:txBody>
      </p:sp>
      <p:sp>
        <p:nvSpPr>
          <p:cNvPr id="378" name="Google Shape;378;h8ed05d8588e31ed_4_215"/>
          <p:cNvSpPr txBox="1"/>
          <p:nvPr/>
        </p:nvSpPr>
        <p:spPr>
          <a:xfrm>
            <a:off x="10106025" y="963959"/>
            <a:ext cx="1562100" cy="520200"/>
          </a:xfrm>
          <a:prstGeom prst="rect">
            <a:avLst/>
          </a:prstGeom>
          <a:noFill/>
          <a:ln>
            <a:noFill/>
          </a:ln>
        </p:spPr>
        <p:txBody>
          <a:bodyPr anchorCtr="0" anchor="t" bIns="0" lIns="0" spcFirstLastPara="1" rIns="0" wrap="square" tIns="0">
            <a:spAutoFit/>
          </a:bodyPr>
          <a:lstStyle/>
          <a:p>
            <a:pPr indent="0" lvl="0" marL="0" marR="0" rtl="0" algn="l">
              <a:lnSpc>
                <a:spcPct val="86666"/>
              </a:lnSpc>
              <a:spcBef>
                <a:spcPts val="0"/>
              </a:spcBef>
              <a:spcAft>
                <a:spcPts val="0"/>
              </a:spcAft>
              <a:buClr>
                <a:srgbClr val="000000"/>
              </a:buClr>
              <a:buSzPts val="1200"/>
              <a:buFont typeface="Arial"/>
              <a:buNone/>
            </a:pPr>
            <a:r>
              <a:rPr b="0" i="0" lang="en-US" sz="1200" u="none" cap="none" strike="noStrike">
                <a:solidFill>
                  <a:srgbClr val="38BDF8"/>
                </a:solidFill>
                <a:latin typeface="VT323"/>
                <a:ea typeface="VT323"/>
                <a:cs typeface="VT323"/>
                <a:sym typeface="VT323"/>
              </a:rPr>
              <a:t>[BUYER GUIDE]: CHOOSE RIGHT SPECS: KEY POINTS</a:t>
            </a:r>
            <a:br>
              <a:rPr b="0" i="0" lang="en-US" sz="1900" u="none" cap="none" strike="noStrike">
                <a:solidFill>
                  <a:schemeClr val="dk1"/>
                </a:solidFill>
                <a:latin typeface="Calibri"/>
                <a:ea typeface="Calibri"/>
                <a:cs typeface="Calibri"/>
                <a:sym typeface="Calibri"/>
              </a:rPr>
            </a:br>
            <a:endParaRPr b="0" i="0" sz="1500" u="none" cap="none" strike="noStrike">
              <a:solidFill>
                <a:srgbClr val="000000"/>
              </a:solidFill>
              <a:latin typeface="Arial"/>
              <a:ea typeface="Arial"/>
              <a:cs typeface="Arial"/>
              <a:sym typeface="Arial"/>
            </a:endParaRPr>
          </a:p>
        </p:txBody>
      </p:sp>
      <p:sp>
        <p:nvSpPr>
          <p:cNvPr id="379" name="Google Shape;379;h8ed05d8588e31ed_4_215"/>
          <p:cNvSpPr txBox="1"/>
          <p:nvPr/>
        </p:nvSpPr>
        <p:spPr>
          <a:xfrm>
            <a:off x="600075" y="895351"/>
            <a:ext cx="14877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lang="en-US" sz="900">
                <a:solidFill>
                  <a:srgbClr val="F8FAFC"/>
                </a:solidFill>
                <a:latin typeface="Quattrocento Sans"/>
                <a:ea typeface="Quattrocento Sans"/>
                <a:cs typeface="Quattrocento Sans"/>
                <a:sym typeface="Quattrocento Sans"/>
              </a:rPr>
              <a:t>Control de Características</a:t>
            </a:r>
            <a:endParaRPr b="0" i="0" sz="1500" u="none" cap="none" strike="noStrike">
              <a:solidFill>
                <a:srgbClr val="000000"/>
              </a:solidFill>
              <a:latin typeface="Arial"/>
              <a:ea typeface="Arial"/>
              <a:cs typeface="Arial"/>
              <a:sym typeface="Arial"/>
            </a:endParaRPr>
          </a:p>
        </p:txBody>
      </p:sp>
      <p:sp>
        <p:nvSpPr>
          <p:cNvPr id="380" name="Google Shape;380;h8ed05d8588e31ed_4_215"/>
          <p:cNvSpPr txBox="1"/>
          <p:nvPr/>
        </p:nvSpPr>
        <p:spPr>
          <a:xfrm>
            <a:off x="485775" y="1104900"/>
            <a:ext cx="5164800" cy="384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0F172A"/>
                </a:solidFill>
                <a:latin typeface="Quattrocento Sans"/>
                <a:ea typeface="Quattrocento Sans"/>
                <a:cs typeface="Quattrocento Sans"/>
                <a:sym typeface="Quattrocento Sans"/>
              </a:rPr>
              <a:t>Principales características</a:t>
            </a:r>
            <a:endParaRPr b="0" i="0" sz="1500" u="none" cap="none" strike="noStrike">
              <a:solidFill>
                <a:srgbClr val="000000"/>
              </a:solidFill>
              <a:latin typeface="Arial"/>
              <a:ea typeface="Arial"/>
              <a:cs typeface="Arial"/>
              <a:sym typeface="Arial"/>
            </a:endParaRPr>
          </a:p>
        </p:txBody>
      </p:sp>
      <p:sp>
        <p:nvSpPr>
          <p:cNvPr id="381" name="Google Shape;381;h8ed05d8588e31ed_4_215"/>
          <p:cNvSpPr txBox="1"/>
          <p:nvPr/>
        </p:nvSpPr>
        <p:spPr>
          <a:xfrm>
            <a:off x="9000549" y="5287733"/>
            <a:ext cx="2855100" cy="169200"/>
          </a:xfrm>
          <a:prstGeom prst="rect">
            <a:avLst/>
          </a:prstGeom>
          <a:noFill/>
          <a:ln>
            <a:noFill/>
          </a:ln>
        </p:spPr>
        <p:txBody>
          <a:bodyPr anchorCtr="0" anchor="t" bIns="0" lIns="0" spcFirstLastPara="1" rIns="0" wrap="square" tIns="0">
            <a:spAutoFit/>
          </a:bodyPr>
          <a:lstStyle/>
          <a:p>
            <a:pPr indent="0" lvl="0" marL="0" marR="0" rtl="0" algn="ctr">
              <a:lnSpc>
                <a:spcPct val="129904"/>
              </a:lnSpc>
              <a:spcBef>
                <a:spcPts val="0"/>
              </a:spcBef>
              <a:spcAft>
                <a:spcPts val="0"/>
              </a:spcAft>
              <a:buClr>
                <a:srgbClr val="000000"/>
              </a:buClr>
              <a:buSzPts val="1100"/>
              <a:buFont typeface="Arial"/>
              <a:buNone/>
            </a:pPr>
            <a:r>
              <a:rPr b="0" i="0" lang="en-US" sz="1100" u="none" cap="none" strike="noStrike">
                <a:solidFill>
                  <a:srgbClr val="38BDF8"/>
                </a:solidFill>
                <a:latin typeface="VT323"/>
                <a:ea typeface="VT323"/>
                <a:cs typeface="VT323"/>
                <a:sym typeface="VT323"/>
              </a:rPr>
              <a:t>show power inline</a:t>
            </a:r>
            <a:endParaRPr b="0" i="0" sz="1500" u="none" cap="none" strike="noStrike">
              <a:solidFill>
                <a:srgbClr val="000000"/>
              </a:solidFill>
              <a:latin typeface="Arial"/>
              <a:ea typeface="Arial"/>
              <a:cs typeface="Arial"/>
              <a:sym typeface="Arial"/>
            </a:endParaRPr>
          </a:p>
        </p:txBody>
      </p:sp>
      <p:sp>
        <p:nvSpPr>
          <p:cNvPr id="382" name="Google Shape;382;h8ed05d8588e31ed_4_215"/>
          <p:cNvSpPr txBox="1"/>
          <p:nvPr/>
        </p:nvSpPr>
        <p:spPr>
          <a:xfrm>
            <a:off x="3276400" y="5313164"/>
            <a:ext cx="2855100" cy="169200"/>
          </a:xfrm>
          <a:prstGeom prst="rect">
            <a:avLst/>
          </a:prstGeom>
          <a:noFill/>
          <a:ln>
            <a:noFill/>
          </a:ln>
        </p:spPr>
        <p:txBody>
          <a:bodyPr anchorCtr="0" anchor="t" bIns="0" lIns="0" spcFirstLastPara="1" rIns="0" wrap="square" tIns="0">
            <a:spAutoFit/>
          </a:bodyPr>
          <a:lstStyle/>
          <a:p>
            <a:pPr indent="0" lvl="0" marL="0" marR="0" rtl="0" algn="ctr">
              <a:lnSpc>
                <a:spcPct val="129904"/>
              </a:lnSpc>
              <a:spcBef>
                <a:spcPts val="0"/>
              </a:spcBef>
              <a:spcAft>
                <a:spcPts val="0"/>
              </a:spcAft>
              <a:buClr>
                <a:srgbClr val="000000"/>
              </a:buClr>
              <a:buSzPts val="1100"/>
              <a:buFont typeface="Arial"/>
              <a:buNone/>
            </a:pPr>
            <a:r>
              <a:rPr b="0" i="0" lang="en-US" sz="1100" u="none" cap="none" strike="noStrike">
                <a:solidFill>
                  <a:srgbClr val="38BDF8"/>
                </a:solidFill>
                <a:latin typeface="VT323"/>
                <a:ea typeface="VT323"/>
                <a:cs typeface="VT323"/>
                <a:sym typeface="VT323"/>
              </a:rPr>
              <a:t>show interfaces speed</a:t>
            </a:r>
            <a:endParaRPr b="0" i="0" sz="1500" u="none" cap="none" strike="noStrike">
              <a:solidFill>
                <a:srgbClr val="000000"/>
              </a:solidFill>
              <a:latin typeface="Arial"/>
              <a:ea typeface="Arial"/>
              <a:cs typeface="Arial"/>
              <a:sym typeface="Arial"/>
            </a:endParaRPr>
          </a:p>
        </p:txBody>
      </p:sp>
      <p:sp>
        <p:nvSpPr>
          <p:cNvPr id="383" name="Google Shape;383;h8ed05d8588e31ed_4_215"/>
          <p:cNvSpPr txBox="1"/>
          <p:nvPr/>
        </p:nvSpPr>
        <p:spPr>
          <a:xfrm>
            <a:off x="6138475" y="5313164"/>
            <a:ext cx="2855100" cy="169200"/>
          </a:xfrm>
          <a:prstGeom prst="rect">
            <a:avLst/>
          </a:prstGeom>
          <a:noFill/>
          <a:ln>
            <a:noFill/>
          </a:ln>
        </p:spPr>
        <p:txBody>
          <a:bodyPr anchorCtr="0" anchor="t" bIns="0" lIns="0" spcFirstLastPara="1" rIns="0" wrap="square" tIns="0">
            <a:spAutoFit/>
          </a:bodyPr>
          <a:lstStyle/>
          <a:p>
            <a:pPr indent="0" lvl="0" marL="0" marR="0" rtl="0" algn="ctr">
              <a:lnSpc>
                <a:spcPct val="129904"/>
              </a:lnSpc>
              <a:spcBef>
                <a:spcPts val="0"/>
              </a:spcBef>
              <a:spcAft>
                <a:spcPts val="0"/>
              </a:spcAft>
              <a:buClr>
                <a:srgbClr val="000000"/>
              </a:buClr>
              <a:buSzPts val="1100"/>
              <a:buFont typeface="Arial"/>
              <a:buNone/>
            </a:pPr>
            <a:r>
              <a:rPr b="0" i="0" lang="en-US" sz="1100" u="none" cap="none" strike="noStrike">
                <a:solidFill>
                  <a:srgbClr val="38BDF8"/>
                </a:solidFill>
                <a:latin typeface="VT323"/>
                <a:ea typeface="VT323"/>
                <a:cs typeface="VT323"/>
                <a:sym typeface="VT323"/>
              </a:rPr>
              <a:t>show running-config</a:t>
            </a:r>
            <a:endParaRPr b="0" i="0" sz="1500" u="none" cap="none" strike="noStrike">
              <a:solidFill>
                <a:srgbClr val="000000"/>
              </a:solidFill>
              <a:latin typeface="Arial"/>
              <a:ea typeface="Arial"/>
              <a:cs typeface="Arial"/>
              <a:sym typeface="Arial"/>
            </a:endParaRPr>
          </a:p>
        </p:txBody>
      </p:sp>
      <p:sp>
        <p:nvSpPr>
          <p:cNvPr id="384" name="Google Shape;384;h8ed05d8588e31ed_4_215"/>
          <p:cNvSpPr txBox="1"/>
          <p:nvPr/>
        </p:nvSpPr>
        <p:spPr>
          <a:xfrm>
            <a:off x="9272025" y="2546320"/>
            <a:ext cx="42504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F172A"/>
                </a:solidFill>
                <a:latin typeface="Quattrocento Sans"/>
                <a:ea typeface="Quattrocento Sans"/>
                <a:cs typeface="Quattrocento Sans"/>
                <a:sym typeface="Quattrocento Sans"/>
              </a:rPr>
              <a:t>PoE</a:t>
            </a:r>
            <a:endParaRPr b="0" i="0" sz="1500" u="none" cap="none" strike="noStrike">
              <a:solidFill>
                <a:srgbClr val="000000"/>
              </a:solidFill>
              <a:latin typeface="Arial"/>
              <a:ea typeface="Arial"/>
              <a:cs typeface="Arial"/>
              <a:sym typeface="Arial"/>
            </a:endParaRPr>
          </a:p>
        </p:txBody>
      </p:sp>
      <p:sp>
        <p:nvSpPr>
          <p:cNvPr id="385" name="Google Shape;385;h8ed05d8588e31ed_4_215"/>
          <p:cNvSpPr txBox="1"/>
          <p:nvPr/>
        </p:nvSpPr>
        <p:spPr>
          <a:xfrm>
            <a:off x="9272025" y="2870169"/>
            <a:ext cx="2378100" cy="4431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Clr>
                <a:srgbClr val="000000"/>
              </a:buClr>
              <a:buSzPts val="1200"/>
              <a:buFont typeface="Arial"/>
              <a:buNone/>
            </a:pPr>
            <a:r>
              <a:rPr b="0" i="0" lang="en-US" sz="1200" u="none" cap="none" strike="noStrike">
                <a:solidFill>
                  <a:srgbClr val="334155"/>
                </a:solidFill>
                <a:latin typeface="Quattrocento Sans"/>
                <a:ea typeface="Quattrocento Sans"/>
                <a:cs typeface="Quattrocento Sans"/>
                <a:sym typeface="Quattrocento Sans"/>
              </a:rPr>
              <a:t>Alimenta dispositivos por el propio cable de red, sin fuente aparte.</a:t>
            </a:r>
            <a:endParaRPr b="0" i="0" sz="1500" u="none" cap="none" strike="noStrike">
              <a:solidFill>
                <a:srgbClr val="000000"/>
              </a:solidFill>
              <a:latin typeface="Arial"/>
              <a:ea typeface="Arial"/>
              <a:cs typeface="Arial"/>
              <a:sym typeface="Arial"/>
            </a:endParaRPr>
          </a:p>
        </p:txBody>
      </p:sp>
      <p:sp>
        <p:nvSpPr>
          <p:cNvPr id="386" name="Google Shape;386;h8ed05d8588e31ed_4_215"/>
          <p:cNvSpPr txBox="1"/>
          <p:nvPr/>
        </p:nvSpPr>
        <p:spPr>
          <a:xfrm>
            <a:off x="3481351" y="2571751"/>
            <a:ext cx="42504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369A1"/>
                </a:solidFill>
                <a:latin typeface="Quattrocento Sans"/>
                <a:ea typeface="Quattrocento Sans"/>
                <a:cs typeface="Quattrocento Sans"/>
                <a:sym typeface="Quattrocento Sans"/>
              </a:rPr>
              <a:t>Velocidad</a:t>
            </a:r>
            <a:endParaRPr b="0" i="0" sz="1500" u="none" cap="none" strike="noStrike">
              <a:solidFill>
                <a:srgbClr val="000000"/>
              </a:solidFill>
              <a:latin typeface="Arial"/>
              <a:ea typeface="Arial"/>
              <a:cs typeface="Arial"/>
              <a:sym typeface="Arial"/>
            </a:endParaRPr>
          </a:p>
        </p:txBody>
      </p:sp>
      <p:sp>
        <p:nvSpPr>
          <p:cNvPr id="387" name="Google Shape;387;h8ed05d8588e31ed_4_215"/>
          <p:cNvSpPr txBox="1"/>
          <p:nvPr/>
        </p:nvSpPr>
        <p:spPr>
          <a:xfrm>
            <a:off x="3481351" y="2936100"/>
            <a:ext cx="2444700" cy="7017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Clr>
                <a:srgbClr val="000000"/>
              </a:buClr>
              <a:buSzPts val="1200"/>
              <a:buFont typeface="Arial"/>
              <a:buNone/>
            </a:pPr>
            <a:r>
              <a:rPr b="0" i="0" lang="en-US" sz="1200" u="none" cap="none" strike="noStrike">
                <a:solidFill>
                  <a:srgbClr val="1E293B"/>
                </a:solidFill>
                <a:latin typeface="Quattrocento Sans"/>
                <a:ea typeface="Quattrocento Sans"/>
                <a:cs typeface="Quattrocento Sans"/>
                <a:sym typeface="Quattrocento Sans"/>
              </a:rPr>
              <a:t>Fíjate en la velocidad de transmisión para evitar problemas de rendimiento.</a:t>
            </a:r>
            <a:endParaRPr b="0" i="0" sz="1500" u="none" cap="none" strike="noStrike">
              <a:solidFill>
                <a:srgbClr val="000000"/>
              </a:solidFill>
              <a:latin typeface="Arial"/>
              <a:ea typeface="Arial"/>
              <a:cs typeface="Arial"/>
              <a:sym typeface="Arial"/>
            </a:endParaRPr>
          </a:p>
        </p:txBody>
      </p:sp>
      <p:sp>
        <p:nvSpPr>
          <p:cNvPr id="388" name="Google Shape;388;h8ed05d8588e31ed_4_215"/>
          <p:cNvSpPr txBox="1"/>
          <p:nvPr/>
        </p:nvSpPr>
        <p:spPr>
          <a:xfrm>
            <a:off x="6343425" y="2571751"/>
            <a:ext cx="25959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F172A"/>
                </a:solidFill>
                <a:latin typeface="Quattrocento Sans"/>
                <a:ea typeface="Quattrocento Sans"/>
                <a:cs typeface="Quattrocento Sans"/>
                <a:sym typeface="Quattrocento Sans"/>
              </a:rPr>
              <a:t>Configuración</a:t>
            </a:r>
            <a:endParaRPr b="0" i="0" sz="1500" u="none" cap="none" strike="noStrike">
              <a:solidFill>
                <a:srgbClr val="000000"/>
              </a:solidFill>
              <a:latin typeface="Arial"/>
              <a:ea typeface="Arial"/>
              <a:cs typeface="Arial"/>
              <a:sym typeface="Arial"/>
            </a:endParaRPr>
          </a:p>
        </p:txBody>
      </p:sp>
      <p:sp>
        <p:nvSpPr>
          <p:cNvPr id="389" name="Google Shape;389;h8ed05d8588e31ed_4_215"/>
          <p:cNvSpPr txBox="1"/>
          <p:nvPr/>
        </p:nvSpPr>
        <p:spPr>
          <a:xfrm>
            <a:off x="6343851" y="2936100"/>
            <a:ext cx="2444700" cy="9600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Clr>
                <a:srgbClr val="000000"/>
              </a:buClr>
              <a:buSzPts val="1200"/>
              <a:buFont typeface="Arial"/>
              <a:buNone/>
            </a:pPr>
            <a:r>
              <a:rPr lang="en-US" sz="1200">
                <a:solidFill>
                  <a:srgbClr val="334155"/>
                </a:solidFill>
                <a:latin typeface="Quattrocento Sans"/>
                <a:ea typeface="Quattrocento Sans"/>
                <a:cs typeface="Quattrocento Sans"/>
                <a:sym typeface="Quattrocento Sans"/>
              </a:rPr>
              <a:t>Para VLAN, CLI o límite de ancho de banda, elige uno gestionable. El enrutamiento IP solo lo hacen los de capa 3.</a:t>
            </a:r>
            <a:endParaRPr b="0" i="0" sz="1500" u="none" cap="none" strike="noStrike">
              <a:solidFill>
                <a:srgbClr val="000000"/>
              </a:solidFill>
              <a:latin typeface="Arial"/>
              <a:ea typeface="Arial"/>
              <a:cs typeface="Arial"/>
              <a:sym typeface="Arial"/>
            </a:endParaRPr>
          </a:p>
        </p:txBody>
      </p:sp>
      <p:sp>
        <p:nvSpPr>
          <p:cNvPr id="390" name="Google Shape;390;h8ed05d8588e31ed_4_215"/>
          <p:cNvSpPr/>
          <p:nvPr/>
        </p:nvSpPr>
        <p:spPr>
          <a:xfrm>
            <a:off x="300" y="0"/>
            <a:ext cx="12191100" cy="658500"/>
          </a:xfrm>
          <a:prstGeom prst="rect">
            <a:avLst/>
          </a:prstGeom>
          <a:solidFill>
            <a:srgbClr val="24496E"/>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91" name="Google Shape;391;h8ed05d8588e31ed_4_215"/>
          <p:cNvSpPr/>
          <p:nvPr/>
        </p:nvSpPr>
        <p:spPr>
          <a:xfrm>
            <a:off x="468392" y="92928"/>
            <a:ext cx="10972500" cy="4560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FFFF"/>
                </a:solidFill>
                <a:latin typeface="Arial"/>
                <a:ea typeface="Arial"/>
                <a:cs typeface="Arial"/>
                <a:sym typeface="Arial"/>
              </a:rPr>
              <a:t>4 · Características del switch CRISTIAN</a:t>
            </a:r>
            <a:endParaRPr b="0" i="0" sz="2400" u="none" cap="none" strike="noStrike">
              <a:solidFill>
                <a:srgbClr val="000000"/>
              </a:solidFill>
              <a:latin typeface="Arial"/>
              <a:ea typeface="Arial"/>
              <a:cs typeface="Arial"/>
              <a:sym typeface="Arial"/>
            </a:endParaRPr>
          </a:p>
        </p:txBody>
      </p:sp>
      <p:sp>
        <p:nvSpPr>
          <p:cNvPr id="392" name="Google Shape;392;h8ed05d8588e31ed_4_215"/>
          <p:cNvSpPr/>
          <p:nvPr/>
        </p:nvSpPr>
        <p:spPr>
          <a:xfrm>
            <a:off x="468408" y="1825535"/>
            <a:ext cx="2747100" cy="4000500"/>
          </a:xfrm>
          <a:prstGeom prst="roundRect">
            <a:avLst>
              <a:gd fmla="val 2617" name="adj"/>
            </a:avLst>
          </a:prstGeom>
          <a:solidFill>
            <a:srgbClr val="F8FAFC"/>
          </a:solidFill>
          <a:ln cap="flat" cmpd="sng" w="12700">
            <a:solidFill>
              <a:srgbClr val="63BDF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Calibri"/>
              <a:ea typeface="Calibri"/>
              <a:cs typeface="Calibri"/>
              <a:sym typeface="Calibri"/>
            </a:endParaRPr>
          </a:p>
        </p:txBody>
      </p:sp>
      <p:sp>
        <p:nvSpPr>
          <p:cNvPr id="393" name="Google Shape;393;h8ed05d8588e31ed_4_215"/>
          <p:cNvSpPr/>
          <p:nvPr/>
        </p:nvSpPr>
        <p:spPr>
          <a:xfrm>
            <a:off x="626656" y="5193164"/>
            <a:ext cx="2444700" cy="401700"/>
          </a:xfrm>
          <a:prstGeom prst="roundRect">
            <a:avLst>
              <a:gd fmla="val 14222" name="adj"/>
            </a:avLst>
          </a:prstGeom>
          <a:solidFill>
            <a:srgbClr val="0F172A"/>
          </a:solidFill>
          <a:ln cap="flat" cmpd="sng" w="19075">
            <a:solidFill>
              <a:srgbClr val="47556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Calibri"/>
              <a:ea typeface="Calibri"/>
              <a:cs typeface="Calibri"/>
              <a:sym typeface="Calibri"/>
            </a:endParaRPr>
          </a:p>
        </p:txBody>
      </p:sp>
      <p:sp>
        <p:nvSpPr>
          <p:cNvPr id="394" name="Google Shape;394;h8ed05d8588e31ed_4_215"/>
          <p:cNvSpPr txBox="1"/>
          <p:nvPr/>
        </p:nvSpPr>
        <p:spPr>
          <a:xfrm>
            <a:off x="421708" y="5288415"/>
            <a:ext cx="2855100" cy="169200"/>
          </a:xfrm>
          <a:prstGeom prst="rect">
            <a:avLst/>
          </a:prstGeom>
          <a:noFill/>
          <a:ln>
            <a:noFill/>
          </a:ln>
        </p:spPr>
        <p:txBody>
          <a:bodyPr anchorCtr="0" anchor="t" bIns="0" lIns="0" spcFirstLastPara="1" rIns="0" wrap="square" tIns="0">
            <a:spAutoFit/>
          </a:bodyPr>
          <a:lstStyle/>
          <a:p>
            <a:pPr indent="0" lvl="0" marL="0" marR="0" rtl="0" algn="ctr">
              <a:lnSpc>
                <a:spcPct val="129904"/>
              </a:lnSpc>
              <a:spcBef>
                <a:spcPts val="0"/>
              </a:spcBef>
              <a:spcAft>
                <a:spcPts val="0"/>
              </a:spcAft>
              <a:buClr>
                <a:srgbClr val="000000"/>
              </a:buClr>
              <a:buSzPts val="1100"/>
              <a:buFont typeface="Arial"/>
              <a:buNone/>
            </a:pPr>
            <a:r>
              <a:rPr b="0" i="0" lang="en-US" sz="1100" u="none" cap="none" strike="noStrike">
                <a:solidFill>
                  <a:srgbClr val="38BDF8"/>
                </a:solidFill>
                <a:latin typeface="VT323"/>
                <a:ea typeface="VT323"/>
                <a:cs typeface="VT323"/>
                <a:sym typeface="VT323"/>
              </a:rPr>
              <a:t>show interfaces status</a:t>
            </a:r>
            <a:endParaRPr b="0" i="0" sz="1500" u="none" cap="none" strike="noStrike">
              <a:solidFill>
                <a:srgbClr val="000000"/>
              </a:solidFill>
              <a:latin typeface="Arial"/>
              <a:ea typeface="Arial"/>
              <a:cs typeface="Arial"/>
              <a:sym typeface="Arial"/>
            </a:endParaRPr>
          </a:p>
        </p:txBody>
      </p:sp>
      <p:sp>
        <p:nvSpPr>
          <p:cNvPr id="395" name="Google Shape;395;h8ed05d8588e31ed_4_215"/>
          <p:cNvSpPr txBox="1"/>
          <p:nvPr/>
        </p:nvSpPr>
        <p:spPr>
          <a:xfrm>
            <a:off x="605039" y="2578011"/>
            <a:ext cx="42504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369A1"/>
                </a:solidFill>
                <a:latin typeface="Quattrocento Sans"/>
                <a:ea typeface="Quattrocento Sans"/>
                <a:cs typeface="Quattrocento Sans"/>
                <a:sym typeface="Quattrocento Sans"/>
              </a:rPr>
              <a:t>Número de puertos</a:t>
            </a:r>
            <a:endParaRPr b="1" i="0" sz="1500" u="none" cap="none" strike="noStrike">
              <a:solidFill>
                <a:srgbClr val="0369A1"/>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369A1"/>
              </a:solidFill>
              <a:latin typeface="Quattrocento Sans"/>
              <a:ea typeface="Quattrocento Sans"/>
              <a:cs typeface="Quattrocento Sans"/>
              <a:sym typeface="Quattrocento Sans"/>
            </a:endParaRPr>
          </a:p>
        </p:txBody>
      </p:sp>
      <p:sp>
        <p:nvSpPr>
          <p:cNvPr id="396" name="Google Shape;396;h8ed05d8588e31ed_4_215"/>
          <p:cNvSpPr txBox="1"/>
          <p:nvPr/>
        </p:nvSpPr>
        <p:spPr>
          <a:xfrm>
            <a:off x="619200" y="2942363"/>
            <a:ext cx="2444700" cy="4431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Clr>
                <a:srgbClr val="000000"/>
              </a:buClr>
              <a:buSzPts val="1200"/>
              <a:buFont typeface="Arial"/>
              <a:buNone/>
            </a:pPr>
            <a:r>
              <a:rPr b="0" i="0" lang="en-US" sz="1200" u="none" cap="none" strike="noStrike">
                <a:solidFill>
                  <a:srgbClr val="1E293B"/>
                </a:solidFill>
                <a:latin typeface="Quattrocento Sans"/>
                <a:ea typeface="Quattrocento Sans"/>
                <a:cs typeface="Quattrocento Sans"/>
                <a:sym typeface="Quattrocento Sans"/>
              </a:rPr>
              <a:t>Elige los puertos que necesitas y si es apilable para ampliar la red.</a:t>
            </a:r>
            <a:endParaRPr b="0" i="0" sz="1200" u="none" cap="none" strike="noStrike">
              <a:solidFill>
                <a:srgbClr val="1E293B"/>
              </a:solidFill>
              <a:latin typeface="Quattrocento Sans"/>
              <a:ea typeface="Quattrocento Sans"/>
              <a:cs typeface="Quattrocento Sans"/>
              <a:sym typeface="Quattrocento Sans"/>
            </a:endParaRPr>
          </a:p>
        </p:txBody>
      </p:sp>
      <p:pic>
        <p:nvPicPr>
          <p:cNvPr descr="image.png" id="397" name="Google Shape;397;h8ed05d8588e31ed_4_215"/>
          <p:cNvPicPr preferRelativeResize="0"/>
          <p:nvPr/>
        </p:nvPicPr>
        <p:blipFill rotWithShape="1">
          <a:blip r:embed="rId13">
            <a:alphaModFix/>
          </a:blip>
          <a:srcRect b="0" l="0" r="0" t="0"/>
          <a:stretch/>
        </p:blipFill>
        <p:spPr>
          <a:xfrm>
            <a:off x="633675" y="2019615"/>
            <a:ext cx="419100" cy="419100"/>
          </a:xfrm>
          <a:prstGeom prst="rect">
            <a:avLst/>
          </a:prstGeom>
          <a:noFill/>
          <a:ln>
            <a:noFill/>
          </a:ln>
        </p:spPr>
      </p:pic>
      <p:pic>
        <p:nvPicPr>
          <p:cNvPr descr="image.png" id="398" name="Google Shape;398;h8ed05d8588e31ed_4_215"/>
          <p:cNvPicPr preferRelativeResize="0"/>
          <p:nvPr/>
        </p:nvPicPr>
        <p:blipFill rotWithShape="1">
          <a:blip r:embed="rId14">
            <a:alphaModFix/>
          </a:blip>
          <a:srcRect b="0" l="0" r="0" t="0"/>
          <a:stretch/>
        </p:blipFill>
        <p:spPr>
          <a:xfrm>
            <a:off x="733687" y="2143440"/>
            <a:ext cx="219075" cy="171451"/>
          </a:xfrm>
          <a:prstGeom prst="rect">
            <a:avLst/>
          </a:prstGeom>
          <a:noFill/>
          <a:ln>
            <a:noFill/>
          </a:ln>
        </p:spPr>
      </p:pic>
      <p:sp>
        <p:nvSpPr>
          <p:cNvPr id="399" name="Google Shape;399;h8ed05d8588e31ed_4_215"/>
          <p:cNvSpPr txBox="1"/>
          <p:nvPr/>
        </p:nvSpPr>
        <p:spPr>
          <a:xfrm>
            <a:off x="1436724" y="6341100"/>
            <a:ext cx="8163900" cy="138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F8FAFC"/>
                </a:solidFill>
                <a:latin typeface="Quattrocento Sans"/>
                <a:ea typeface="Quattrocento Sans"/>
                <a:cs typeface="Quattrocento Sans"/>
                <a:sym typeface="Quattrocento Sans"/>
              </a:rPr>
              <a:t>Fuente: https://www.pccomponentes.com/blog/switch-de-red-que-es-caracteristicas-y-los-mejores</a:t>
            </a:r>
            <a:endParaRPr b="1" i="0" sz="9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D5E1"/>
        </a:solidFill>
      </p:bgPr>
    </p:bg>
    <p:spTree>
      <p:nvGrpSpPr>
        <p:cNvPr id="403" name="Shape 403"/>
        <p:cNvGrpSpPr/>
        <p:nvPr/>
      </p:nvGrpSpPr>
      <p:grpSpPr>
        <a:xfrm>
          <a:off x="0" y="0"/>
          <a:ext cx="0" cy="0"/>
          <a:chOff x="0" y="0"/>
          <a:chExt cx="0" cy="0"/>
        </a:xfrm>
      </p:grpSpPr>
      <p:pic>
        <p:nvPicPr>
          <p:cNvPr descr="image.png" id="404" name="Google Shape;404;h8ed05d8588e31ed_4_26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05" name="Google Shape;405;h8ed05d8588e31ed_4_267"/>
          <p:cNvSpPr/>
          <p:nvPr/>
        </p:nvSpPr>
        <p:spPr>
          <a:xfrm>
            <a:off x="247650" y="257175"/>
            <a:ext cx="11696700" cy="5810400"/>
          </a:xfrm>
          <a:prstGeom prst="roundRect">
            <a:avLst>
              <a:gd fmla="val 1639" name="adj"/>
            </a:avLst>
          </a:prstGeom>
          <a:solidFill>
            <a:srgbClr val="EFF3F8"/>
          </a:solidFill>
          <a:ln cap="flat" cmpd="sng" w="9525">
            <a:solidFill>
              <a:srgbClr val="47556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406" name="Google Shape;406;h8ed05d8588e31ed_4_267"/>
          <p:cNvSpPr/>
          <p:nvPr/>
        </p:nvSpPr>
        <p:spPr>
          <a:xfrm>
            <a:off x="247650" y="6210300"/>
            <a:ext cx="11696700" cy="400500"/>
          </a:xfrm>
          <a:prstGeom prst="roundRect">
            <a:avLst>
              <a:gd fmla="val 19047" name="adj"/>
            </a:avLst>
          </a:prstGeom>
          <a:solidFill>
            <a:srgbClr val="98A5B6"/>
          </a:solidFill>
          <a:ln cap="flat" cmpd="sng" w="9525">
            <a:solidFill>
              <a:srgbClr val="47556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407" name="Google Shape;407;h8ed05d8588e31ed_4_267"/>
          <p:cNvSpPr/>
          <p:nvPr/>
        </p:nvSpPr>
        <p:spPr>
          <a:xfrm>
            <a:off x="257175" y="257175"/>
            <a:ext cx="11678100" cy="381300"/>
          </a:xfrm>
          <a:prstGeom prst="rect">
            <a:avLst/>
          </a:prstGeom>
          <a:solidFill>
            <a:srgbClr val="148EC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408" name="Google Shape;408;h8ed05d8588e31ed_4_267"/>
          <p:cNvSpPr/>
          <p:nvPr/>
        </p:nvSpPr>
        <p:spPr>
          <a:xfrm>
            <a:off x="390525" y="6281737"/>
            <a:ext cx="905700" cy="257100"/>
          </a:xfrm>
          <a:prstGeom prst="roundRect">
            <a:avLst>
              <a:gd fmla="val 50000" name="adj"/>
            </a:avLst>
          </a:prstGeom>
          <a:solidFill>
            <a:srgbClr val="30AF5F"/>
          </a:solidFill>
          <a:ln cap="flat" cmpd="sng" w="9525">
            <a:solidFill>
              <a:srgbClr val="16653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409" name="Google Shape;409;h8ed05d8588e31ed_4_267"/>
          <p:cNvSpPr/>
          <p:nvPr/>
        </p:nvSpPr>
        <p:spPr>
          <a:xfrm>
            <a:off x="9803903" y="6286500"/>
            <a:ext cx="1997700" cy="248100"/>
          </a:xfrm>
          <a:prstGeom prst="roundRect">
            <a:avLst>
              <a:gd fmla="val 46153" name="adj"/>
            </a:avLst>
          </a:prstGeom>
          <a:solidFill>
            <a:srgbClr val="818C9B"/>
          </a:solidFill>
          <a:ln cap="flat" cmpd="sng" w="9525">
            <a:solidFill>
              <a:srgbClr val="ADB7C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410" name="Google Shape;410;h8ed05d8588e31ed_4_267"/>
          <p:cNvSpPr/>
          <p:nvPr/>
        </p:nvSpPr>
        <p:spPr>
          <a:xfrm>
            <a:off x="257175" y="628650"/>
            <a:ext cx="11678100" cy="9600"/>
          </a:xfrm>
          <a:prstGeom prst="rect">
            <a:avLst/>
          </a:prstGeom>
          <a:solidFill>
            <a:srgbClr val="0369A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411" name="Google Shape;411;h8ed05d8588e31ed_4_267"/>
          <p:cNvSpPr/>
          <p:nvPr/>
        </p:nvSpPr>
        <p:spPr>
          <a:xfrm>
            <a:off x="9972675" y="868709"/>
            <a:ext cx="1733700" cy="624900"/>
          </a:xfrm>
          <a:prstGeom prst="roundRect">
            <a:avLst>
              <a:gd fmla="val 9147" name="adj"/>
            </a:avLst>
          </a:prstGeom>
          <a:solidFill>
            <a:srgbClr val="0F172A"/>
          </a:solidFill>
          <a:ln cap="flat" cmpd="sng" w="19075">
            <a:solidFill>
              <a:srgbClr val="47556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412" name="Google Shape;412;h8ed05d8588e31ed_4_267"/>
          <p:cNvSpPr/>
          <p:nvPr/>
        </p:nvSpPr>
        <p:spPr>
          <a:xfrm>
            <a:off x="9054484" y="1793844"/>
            <a:ext cx="2747100" cy="4000500"/>
          </a:xfrm>
          <a:prstGeom prst="roundRect">
            <a:avLst>
              <a:gd fmla="val 2617" name="adj"/>
            </a:avLst>
          </a:prstGeom>
          <a:solidFill>
            <a:srgbClr val="D8ECFC"/>
          </a:solidFill>
          <a:ln cap="flat" cmpd="sng" w="9525">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413" name="Google Shape;413;h8ed05d8588e31ed_4_267"/>
          <p:cNvSpPr/>
          <p:nvPr/>
        </p:nvSpPr>
        <p:spPr>
          <a:xfrm>
            <a:off x="3330334" y="1819275"/>
            <a:ext cx="2747100" cy="4000500"/>
          </a:xfrm>
          <a:prstGeom prst="roundRect">
            <a:avLst>
              <a:gd fmla="val 2617" name="adj"/>
            </a:avLst>
          </a:prstGeom>
          <a:solidFill>
            <a:srgbClr val="CDECFE"/>
          </a:solidFill>
          <a:ln cap="flat" cmpd="sng" w="9525">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414" name="Google Shape;414;h8ed05d8588e31ed_4_267"/>
          <p:cNvSpPr/>
          <p:nvPr/>
        </p:nvSpPr>
        <p:spPr>
          <a:xfrm>
            <a:off x="6192408" y="1819275"/>
            <a:ext cx="2747100" cy="4000500"/>
          </a:xfrm>
          <a:prstGeom prst="roundRect">
            <a:avLst>
              <a:gd fmla="val 2617" name="adj"/>
            </a:avLst>
          </a:prstGeom>
          <a:solidFill>
            <a:srgbClr val="F8FAFC"/>
          </a:solidFill>
          <a:ln cap="flat" cmpd="sng" w="9525">
            <a:solidFill>
              <a:srgbClr val="94A3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415" name="Google Shape;415;h8ed05d8588e31ed_4_267"/>
          <p:cNvSpPr/>
          <p:nvPr/>
        </p:nvSpPr>
        <p:spPr>
          <a:xfrm>
            <a:off x="485775" y="857250"/>
            <a:ext cx="1620900" cy="228900"/>
          </a:xfrm>
          <a:prstGeom prst="roundRect">
            <a:avLst>
              <a:gd fmla="val 41666" name="adj"/>
            </a:avLst>
          </a:prstGeom>
          <a:solidFill>
            <a:srgbClr val="1DA1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416" name="Google Shape;416;h8ed05d8588e31ed_4_267"/>
          <p:cNvSpPr/>
          <p:nvPr/>
        </p:nvSpPr>
        <p:spPr>
          <a:xfrm>
            <a:off x="9205498" y="5192483"/>
            <a:ext cx="2444700" cy="401700"/>
          </a:xfrm>
          <a:prstGeom prst="roundRect">
            <a:avLst>
              <a:gd fmla="val 14222" name="adj"/>
            </a:avLst>
          </a:prstGeom>
          <a:solidFill>
            <a:srgbClr val="0F172A"/>
          </a:solidFill>
          <a:ln cap="flat" cmpd="sng" w="19075">
            <a:solidFill>
              <a:srgbClr val="47556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417" name="Google Shape;417;h8ed05d8588e31ed_4_267"/>
          <p:cNvSpPr/>
          <p:nvPr/>
        </p:nvSpPr>
        <p:spPr>
          <a:xfrm>
            <a:off x="3481348" y="5217914"/>
            <a:ext cx="2444700" cy="401700"/>
          </a:xfrm>
          <a:prstGeom prst="roundRect">
            <a:avLst>
              <a:gd fmla="val 14222" name="adj"/>
            </a:avLst>
          </a:prstGeom>
          <a:solidFill>
            <a:srgbClr val="0F172A"/>
          </a:solidFill>
          <a:ln cap="flat" cmpd="sng" w="19075">
            <a:solidFill>
              <a:srgbClr val="47556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418" name="Google Shape;418;h8ed05d8588e31ed_4_267"/>
          <p:cNvSpPr/>
          <p:nvPr/>
        </p:nvSpPr>
        <p:spPr>
          <a:xfrm>
            <a:off x="6343422" y="5217914"/>
            <a:ext cx="2444700" cy="401700"/>
          </a:xfrm>
          <a:prstGeom prst="roundRect">
            <a:avLst>
              <a:gd fmla="val 14222" name="adj"/>
            </a:avLst>
          </a:prstGeom>
          <a:solidFill>
            <a:srgbClr val="0F172A"/>
          </a:solidFill>
          <a:ln cap="flat" cmpd="sng" w="19075">
            <a:solidFill>
              <a:srgbClr val="47556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pic>
        <p:nvPicPr>
          <p:cNvPr descr="image.png" id="419" name="Google Shape;419;h8ed05d8588e31ed_4_267"/>
          <p:cNvPicPr preferRelativeResize="0"/>
          <p:nvPr/>
        </p:nvPicPr>
        <p:blipFill rotWithShape="1">
          <a:blip r:embed="rId4">
            <a:alphaModFix/>
          </a:blip>
          <a:srcRect b="0" l="0" r="0" t="0"/>
          <a:stretch/>
        </p:blipFill>
        <p:spPr>
          <a:xfrm>
            <a:off x="533400" y="6343650"/>
            <a:ext cx="133350" cy="133350"/>
          </a:xfrm>
          <a:prstGeom prst="rect">
            <a:avLst/>
          </a:prstGeom>
          <a:noFill/>
          <a:ln>
            <a:noFill/>
          </a:ln>
        </p:spPr>
      </p:pic>
      <p:pic>
        <p:nvPicPr>
          <p:cNvPr descr="image.png" id="420" name="Google Shape;420;h8ed05d8588e31ed_4_267"/>
          <p:cNvPicPr preferRelativeResize="0"/>
          <p:nvPr/>
        </p:nvPicPr>
        <p:blipFill rotWithShape="1">
          <a:blip r:embed="rId5">
            <a:alphaModFix/>
          </a:blip>
          <a:srcRect b="0" l="0" r="0" t="0"/>
          <a:stretch/>
        </p:blipFill>
        <p:spPr>
          <a:xfrm>
            <a:off x="9908678" y="6348412"/>
            <a:ext cx="123825" cy="123825"/>
          </a:xfrm>
          <a:prstGeom prst="rect">
            <a:avLst/>
          </a:prstGeom>
          <a:noFill/>
          <a:ln>
            <a:noFill/>
          </a:ln>
        </p:spPr>
      </p:pic>
      <p:pic>
        <p:nvPicPr>
          <p:cNvPr descr="image.png" id="421" name="Google Shape;421;h8ed05d8588e31ed_4_267"/>
          <p:cNvPicPr preferRelativeResize="0"/>
          <p:nvPr/>
        </p:nvPicPr>
        <p:blipFill rotWithShape="1">
          <a:blip r:embed="rId6">
            <a:alphaModFix/>
          </a:blip>
          <a:srcRect b="0" l="0" r="0" t="0"/>
          <a:stretch/>
        </p:blipFill>
        <p:spPr>
          <a:xfrm>
            <a:off x="409575" y="366712"/>
            <a:ext cx="152400" cy="152400"/>
          </a:xfrm>
          <a:prstGeom prst="rect">
            <a:avLst/>
          </a:prstGeom>
          <a:noFill/>
          <a:ln>
            <a:noFill/>
          </a:ln>
        </p:spPr>
      </p:pic>
      <p:pic>
        <p:nvPicPr>
          <p:cNvPr descr="image.png" id="422" name="Google Shape;422;h8ed05d8588e31ed_4_267"/>
          <p:cNvPicPr preferRelativeResize="0"/>
          <p:nvPr/>
        </p:nvPicPr>
        <p:blipFill rotWithShape="1">
          <a:blip r:embed="rId7">
            <a:alphaModFix/>
          </a:blip>
          <a:srcRect b="0" l="0" r="0" t="0"/>
          <a:stretch/>
        </p:blipFill>
        <p:spPr>
          <a:xfrm>
            <a:off x="9272025" y="1993869"/>
            <a:ext cx="419100" cy="419100"/>
          </a:xfrm>
          <a:prstGeom prst="rect">
            <a:avLst/>
          </a:prstGeom>
          <a:noFill/>
          <a:ln>
            <a:noFill/>
          </a:ln>
        </p:spPr>
      </p:pic>
      <p:pic>
        <p:nvPicPr>
          <p:cNvPr descr="image.png" id="423" name="Google Shape;423;h8ed05d8588e31ed_4_267"/>
          <p:cNvPicPr preferRelativeResize="0"/>
          <p:nvPr/>
        </p:nvPicPr>
        <p:blipFill rotWithShape="1">
          <a:blip r:embed="rId8">
            <a:alphaModFix/>
          </a:blip>
          <a:srcRect b="0" l="0" r="0" t="0"/>
          <a:stretch/>
        </p:blipFill>
        <p:spPr>
          <a:xfrm>
            <a:off x="3514825" y="2007150"/>
            <a:ext cx="419100" cy="419100"/>
          </a:xfrm>
          <a:prstGeom prst="rect">
            <a:avLst/>
          </a:prstGeom>
          <a:noFill/>
          <a:ln>
            <a:noFill/>
          </a:ln>
        </p:spPr>
      </p:pic>
      <p:pic>
        <p:nvPicPr>
          <p:cNvPr descr="image.png" id="424" name="Google Shape;424;h8ed05d8588e31ed_4_267"/>
          <p:cNvPicPr preferRelativeResize="0"/>
          <p:nvPr/>
        </p:nvPicPr>
        <p:blipFill rotWithShape="1">
          <a:blip r:embed="rId9">
            <a:alphaModFix/>
          </a:blip>
          <a:srcRect b="0" l="0" r="0" t="0"/>
          <a:stretch/>
        </p:blipFill>
        <p:spPr>
          <a:xfrm>
            <a:off x="6343850" y="2019300"/>
            <a:ext cx="419100" cy="419100"/>
          </a:xfrm>
          <a:prstGeom prst="rect">
            <a:avLst/>
          </a:prstGeom>
          <a:noFill/>
          <a:ln>
            <a:noFill/>
          </a:ln>
        </p:spPr>
      </p:pic>
      <p:pic>
        <p:nvPicPr>
          <p:cNvPr descr="image.png" id="425" name="Google Shape;425;h8ed05d8588e31ed_4_267"/>
          <p:cNvPicPr preferRelativeResize="0"/>
          <p:nvPr/>
        </p:nvPicPr>
        <p:blipFill rotWithShape="1">
          <a:blip r:embed="rId10">
            <a:alphaModFix/>
          </a:blip>
          <a:srcRect b="0" l="0" r="0" t="0"/>
          <a:stretch/>
        </p:blipFill>
        <p:spPr>
          <a:xfrm>
            <a:off x="9362512" y="2098644"/>
            <a:ext cx="238125" cy="209550"/>
          </a:xfrm>
          <a:prstGeom prst="rect">
            <a:avLst/>
          </a:prstGeom>
          <a:noFill/>
          <a:ln>
            <a:noFill/>
          </a:ln>
        </p:spPr>
      </p:pic>
      <p:pic>
        <p:nvPicPr>
          <p:cNvPr descr="image.png" id="426" name="Google Shape;426;h8ed05d8588e31ed_4_267"/>
          <p:cNvPicPr preferRelativeResize="0"/>
          <p:nvPr/>
        </p:nvPicPr>
        <p:blipFill rotWithShape="1">
          <a:blip r:embed="rId11">
            <a:alphaModFix/>
          </a:blip>
          <a:srcRect b="0" l="0" r="0" t="0"/>
          <a:stretch/>
        </p:blipFill>
        <p:spPr>
          <a:xfrm>
            <a:off x="3605312" y="2111925"/>
            <a:ext cx="238125" cy="209550"/>
          </a:xfrm>
          <a:prstGeom prst="rect">
            <a:avLst/>
          </a:prstGeom>
          <a:noFill/>
          <a:ln>
            <a:noFill/>
          </a:ln>
        </p:spPr>
      </p:pic>
      <p:pic>
        <p:nvPicPr>
          <p:cNvPr descr="image.png" id="427" name="Google Shape;427;h8ed05d8588e31ed_4_267"/>
          <p:cNvPicPr preferRelativeResize="0"/>
          <p:nvPr/>
        </p:nvPicPr>
        <p:blipFill rotWithShape="1">
          <a:blip r:embed="rId12">
            <a:alphaModFix/>
          </a:blip>
          <a:srcRect b="0" l="0" r="0" t="0"/>
          <a:stretch/>
        </p:blipFill>
        <p:spPr>
          <a:xfrm>
            <a:off x="6448625" y="2124075"/>
            <a:ext cx="209550" cy="209550"/>
          </a:xfrm>
          <a:prstGeom prst="rect">
            <a:avLst/>
          </a:prstGeom>
          <a:noFill/>
          <a:ln>
            <a:noFill/>
          </a:ln>
        </p:spPr>
      </p:pic>
      <p:sp>
        <p:nvSpPr>
          <p:cNvPr id="428" name="Google Shape;428;h8ed05d8588e31ed_4_267"/>
          <p:cNvSpPr txBox="1"/>
          <p:nvPr/>
        </p:nvSpPr>
        <p:spPr>
          <a:xfrm>
            <a:off x="714375" y="6319837"/>
            <a:ext cx="543300" cy="169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F8FAFC"/>
                </a:solidFill>
                <a:latin typeface="Quattrocento Sans"/>
                <a:ea typeface="Quattrocento Sans"/>
                <a:cs typeface="Quattrocento Sans"/>
                <a:sym typeface="Quattrocento Sans"/>
              </a:rPr>
              <a:t>Inicio</a:t>
            </a:r>
            <a:endParaRPr sz="1500"/>
          </a:p>
        </p:txBody>
      </p:sp>
      <p:sp>
        <p:nvSpPr>
          <p:cNvPr id="429" name="Google Shape;429;h8ed05d8588e31ed_4_267"/>
          <p:cNvSpPr txBox="1"/>
          <p:nvPr/>
        </p:nvSpPr>
        <p:spPr>
          <a:xfrm>
            <a:off x="10137278" y="6324600"/>
            <a:ext cx="1664100" cy="13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900" u="none" cap="none" strike="noStrike">
                <a:solidFill>
                  <a:srgbClr val="1E293B"/>
                </a:solidFill>
                <a:latin typeface="Quattrocento Sans"/>
                <a:ea typeface="Quattrocento Sans"/>
                <a:cs typeface="Quattrocento Sans"/>
                <a:sym typeface="Quattrocento Sans"/>
              </a:rPr>
              <a:t>SLIDE </a:t>
            </a:r>
            <a:r>
              <a:rPr b="1" lang="en-US" sz="900">
                <a:solidFill>
                  <a:srgbClr val="1E293B"/>
                </a:solidFill>
                <a:latin typeface="Quattrocento Sans"/>
                <a:ea typeface="Quattrocento Sans"/>
                <a:cs typeface="Quattrocento Sans"/>
                <a:sym typeface="Quattrocento Sans"/>
              </a:rPr>
              <a:t>3</a:t>
            </a:r>
            <a:r>
              <a:rPr b="1" i="0" lang="en-US" sz="900" u="none" cap="none" strike="noStrike">
                <a:solidFill>
                  <a:srgbClr val="1E293B"/>
                </a:solidFill>
                <a:latin typeface="Quattrocento Sans"/>
                <a:ea typeface="Quattrocento Sans"/>
                <a:cs typeface="Quattrocento Sans"/>
                <a:sym typeface="Quattrocento Sans"/>
              </a:rPr>
              <a:t> / </a:t>
            </a:r>
            <a:r>
              <a:rPr b="1" lang="en-US" sz="900">
                <a:solidFill>
                  <a:srgbClr val="1E293B"/>
                </a:solidFill>
                <a:latin typeface="Quattrocento Sans"/>
                <a:ea typeface="Quattrocento Sans"/>
                <a:cs typeface="Quattrocento Sans"/>
                <a:sym typeface="Quattrocento Sans"/>
              </a:rPr>
              <a:t>3</a:t>
            </a:r>
            <a:r>
              <a:rPr b="1" i="0" lang="en-US" sz="900" u="none" cap="none" strike="noStrike">
                <a:solidFill>
                  <a:srgbClr val="1E293B"/>
                </a:solidFill>
                <a:latin typeface="Quattrocento Sans"/>
                <a:ea typeface="Quattrocento Sans"/>
                <a:cs typeface="Quattrocento Sans"/>
                <a:sym typeface="Quattrocento Sans"/>
              </a:rPr>
              <a:t> | OS 2002</a:t>
            </a:r>
            <a:endParaRPr sz="1500"/>
          </a:p>
        </p:txBody>
      </p:sp>
      <p:sp>
        <p:nvSpPr>
          <p:cNvPr id="430" name="Google Shape;430;h8ed05d8588e31ed_4_267"/>
          <p:cNvSpPr txBox="1"/>
          <p:nvPr/>
        </p:nvSpPr>
        <p:spPr>
          <a:xfrm>
            <a:off x="657225" y="352425"/>
            <a:ext cx="5226000" cy="1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FFFFFF"/>
                </a:solidFill>
                <a:latin typeface="Quattrocento Sans"/>
                <a:ea typeface="Quattrocento Sans"/>
                <a:cs typeface="Quattrocento Sans"/>
                <a:sym typeface="Quattrocento Sans"/>
              </a:rPr>
              <a:t>Switch_Core_Functions.exe [Diapositiva 2 de 2]</a:t>
            </a:r>
            <a:endParaRPr sz="1500"/>
          </a:p>
        </p:txBody>
      </p:sp>
      <p:sp>
        <p:nvSpPr>
          <p:cNvPr id="431" name="Google Shape;431;h8ed05d8588e31ed_4_267"/>
          <p:cNvSpPr txBox="1"/>
          <p:nvPr/>
        </p:nvSpPr>
        <p:spPr>
          <a:xfrm>
            <a:off x="10106025" y="963959"/>
            <a:ext cx="1562100" cy="320100"/>
          </a:xfrm>
          <a:prstGeom prst="rect">
            <a:avLst/>
          </a:prstGeom>
          <a:noFill/>
          <a:ln>
            <a:noFill/>
          </a:ln>
        </p:spPr>
        <p:txBody>
          <a:bodyPr anchorCtr="0" anchor="t" bIns="0" lIns="0" spcFirstLastPara="1" rIns="0" wrap="square" tIns="0">
            <a:spAutoFit/>
          </a:bodyPr>
          <a:lstStyle/>
          <a:p>
            <a:pPr indent="0" lvl="0" marL="0" marR="0" rtl="0" algn="l">
              <a:lnSpc>
                <a:spcPct val="86666"/>
              </a:lnSpc>
              <a:spcBef>
                <a:spcPts val="0"/>
              </a:spcBef>
              <a:spcAft>
                <a:spcPts val="0"/>
              </a:spcAft>
              <a:buNone/>
            </a:pPr>
            <a:r>
              <a:rPr b="0" i="0" lang="en-US" sz="1200" u="none" cap="none" strike="noStrike">
                <a:solidFill>
                  <a:srgbClr val="38BDF8"/>
                </a:solidFill>
                <a:latin typeface="VT323"/>
                <a:ea typeface="VT323"/>
                <a:cs typeface="VT323"/>
                <a:sym typeface="VT323"/>
              </a:rPr>
              <a:t>[TRAFFIC MANAGER]: ACTIVE</a:t>
            </a:r>
            <a:br>
              <a:rPr b="0" i="0" lang="en-US" sz="1900" u="none" cap="none" strike="noStrike">
                <a:solidFill>
                  <a:schemeClr val="dk1"/>
                </a:solidFill>
                <a:latin typeface="Calibri"/>
                <a:ea typeface="Calibri"/>
                <a:cs typeface="Calibri"/>
                <a:sym typeface="Calibri"/>
              </a:rPr>
            </a:br>
            <a:r>
              <a:rPr b="0" i="0" lang="en-US" sz="1200" u="none" cap="none" strike="noStrike">
                <a:solidFill>
                  <a:srgbClr val="38BDF8"/>
                </a:solidFill>
                <a:latin typeface="VT323"/>
                <a:ea typeface="VT323"/>
                <a:cs typeface="VT323"/>
                <a:sym typeface="VT323"/>
              </a:rPr>
              <a:t> SECURITY: GUARANTEED</a:t>
            </a:r>
            <a:endParaRPr sz="1500"/>
          </a:p>
        </p:txBody>
      </p:sp>
      <p:sp>
        <p:nvSpPr>
          <p:cNvPr id="432" name="Google Shape;432;h8ed05d8588e31ed_4_267"/>
          <p:cNvSpPr txBox="1"/>
          <p:nvPr/>
        </p:nvSpPr>
        <p:spPr>
          <a:xfrm>
            <a:off x="600075" y="895350"/>
            <a:ext cx="1487700" cy="1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F8FAFC"/>
                </a:solidFill>
                <a:latin typeface="Quattrocento Sans"/>
                <a:ea typeface="Quattrocento Sans"/>
                <a:cs typeface="Quattrocento Sans"/>
                <a:sym typeface="Quattrocento Sans"/>
              </a:rPr>
              <a:t>PANEL DE CONTROL</a:t>
            </a:r>
            <a:endParaRPr sz="1500"/>
          </a:p>
        </p:txBody>
      </p:sp>
      <p:sp>
        <p:nvSpPr>
          <p:cNvPr id="433" name="Google Shape;433;h8ed05d8588e31ed_4_267"/>
          <p:cNvSpPr txBox="1"/>
          <p:nvPr/>
        </p:nvSpPr>
        <p:spPr>
          <a:xfrm>
            <a:off x="485775" y="1104900"/>
            <a:ext cx="5164800" cy="384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500" u="none" cap="none" strike="noStrike">
                <a:solidFill>
                  <a:srgbClr val="0F172A"/>
                </a:solidFill>
                <a:latin typeface="Quattrocento Sans"/>
                <a:ea typeface="Quattrocento Sans"/>
                <a:cs typeface="Quattrocento Sans"/>
                <a:sym typeface="Quattrocento Sans"/>
              </a:rPr>
              <a:t>Funciones principales</a:t>
            </a:r>
            <a:endParaRPr sz="1500"/>
          </a:p>
        </p:txBody>
      </p:sp>
      <p:sp>
        <p:nvSpPr>
          <p:cNvPr id="434" name="Google Shape;434;h8ed05d8588e31ed_4_267"/>
          <p:cNvSpPr txBox="1"/>
          <p:nvPr/>
        </p:nvSpPr>
        <p:spPr>
          <a:xfrm>
            <a:off x="9000550" y="5287733"/>
            <a:ext cx="2855100" cy="169200"/>
          </a:xfrm>
          <a:prstGeom prst="rect">
            <a:avLst/>
          </a:prstGeom>
          <a:noFill/>
          <a:ln>
            <a:noFill/>
          </a:ln>
        </p:spPr>
        <p:txBody>
          <a:bodyPr anchorCtr="0" anchor="t" bIns="0" lIns="0" spcFirstLastPara="1" rIns="0" wrap="square" tIns="0">
            <a:spAutoFit/>
          </a:bodyPr>
          <a:lstStyle/>
          <a:p>
            <a:pPr indent="0" lvl="0" marL="0" marR="0" rtl="0" algn="ctr">
              <a:lnSpc>
                <a:spcPct val="129904"/>
              </a:lnSpc>
              <a:spcBef>
                <a:spcPts val="0"/>
              </a:spcBef>
              <a:spcAft>
                <a:spcPts val="0"/>
              </a:spcAft>
              <a:buNone/>
            </a:pPr>
            <a:r>
              <a:rPr lang="en-US" sz="1100">
                <a:solidFill>
                  <a:srgbClr val="38BDF8"/>
                </a:solidFill>
                <a:latin typeface="VT323"/>
                <a:ea typeface="VT323"/>
                <a:cs typeface="VT323"/>
                <a:sym typeface="VT323"/>
              </a:rPr>
              <a:t>show interfaces status</a:t>
            </a:r>
            <a:endParaRPr sz="1500"/>
          </a:p>
        </p:txBody>
      </p:sp>
      <p:sp>
        <p:nvSpPr>
          <p:cNvPr id="435" name="Google Shape;435;h8ed05d8588e31ed_4_267"/>
          <p:cNvSpPr txBox="1"/>
          <p:nvPr/>
        </p:nvSpPr>
        <p:spPr>
          <a:xfrm>
            <a:off x="3276400" y="5313164"/>
            <a:ext cx="2855100" cy="169200"/>
          </a:xfrm>
          <a:prstGeom prst="rect">
            <a:avLst/>
          </a:prstGeom>
          <a:noFill/>
          <a:ln>
            <a:noFill/>
          </a:ln>
        </p:spPr>
        <p:txBody>
          <a:bodyPr anchorCtr="0" anchor="t" bIns="0" lIns="0" spcFirstLastPara="1" rIns="0" wrap="square" tIns="0">
            <a:spAutoFit/>
          </a:bodyPr>
          <a:lstStyle/>
          <a:p>
            <a:pPr indent="0" lvl="0" marL="0" marR="0" rtl="0" algn="ctr">
              <a:lnSpc>
                <a:spcPct val="129904"/>
              </a:lnSpc>
              <a:spcBef>
                <a:spcPts val="0"/>
              </a:spcBef>
              <a:spcAft>
                <a:spcPts val="0"/>
              </a:spcAft>
              <a:buNone/>
            </a:pPr>
            <a:r>
              <a:rPr lang="en-US" sz="1100">
                <a:solidFill>
                  <a:srgbClr val="38BDF8"/>
                </a:solidFill>
                <a:latin typeface="VT323"/>
                <a:ea typeface="VT323"/>
                <a:cs typeface="VT323"/>
                <a:sym typeface="VT323"/>
              </a:rPr>
              <a:t>show mac address-table </a:t>
            </a:r>
            <a:endParaRPr sz="1500"/>
          </a:p>
        </p:txBody>
      </p:sp>
      <p:sp>
        <p:nvSpPr>
          <p:cNvPr id="436" name="Google Shape;436;h8ed05d8588e31ed_4_267"/>
          <p:cNvSpPr txBox="1"/>
          <p:nvPr/>
        </p:nvSpPr>
        <p:spPr>
          <a:xfrm>
            <a:off x="6138474" y="5313164"/>
            <a:ext cx="2855100" cy="169200"/>
          </a:xfrm>
          <a:prstGeom prst="rect">
            <a:avLst/>
          </a:prstGeom>
          <a:noFill/>
          <a:ln>
            <a:noFill/>
          </a:ln>
        </p:spPr>
        <p:txBody>
          <a:bodyPr anchorCtr="0" anchor="t" bIns="0" lIns="0" spcFirstLastPara="1" rIns="0" wrap="square" tIns="0">
            <a:spAutoFit/>
          </a:bodyPr>
          <a:lstStyle/>
          <a:p>
            <a:pPr indent="0" lvl="0" marL="0" marR="0" rtl="0" algn="ctr">
              <a:lnSpc>
                <a:spcPct val="129904"/>
              </a:lnSpc>
              <a:spcBef>
                <a:spcPts val="0"/>
              </a:spcBef>
              <a:spcAft>
                <a:spcPts val="0"/>
              </a:spcAft>
              <a:buNone/>
            </a:pPr>
            <a:r>
              <a:rPr lang="en-US" sz="1100">
                <a:solidFill>
                  <a:srgbClr val="38BDF8"/>
                </a:solidFill>
                <a:latin typeface="VT323"/>
                <a:ea typeface="VT323"/>
                <a:cs typeface="VT323"/>
                <a:sym typeface="VT323"/>
              </a:rPr>
              <a:t>show mac address-table dynamic </a:t>
            </a:r>
            <a:endParaRPr sz="1500"/>
          </a:p>
        </p:txBody>
      </p:sp>
      <p:sp>
        <p:nvSpPr>
          <p:cNvPr id="437" name="Google Shape;437;h8ed05d8588e31ed_4_267"/>
          <p:cNvSpPr txBox="1"/>
          <p:nvPr/>
        </p:nvSpPr>
        <p:spPr>
          <a:xfrm>
            <a:off x="9272025" y="2546319"/>
            <a:ext cx="42504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Quattrocento Sans"/>
                <a:ea typeface="Quattrocento Sans"/>
                <a:cs typeface="Quattrocento Sans"/>
                <a:sym typeface="Quattrocento Sans"/>
              </a:rPr>
              <a:t>Expansión de Puertos</a:t>
            </a:r>
            <a:endParaRPr sz="1500"/>
          </a:p>
        </p:txBody>
      </p:sp>
      <p:sp>
        <p:nvSpPr>
          <p:cNvPr id="438" name="Google Shape;438;h8ed05d8588e31ed_4_267"/>
          <p:cNvSpPr txBox="1"/>
          <p:nvPr/>
        </p:nvSpPr>
        <p:spPr>
          <a:xfrm>
            <a:off x="9272025" y="2870169"/>
            <a:ext cx="2378100" cy="7017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lang="en-US" sz="1200">
                <a:solidFill>
                  <a:srgbClr val="334155"/>
                </a:solidFill>
                <a:latin typeface="Quattrocento Sans"/>
                <a:ea typeface="Quattrocento Sans"/>
                <a:cs typeface="Quattrocento Sans"/>
                <a:sym typeface="Quattrocento Sans"/>
              </a:rPr>
              <a:t>Aumenta la cantidad de puertos de conexión Ethernet disponibles para cualquier dispositivo de la red.</a:t>
            </a:r>
            <a:endParaRPr sz="1500"/>
          </a:p>
        </p:txBody>
      </p:sp>
      <p:sp>
        <p:nvSpPr>
          <p:cNvPr id="439" name="Google Shape;439;h8ed05d8588e31ed_4_267"/>
          <p:cNvSpPr txBox="1"/>
          <p:nvPr/>
        </p:nvSpPr>
        <p:spPr>
          <a:xfrm>
            <a:off x="3481350" y="2571750"/>
            <a:ext cx="42504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369A1"/>
                </a:solidFill>
                <a:latin typeface="Quattrocento Sans"/>
                <a:ea typeface="Quattrocento Sans"/>
                <a:cs typeface="Quattrocento Sans"/>
                <a:sym typeface="Quattrocento Sans"/>
              </a:rPr>
              <a:t>Registro MAC</a:t>
            </a:r>
            <a:endParaRPr sz="1500"/>
          </a:p>
        </p:txBody>
      </p:sp>
      <p:sp>
        <p:nvSpPr>
          <p:cNvPr id="440" name="Google Shape;440;h8ed05d8588e31ed_4_267"/>
          <p:cNvSpPr txBox="1"/>
          <p:nvPr/>
        </p:nvSpPr>
        <p:spPr>
          <a:xfrm>
            <a:off x="3481350" y="2936100"/>
            <a:ext cx="2444700" cy="7017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1E293B"/>
                </a:solidFill>
                <a:latin typeface="Quattrocento Sans"/>
                <a:ea typeface="Quattrocento Sans"/>
                <a:cs typeface="Quattrocento Sans"/>
                <a:sym typeface="Quattrocento Sans"/>
              </a:rPr>
              <a:t>Registra la dirección única (MAC) de cada equipo conectado para identificarlo en la red.</a:t>
            </a:r>
            <a:endParaRPr sz="1500"/>
          </a:p>
        </p:txBody>
      </p:sp>
      <p:sp>
        <p:nvSpPr>
          <p:cNvPr id="441" name="Google Shape;441;h8ed05d8588e31ed_4_267"/>
          <p:cNvSpPr txBox="1"/>
          <p:nvPr/>
        </p:nvSpPr>
        <p:spPr>
          <a:xfrm>
            <a:off x="6343425" y="2571750"/>
            <a:ext cx="25959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Quattrocento Sans"/>
                <a:ea typeface="Quattrocento Sans"/>
                <a:cs typeface="Quattrocento Sans"/>
                <a:sym typeface="Quattrocento Sans"/>
              </a:rPr>
              <a:t>Tráfico Inteligente</a:t>
            </a:r>
            <a:endParaRPr sz="1500"/>
          </a:p>
        </p:txBody>
      </p:sp>
      <p:sp>
        <p:nvSpPr>
          <p:cNvPr id="442" name="Google Shape;442;h8ed05d8588e31ed_4_267"/>
          <p:cNvSpPr txBox="1"/>
          <p:nvPr/>
        </p:nvSpPr>
        <p:spPr>
          <a:xfrm>
            <a:off x="6343850" y="2936100"/>
            <a:ext cx="2444700" cy="12186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lang="en-US" sz="1200">
                <a:solidFill>
                  <a:srgbClr val="334155"/>
                </a:solidFill>
                <a:latin typeface="Quattrocento Sans"/>
                <a:ea typeface="Quattrocento Sans"/>
                <a:cs typeface="Quattrocento Sans"/>
                <a:sym typeface="Quattrocento Sans"/>
              </a:rPr>
              <a:t>Envía la información únicamente al destinatario correspondiente, manteniendo la velocidad y reduciendo el tráfico innecesario en los puertos.</a:t>
            </a:r>
            <a:endParaRPr sz="1500"/>
          </a:p>
        </p:txBody>
      </p:sp>
      <p:sp>
        <p:nvSpPr>
          <p:cNvPr id="443" name="Google Shape;443;h8ed05d8588e31ed_4_267"/>
          <p:cNvSpPr/>
          <p:nvPr/>
        </p:nvSpPr>
        <p:spPr>
          <a:xfrm>
            <a:off x="300" y="0"/>
            <a:ext cx="12191100" cy="658500"/>
          </a:xfrm>
          <a:prstGeom prst="rect">
            <a:avLst/>
          </a:prstGeom>
          <a:solidFill>
            <a:srgbClr val="24496E"/>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h8ed05d8588e31ed_4_267"/>
          <p:cNvSpPr/>
          <p:nvPr/>
        </p:nvSpPr>
        <p:spPr>
          <a:xfrm>
            <a:off x="567300" y="82440"/>
            <a:ext cx="10972500" cy="4560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i="0" lang="en-US" sz="2400" u="none" cap="none" strike="noStrike">
                <a:solidFill>
                  <a:srgbClr val="FFFFFF"/>
                </a:solidFill>
                <a:latin typeface="Arial"/>
                <a:ea typeface="Arial"/>
                <a:cs typeface="Arial"/>
                <a:sym typeface="Arial"/>
              </a:rPr>
              <a:t>4 · </a:t>
            </a:r>
            <a:r>
              <a:rPr b="1" lang="en-US" sz="2400">
                <a:solidFill>
                  <a:srgbClr val="FFFFFF"/>
                </a:solidFill>
              </a:rPr>
              <a:t>Funciones del switch CRISTIAN</a:t>
            </a:r>
            <a:endParaRPr b="0" i="0" sz="2400" u="none" cap="none" strike="noStrike">
              <a:latin typeface="Arial"/>
              <a:ea typeface="Arial"/>
              <a:cs typeface="Arial"/>
              <a:sym typeface="Arial"/>
            </a:endParaRPr>
          </a:p>
        </p:txBody>
      </p:sp>
      <p:sp>
        <p:nvSpPr>
          <p:cNvPr id="445" name="Google Shape;445;h8ed05d8588e31ed_4_267"/>
          <p:cNvSpPr/>
          <p:nvPr/>
        </p:nvSpPr>
        <p:spPr>
          <a:xfrm>
            <a:off x="468408" y="1825535"/>
            <a:ext cx="2747100" cy="4000500"/>
          </a:xfrm>
          <a:prstGeom prst="roundRect">
            <a:avLst>
              <a:gd fmla="val 2617" name="adj"/>
            </a:avLst>
          </a:prstGeom>
          <a:solidFill>
            <a:srgbClr val="F8FAFC"/>
          </a:solidFill>
          <a:ln cap="flat" cmpd="sng" w="9525">
            <a:solidFill>
              <a:srgbClr val="63BDF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446" name="Google Shape;446;h8ed05d8588e31ed_4_267"/>
          <p:cNvSpPr/>
          <p:nvPr/>
        </p:nvSpPr>
        <p:spPr>
          <a:xfrm>
            <a:off x="626656" y="5193164"/>
            <a:ext cx="2444700" cy="401700"/>
          </a:xfrm>
          <a:prstGeom prst="roundRect">
            <a:avLst>
              <a:gd fmla="val 14222" name="adj"/>
            </a:avLst>
          </a:prstGeom>
          <a:solidFill>
            <a:srgbClr val="0F172A"/>
          </a:solidFill>
          <a:ln cap="flat" cmpd="sng" w="19075">
            <a:solidFill>
              <a:srgbClr val="47556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447" name="Google Shape;447;h8ed05d8588e31ed_4_267"/>
          <p:cNvSpPr txBox="1"/>
          <p:nvPr/>
        </p:nvSpPr>
        <p:spPr>
          <a:xfrm>
            <a:off x="421708" y="5288414"/>
            <a:ext cx="2855100" cy="169200"/>
          </a:xfrm>
          <a:prstGeom prst="rect">
            <a:avLst/>
          </a:prstGeom>
          <a:noFill/>
          <a:ln>
            <a:noFill/>
          </a:ln>
        </p:spPr>
        <p:txBody>
          <a:bodyPr anchorCtr="0" anchor="t" bIns="0" lIns="0" spcFirstLastPara="1" rIns="0" wrap="square" tIns="0">
            <a:spAutoFit/>
          </a:bodyPr>
          <a:lstStyle/>
          <a:p>
            <a:pPr indent="0" lvl="0" marL="0" marR="0" rtl="0" algn="ctr">
              <a:lnSpc>
                <a:spcPct val="129904"/>
              </a:lnSpc>
              <a:spcBef>
                <a:spcPts val="0"/>
              </a:spcBef>
              <a:spcAft>
                <a:spcPts val="0"/>
              </a:spcAft>
              <a:buNone/>
            </a:pPr>
            <a:r>
              <a:rPr lang="en-US" sz="1100">
                <a:solidFill>
                  <a:srgbClr val="38BDF8"/>
                </a:solidFill>
                <a:latin typeface="VT323"/>
                <a:ea typeface="VT323"/>
                <a:cs typeface="VT323"/>
                <a:sym typeface="VT323"/>
              </a:rPr>
              <a:t>show cdp neighbors </a:t>
            </a:r>
            <a:endParaRPr sz="1500"/>
          </a:p>
        </p:txBody>
      </p:sp>
      <p:sp>
        <p:nvSpPr>
          <p:cNvPr id="448" name="Google Shape;448;h8ed05d8588e31ed_4_267"/>
          <p:cNvSpPr txBox="1"/>
          <p:nvPr/>
        </p:nvSpPr>
        <p:spPr>
          <a:xfrm>
            <a:off x="605038" y="2578010"/>
            <a:ext cx="42504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0369A1"/>
                </a:solidFill>
                <a:latin typeface="Quattrocento Sans"/>
                <a:ea typeface="Quattrocento Sans"/>
                <a:cs typeface="Quattrocento Sans"/>
                <a:sym typeface="Quattrocento Sans"/>
              </a:rPr>
              <a:t>Interconexión de Equipos</a:t>
            </a:r>
            <a:endParaRPr b="1" sz="1500">
              <a:solidFill>
                <a:srgbClr val="0369A1"/>
              </a:solidFill>
              <a:latin typeface="Quattrocento Sans"/>
              <a:ea typeface="Quattrocento Sans"/>
              <a:cs typeface="Quattrocento Sans"/>
              <a:sym typeface="Quattrocento Sans"/>
            </a:endParaRPr>
          </a:p>
          <a:p>
            <a:pPr indent="0" lvl="0" marL="0" marR="0" rtl="0" algn="l">
              <a:spcBef>
                <a:spcPts val="0"/>
              </a:spcBef>
              <a:spcAft>
                <a:spcPts val="0"/>
              </a:spcAft>
              <a:buNone/>
            </a:pPr>
            <a:r>
              <a:t/>
            </a:r>
            <a:endParaRPr b="1" sz="1500">
              <a:solidFill>
                <a:srgbClr val="0369A1"/>
              </a:solidFill>
              <a:latin typeface="Quattrocento Sans"/>
              <a:ea typeface="Quattrocento Sans"/>
              <a:cs typeface="Quattrocento Sans"/>
              <a:sym typeface="Quattrocento Sans"/>
            </a:endParaRPr>
          </a:p>
        </p:txBody>
      </p:sp>
      <p:sp>
        <p:nvSpPr>
          <p:cNvPr id="449" name="Google Shape;449;h8ed05d8588e31ed_4_267"/>
          <p:cNvSpPr txBox="1"/>
          <p:nvPr/>
        </p:nvSpPr>
        <p:spPr>
          <a:xfrm>
            <a:off x="619200" y="2942363"/>
            <a:ext cx="2444700" cy="9600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lang="en-US" sz="1200">
                <a:solidFill>
                  <a:srgbClr val="1E293B"/>
                </a:solidFill>
                <a:latin typeface="Quattrocento Sans"/>
                <a:ea typeface="Quattrocento Sans"/>
                <a:cs typeface="Quattrocento Sans"/>
                <a:sym typeface="Quattrocento Sans"/>
              </a:rPr>
              <a:t>Se conectan cables de red para interconectar ordenadores, impresoras y servidores dentro de una misma red local (LAN).</a:t>
            </a:r>
            <a:endParaRPr sz="1200">
              <a:solidFill>
                <a:srgbClr val="1E293B"/>
              </a:solidFill>
              <a:latin typeface="Quattrocento Sans"/>
              <a:ea typeface="Quattrocento Sans"/>
              <a:cs typeface="Quattrocento Sans"/>
              <a:sym typeface="Quattrocento Sans"/>
            </a:endParaRPr>
          </a:p>
        </p:txBody>
      </p:sp>
      <p:pic>
        <p:nvPicPr>
          <p:cNvPr descr="image.png" id="450" name="Google Shape;450;h8ed05d8588e31ed_4_267"/>
          <p:cNvPicPr preferRelativeResize="0"/>
          <p:nvPr/>
        </p:nvPicPr>
        <p:blipFill rotWithShape="1">
          <a:blip r:embed="rId13">
            <a:alphaModFix/>
          </a:blip>
          <a:srcRect b="0" l="0" r="0" t="0"/>
          <a:stretch/>
        </p:blipFill>
        <p:spPr>
          <a:xfrm>
            <a:off x="633675" y="2019615"/>
            <a:ext cx="419100" cy="419100"/>
          </a:xfrm>
          <a:prstGeom prst="rect">
            <a:avLst/>
          </a:prstGeom>
          <a:noFill/>
          <a:ln>
            <a:noFill/>
          </a:ln>
        </p:spPr>
      </p:pic>
      <p:pic>
        <p:nvPicPr>
          <p:cNvPr descr="image.png" id="451" name="Google Shape;451;h8ed05d8588e31ed_4_267"/>
          <p:cNvPicPr preferRelativeResize="0"/>
          <p:nvPr/>
        </p:nvPicPr>
        <p:blipFill rotWithShape="1">
          <a:blip r:embed="rId14">
            <a:alphaModFix/>
          </a:blip>
          <a:srcRect b="0" l="0" r="0" t="0"/>
          <a:stretch/>
        </p:blipFill>
        <p:spPr>
          <a:xfrm>
            <a:off x="733687" y="2143440"/>
            <a:ext cx="219075" cy="171450"/>
          </a:xfrm>
          <a:prstGeom prst="rect">
            <a:avLst/>
          </a:prstGeom>
          <a:noFill/>
          <a:ln>
            <a:noFill/>
          </a:ln>
        </p:spPr>
      </p:pic>
      <p:sp>
        <p:nvSpPr>
          <p:cNvPr id="452" name="Google Shape;452;h8ed05d8588e31ed_4_267"/>
          <p:cNvSpPr txBox="1"/>
          <p:nvPr/>
        </p:nvSpPr>
        <p:spPr>
          <a:xfrm>
            <a:off x="1436724" y="6341100"/>
            <a:ext cx="8163900" cy="13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900">
                <a:solidFill>
                  <a:srgbClr val="F8FAFC"/>
                </a:solidFill>
                <a:latin typeface="Quattrocento Sans"/>
                <a:ea typeface="Quattrocento Sans"/>
                <a:cs typeface="Quattrocento Sans"/>
                <a:sym typeface="Quattrocento Sans"/>
              </a:rPr>
              <a:t>Fuente: https://www.pccomponentes.com/blog/switch-de-red-que-es-caracteristicas-y-los-mejores</a:t>
            </a:r>
            <a:endParaRPr b="1" sz="9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6"/>
          <p:cNvSpPr/>
          <p:nvPr/>
        </p:nvSpPr>
        <p:spPr>
          <a:xfrm>
            <a:off x="0" y="0"/>
            <a:ext cx="12191400" cy="658080"/>
          </a:xfrm>
          <a:prstGeom prst="rect">
            <a:avLst/>
          </a:prstGeom>
          <a:solidFill>
            <a:srgbClr val="12496F"/>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6"/>
          <p:cNvSpPr/>
          <p:nvPr/>
        </p:nvSpPr>
        <p:spPr>
          <a:xfrm>
            <a:off x="567000" y="82440"/>
            <a:ext cx="10972440" cy="45612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1" i="0" lang="en-US" sz="2400" u="none" cap="none" strike="noStrike">
                <a:solidFill>
                  <a:srgbClr val="FFFFFF"/>
                </a:solidFill>
                <a:latin typeface="Arial"/>
                <a:ea typeface="Arial"/>
                <a:cs typeface="Arial"/>
                <a:sym typeface="Arial"/>
              </a:rPr>
              <a:t>5 · El switch aprende direcciones MAC: Denisa Caraivan.</a:t>
            </a:r>
            <a:endParaRPr b="0" i="0" sz="2400" u="none" cap="none" strike="noStrike">
              <a:latin typeface="Arial"/>
              <a:ea typeface="Arial"/>
              <a:cs typeface="Arial"/>
              <a:sym typeface="Arial"/>
            </a:endParaRPr>
          </a:p>
        </p:txBody>
      </p:sp>
      <p:sp>
        <p:nvSpPr>
          <p:cNvPr id="459" name="Google Shape;459;p6"/>
          <p:cNvSpPr/>
          <p:nvPr/>
        </p:nvSpPr>
        <p:spPr>
          <a:xfrm>
            <a:off x="713160" y="813960"/>
            <a:ext cx="10789560" cy="44064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0" i="0" lang="en-US" sz="2300" u="none" cap="none" strike="noStrike">
                <a:solidFill>
                  <a:srgbClr val="12496F"/>
                </a:solidFill>
                <a:latin typeface="Arial"/>
                <a:ea typeface="Arial"/>
                <a:cs typeface="Arial"/>
                <a:sym typeface="Arial"/>
              </a:rPr>
              <a:t>Ejemplo conceptual: cada PC está conectado a un puerto diferente.</a:t>
            </a:r>
            <a:endParaRPr b="0" i="0" sz="2300" u="none" cap="none" strike="noStrike">
              <a:latin typeface="Arial"/>
              <a:ea typeface="Arial"/>
              <a:cs typeface="Arial"/>
              <a:sym typeface="Arial"/>
            </a:endParaRPr>
          </a:p>
        </p:txBody>
      </p:sp>
      <p:sp>
        <p:nvSpPr>
          <p:cNvPr id="460" name="Google Shape;460;p6"/>
          <p:cNvSpPr/>
          <p:nvPr/>
        </p:nvSpPr>
        <p:spPr>
          <a:xfrm>
            <a:off x="713160" y="6190560"/>
            <a:ext cx="10789560" cy="69948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t/>
            </a:r>
            <a:endParaRPr b="0" i="0" sz="2000" u="none" cap="none" strike="noStrike">
              <a:latin typeface="Arial"/>
              <a:ea typeface="Arial"/>
              <a:cs typeface="Arial"/>
              <a:sym typeface="Arial"/>
            </a:endParaRPr>
          </a:p>
        </p:txBody>
      </p:sp>
      <p:cxnSp>
        <p:nvCxnSpPr>
          <p:cNvPr id="461" name="Google Shape;461;p6"/>
          <p:cNvCxnSpPr/>
          <p:nvPr/>
        </p:nvCxnSpPr>
        <p:spPr>
          <a:xfrm>
            <a:off x="1920240" y="2765880"/>
            <a:ext cx="4183200" cy="360"/>
          </a:xfrm>
          <a:prstGeom prst="straightConnector1">
            <a:avLst/>
          </a:prstGeom>
          <a:noFill/>
          <a:ln cap="flat" cmpd="sng" w="38100">
            <a:solidFill>
              <a:srgbClr val="2070B5"/>
            </a:solidFill>
            <a:prstDash val="solid"/>
            <a:round/>
            <a:headEnd len="sm" w="sm" type="none"/>
            <a:tailEnd len="sm" w="sm" type="none"/>
          </a:ln>
          <a:effectLst>
            <a:outerShdw blurRad="40000" rotWithShape="0" dir="5400000" dist="20000">
              <a:srgbClr val="000000">
                <a:alpha val="38039"/>
              </a:srgbClr>
            </a:outerShdw>
          </a:effectLst>
        </p:spPr>
      </p:cxnSp>
      <p:cxnSp>
        <p:nvCxnSpPr>
          <p:cNvPr id="462" name="Google Shape;462;p6"/>
          <p:cNvCxnSpPr/>
          <p:nvPr/>
        </p:nvCxnSpPr>
        <p:spPr>
          <a:xfrm>
            <a:off x="6103440" y="2765880"/>
            <a:ext cx="4183560" cy="360"/>
          </a:xfrm>
          <a:prstGeom prst="straightConnector1">
            <a:avLst/>
          </a:prstGeom>
          <a:noFill/>
          <a:ln cap="flat" cmpd="sng" w="38100">
            <a:solidFill>
              <a:srgbClr val="2070B5"/>
            </a:solidFill>
            <a:prstDash val="solid"/>
            <a:round/>
            <a:headEnd len="sm" w="sm" type="none"/>
            <a:tailEnd len="sm" w="sm" type="none"/>
          </a:ln>
          <a:effectLst>
            <a:outerShdw blurRad="40000" rotWithShape="0" dir="5400000" dist="20000">
              <a:srgbClr val="000000">
                <a:alpha val="38039"/>
              </a:srgbClr>
            </a:outerShdw>
          </a:effectLst>
        </p:spPr>
      </p:cxnSp>
      <p:sp>
        <p:nvSpPr>
          <p:cNvPr id="463" name="Google Shape;463;p6"/>
          <p:cNvSpPr/>
          <p:nvPr/>
        </p:nvSpPr>
        <p:spPr>
          <a:xfrm>
            <a:off x="822960" y="2103120"/>
            <a:ext cx="2194200" cy="1325520"/>
          </a:xfrm>
          <a:prstGeom prst="roundRect">
            <a:avLst>
              <a:gd fmla="val 16667" name="adj"/>
            </a:avLst>
          </a:prstGeom>
          <a:solidFill>
            <a:srgbClr val="EBF5EB"/>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6"/>
          <p:cNvSpPr/>
          <p:nvPr/>
        </p:nvSpPr>
        <p:spPr>
          <a:xfrm>
            <a:off x="914400" y="2185560"/>
            <a:ext cx="2011320" cy="395280"/>
          </a:xfrm>
          <a:prstGeom prst="rect">
            <a:avLst/>
          </a:prstGeom>
          <a:noFill/>
          <a:ln>
            <a:noFill/>
          </a:ln>
        </p:spPr>
        <p:txBody>
          <a:bodyPr anchorCtr="0" anchor="t" bIns="45000" lIns="36700" spcFirstLastPara="1" rIns="36700" wrap="square" tIns="45000">
            <a:spAutoFit/>
          </a:bodyPr>
          <a:lstStyle/>
          <a:p>
            <a:pPr indent="0" lvl="0" marL="0" marR="0" rtl="0" algn="ctr">
              <a:lnSpc>
                <a:spcPct val="100000"/>
              </a:lnSpc>
              <a:spcBef>
                <a:spcPts val="0"/>
              </a:spcBef>
              <a:spcAft>
                <a:spcPts val="0"/>
              </a:spcAft>
              <a:buNone/>
            </a:pPr>
            <a:r>
              <a:rPr b="1" i="0" lang="en-US" sz="2000" u="none" cap="none" strike="noStrike">
                <a:solidFill>
                  <a:srgbClr val="12496F"/>
                </a:solidFill>
                <a:latin typeface="Arial"/>
                <a:ea typeface="Arial"/>
                <a:cs typeface="Arial"/>
                <a:sym typeface="Arial"/>
              </a:rPr>
              <a:t>PC-A</a:t>
            </a:r>
            <a:endParaRPr b="0" i="0" sz="2000" u="none" cap="none" strike="noStrike">
              <a:latin typeface="Arial"/>
              <a:ea typeface="Arial"/>
              <a:cs typeface="Arial"/>
              <a:sym typeface="Arial"/>
            </a:endParaRPr>
          </a:p>
        </p:txBody>
      </p:sp>
      <p:sp>
        <p:nvSpPr>
          <p:cNvPr id="465" name="Google Shape;465;p6"/>
          <p:cNvSpPr/>
          <p:nvPr/>
        </p:nvSpPr>
        <p:spPr>
          <a:xfrm>
            <a:off x="932760" y="2633400"/>
            <a:ext cx="1974600" cy="349560"/>
          </a:xfrm>
          <a:prstGeom prst="rect">
            <a:avLst/>
          </a:prstGeom>
          <a:noFill/>
          <a:ln>
            <a:noFill/>
          </a:ln>
        </p:spPr>
        <p:txBody>
          <a:bodyPr anchorCtr="0" anchor="t" bIns="45000" lIns="36700" spcFirstLastPara="1" rIns="36700" wrap="square" tIns="45000">
            <a:spAutoFit/>
          </a:bodyPr>
          <a:lstStyle/>
          <a:p>
            <a:pPr indent="0" lvl="0" marL="0" marR="0" rtl="0" algn="ctr">
              <a:lnSpc>
                <a:spcPct val="100000"/>
              </a:lnSpc>
              <a:spcBef>
                <a:spcPts val="0"/>
              </a:spcBef>
              <a:spcAft>
                <a:spcPts val="0"/>
              </a:spcAft>
              <a:buNone/>
            </a:pPr>
            <a:r>
              <a:rPr b="0" i="0" lang="en-US" sz="1700" u="none" cap="none" strike="noStrike">
                <a:solidFill>
                  <a:srgbClr val="26303A"/>
                </a:solidFill>
                <a:latin typeface="Arial"/>
                <a:ea typeface="Arial"/>
                <a:cs typeface="Arial"/>
                <a:sym typeface="Arial"/>
              </a:rPr>
              <a:t>MAC AA:AA</a:t>
            </a:r>
            <a:endParaRPr b="0" i="0" sz="1700" u="none" cap="none" strike="noStrike">
              <a:latin typeface="Arial"/>
              <a:ea typeface="Arial"/>
              <a:cs typeface="Arial"/>
              <a:sym typeface="Arial"/>
            </a:endParaRPr>
          </a:p>
        </p:txBody>
      </p:sp>
      <p:sp>
        <p:nvSpPr>
          <p:cNvPr id="466" name="Google Shape;466;p6"/>
          <p:cNvSpPr/>
          <p:nvPr/>
        </p:nvSpPr>
        <p:spPr>
          <a:xfrm>
            <a:off x="4983480" y="2103120"/>
            <a:ext cx="2239920" cy="1325520"/>
          </a:xfrm>
          <a:prstGeom prst="roundRect">
            <a:avLst>
              <a:gd fmla="val 16667" name="adj"/>
            </a:avLst>
          </a:prstGeom>
          <a:solidFill>
            <a:srgbClr val="E7F1F9"/>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6"/>
          <p:cNvSpPr/>
          <p:nvPr/>
        </p:nvSpPr>
        <p:spPr>
          <a:xfrm>
            <a:off x="5074920" y="2185560"/>
            <a:ext cx="2057040" cy="395280"/>
          </a:xfrm>
          <a:prstGeom prst="rect">
            <a:avLst/>
          </a:prstGeom>
          <a:noFill/>
          <a:ln>
            <a:noFill/>
          </a:ln>
        </p:spPr>
        <p:txBody>
          <a:bodyPr anchorCtr="0" anchor="t" bIns="45000" lIns="36700" spcFirstLastPara="1" rIns="36700" wrap="square" tIns="45000">
            <a:spAutoFit/>
          </a:bodyPr>
          <a:lstStyle/>
          <a:p>
            <a:pPr indent="0" lvl="0" marL="0" marR="0" rtl="0" algn="ctr">
              <a:lnSpc>
                <a:spcPct val="100000"/>
              </a:lnSpc>
              <a:spcBef>
                <a:spcPts val="0"/>
              </a:spcBef>
              <a:spcAft>
                <a:spcPts val="0"/>
              </a:spcAft>
              <a:buNone/>
            </a:pPr>
            <a:r>
              <a:rPr b="1" i="0" lang="en-US" sz="2000" u="none" cap="none" strike="noStrike">
                <a:solidFill>
                  <a:srgbClr val="12496F"/>
                </a:solidFill>
                <a:latin typeface="Arial"/>
                <a:ea typeface="Arial"/>
                <a:cs typeface="Arial"/>
                <a:sym typeface="Arial"/>
              </a:rPr>
              <a:t>SWITCH</a:t>
            </a:r>
            <a:endParaRPr b="0" i="0" sz="2000" u="none" cap="none" strike="noStrike">
              <a:latin typeface="Arial"/>
              <a:ea typeface="Arial"/>
              <a:cs typeface="Arial"/>
              <a:sym typeface="Arial"/>
            </a:endParaRPr>
          </a:p>
        </p:txBody>
      </p:sp>
      <p:sp>
        <p:nvSpPr>
          <p:cNvPr id="468" name="Google Shape;468;p6"/>
          <p:cNvSpPr/>
          <p:nvPr/>
        </p:nvSpPr>
        <p:spPr>
          <a:xfrm>
            <a:off x="5093280" y="2633400"/>
            <a:ext cx="2020320" cy="710280"/>
          </a:xfrm>
          <a:prstGeom prst="rect">
            <a:avLst/>
          </a:prstGeom>
          <a:noFill/>
          <a:ln>
            <a:noFill/>
          </a:ln>
        </p:spPr>
        <p:txBody>
          <a:bodyPr anchorCtr="0" anchor="t" bIns="45000" lIns="36700" spcFirstLastPara="1" rIns="36700" wrap="square" tIns="45000">
            <a:spAutoFit/>
          </a:bodyPr>
          <a:lstStyle/>
          <a:p>
            <a:pPr indent="0" lvl="0" marL="0" marR="0" rtl="0" algn="ctr">
              <a:lnSpc>
                <a:spcPct val="100000"/>
              </a:lnSpc>
              <a:spcBef>
                <a:spcPts val="0"/>
              </a:spcBef>
              <a:spcAft>
                <a:spcPts val="0"/>
              </a:spcAft>
              <a:buNone/>
            </a:pPr>
            <a:r>
              <a:rPr b="0" i="0" lang="en-US" sz="1700" u="none" cap="none" strike="noStrike">
                <a:solidFill>
                  <a:srgbClr val="26303A"/>
                </a:solidFill>
                <a:latin typeface="Arial"/>
                <a:ea typeface="Arial"/>
                <a:cs typeface="Arial"/>
                <a:sym typeface="Arial"/>
              </a:rPr>
              <a:t>P1 ↔ AA:AA</a:t>
            </a:r>
            <a:endParaRPr b="0" i="0" sz="1700" u="none" cap="none" strike="noStrike">
              <a:latin typeface="Arial"/>
              <a:ea typeface="Arial"/>
              <a:cs typeface="Arial"/>
              <a:sym typeface="Arial"/>
            </a:endParaRPr>
          </a:p>
          <a:p>
            <a:pPr indent="0" lvl="0" marL="0" marR="0" rtl="0" algn="ctr">
              <a:lnSpc>
                <a:spcPct val="100000"/>
              </a:lnSpc>
              <a:spcBef>
                <a:spcPts val="799"/>
              </a:spcBef>
              <a:spcAft>
                <a:spcPts val="0"/>
              </a:spcAft>
              <a:buNone/>
            </a:pPr>
            <a:r>
              <a:rPr b="0" i="0" lang="en-US" sz="1700" u="none" cap="none" strike="noStrike">
                <a:solidFill>
                  <a:srgbClr val="26303A"/>
                </a:solidFill>
                <a:latin typeface="Arial"/>
                <a:ea typeface="Arial"/>
                <a:cs typeface="Arial"/>
                <a:sym typeface="Arial"/>
              </a:rPr>
              <a:t>P2 ↔ BB:BB</a:t>
            </a:r>
            <a:endParaRPr b="0" i="0" sz="1700" u="none" cap="none" strike="noStrike">
              <a:latin typeface="Arial"/>
              <a:ea typeface="Arial"/>
              <a:cs typeface="Arial"/>
              <a:sym typeface="Arial"/>
            </a:endParaRPr>
          </a:p>
        </p:txBody>
      </p:sp>
      <p:sp>
        <p:nvSpPr>
          <p:cNvPr id="469" name="Google Shape;469;p6"/>
          <p:cNvSpPr/>
          <p:nvPr/>
        </p:nvSpPr>
        <p:spPr>
          <a:xfrm>
            <a:off x="9189720" y="2103120"/>
            <a:ext cx="2194200" cy="1325520"/>
          </a:xfrm>
          <a:prstGeom prst="roundRect">
            <a:avLst>
              <a:gd fmla="val 16667" name="adj"/>
            </a:avLst>
          </a:prstGeom>
          <a:solidFill>
            <a:srgbClr val="EBF5EB"/>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6"/>
          <p:cNvSpPr/>
          <p:nvPr/>
        </p:nvSpPr>
        <p:spPr>
          <a:xfrm>
            <a:off x="9281160" y="2185560"/>
            <a:ext cx="2011320" cy="395280"/>
          </a:xfrm>
          <a:prstGeom prst="rect">
            <a:avLst/>
          </a:prstGeom>
          <a:noFill/>
          <a:ln>
            <a:noFill/>
          </a:ln>
        </p:spPr>
        <p:txBody>
          <a:bodyPr anchorCtr="0" anchor="t" bIns="45000" lIns="36700" spcFirstLastPara="1" rIns="36700" wrap="square" tIns="45000">
            <a:spAutoFit/>
          </a:bodyPr>
          <a:lstStyle/>
          <a:p>
            <a:pPr indent="0" lvl="0" marL="0" marR="0" rtl="0" algn="ctr">
              <a:lnSpc>
                <a:spcPct val="100000"/>
              </a:lnSpc>
              <a:spcBef>
                <a:spcPts val="0"/>
              </a:spcBef>
              <a:spcAft>
                <a:spcPts val="0"/>
              </a:spcAft>
              <a:buNone/>
            </a:pPr>
            <a:r>
              <a:rPr b="1" i="0" lang="en-US" sz="2000" u="none" cap="none" strike="noStrike">
                <a:solidFill>
                  <a:srgbClr val="12496F"/>
                </a:solidFill>
                <a:latin typeface="Arial"/>
                <a:ea typeface="Arial"/>
                <a:cs typeface="Arial"/>
                <a:sym typeface="Arial"/>
              </a:rPr>
              <a:t>PC-B</a:t>
            </a:r>
            <a:endParaRPr b="0" i="0" sz="2000" u="none" cap="none" strike="noStrike">
              <a:latin typeface="Arial"/>
              <a:ea typeface="Arial"/>
              <a:cs typeface="Arial"/>
              <a:sym typeface="Arial"/>
            </a:endParaRPr>
          </a:p>
        </p:txBody>
      </p:sp>
      <p:sp>
        <p:nvSpPr>
          <p:cNvPr id="471" name="Google Shape;471;p6"/>
          <p:cNvSpPr/>
          <p:nvPr/>
        </p:nvSpPr>
        <p:spPr>
          <a:xfrm>
            <a:off x="9299520" y="2633400"/>
            <a:ext cx="1974600" cy="349560"/>
          </a:xfrm>
          <a:prstGeom prst="rect">
            <a:avLst/>
          </a:prstGeom>
          <a:noFill/>
          <a:ln>
            <a:noFill/>
          </a:ln>
        </p:spPr>
        <p:txBody>
          <a:bodyPr anchorCtr="0" anchor="t" bIns="45000" lIns="36700" spcFirstLastPara="1" rIns="36700" wrap="square" tIns="45000">
            <a:spAutoFit/>
          </a:bodyPr>
          <a:lstStyle/>
          <a:p>
            <a:pPr indent="0" lvl="0" marL="0" marR="0" rtl="0" algn="ctr">
              <a:lnSpc>
                <a:spcPct val="100000"/>
              </a:lnSpc>
              <a:spcBef>
                <a:spcPts val="0"/>
              </a:spcBef>
              <a:spcAft>
                <a:spcPts val="0"/>
              </a:spcAft>
              <a:buNone/>
            </a:pPr>
            <a:r>
              <a:rPr b="0" i="0" lang="en-US" sz="1700" u="none" cap="none" strike="noStrike">
                <a:solidFill>
                  <a:srgbClr val="26303A"/>
                </a:solidFill>
                <a:latin typeface="Arial"/>
                <a:ea typeface="Arial"/>
                <a:cs typeface="Arial"/>
                <a:sym typeface="Arial"/>
              </a:rPr>
              <a:t>MAC BB:BB</a:t>
            </a:r>
            <a:endParaRPr b="0" i="0" sz="1700" u="none" cap="none" strike="noStrike">
              <a:latin typeface="Arial"/>
              <a:ea typeface="Arial"/>
              <a:cs typeface="Arial"/>
              <a:sym typeface="Arial"/>
            </a:endParaRPr>
          </a:p>
        </p:txBody>
      </p:sp>
      <p:sp>
        <p:nvSpPr>
          <p:cNvPr id="472" name="Google Shape;472;p6"/>
          <p:cNvSpPr/>
          <p:nvPr/>
        </p:nvSpPr>
        <p:spPr>
          <a:xfrm>
            <a:off x="3403728" y="4108319"/>
            <a:ext cx="5408400" cy="2048100"/>
          </a:xfrm>
          <a:prstGeom prst="roundRect">
            <a:avLst>
              <a:gd fmla="val 16667" name="adj"/>
            </a:avLst>
          </a:prstGeom>
          <a:solidFill>
            <a:srgbClr val="F3ECF9"/>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lang="en-US" sz="1100">
                <a:solidFill>
                  <a:srgbClr val="1F1F1F"/>
                </a:solidFill>
                <a:latin typeface="Roboto"/>
                <a:ea typeface="Roboto"/>
                <a:cs typeface="Roboto"/>
                <a:sym typeface="Roboto"/>
              </a:rPr>
              <a:t>El switch examina la MAC de origen de la trama entrante y la asocia al puerto de entrada en su tabla MAC</a:t>
            </a:r>
            <a:r>
              <a:rPr lang="en-US" sz="1100">
                <a:solidFill>
                  <a:schemeClr val="dk1"/>
                </a:solidFill>
              </a:rPr>
              <a:t> </a:t>
            </a:r>
            <a:endParaRPr sz="12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h3173d30833cc6355_14_0"/>
          <p:cNvSpPr/>
          <p:nvPr/>
        </p:nvSpPr>
        <p:spPr>
          <a:xfrm>
            <a:off x="0" y="0"/>
            <a:ext cx="12191400" cy="658200"/>
          </a:xfrm>
          <a:prstGeom prst="rect">
            <a:avLst/>
          </a:prstGeom>
          <a:solidFill>
            <a:srgbClr val="12496F"/>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h3173d30833cc6355_14_0"/>
          <p:cNvSpPr/>
          <p:nvPr/>
        </p:nvSpPr>
        <p:spPr>
          <a:xfrm>
            <a:off x="567000" y="82440"/>
            <a:ext cx="10972500" cy="4560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i="0" lang="en-US" sz="2400" u="none" cap="none" strike="noStrike">
                <a:solidFill>
                  <a:srgbClr val="FFFFFF"/>
                </a:solidFill>
                <a:latin typeface="Arial"/>
                <a:ea typeface="Arial"/>
                <a:cs typeface="Arial"/>
                <a:sym typeface="Arial"/>
              </a:rPr>
              <a:t>5.1 · </a:t>
            </a:r>
            <a:r>
              <a:rPr b="1" lang="en-US" sz="2400">
                <a:solidFill>
                  <a:srgbClr val="FFFFFF"/>
                </a:solidFill>
              </a:rPr>
              <a:t>FASES EN EL PROCESO DE </a:t>
            </a:r>
            <a:r>
              <a:rPr b="1" lang="en-US" sz="2400">
                <a:solidFill>
                  <a:srgbClr val="FFFFFF"/>
                </a:solidFill>
              </a:rPr>
              <a:t>ENVÍO</a:t>
            </a:r>
            <a:r>
              <a:rPr b="1" lang="en-US" sz="2400">
                <a:solidFill>
                  <a:srgbClr val="FFFFFF"/>
                </a:solidFill>
              </a:rPr>
              <a:t>: </a:t>
            </a:r>
            <a:r>
              <a:rPr b="1" i="0" lang="en-US" sz="2400" u="none" cap="none" strike="noStrike">
                <a:solidFill>
                  <a:srgbClr val="FFFFFF"/>
                </a:solidFill>
                <a:latin typeface="Arial"/>
                <a:ea typeface="Arial"/>
                <a:cs typeface="Arial"/>
                <a:sym typeface="Arial"/>
              </a:rPr>
              <a:t> Denisa Caraivan.</a:t>
            </a:r>
            <a:endParaRPr b="0" i="0" sz="2400" u="none" cap="none" strike="noStrike">
              <a:latin typeface="Arial"/>
              <a:ea typeface="Arial"/>
              <a:cs typeface="Arial"/>
              <a:sym typeface="Arial"/>
            </a:endParaRPr>
          </a:p>
        </p:txBody>
      </p:sp>
      <p:sp>
        <p:nvSpPr>
          <p:cNvPr id="479" name="Google Shape;479;h3173d30833cc6355_14_0"/>
          <p:cNvSpPr txBox="1"/>
          <p:nvPr/>
        </p:nvSpPr>
        <p:spPr>
          <a:xfrm>
            <a:off x="1598600" y="840638"/>
            <a:ext cx="9018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800" u="sng">
                <a:solidFill>
                  <a:schemeClr val="hlink"/>
                </a:solidFill>
                <a:hlinkClick r:id="rId3"/>
              </a:rPr>
              <a:t>Fuente</a:t>
            </a:r>
            <a:endParaRPr b="1" sz="1800"/>
          </a:p>
        </p:txBody>
      </p:sp>
      <p:sp>
        <p:nvSpPr>
          <p:cNvPr id="480" name="Google Shape;480;h3173d30833cc6355_14_0"/>
          <p:cNvSpPr/>
          <p:nvPr/>
        </p:nvSpPr>
        <p:spPr>
          <a:xfrm>
            <a:off x="5070591" y="1934467"/>
            <a:ext cx="2050800" cy="590100"/>
          </a:xfrm>
          <a:prstGeom prst="roundRect">
            <a:avLst>
              <a:gd fmla="val 50000" name="adj"/>
            </a:avLst>
          </a:prstGeom>
          <a:solidFill>
            <a:srgbClr val="0942A1"/>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b="1" lang="en-US" sz="1300">
                <a:solidFill>
                  <a:srgbClr val="FFFFFF"/>
                </a:solidFill>
                <a:latin typeface="Roboto"/>
                <a:ea typeface="Roboto"/>
                <a:cs typeface="Roboto"/>
                <a:sym typeface="Roboto"/>
              </a:rPr>
              <a:t>¿Qué fases hay?</a:t>
            </a:r>
            <a:endParaRPr b="1" sz="1900">
              <a:solidFill>
                <a:srgbClr val="FFFFFF"/>
              </a:solidFill>
            </a:endParaRPr>
          </a:p>
        </p:txBody>
      </p:sp>
      <p:sp>
        <p:nvSpPr>
          <p:cNvPr id="481" name="Google Shape;481;h3173d30833cc6355_14_0"/>
          <p:cNvSpPr/>
          <p:nvPr/>
        </p:nvSpPr>
        <p:spPr>
          <a:xfrm>
            <a:off x="7430987" y="3134068"/>
            <a:ext cx="2050800" cy="590100"/>
          </a:xfrm>
          <a:prstGeom prst="roundRect">
            <a:avLst>
              <a:gd fmla="val 50000" name="adj"/>
            </a:avLst>
          </a:prstGeom>
          <a:solidFill>
            <a:srgbClr val="0D5CDF"/>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US" sz="1300">
                <a:solidFill>
                  <a:srgbClr val="FFFFFF"/>
                </a:solidFill>
                <a:latin typeface="Roboto"/>
                <a:ea typeface="Roboto"/>
                <a:cs typeface="Roboto"/>
                <a:sym typeface="Roboto"/>
              </a:rPr>
              <a:t>REENVIO</a:t>
            </a:r>
            <a:endParaRPr sz="1900">
              <a:solidFill>
                <a:srgbClr val="FFFFFF"/>
              </a:solidFill>
            </a:endParaRPr>
          </a:p>
        </p:txBody>
      </p:sp>
      <p:sp>
        <p:nvSpPr>
          <p:cNvPr id="482" name="Google Shape;482;h3173d30833cc6355_14_0"/>
          <p:cNvSpPr/>
          <p:nvPr/>
        </p:nvSpPr>
        <p:spPr>
          <a:xfrm>
            <a:off x="2710196" y="3134068"/>
            <a:ext cx="2050800" cy="590100"/>
          </a:xfrm>
          <a:prstGeom prst="roundRect">
            <a:avLst>
              <a:gd fmla="val 50000" name="adj"/>
            </a:avLst>
          </a:prstGeom>
          <a:solidFill>
            <a:srgbClr val="0D5CDF"/>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US" sz="1300">
                <a:solidFill>
                  <a:srgbClr val="FFFFFF"/>
                </a:solidFill>
                <a:latin typeface="Roboto"/>
                <a:ea typeface="Roboto"/>
                <a:cs typeface="Roboto"/>
                <a:sym typeface="Roboto"/>
              </a:rPr>
              <a:t>APRENDIZAJE </a:t>
            </a:r>
            <a:endParaRPr sz="1900">
              <a:solidFill>
                <a:srgbClr val="FFFFFF"/>
              </a:solidFill>
            </a:endParaRPr>
          </a:p>
        </p:txBody>
      </p:sp>
      <p:sp>
        <p:nvSpPr>
          <p:cNvPr id="483" name="Google Shape;483;h3173d30833cc6355_14_0"/>
          <p:cNvSpPr/>
          <p:nvPr/>
        </p:nvSpPr>
        <p:spPr>
          <a:xfrm>
            <a:off x="1583200" y="4333670"/>
            <a:ext cx="2050800" cy="590100"/>
          </a:xfrm>
          <a:prstGeom prst="roundRect">
            <a:avLst>
              <a:gd fmla="val 50000" name="adj"/>
            </a:avLst>
          </a:prstGeom>
          <a:solidFill>
            <a:srgbClr val="307AF3"/>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US" sz="1300">
                <a:solidFill>
                  <a:srgbClr val="FFFFFF"/>
                </a:solidFill>
                <a:latin typeface="Roboto"/>
                <a:ea typeface="Roboto"/>
                <a:cs typeface="Roboto"/>
                <a:sym typeface="Roboto"/>
              </a:rPr>
              <a:t>Dirección</a:t>
            </a:r>
            <a:r>
              <a:rPr lang="en-US" sz="1300">
                <a:solidFill>
                  <a:srgbClr val="FFFFFF"/>
                </a:solidFill>
                <a:latin typeface="Roboto"/>
                <a:ea typeface="Roboto"/>
                <a:cs typeface="Roboto"/>
                <a:sym typeface="Roboto"/>
              </a:rPr>
              <a:t> de origen.</a:t>
            </a:r>
            <a:endParaRPr sz="1900">
              <a:solidFill>
                <a:srgbClr val="FFFFFF"/>
              </a:solidFill>
            </a:endParaRPr>
          </a:p>
        </p:txBody>
      </p:sp>
      <p:sp>
        <p:nvSpPr>
          <p:cNvPr id="484" name="Google Shape;484;h3173d30833cc6355_14_0"/>
          <p:cNvSpPr/>
          <p:nvPr/>
        </p:nvSpPr>
        <p:spPr>
          <a:xfrm>
            <a:off x="3837191" y="4333670"/>
            <a:ext cx="2050800" cy="590100"/>
          </a:xfrm>
          <a:prstGeom prst="roundRect">
            <a:avLst>
              <a:gd fmla="val 50000" name="adj"/>
            </a:avLst>
          </a:prstGeom>
          <a:solidFill>
            <a:srgbClr val="307AF3"/>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US" sz="1300">
                <a:solidFill>
                  <a:srgbClr val="FFFFFF"/>
                </a:solidFill>
                <a:latin typeface="Roboto"/>
                <a:ea typeface="Roboto"/>
                <a:cs typeface="Roboto"/>
                <a:sym typeface="Roboto"/>
              </a:rPr>
              <a:t>Apunta en su tabla MAC.</a:t>
            </a:r>
            <a:endParaRPr sz="1900">
              <a:solidFill>
                <a:srgbClr val="FFFFFF"/>
              </a:solidFill>
            </a:endParaRPr>
          </a:p>
        </p:txBody>
      </p:sp>
      <p:sp>
        <p:nvSpPr>
          <p:cNvPr id="485" name="Google Shape;485;h3173d30833cc6355_14_0"/>
          <p:cNvSpPr/>
          <p:nvPr/>
        </p:nvSpPr>
        <p:spPr>
          <a:xfrm>
            <a:off x="6304000" y="4333670"/>
            <a:ext cx="2050800" cy="590100"/>
          </a:xfrm>
          <a:prstGeom prst="roundRect">
            <a:avLst>
              <a:gd fmla="val 50000" name="adj"/>
            </a:avLst>
          </a:prstGeom>
          <a:solidFill>
            <a:srgbClr val="307AF3"/>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US" sz="1300">
                <a:solidFill>
                  <a:srgbClr val="FFFFFF"/>
                </a:solidFill>
                <a:latin typeface="Roboto"/>
                <a:ea typeface="Roboto"/>
                <a:cs typeface="Roboto"/>
                <a:sym typeface="Roboto"/>
              </a:rPr>
              <a:t>Dirección de destino.</a:t>
            </a:r>
            <a:endParaRPr sz="1900">
              <a:solidFill>
                <a:srgbClr val="FFFFFF"/>
              </a:solidFill>
            </a:endParaRPr>
          </a:p>
        </p:txBody>
      </p:sp>
      <p:sp>
        <p:nvSpPr>
          <p:cNvPr id="486" name="Google Shape;486;h3173d30833cc6355_14_0"/>
          <p:cNvSpPr/>
          <p:nvPr/>
        </p:nvSpPr>
        <p:spPr>
          <a:xfrm>
            <a:off x="8557991" y="4333670"/>
            <a:ext cx="2050800" cy="590100"/>
          </a:xfrm>
          <a:prstGeom prst="roundRect">
            <a:avLst>
              <a:gd fmla="val 50000" name="adj"/>
            </a:avLst>
          </a:prstGeom>
          <a:solidFill>
            <a:srgbClr val="307AF3"/>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US" sz="1300">
                <a:solidFill>
                  <a:srgbClr val="FFFFFF"/>
                </a:solidFill>
                <a:latin typeface="Roboto"/>
                <a:ea typeface="Roboto"/>
                <a:cs typeface="Roboto"/>
                <a:sym typeface="Roboto"/>
              </a:rPr>
              <a:t>¿Está registrado?</a:t>
            </a:r>
            <a:endParaRPr sz="1900">
              <a:solidFill>
                <a:srgbClr val="FFFFFF"/>
              </a:solidFill>
            </a:endParaRPr>
          </a:p>
        </p:txBody>
      </p:sp>
      <p:cxnSp>
        <p:nvCxnSpPr>
          <p:cNvPr id="487" name="Google Shape;487;h3173d30833cc6355_14_0"/>
          <p:cNvCxnSpPr>
            <a:stCxn id="480" idx="2"/>
            <a:endCxn id="481" idx="0"/>
          </p:cNvCxnSpPr>
          <p:nvPr/>
        </p:nvCxnSpPr>
        <p:spPr>
          <a:xfrm flipH="1" rot="-5400000">
            <a:off x="6971391" y="1649167"/>
            <a:ext cx="609600" cy="2360400"/>
          </a:xfrm>
          <a:prstGeom prst="bentConnector3">
            <a:avLst>
              <a:gd fmla="val 50000" name="adj1"/>
            </a:avLst>
          </a:prstGeom>
          <a:noFill/>
          <a:ln cap="flat" cmpd="sng" w="9525">
            <a:solidFill>
              <a:srgbClr val="C2C2C2"/>
            </a:solidFill>
            <a:prstDash val="solid"/>
            <a:round/>
            <a:headEnd len="sm" w="sm" type="none"/>
            <a:tailEnd len="sm" w="sm" type="none"/>
          </a:ln>
        </p:spPr>
      </p:cxnSp>
      <p:cxnSp>
        <p:nvCxnSpPr>
          <p:cNvPr id="488" name="Google Shape;488;h3173d30833cc6355_14_0"/>
          <p:cNvCxnSpPr>
            <a:stCxn id="482" idx="0"/>
            <a:endCxn id="480" idx="2"/>
          </p:cNvCxnSpPr>
          <p:nvPr/>
        </p:nvCxnSpPr>
        <p:spPr>
          <a:xfrm rot="-5400000">
            <a:off x="4610996" y="1649069"/>
            <a:ext cx="609600" cy="2360400"/>
          </a:xfrm>
          <a:prstGeom prst="bentConnector3">
            <a:avLst>
              <a:gd fmla="val 50000" name="adj1"/>
            </a:avLst>
          </a:prstGeom>
          <a:noFill/>
          <a:ln cap="flat" cmpd="sng" w="9525">
            <a:solidFill>
              <a:srgbClr val="C2C2C2"/>
            </a:solidFill>
            <a:prstDash val="solid"/>
            <a:round/>
            <a:headEnd len="sm" w="sm" type="none"/>
            <a:tailEnd len="sm" w="sm" type="none"/>
          </a:ln>
        </p:spPr>
      </p:cxnSp>
      <p:cxnSp>
        <p:nvCxnSpPr>
          <p:cNvPr id="489" name="Google Shape;489;h3173d30833cc6355_14_0"/>
          <p:cNvCxnSpPr>
            <a:stCxn id="482" idx="2"/>
            <a:endCxn id="484" idx="0"/>
          </p:cNvCxnSpPr>
          <p:nvPr/>
        </p:nvCxnSpPr>
        <p:spPr>
          <a:xfrm flipH="1" rot="-5400000">
            <a:off x="3994346" y="3465418"/>
            <a:ext cx="609600" cy="1127100"/>
          </a:xfrm>
          <a:prstGeom prst="bentConnector3">
            <a:avLst>
              <a:gd fmla="val 50000" name="adj1"/>
            </a:avLst>
          </a:prstGeom>
          <a:noFill/>
          <a:ln cap="flat" cmpd="sng" w="9525">
            <a:solidFill>
              <a:srgbClr val="C2C2C2"/>
            </a:solidFill>
            <a:prstDash val="solid"/>
            <a:round/>
            <a:headEnd len="sm" w="sm" type="none"/>
            <a:tailEnd len="sm" w="sm" type="none"/>
          </a:ln>
        </p:spPr>
      </p:cxnSp>
      <p:cxnSp>
        <p:nvCxnSpPr>
          <p:cNvPr id="490" name="Google Shape;490;h3173d30833cc6355_14_0"/>
          <p:cNvCxnSpPr>
            <a:stCxn id="483" idx="0"/>
            <a:endCxn id="482" idx="2"/>
          </p:cNvCxnSpPr>
          <p:nvPr/>
        </p:nvCxnSpPr>
        <p:spPr>
          <a:xfrm rot="-5400000">
            <a:off x="2867350" y="3465320"/>
            <a:ext cx="609600" cy="1127100"/>
          </a:xfrm>
          <a:prstGeom prst="bentConnector3">
            <a:avLst>
              <a:gd fmla="val 50000" name="adj1"/>
            </a:avLst>
          </a:prstGeom>
          <a:noFill/>
          <a:ln cap="flat" cmpd="sng" w="9525">
            <a:solidFill>
              <a:srgbClr val="C2C2C2"/>
            </a:solidFill>
            <a:prstDash val="solid"/>
            <a:round/>
            <a:headEnd len="sm" w="sm" type="none"/>
            <a:tailEnd len="sm" w="sm" type="none"/>
          </a:ln>
        </p:spPr>
      </p:cxnSp>
      <p:cxnSp>
        <p:nvCxnSpPr>
          <p:cNvPr id="491" name="Google Shape;491;h3173d30833cc6355_14_0"/>
          <p:cNvCxnSpPr>
            <a:stCxn id="481" idx="2"/>
            <a:endCxn id="486" idx="0"/>
          </p:cNvCxnSpPr>
          <p:nvPr/>
        </p:nvCxnSpPr>
        <p:spPr>
          <a:xfrm flipH="1" rot="-5400000">
            <a:off x="8715137" y="3465418"/>
            <a:ext cx="609600" cy="1127100"/>
          </a:xfrm>
          <a:prstGeom prst="bentConnector3">
            <a:avLst>
              <a:gd fmla="val 50000" name="adj1"/>
            </a:avLst>
          </a:prstGeom>
          <a:noFill/>
          <a:ln cap="flat" cmpd="sng" w="9525">
            <a:solidFill>
              <a:srgbClr val="C2C2C2"/>
            </a:solidFill>
            <a:prstDash val="solid"/>
            <a:round/>
            <a:headEnd len="sm" w="sm" type="none"/>
            <a:tailEnd len="sm" w="sm" type="none"/>
          </a:ln>
        </p:spPr>
      </p:cxnSp>
      <p:cxnSp>
        <p:nvCxnSpPr>
          <p:cNvPr id="492" name="Google Shape;492;h3173d30833cc6355_14_0"/>
          <p:cNvCxnSpPr>
            <a:stCxn id="485" idx="0"/>
            <a:endCxn id="481" idx="2"/>
          </p:cNvCxnSpPr>
          <p:nvPr/>
        </p:nvCxnSpPr>
        <p:spPr>
          <a:xfrm rot="-5400000">
            <a:off x="7588150" y="3465320"/>
            <a:ext cx="609600" cy="1127100"/>
          </a:xfrm>
          <a:prstGeom prst="bentConnector3">
            <a:avLst>
              <a:gd fmla="val 50000" name="adj1"/>
            </a:avLst>
          </a:prstGeom>
          <a:noFill/>
          <a:ln cap="flat" cmpd="sng" w="9525">
            <a:solidFill>
              <a:srgbClr val="C2C2C2"/>
            </a:solidFill>
            <a:prstDash val="solid"/>
            <a:round/>
            <a:headEnd len="sm" w="sm" type="none"/>
            <a:tailEnd len="sm" w="sm" type="none"/>
          </a:ln>
        </p:spPr>
      </p:cxnSp>
      <p:cxnSp>
        <p:nvCxnSpPr>
          <p:cNvPr id="493" name="Google Shape;493;h3173d30833cc6355_14_0"/>
          <p:cNvCxnSpPr/>
          <p:nvPr/>
        </p:nvCxnSpPr>
        <p:spPr>
          <a:xfrm rot="-5400000">
            <a:off x="8715125" y="4698608"/>
            <a:ext cx="609600" cy="1127100"/>
          </a:xfrm>
          <a:prstGeom prst="bentConnector3">
            <a:avLst>
              <a:gd fmla="val 50000" name="adj1"/>
            </a:avLst>
          </a:prstGeom>
          <a:noFill/>
          <a:ln cap="flat" cmpd="sng" w="9525">
            <a:solidFill>
              <a:srgbClr val="C2C2C2"/>
            </a:solidFill>
            <a:prstDash val="solid"/>
            <a:round/>
            <a:headEnd len="sm" w="sm" type="none"/>
            <a:tailEnd len="sm" w="sm" type="none"/>
          </a:ln>
        </p:spPr>
      </p:cxnSp>
      <p:sp>
        <p:nvSpPr>
          <p:cNvPr id="494" name="Google Shape;494;h3173d30833cc6355_14_0"/>
          <p:cNvSpPr/>
          <p:nvPr/>
        </p:nvSpPr>
        <p:spPr>
          <a:xfrm>
            <a:off x="7329401" y="5533278"/>
            <a:ext cx="2152500" cy="986400"/>
          </a:xfrm>
          <a:prstGeom prst="roundRect">
            <a:avLst>
              <a:gd fmla="val 50000" name="adj"/>
            </a:avLst>
          </a:prstGeom>
          <a:solidFill>
            <a:srgbClr val="307AF3"/>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US" sz="1300">
                <a:solidFill>
                  <a:srgbClr val="FFFFFF"/>
                </a:solidFill>
                <a:latin typeface="Roboto"/>
                <a:ea typeface="Roboto"/>
                <a:cs typeface="Roboto"/>
                <a:sym typeface="Roboto"/>
              </a:rPr>
              <a:t>Si está registrado sabe dónde mandar la información</a:t>
            </a:r>
            <a:endParaRPr sz="1900">
              <a:solidFill>
                <a:srgbClr val="FFFFFF"/>
              </a:solidFill>
            </a:endParaRPr>
          </a:p>
        </p:txBody>
      </p:sp>
      <p:cxnSp>
        <p:nvCxnSpPr>
          <p:cNvPr id="495" name="Google Shape;495;h3173d30833cc6355_14_0"/>
          <p:cNvCxnSpPr/>
          <p:nvPr/>
        </p:nvCxnSpPr>
        <p:spPr>
          <a:xfrm flipH="1" rot="-5400000">
            <a:off x="9842237" y="4698594"/>
            <a:ext cx="609600" cy="1127100"/>
          </a:xfrm>
          <a:prstGeom prst="bentConnector3">
            <a:avLst>
              <a:gd fmla="val 50000" name="adj1"/>
            </a:avLst>
          </a:prstGeom>
          <a:noFill/>
          <a:ln cap="flat" cmpd="sng" w="9525">
            <a:solidFill>
              <a:srgbClr val="C2C2C2"/>
            </a:solidFill>
            <a:prstDash val="solid"/>
            <a:round/>
            <a:headEnd len="sm" w="sm" type="none"/>
            <a:tailEnd len="sm" w="sm" type="none"/>
          </a:ln>
        </p:spPr>
      </p:cxnSp>
      <p:sp>
        <p:nvSpPr>
          <p:cNvPr id="496" name="Google Shape;496;h3173d30833cc6355_14_0"/>
          <p:cNvSpPr/>
          <p:nvPr/>
        </p:nvSpPr>
        <p:spPr>
          <a:xfrm>
            <a:off x="9481776" y="5454328"/>
            <a:ext cx="2360400" cy="986400"/>
          </a:xfrm>
          <a:prstGeom prst="roundRect">
            <a:avLst>
              <a:gd fmla="val 50000" name="adj"/>
            </a:avLst>
          </a:prstGeom>
          <a:solidFill>
            <a:srgbClr val="307AF3"/>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US" sz="1300">
                <a:solidFill>
                  <a:srgbClr val="FFFFFF"/>
                </a:solidFill>
                <a:latin typeface="Roboto"/>
                <a:ea typeface="Roboto"/>
                <a:cs typeface="Roboto"/>
                <a:sym typeface="Roboto"/>
              </a:rPr>
              <a:t>Si no está registrado, difunde la trama por los demás puertos </a:t>
            </a:r>
            <a:r>
              <a:rPr lang="en-US" sz="1300">
                <a:solidFill>
                  <a:srgbClr val="FFFFFF"/>
                </a:solidFill>
                <a:latin typeface="Roboto"/>
                <a:ea typeface="Roboto"/>
                <a:cs typeface="Roboto"/>
                <a:sym typeface="Roboto"/>
              </a:rPr>
              <a:t>VLAN</a:t>
            </a:r>
            <a:r>
              <a:rPr lang="en-US" sz="1300">
                <a:solidFill>
                  <a:srgbClr val="FFFFFF"/>
                </a:solidFill>
                <a:latin typeface="Roboto"/>
                <a:ea typeface="Roboto"/>
                <a:cs typeface="Roboto"/>
                <a:sym typeface="Roboto"/>
              </a:rPr>
              <a:t>.</a:t>
            </a:r>
            <a:endParaRPr sz="1900">
              <a:solidFill>
                <a:srgbClr val="FFFFFF"/>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h3173d30833cc6355_14_283"/>
          <p:cNvSpPr/>
          <p:nvPr/>
        </p:nvSpPr>
        <p:spPr>
          <a:xfrm>
            <a:off x="0" y="0"/>
            <a:ext cx="12191400" cy="658200"/>
          </a:xfrm>
          <a:prstGeom prst="rect">
            <a:avLst/>
          </a:prstGeom>
          <a:solidFill>
            <a:srgbClr val="12496F"/>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h3173d30833cc6355_14_283"/>
          <p:cNvSpPr/>
          <p:nvPr/>
        </p:nvSpPr>
        <p:spPr>
          <a:xfrm>
            <a:off x="567000" y="82440"/>
            <a:ext cx="10972500" cy="4560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i="0" lang="en-US" sz="2400" u="none" cap="none" strike="noStrike">
                <a:solidFill>
                  <a:srgbClr val="FFFFFF"/>
                </a:solidFill>
                <a:latin typeface="Arial"/>
                <a:ea typeface="Arial"/>
                <a:cs typeface="Arial"/>
                <a:sym typeface="Arial"/>
              </a:rPr>
              <a:t>5.</a:t>
            </a:r>
            <a:r>
              <a:rPr b="1" lang="en-US" sz="2400">
                <a:solidFill>
                  <a:srgbClr val="FFFFFF"/>
                </a:solidFill>
              </a:rPr>
              <a:t>2</a:t>
            </a:r>
            <a:r>
              <a:rPr b="1" i="0" lang="en-US" sz="2400" u="none" cap="none" strike="noStrike">
                <a:solidFill>
                  <a:srgbClr val="FFFFFF"/>
                </a:solidFill>
                <a:latin typeface="Arial"/>
                <a:ea typeface="Arial"/>
                <a:cs typeface="Arial"/>
                <a:sym typeface="Arial"/>
              </a:rPr>
              <a:t> ·</a:t>
            </a:r>
            <a:r>
              <a:rPr b="1" lang="en-US" sz="2400">
                <a:solidFill>
                  <a:srgbClr val="FFFFFF"/>
                </a:solidFill>
              </a:rPr>
              <a:t>CONCEPTOS COMPLEMENTARIOS:</a:t>
            </a:r>
            <a:r>
              <a:rPr b="1" lang="en-US" sz="2400">
                <a:solidFill>
                  <a:srgbClr val="FFFFFF"/>
                </a:solidFill>
              </a:rPr>
              <a:t> </a:t>
            </a:r>
            <a:r>
              <a:rPr b="1" i="0" lang="en-US" sz="2400" u="none" cap="none" strike="noStrike">
                <a:solidFill>
                  <a:srgbClr val="FFFFFF"/>
                </a:solidFill>
                <a:latin typeface="Arial"/>
                <a:ea typeface="Arial"/>
                <a:cs typeface="Arial"/>
                <a:sym typeface="Arial"/>
              </a:rPr>
              <a:t> Denisa Caraivan.</a:t>
            </a:r>
            <a:endParaRPr b="0" i="0" sz="2400" u="none" cap="none" strike="noStrike">
              <a:latin typeface="Arial"/>
              <a:ea typeface="Arial"/>
              <a:cs typeface="Arial"/>
              <a:sym typeface="Arial"/>
            </a:endParaRPr>
          </a:p>
        </p:txBody>
      </p:sp>
      <p:sp>
        <p:nvSpPr>
          <p:cNvPr id="503" name="Google Shape;503;h3173d30833cc6355_14_283"/>
          <p:cNvSpPr txBox="1"/>
          <p:nvPr/>
        </p:nvSpPr>
        <p:spPr>
          <a:xfrm>
            <a:off x="1598600" y="840638"/>
            <a:ext cx="9018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b="1" sz="1800"/>
          </a:p>
        </p:txBody>
      </p:sp>
      <p:sp>
        <p:nvSpPr>
          <p:cNvPr id="504" name="Google Shape;504;h3173d30833cc6355_14_283"/>
          <p:cNvSpPr txBox="1"/>
          <p:nvPr>
            <p:ph type="title"/>
          </p:nvPr>
        </p:nvSpPr>
        <p:spPr>
          <a:xfrm>
            <a:off x="609475" y="538450"/>
            <a:ext cx="10972200" cy="8799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b="1" lang="en-US">
                <a:solidFill>
                  <a:srgbClr val="1155CC"/>
                </a:solidFill>
              </a:rPr>
              <a:t>CADUCIDAD Y CAPA DE ENLACE DE DATOS</a:t>
            </a:r>
            <a:endParaRPr b="1">
              <a:solidFill>
                <a:srgbClr val="1155CC"/>
              </a:solidFill>
            </a:endParaRPr>
          </a:p>
        </p:txBody>
      </p:sp>
      <p:sp>
        <p:nvSpPr>
          <p:cNvPr id="505" name="Google Shape;505;h3173d30833cc6355_14_283"/>
          <p:cNvSpPr/>
          <p:nvPr/>
        </p:nvSpPr>
        <p:spPr>
          <a:xfrm>
            <a:off x="594360" y="2187399"/>
            <a:ext cx="5408400" cy="2048100"/>
          </a:xfrm>
          <a:prstGeom prst="roundRect">
            <a:avLst>
              <a:gd fmla="val 16667" name="adj"/>
            </a:avLst>
          </a:prstGeom>
          <a:solidFill>
            <a:srgbClr val="E7F1F9"/>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1800">
                <a:solidFill>
                  <a:schemeClr val="dk1"/>
                </a:solidFill>
              </a:rPr>
              <a:t>Los switches necesitan adaptarse a los cambios físicos y lógicos de la red, además de prevenir el agotamiento de su memoria. Por eso mismo las tablas MAC no son eternas, por lo tanto después de un tiempo (en el cual el equipo no transmite algo) la entrada se borra. (</a:t>
            </a:r>
            <a:r>
              <a:rPr b="1" lang="en-US" sz="1800" u="sng">
                <a:solidFill>
                  <a:schemeClr val="hlink"/>
                </a:solidFill>
                <a:hlinkClick r:id="rId3"/>
              </a:rPr>
              <a:t>Enlace</a:t>
            </a:r>
            <a:r>
              <a:rPr lang="en-US" sz="1800">
                <a:solidFill>
                  <a:schemeClr val="dk1"/>
                </a:solidFill>
              </a:rPr>
              <a:t>)</a:t>
            </a:r>
            <a:endParaRPr sz="1800">
              <a:solidFill>
                <a:schemeClr val="dk1"/>
              </a:solidFill>
            </a:endParaRPr>
          </a:p>
          <a:p>
            <a:pPr indent="0" lvl="0" marL="0" rtl="0" algn="l">
              <a:spcBef>
                <a:spcPts val="0"/>
              </a:spcBef>
              <a:spcAft>
                <a:spcPts val="0"/>
              </a:spcAft>
              <a:buNone/>
            </a:pPr>
            <a:r>
              <a:t/>
            </a:r>
            <a:endParaRPr/>
          </a:p>
        </p:txBody>
      </p:sp>
      <p:sp>
        <p:nvSpPr>
          <p:cNvPr id="506" name="Google Shape;506;h3173d30833cc6355_14_283"/>
          <p:cNvSpPr/>
          <p:nvPr/>
        </p:nvSpPr>
        <p:spPr>
          <a:xfrm>
            <a:off x="6131110" y="2187399"/>
            <a:ext cx="5408400" cy="2048100"/>
          </a:xfrm>
          <a:prstGeom prst="roundRect">
            <a:avLst>
              <a:gd fmla="val 16667" name="adj"/>
            </a:avLst>
          </a:prstGeom>
          <a:solidFill>
            <a:srgbClr val="E7F1F9"/>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1800">
                <a:solidFill>
                  <a:schemeClr val="dk1"/>
                </a:solidFill>
              </a:rPr>
              <a:t>Cada tarjeta de red tiene una dirección MAC única, por lo tanto. El switch tiene todos los equipos conectados por sus puertos mediante cables, por lo tanto no le hace falta saber la dirección IP. (</a:t>
            </a:r>
            <a:r>
              <a:rPr b="1" lang="en-US" sz="1800" u="sng">
                <a:solidFill>
                  <a:schemeClr val="hlink"/>
                </a:solidFill>
                <a:hlinkClick r:id="rId4"/>
              </a:rPr>
              <a:t>Enlace</a:t>
            </a:r>
            <a:r>
              <a:rPr lang="en-US" sz="1800">
                <a:solidFill>
                  <a:schemeClr val="dk1"/>
                </a:solidFill>
              </a:rPr>
              <a:t>)</a:t>
            </a:r>
            <a:endParaRPr sz="18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1"/>
              </a:solidFill>
            </a:endParaRPr>
          </a:p>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pic>
        <p:nvPicPr>
          <p:cNvPr id="511" name="Google Shape;511;p7"/>
          <p:cNvPicPr preferRelativeResize="0"/>
          <p:nvPr/>
        </p:nvPicPr>
        <p:blipFill>
          <a:blip r:embed="rId3">
            <a:alphaModFix/>
          </a:blip>
          <a:stretch>
            <a:fillRect/>
          </a:stretch>
        </p:blipFill>
        <p:spPr>
          <a:xfrm>
            <a:off x="7357925" y="4110455"/>
            <a:ext cx="3971424" cy="2650932"/>
          </a:xfrm>
          <a:prstGeom prst="rect">
            <a:avLst/>
          </a:prstGeom>
          <a:noFill/>
          <a:ln>
            <a:noFill/>
          </a:ln>
        </p:spPr>
      </p:pic>
      <p:pic>
        <p:nvPicPr>
          <p:cNvPr id="512" name="Google Shape;512;p7"/>
          <p:cNvPicPr preferRelativeResize="0"/>
          <p:nvPr/>
        </p:nvPicPr>
        <p:blipFill>
          <a:blip r:embed="rId4">
            <a:alphaModFix/>
          </a:blip>
          <a:stretch>
            <a:fillRect/>
          </a:stretch>
        </p:blipFill>
        <p:spPr>
          <a:xfrm>
            <a:off x="2911425" y="2025849"/>
            <a:ext cx="3522674" cy="1962040"/>
          </a:xfrm>
          <a:prstGeom prst="rect">
            <a:avLst/>
          </a:prstGeom>
          <a:noFill/>
          <a:ln>
            <a:noFill/>
          </a:ln>
        </p:spPr>
      </p:pic>
      <p:sp>
        <p:nvSpPr>
          <p:cNvPr id="513" name="Google Shape;513;p7"/>
          <p:cNvSpPr/>
          <p:nvPr/>
        </p:nvSpPr>
        <p:spPr>
          <a:xfrm>
            <a:off x="0" y="0"/>
            <a:ext cx="12191400" cy="658080"/>
          </a:xfrm>
          <a:prstGeom prst="rect">
            <a:avLst/>
          </a:prstGeom>
          <a:solidFill>
            <a:srgbClr val="12496F"/>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7"/>
          <p:cNvSpPr/>
          <p:nvPr/>
        </p:nvSpPr>
        <p:spPr>
          <a:xfrm>
            <a:off x="567000" y="82440"/>
            <a:ext cx="10972440" cy="45612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1" i="0" lang="en-US" sz="2400" u="none" cap="none" strike="noStrike">
                <a:solidFill>
                  <a:srgbClr val="FFFFFF"/>
                </a:solidFill>
                <a:latin typeface="Arial"/>
                <a:ea typeface="Arial"/>
                <a:cs typeface="Arial"/>
                <a:sym typeface="Arial"/>
              </a:rPr>
              <a:t>6 · Router: cuándo es imprescindible : Carlos Clu</a:t>
            </a:r>
            <a:endParaRPr b="0" i="0" sz="2400" u="none" cap="none" strike="noStrike">
              <a:latin typeface="Arial"/>
              <a:ea typeface="Arial"/>
              <a:cs typeface="Arial"/>
              <a:sym typeface="Arial"/>
            </a:endParaRPr>
          </a:p>
        </p:txBody>
      </p:sp>
      <p:sp>
        <p:nvSpPr>
          <p:cNvPr id="515" name="Google Shape;515;p7"/>
          <p:cNvSpPr/>
          <p:nvPr/>
        </p:nvSpPr>
        <p:spPr>
          <a:xfrm>
            <a:off x="713160" y="813960"/>
            <a:ext cx="10789560" cy="44064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0" i="0" lang="en-US" sz="2300" u="none" cap="none" strike="noStrike">
                <a:solidFill>
                  <a:srgbClr val="12496F"/>
                </a:solidFill>
                <a:latin typeface="Arial"/>
                <a:ea typeface="Arial"/>
                <a:cs typeface="Arial"/>
                <a:sym typeface="Arial"/>
              </a:rPr>
              <a:t>El router conecta redes IP diferentes y decide el siguiente salto.</a:t>
            </a:r>
            <a:endParaRPr b="0" i="0" sz="2300" u="none" cap="none" strike="noStrike">
              <a:latin typeface="Arial"/>
              <a:ea typeface="Arial"/>
              <a:cs typeface="Arial"/>
              <a:sym typeface="Arial"/>
            </a:endParaRPr>
          </a:p>
        </p:txBody>
      </p:sp>
      <p:sp>
        <p:nvSpPr>
          <p:cNvPr id="516" name="Google Shape;516;p7"/>
          <p:cNvSpPr/>
          <p:nvPr/>
        </p:nvSpPr>
        <p:spPr>
          <a:xfrm>
            <a:off x="333510" y="4491460"/>
            <a:ext cx="5408400" cy="2048100"/>
          </a:xfrm>
          <a:prstGeom prst="roundRect">
            <a:avLst>
              <a:gd fmla="val 16667" name="adj"/>
            </a:avLst>
          </a:prstGeom>
          <a:solidFill>
            <a:srgbClr val="FFF2E0"/>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7"/>
          <p:cNvSpPr/>
          <p:nvPr/>
        </p:nvSpPr>
        <p:spPr>
          <a:xfrm>
            <a:off x="489030" y="4591900"/>
            <a:ext cx="5097600" cy="3954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1" i="0" lang="en-US" sz="2000" u="none" cap="none" strike="noStrike">
                <a:solidFill>
                  <a:srgbClr val="12496F"/>
                </a:solidFill>
                <a:latin typeface="Arial"/>
                <a:ea typeface="Arial"/>
                <a:cs typeface="Arial"/>
                <a:sym typeface="Arial"/>
              </a:rPr>
              <a:t>Router doméstico</a:t>
            </a:r>
            <a:endParaRPr b="0" i="0" sz="2000" u="none" cap="none" strike="noStrike">
              <a:latin typeface="Arial"/>
              <a:ea typeface="Arial"/>
              <a:cs typeface="Arial"/>
              <a:sym typeface="Arial"/>
            </a:endParaRPr>
          </a:p>
        </p:txBody>
      </p:sp>
      <p:sp>
        <p:nvSpPr>
          <p:cNvPr id="518" name="Google Shape;518;p7"/>
          <p:cNvSpPr/>
          <p:nvPr/>
        </p:nvSpPr>
        <p:spPr>
          <a:xfrm>
            <a:off x="489030" y="5085820"/>
            <a:ext cx="5097600" cy="7002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lang="en-US" sz="2000">
                <a:solidFill>
                  <a:srgbClr val="26303A"/>
                </a:solidFill>
              </a:rPr>
              <a:t>Conecta la red de tu hogar a Internet y distribuye la señal entre múltiples dispositivos (ordenadores, móviles, IoT) mediante Wi-Fi o cables Ethernet. </a:t>
            </a:r>
            <a:endParaRPr sz="2000">
              <a:solidFill>
                <a:srgbClr val="26303A"/>
              </a:solidFill>
            </a:endParaRPr>
          </a:p>
        </p:txBody>
      </p:sp>
      <p:sp>
        <p:nvSpPr>
          <p:cNvPr id="519" name="Google Shape;519;p7"/>
          <p:cNvSpPr/>
          <p:nvPr/>
        </p:nvSpPr>
        <p:spPr>
          <a:xfrm>
            <a:off x="6552050" y="1530000"/>
            <a:ext cx="5408400" cy="2908800"/>
          </a:xfrm>
          <a:prstGeom prst="roundRect">
            <a:avLst>
              <a:gd fmla="val 16667" name="adj"/>
            </a:avLst>
          </a:prstGeom>
          <a:solidFill>
            <a:srgbClr val="F3ECF9"/>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7"/>
          <p:cNvSpPr/>
          <p:nvPr/>
        </p:nvSpPr>
        <p:spPr>
          <a:xfrm>
            <a:off x="6707560" y="1630450"/>
            <a:ext cx="5097600" cy="3954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1" i="0" lang="en-US" sz="2000" u="none" cap="none" strike="noStrike">
                <a:solidFill>
                  <a:srgbClr val="12496F"/>
                </a:solidFill>
                <a:latin typeface="Arial"/>
                <a:ea typeface="Arial"/>
                <a:cs typeface="Arial"/>
                <a:sym typeface="Arial"/>
              </a:rPr>
              <a:t>No confundir</a:t>
            </a:r>
            <a:endParaRPr b="0" i="0" sz="2000" u="none" cap="none" strike="noStrike">
              <a:latin typeface="Arial"/>
              <a:ea typeface="Arial"/>
              <a:cs typeface="Arial"/>
              <a:sym typeface="Arial"/>
            </a:endParaRPr>
          </a:p>
        </p:txBody>
      </p:sp>
      <p:sp>
        <p:nvSpPr>
          <p:cNvPr id="521" name="Google Shape;521;p7"/>
          <p:cNvSpPr/>
          <p:nvPr/>
        </p:nvSpPr>
        <p:spPr>
          <a:xfrm>
            <a:off x="6707560" y="2034158"/>
            <a:ext cx="5097600" cy="7002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1" i="0" lang="en-US" sz="1800" u="none" cap="none" strike="noStrike">
                <a:solidFill>
                  <a:srgbClr val="26303A"/>
                </a:solidFill>
              </a:rPr>
              <a:t>Router:</a:t>
            </a:r>
            <a:r>
              <a:rPr b="0" i="0" lang="en-US" sz="1800" u="none" cap="none" strike="noStrike">
                <a:solidFill>
                  <a:srgbClr val="26303A"/>
                </a:solidFill>
                <a:latin typeface="Arial"/>
                <a:ea typeface="Arial"/>
                <a:cs typeface="Arial"/>
                <a:sym typeface="Arial"/>
              </a:rPr>
              <a:t> </a:t>
            </a:r>
            <a:r>
              <a:rPr lang="en-US" sz="1800">
                <a:solidFill>
                  <a:srgbClr val="26303A"/>
                </a:solidFill>
              </a:rPr>
              <a:t>Conecta diferentes redes entre sí (como tu red local con Internet) utilizando direcciones IP, el router </a:t>
            </a:r>
            <a:r>
              <a:rPr lang="en-US" sz="1800">
                <a:solidFill>
                  <a:srgbClr val="26303A"/>
                </a:solidFill>
              </a:rPr>
              <a:t>doméstico</a:t>
            </a:r>
            <a:r>
              <a:rPr lang="en-US" sz="1800">
                <a:solidFill>
                  <a:srgbClr val="26303A"/>
                </a:solidFill>
              </a:rPr>
              <a:t> suele integrar varias funciones como : router, switch, AP Wi-Fi y, dependiendo del acceso </a:t>
            </a:r>
            <a:r>
              <a:rPr lang="en-US" sz="1800">
                <a:solidFill>
                  <a:srgbClr val="26303A"/>
                </a:solidFill>
              </a:rPr>
              <a:t>también</a:t>
            </a:r>
            <a:r>
              <a:rPr lang="en-US" sz="1800">
                <a:solidFill>
                  <a:srgbClr val="26303A"/>
                </a:solidFill>
              </a:rPr>
              <a:t> como módem u ONT.</a:t>
            </a:r>
            <a:r>
              <a:rPr lang="en-US" sz="900">
                <a:solidFill>
                  <a:schemeClr val="dk1"/>
                </a:solidFill>
              </a:rPr>
              <a:t> </a:t>
            </a:r>
            <a:r>
              <a:rPr b="0" i="0" lang="en-US" sz="1800" u="none" cap="none" strike="noStrike">
                <a:solidFill>
                  <a:srgbClr val="26303A"/>
                </a:solidFill>
                <a:latin typeface="Arial"/>
                <a:ea typeface="Arial"/>
                <a:cs typeface="Arial"/>
                <a:sym typeface="Arial"/>
              </a:rPr>
              <a:t> </a:t>
            </a:r>
            <a:r>
              <a:rPr b="1" i="0" lang="en-US" sz="1800" u="none" cap="none" strike="noStrike">
                <a:solidFill>
                  <a:srgbClr val="26303A"/>
                </a:solidFill>
              </a:rPr>
              <a:t>Switch:</a:t>
            </a:r>
            <a:r>
              <a:rPr b="0" i="0" lang="en-US" sz="1800" u="none" cap="none" strike="noStrike">
                <a:solidFill>
                  <a:srgbClr val="26303A"/>
                </a:solidFill>
                <a:latin typeface="Arial"/>
                <a:ea typeface="Arial"/>
                <a:cs typeface="Arial"/>
                <a:sym typeface="Arial"/>
              </a:rPr>
              <a:t> </a:t>
            </a:r>
            <a:r>
              <a:rPr lang="en-US" sz="1800">
                <a:solidFill>
                  <a:srgbClr val="26303A"/>
                </a:solidFill>
              </a:rPr>
              <a:t>Conecta múltiples dispositivos dentro de la misma red local utilizando direcciones MAC para dirigir el tráfico</a:t>
            </a:r>
            <a:r>
              <a:rPr lang="en-US" sz="2000">
                <a:solidFill>
                  <a:srgbClr val="26303A"/>
                </a:solidFill>
              </a:rPr>
              <a:t> </a:t>
            </a:r>
            <a:endParaRPr sz="2000">
              <a:solidFill>
                <a:srgbClr val="26303A"/>
              </a:solidFill>
            </a:endParaRPr>
          </a:p>
        </p:txBody>
      </p:sp>
      <p:pic>
        <p:nvPicPr>
          <p:cNvPr id="522" name="Google Shape;522;p7"/>
          <p:cNvPicPr preferRelativeResize="0"/>
          <p:nvPr/>
        </p:nvPicPr>
        <p:blipFill>
          <a:blip r:embed="rId5">
            <a:alphaModFix/>
          </a:blip>
          <a:stretch>
            <a:fillRect/>
          </a:stretch>
        </p:blipFill>
        <p:spPr>
          <a:xfrm>
            <a:off x="5" y="1700350"/>
            <a:ext cx="3107044" cy="2223662"/>
          </a:xfrm>
          <a:prstGeom prst="rect">
            <a:avLst/>
          </a:prstGeom>
          <a:noFill/>
          <a:ln>
            <a:noFill/>
          </a:ln>
        </p:spPr>
      </p:pic>
      <p:sp>
        <p:nvSpPr>
          <p:cNvPr id="523" name="Google Shape;523;p7"/>
          <p:cNvSpPr/>
          <p:nvPr/>
        </p:nvSpPr>
        <p:spPr>
          <a:xfrm>
            <a:off x="713160" y="1442525"/>
            <a:ext cx="5097600" cy="3954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lang="en-US" sz="2000">
                <a:solidFill>
                  <a:srgbClr val="12496F"/>
                </a:solidFill>
              </a:rPr>
              <a:t>Router                                   Switch</a:t>
            </a:r>
            <a:endParaRPr b="1" sz="2000">
              <a:solidFill>
                <a:srgbClr val="12496F"/>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pic>
        <p:nvPicPr>
          <p:cNvPr id="528" name="Google Shape;528;h3173d30833cc6355_23_0"/>
          <p:cNvPicPr preferRelativeResize="0"/>
          <p:nvPr/>
        </p:nvPicPr>
        <p:blipFill>
          <a:blip r:embed="rId3">
            <a:alphaModFix/>
          </a:blip>
          <a:stretch>
            <a:fillRect/>
          </a:stretch>
        </p:blipFill>
        <p:spPr>
          <a:xfrm>
            <a:off x="6396425" y="613775"/>
            <a:ext cx="5635675" cy="3828325"/>
          </a:xfrm>
          <a:prstGeom prst="rect">
            <a:avLst/>
          </a:prstGeom>
          <a:noFill/>
          <a:ln>
            <a:noFill/>
          </a:ln>
        </p:spPr>
      </p:pic>
      <p:sp>
        <p:nvSpPr>
          <p:cNvPr id="529" name="Google Shape;529;h3173d30833cc6355_23_0"/>
          <p:cNvSpPr/>
          <p:nvPr/>
        </p:nvSpPr>
        <p:spPr>
          <a:xfrm>
            <a:off x="0" y="0"/>
            <a:ext cx="12191400" cy="658200"/>
          </a:xfrm>
          <a:prstGeom prst="rect">
            <a:avLst/>
          </a:prstGeom>
          <a:solidFill>
            <a:srgbClr val="12496F"/>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h3173d30833cc6355_23_0"/>
          <p:cNvSpPr/>
          <p:nvPr/>
        </p:nvSpPr>
        <p:spPr>
          <a:xfrm>
            <a:off x="567000" y="82440"/>
            <a:ext cx="10972500" cy="4560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i="0" lang="en-US" sz="2400" u="none" cap="none" strike="noStrike">
                <a:solidFill>
                  <a:srgbClr val="FFFFFF"/>
                </a:solidFill>
                <a:latin typeface="Arial"/>
                <a:ea typeface="Arial"/>
                <a:cs typeface="Arial"/>
                <a:sym typeface="Arial"/>
              </a:rPr>
              <a:t>6 · Router: cuándo es imprescindible : Carlos Clu</a:t>
            </a:r>
            <a:endParaRPr b="0" i="0" sz="2400" u="none" cap="none" strike="noStrike">
              <a:latin typeface="Arial"/>
              <a:ea typeface="Arial"/>
              <a:cs typeface="Arial"/>
              <a:sym typeface="Arial"/>
            </a:endParaRPr>
          </a:p>
        </p:txBody>
      </p:sp>
      <p:sp>
        <p:nvSpPr>
          <p:cNvPr id="531" name="Google Shape;531;h3173d30833cc6355_23_0"/>
          <p:cNvSpPr/>
          <p:nvPr/>
        </p:nvSpPr>
        <p:spPr>
          <a:xfrm>
            <a:off x="143000" y="734813"/>
            <a:ext cx="5935200" cy="2691300"/>
          </a:xfrm>
          <a:prstGeom prst="roundRect">
            <a:avLst>
              <a:gd fmla="val 16667" name="adj"/>
            </a:avLst>
          </a:prstGeom>
          <a:solidFill>
            <a:srgbClr val="E7F1F9"/>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h3173d30833cc6355_23_0"/>
          <p:cNvSpPr/>
          <p:nvPr/>
        </p:nvSpPr>
        <p:spPr>
          <a:xfrm>
            <a:off x="298530" y="785492"/>
            <a:ext cx="5097600" cy="3954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i="0" lang="en-US" sz="2000" u="none" cap="none" strike="noStrike">
                <a:solidFill>
                  <a:srgbClr val="12496F"/>
                </a:solidFill>
                <a:latin typeface="Arial"/>
                <a:ea typeface="Arial"/>
                <a:cs typeface="Arial"/>
                <a:sym typeface="Arial"/>
              </a:rPr>
              <a:t>Misma subred</a:t>
            </a:r>
            <a:endParaRPr b="0" i="0" sz="2000" u="none" cap="none" strike="noStrike">
              <a:latin typeface="Arial"/>
              <a:ea typeface="Arial"/>
              <a:cs typeface="Arial"/>
              <a:sym typeface="Arial"/>
            </a:endParaRPr>
          </a:p>
        </p:txBody>
      </p:sp>
      <p:sp>
        <p:nvSpPr>
          <p:cNvPr id="533" name="Google Shape;533;h3173d30833cc6355_23_0"/>
          <p:cNvSpPr/>
          <p:nvPr/>
        </p:nvSpPr>
        <p:spPr>
          <a:xfrm>
            <a:off x="221475" y="1262800"/>
            <a:ext cx="5470800" cy="10050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0" i="0" lang="en-US" sz="1700" u="none" cap="none" strike="noStrike">
                <a:solidFill>
                  <a:srgbClr val="26303A"/>
                </a:solidFill>
                <a:latin typeface="Arial"/>
                <a:ea typeface="Arial"/>
                <a:cs typeface="Arial"/>
                <a:sym typeface="Arial"/>
              </a:rPr>
              <a:t>Dos equipos de la misma </a:t>
            </a:r>
            <a:r>
              <a:rPr b="1" lang="en-US" sz="1700">
                <a:solidFill>
                  <a:srgbClr val="26303A"/>
                </a:solidFill>
              </a:rPr>
              <a:t>subred</a:t>
            </a:r>
            <a:r>
              <a:rPr b="0" i="0" lang="en-US" sz="1700" u="none" cap="none" strike="noStrike">
                <a:solidFill>
                  <a:srgbClr val="26303A"/>
                </a:solidFill>
                <a:latin typeface="Arial"/>
                <a:ea typeface="Arial"/>
                <a:cs typeface="Arial"/>
                <a:sym typeface="Arial"/>
              </a:rPr>
              <a:t> </a:t>
            </a:r>
            <a:r>
              <a:rPr lang="en-US" sz="1700">
                <a:solidFill>
                  <a:srgbClr val="26303A"/>
                </a:solidFill>
              </a:rPr>
              <a:t>que </a:t>
            </a:r>
            <a:r>
              <a:rPr lang="en-US" sz="1700">
                <a:solidFill>
                  <a:srgbClr val="26303A"/>
                </a:solidFill>
              </a:rPr>
              <a:t>estén</a:t>
            </a:r>
            <a:r>
              <a:rPr lang="en-US" sz="1700">
                <a:solidFill>
                  <a:srgbClr val="26303A"/>
                </a:solidFill>
              </a:rPr>
              <a:t> conectados a un mismo </a:t>
            </a:r>
            <a:r>
              <a:rPr b="1" lang="en-US" sz="1700">
                <a:solidFill>
                  <a:srgbClr val="26303A"/>
                </a:solidFill>
              </a:rPr>
              <a:t>switch</a:t>
            </a:r>
            <a:r>
              <a:rPr lang="en-US" sz="1700">
                <a:solidFill>
                  <a:srgbClr val="26303A"/>
                </a:solidFill>
              </a:rPr>
              <a:t> intercambian información entre ellos sin necesidad de pasar esa información a </a:t>
            </a:r>
            <a:r>
              <a:rPr lang="en-US" sz="1700">
                <a:solidFill>
                  <a:srgbClr val="26303A"/>
                </a:solidFill>
              </a:rPr>
              <a:t>través</a:t>
            </a:r>
            <a:r>
              <a:rPr lang="en-US" sz="1700">
                <a:solidFill>
                  <a:srgbClr val="26303A"/>
                </a:solidFill>
              </a:rPr>
              <a:t> de router. Dos equipos dentro de una misma subred conectados mediante la</a:t>
            </a:r>
            <a:r>
              <a:rPr b="1" lang="en-US" sz="1700">
                <a:solidFill>
                  <a:srgbClr val="26303A"/>
                </a:solidFill>
              </a:rPr>
              <a:t> capa 2</a:t>
            </a:r>
            <a:r>
              <a:rPr lang="en-US" sz="1700">
                <a:solidFill>
                  <a:srgbClr val="26303A"/>
                </a:solidFill>
              </a:rPr>
              <a:t> (enlace de datos) pueden comunicarse entre ellos si no hay restricciones adicionales</a:t>
            </a:r>
            <a:r>
              <a:rPr lang="en-US" sz="2000">
                <a:solidFill>
                  <a:srgbClr val="26303A"/>
                </a:solidFill>
              </a:rPr>
              <a:t>.</a:t>
            </a:r>
            <a:endParaRPr b="0" i="0" sz="2000" u="none" cap="none" strike="noStrike">
              <a:latin typeface="Arial"/>
              <a:ea typeface="Arial"/>
              <a:cs typeface="Arial"/>
              <a:sym typeface="Arial"/>
            </a:endParaRPr>
          </a:p>
        </p:txBody>
      </p:sp>
      <p:sp>
        <p:nvSpPr>
          <p:cNvPr id="534" name="Google Shape;534;h3173d30833cc6355_23_0"/>
          <p:cNvSpPr/>
          <p:nvPr/>
        </p:nvSpPr>
        <p:spPr>
          <a:xfrm>
            <a:off x="6396415" y="4517440"/>
            <a:ext cx="5408400" cy="2048100"/>
          </a:xfrm>
          <a:prstGeom prst="roundRect">
            <a:avLst>
              <a:gd fmla="val 16667" name="adj"/>
            </a:avLst>
          </a:prstGeom>
          <a:solidFill>
            <a:srgbClr val="EBF5EB"/>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h3173d30833cc6355_23_0"/>
          <p:cNvSpPr/>
          <p:nvPr/>
        </p:nvSpPr>
        <p:spPr>
          <a:xfrm>
            <a:off x="6551935" y="4617880"/>
            <a:ext cx="5097600" cy="3954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i="0" lang="en-US" sz="2000" u="none" cap="none" strike="noStrike">
                <a:solidFill>
                  <a:srgbClr val="12496F"/>
                </a:solidFill>
                <a:latin typeface="Arial"/>
                <a:ea typeface="Arial"/>
                <a:cs typeface="Arial"/>
                <a:sym typeface="Arial"/>
              </a:rPr>
              <a:t>Otra red / Internet</a:t>
            </a:r>
            <a:endParaRPr b="0" i="0" sz="2000" u="none" cap="none" strike="noStrike">
              <a:latin typeface="Arial"/>
              <a:ea typeface="Arial"/>
              <a:cs typeface="Arial"/>
              <a:sym typeface="Arial"/>
            </a:endParaRPr>
          </a:p>
        </p:txBody>
      </p:sp>
      <p:sp>
        <p:nvSpPr>
          <p:cNvPr id="536" name="Google Shape;536;h3173d30833cc6355_23_0"/>
          <p:cNvSpPr/>
          <p:nvPr/>
        </p:nvSpPr>
        <p:spPr>
          <a:xfrm>
            <a:off x="6551935" y="5111800"/>
            <a:ext cx="5097600" cy="7002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0" i="0" lang="en-US" sz="2000" u="none" cap="none" strike="noStrike">
                <a:solidFill>
                  <a:srgbClr val="26303A"/>
                </a:solidFill>
                <a:latin typeface="Arial"/>
                <a:ea typeface="Arial"/>
                <a:cs typeface="Arial"/>
                <a:sym typeface="Arial"/>
              </a:rPr>
              <a:t>El equipo envía el tráfico hacia su puerta de enlace predeterminada</a:t>
            </a:r>
            <a:r>
              <a:rPr lang="en-US" sz="2000">
                <a:solidFill>
                  <a:srgbClr val="26303A"/>
                </a:solidFill>
              </a:rPr>
              <a:t>, lo que permite la conexión con equipos que no </a:t>
            </a:r>
            <a:r>
              <a:rPr lang="en-US" sz="2000">
                <a:solidFill>
                  <a:srgbClr val="26303A"/>
                </a:solidFill>
              </a:rPr>
              <a:t>estén</a:t>
            </a:r>
            <a:r>
              <a:rPr lang="en-US" sz="2000">
                <a:solidFill>
                  <a:srgbClr val="26303A"/>
                </a:solidFill>
              </a:rPr>
              <a:t> dentro de la misma red </a:t>
            </a:r>
            <a:r>
              <a:rPr b="1" lang="en-US" sz="2000">
                <a:solidFill>
                  <a:srgbClr val="26303A"/>
                </a:solidFill>
              </a:rPr>
              <a:t>LAN.</a:t>
            </a:r>
            <a:endParaRPr b="1" i="0" sz="2000" u="none" cap="none" strike="noStrike"/>
          </a:p>
        </p:txBody>
      </p:sp>
      <p:pic>
        <p:nvPicPr>
          <p:cNvPr id="537" name="Google Shape;537;h3173d30833cc6355_23_0"/>
          <p:cNvPicPr preferRelativeResize="0"/>
          <p:nvPr/>
        </p:nvPicPr>
        <p:blipFill>
          <a:blip r:embed="rId4">
            <a:alphaModFix/>
          </a:blip>
          <a:stretch>
            <a:fillRect/>
          </a:stretch>
        </p:blipFill>
        <p:spPr>
          <a:xfrm>
            <a:off x="379738" y="3519450"/>
            <a:ext cx="5574217" cy="350009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8"/>
          <p:cNvSpPr/>
          <p:nvPr/>
        </p:nvSpPr>
        <p:spPr>
          <a:xfrm>
            <a:off x="244200" y="4592542"/>
            <a:ext cx="3063000" cy="1548600"/>
          </a:xfrm>
          <a:prstGeom prst="wedgeEllipseCallout">
            <a:avLst>
              <a:gd fmla="val -18931" name="adj1"/>
              <a:gd fmla="val -69978" name="adj2"/>
            </a:avLst>
          </a:prstGeom>
          <a:solidFill>
            <a:srgbClr val="E7F1F9"/>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3" name="Google Shape;543;p8"/>
          <p:cNvSpPr/>
          <p:nvPr/>
        </p:nvSpPr>
        <p:spPr>
          <a:xfrm>
            <a:off x="0" y="0"/>
            <a:ext cx="12191400" cy="658080"/>
          </a:xfrm>
          <a:prstGeom prst="rect">
            <a:avLst/>
          </a:prstGeom>
          <a:solidFill>
            <a:srgbClr val="12496F"/>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8"/>
          <p:cNvSpPr/>
          <p:nvPr/>
        </p:nvSpPr>
        <p:spPr>
          <a:xfrm>
            <a:off x="567000" y="82440"/>
            <a:ext cx="10972440" cy="45612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1" i="0" lang="en-US" sz="2400" u="none" cap="none" strike="noStrike">
                <a:solidFill>
                  <a:srgbClr val="FFFFFF"/>
                </a:solidFill>
                <a:latin typeface="Arial"/>
                <a:ea typeface="Arial"/>
                <a:cs typeface="Arial"/>
                <a:sym typeface="Arial"/>
              </a:rPr>
              <a:t>7 · ¿Por dónde circula el tráfico? Antonio ;D </a:t>
            </a:r>
            <a:endParaRPr b="0" i="0" sz="2400" u="none" cap="none" strike="noStrike">
              <a:latin typeface="Arial"/>
              <a:ea typeface="Arial"/>
              <a:cs typeface="Arial"/>
              <a:sym typeface="Arial"/>
            </a:endParaRPr>
          </a:p>
        </p:txBody>
      </p:sp>
      <p:sp>
        <p:nvSpPr>
          <p:cNvPr id="545" name="Google Shape;545;p8"/>
          <p:cNvSpPr/>
          <p:nvPr/>
        </p:nvSpPr>
        <p:spPr>
          <a:xfrm>
            <a:off x="10" y="658085"/>
            <a:ext cx="10789500" cy="4407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0" i="0" lang="en-US" sz="1800" u="none" cap="none" strike="noStrike">
                <a:solidFill>
                  <a:srgbClr val="12496F"/>
                </a:solidFill>
                <a:latin typeface="Arial"/>
                <a:ea typeface="Arial"/>
                <a:cs typeface="Arial"/>
                <a:sym typeface="Arial"/>
              </a:rPr>
              <a:t>Compara dos comunicaciones con destinos diferentes.</a:t>
            </a:r>
            <a:endParaRPr b="0" i="0" sz="1800" u="none" cap="none" strike="noStrike">
              <a:latin typeface="Arial"/>
              <a:ea typeface="Arial"/>
              <a:cs typeface="Arial"/>
              <a:sym typeface="Arial"/>
            </a:endParaRPr>
          </a:p>
        </p:txBody>
      </p:sp>
      <p:sp>
        <p:nvSpPr>
          <p:cNvPr id="546" name="Google Shape;546;p8"/>
          <p:cNvSpPr/>
          <p:nvPr/>
        </p:nvSpPr>
        <p:spPr>
          <a:xfrm>
            <a:off x="501050" y="6315875"/>
            <a:ext cx="11392500" cy="456000"/>
          </a:xfrm>
          <a:prstGeom prst="rect">
            <a:avLst/>
          </a:prstGeom>
          <a:noFill/>
          <a:ln>
            <a:noFill/>
          </a:ln>
        </p:spPr>
        <p:txBody>
          <a:bodyPr anchorCtr="0" anchor="t" bIns="45000" lIns="36700" spcFirstLastPara="1" rIns="36700" wrap="square" tIns="45000">
            <a:spAutoFit/>
          </a:bodyPr>
          <a:lstStyle/>
          <a:p>
            <a:pPr indent="0" lvl="0" marL="0" rtl="0" algn="l">
              <a:lnSpc>
                <a:spcPct val="115000"/>
              </a:lnSpc>
              <a:spcBef>
                <a:spcPts val="1200"/>
              </a:spcBef>
              <a:spcAft>
                <a:spcPts val="0"/>
              </a:spcAft>
              <a:buClr>
                <a:schemeClr val="dk1"/>
              </a:buClr>
              <a:buSzPts val="1100"/>
              <a:buFont typeface="Arial"/>
              <a:buNone/>
            </a:pPr>
            <a:r>
              <a:rPr lang="en-US" sz="1700">
                <a:solidFill>
                  <a:srgbClr val="687078"/>
                </a:solidFill>
                <a:latin typeface="Times New Roman"/>
                <a:ea typeface="Times New Roman"/>
                <a:cs typeface="Times New Roman"/>
                <a:sym typeface="Times New Roman"/>
              </a:rPr>
              <a:t>el PC decide si el destino es local o remoto; el switch reenvía tramas y el router encamina paquetes entre redes.</a:t>
            </a:r>
            <a:endParaRPr sz="1700">
              <a:solidFill>
                <a:srgbClr val="687078"/>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None/>
            </a:pPr>
            <a:r>
              <a:t/>
            </a:r>
            <a:endParaRPr sz="2000">
              <a:solidFill>
                <a:srgbClr val="687078"/>
              </a:solidFill>
            </a:endParaRPr>
          </a:p>
        </p:txBody>
      </p:sp>
      <p:sp>
        <p:nvSpPr>
          <p:cNvPr id="547" name="Google Shape;547;p8"/>
          <p:cNvSpPr/>
          <p:nvPr/>
        </p:nvSpPr>
        <p:spPr>
          <a:xfrm>
            <a:off x="761058" y="2885577"/>
            <a:ext cx="2102700" cy="1371300"/>
          </a:xfrm>
          <a:prstGeom prst="roundRect">
            <a:avLst>
              <a:gd fmla="val 16667" name="adj"/>
            </a:avLst>
          </a:prstGeom>
          <a:solidFill>
            <a:srgbClr val="EBF5EB"/>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8"/>
          <p:cNvSpPr/>
          <p:nvPr/>
        </p:nvSpPr>
        <p:spPr>
          <a:xfrm>
            <a:off x="852497" y="2968017"/>
            <a:ext cx="1920000" cy="395400"/>
          </a:xfrm>
          <a:prstGeom prst="rect">
            <a:avLst/>
          </a:prstGeom>
          <a:noFill/>
          <a:ln>
            <a:noFill/>
          </a:ln>
        </p:spPr>
        <p:txBody>
          <a:bodyPr anchorCtr="0" anchor="t" bIns="45000" lIns="36700" spcFirstLastPara="1" rIns="36700" wrap="square" tIns="45000">
            <a:spAutoFit/>
          </a:bodyPr>
          <a:lstStyle/>
          <a:p>
            <a:pPr indent="0" lvl="0" marL="0" marR="0" rtl="0" algn="ctr">
              <a:lnSpc>
                <a:spcPct val="100000"/>
              </a:lnSpc>
              <a:spcBef>
                <a:spcPts val="0"/>
              </a:spcBef>
              <a:spcAft>
                <a:spcPts val="0"/>
              </a:spcAft>
              <a:buNone/>
            </a:pPr>
            <a:r>
              <a:rPr b="1" i="0" lang="en-US" sz="2000" u="none" cap="none" strike="noStrike">
                <a:solidFill>
                  <a:srgbClr val="12496F"/>
                </a:solidFill>
                <a:latin typeface="Arial"/>
                <a:ea typeface="Arial"/>
                <a:cs typeface="Arial"/>
                <a:sym typeface="Arial"/>
              </a:rPr>
              <a:t>PC-A</a:t>
            </a:r>
            <a:endParaRPr b="0" i="0" sz="2000" u="none" cap="none" strike="noStrike">
              <a:latin typeface="Arial"/>
              <a:ea typeface="Arial"/>
              <a:cs typeface="Arial"/>
              <a:sym typeface="Arial"/>
            </a:endParaRPr>
          </a:p>
        </p:txBody>
      </p:sp>
      <p:sp>
        <p:nvSpPr>
          <p:cNvPr id="549" name="Google Shape;549;p8"/>
          <p:cNvSpPr/>
          <p:nvPr/>
        </p:nvSpPr>
        <p:spPr>
          <a:xfrm>
            <a:off x="870858" y="3415857"/>
            <a:ext cx="1883100" cy="349500"/>
          </a:xfrm>
          <a:prstGeom prst="rect">
            <a:avLst/>
          </a:prstGeom>
          <a:noFill/>
          <a:ln>
            <a:noFill/>
          </a:ln>
        </p:spPr>
        <p:txBody>
          <a:bodyPr anchorCtr="0" anchor="t" bIns="45000" lIns="36700" spcFirstLastPara="1" rIns="36700" wrap="square" tIns="45000">
            <a:spAutoFit/>
          </a:bodyPr>
          <a:lstStyle/>
          <a:p>
            <a:pPr indent="0" lvl="0" marL="0" marR="0" rtl="0" algn="ctr">
              <a:lnSpc>
                <a:spcPct val="100000"/>
              </a:lnSpc>
              <a:spcBef>
                <a:spcPts val="0"/>
              </a:spcBef>
              <a:spcAft>
                <a:spcPts val="0"/>
              </a:spcAft>
              <a:buNone/>
            </a:pPr>
            <a:r>
              <a:rPr b="0" i="0" lang="en-US" sz="1700" u="none" cap="none" strike="noStrike">
                <a:solidFill>
                  <a:srgbClr val="26303A"/>
                </a:solidFill>
                <a:latin typeface="Arial"/>
                <a:ea typeface="Arial"/>
                <a:cs typeface="Arial"/>
                <a:sym typeface="Arial"/>
              </a:rPr>
              <a:t>192.168.10.20</a:t>
            </a:r>
            <a:endParaRPr b="0" i="0" sz="1700" u="none" cap="none" strike="noStrike">
              <a:latin typeface="Arial"/>
              <a:ea typeface="Arial"/>
              <a:cs typeface="Arial"/>
              <a:sym typeface="Arial"/>
            </a:endParaRPr>
          </a:p>
        </p:txBody>
      </p:sp>
      <p:sp>
        <p:nvSpPr>
          <p:cNvPr id="550" name="Google Shape;550;p8"/>
          <p:cNvSpPr/>
          <p:nvPr/>
        </p:nvSpPr>
        <p:spPr>
          <a:xfrm>
            <a:off x="3687138" y="2885577"/>
            <a:ext cx="2102700" cy="1371300"/>
          </a:xfrm>
          <a:prstGeom prst="roundRect">
            <a:avLst>
              <a:gd fmla="val 16667" name="adj"/>
            </a:avLst>
          </a:prstGeom>
          <a:solidFill>
            <a:srgbClr val="E7F1F9"/>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8"/>
          <p:cNvSpPr/>
          <p:nvPr/>
        </p:nvSpPr>
        <p:spPr>
          <a:xfrm>
            <a:off x="3778578" y="2968017"/>
            <a:ext cx="1920000" cy="395400"/>
          </a:xfrm>
          <a:prstGeom prst="rect">
            <a:avLst/>
          </a:prstGeom>
          <a:noFill/>
          <a:ln>
            <a:noFill/>
          </a:ln>
        </p:spPr>
        <p:txBody>
          <a:bodyPr anchorCtr="0" anchor="t" bIns="45000" lIns="36700" spcFirstLastPara="1" rIns="36700" wrap="square" tIns="45000">
            <a:spAutoFit/>
          </a:bodyPr>
          <a:lstStyle/>
          <a:p>
            <a:pPr indent="0" lvl="0" marL="0" marR="0" rtl="0" algn="ctr">
              <a:lnSpc>
                <a:spcPct val="100000"/>
              </a:lnSpc>
              <a:spcBef>
                <a:spcPts val="0"/>
              </a:spcBef>
              <a:spcAft>
                <a:spcPts val="0"/>
              </a:spcAft>
              <a:buNone/>
            </a:pPr>
            <a:r>
              <a:rPr b="1" i="0" lang="en-US" sz="2000" u="none" cap="none" strike="noStrike">
                <a:solidFill>
                  <a:srgbClr val="12496F"/>
                </a:solidFill>
                <a:latin typeface="Arial"/>
                <a:ea typeface="Arial"/>
                <a:cs typeface="Arial"/>
                <a:sym typeface="Arial"/>
              </a:rPr>
              <a:t>SWITCH</a:t>
            </a:r>
            <a:endParaRPr b="0" i="0" sz="2000" u="none" cap="none" strike="noStrike">
              <a:latin typeface="Arial"/>
              <a:ea typeface="Arial"/>
              <a:cs typeface="Arial"/>
              <a:sym typeface="Arial"/>
            </a:endParaRPr>
          </a:p>
        </p:txBody>
      </p:sp>
      <p:sp>
        <p:nvSpPr>
          <p:cNvPr id="552" name="Google Shape;552;p8"/>
          <p:cNvSpPr/>
          <p:nvPr/>
        </p:nvSpPr>
        <p:spPr>
          <a:xfrm>
            <a:off x="3796938" y="3415857"/>
            <a:ext cx="1883100" cy="349500"/>
          </a:xfrm>
          <a:prstGeom prst="rect">
            <a:avLst/>
          </a:prstGeom>
          <a:noFill/>
          <a:ln>
            <a:noFill/>
          </a:ln>
        </p:spPr>
        <p:txBody>
          <a:bodyPr anchorCtr="0" anchor="t" bIns="45000" lIns="36700" spcFirstLastPara="1" rIns="36700" wrap="square" tIns="45000">
            <a:spAutoFit/>
          </a:bodyPr>
          <a:lstStyle/>
          <a:p>
            <a:pPr indent="0" lvl="0" marL="0" marR="0" rtl="0" algn="ctr">
              <a:lnSpc>
                <a:spcPct val="100000"/>
              </a:lnSpc>
              <a:spcBef>
                <a:spcPts val="0"/>
              </a:spcBef>
              <a:spcAft>
                <a:spcPts val="0"/>
              </a:spcAft>
              <a:buNone/>
            </a:pPr>
            <a:r>
              <a:rPr b="0" i="0" lang="en-US" sz="1700" u="none" cap="none" strike="noStrike">
                <a:solidFill>
                  <a:srgbClr val="26303A"/>
                </a:solidFill>
                <a:latin typeface="Arial"/>
                <a:ea typeface="Arial"/>
                <a:cs typeface="Arial"/>
                <a:sym typeface="Arial"/>
              </a:rPr>
              <a:t>Red local</a:t>
            </a:r>
            <a:endParaRPr b="0" i="0" sz="1700" u="none" cap="none" strike="noStrike">
              <a:latin typeface="Arial"/>
              <a:ea typeface="Arial"/>
              <a:cs typeface="Arial"/>
              <a:sym typeface="Arial"/>
            </a:endParaRPr>
          </a:p>
        </p:txBody>
      </p:sp>
      <p:sp>
        <p:nvSpPr>
          <p:cNvPr id="553" name="Google Shape;553;p8"/>
          <p:cNvSpPr/>
          <p:nvPr/>
        </p:nvSpPr>
        <p:spPr>
          <a:xfrm>
            <a:off x="6613218" y="2885577"/>
            <a:ext cx="2102700" cy="1371300"/>
          </a:xfrm>
          <a:prstGeom prst="roundRect">
            <a:avLst>
              <a:gd fmla="val 16667" name="adj"/>
            </a:avLst>
          </a:prstGeom>
          <a:solidFill>
            <a:srgbClr val="E7F1F9"/>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8"/>
          <p:cNvSpPr/>
          <p:nvPr/>
        </p:nvSpPr>
        <p:spPr>
          <a:xfrm>
            <a:off x="6704658" y="2968017"/>
            <a:ext cx="1920000" cy="395400"/>
          </a:xfrm>
          <a:prstGeom prst="rect">
            <a:avLst/>
          </a:prstGeom>
          <a:noFill/>
          <a:ln>
            <a:noFill/>
          </a:ln>
        </p:spPr>
        <p:txBody>
          <a:bodyPr anchorCtr="0" anchor="t" bIns="45000" lIns="36700" spcFirstLastPara="1" rIns="36700" wrap="square" tIns="45000">
            <a:spAutoFit/>
          </a:bodyPr>
          <a:lstStyle/>
          <a:p>
            <a:pPr indent="0" lvl="0" marL="0" marR="0" rtl="0" algn="ctr">
              <a:lnSpc>
                <a:spcPct val="100000"/>
              </a:lnSpc>
              <a:spcBef>
                <a:spcPts val="0"/>
              </a:spcBef>
              <a:spcAft>
                <a:spcPts val="0"/>
              </a:spcAft>
              <a:buNone/>
            </a:pPr>
            <a:r>
              <a:rPr b="1" i="0" lang="en-US" sz="2000" u="none" cap="none" strike="noStrike">
                <a:solidFill>
                  <a:srgbClr val="12496F"/>
                </a:solidFill>
                <a:latin typeface="Arial"/>
                <a:ea typeface="Arial"/>
                <a:cs typeface="Arial"/>
                <a:sym typeface="Arial"/>
              </a:rPr>
              <a:t>ROUTER</a:t>
            </a:r>
            <a:endParaRPr b="0" i="0" sz="2000" u="none" cap="none" strike="noStrike">
              <a:latin typeface="Arial"/>
              <a:ea typeface="Arial"/>
              <a:cs typeface="Arial"/>
              <a:sym typeface="Arial"/>
            </a:endParaRPr>
          </a:p>
        </p:txBody>
      </p:sp>
      <p:sp>
        <p:nvSpPr>
          <p:cNvPr id="555" name="Google Shape;555;p8"/>
          <p:cNvSpPr/>
          <p:nvPr/>
        </p:nvSpPr>
        <p:spPr>
          <a:xfrm>
            <a:off x="6723018" y="3415857"/>
            <a:ext cx="1883100" cy="349500"/>
          </a:xfrm>
          <a:prstGeom prst="rect">
            <a:avLst/>
          </a:prstGeom>
          <a:noFill/>
          <a:ln>
            <a:noFill/>
          </a:ln>
        </p:spPr>
        <p:txBody>
          <a:bodyPr anchorCtr="0" anchor="t" bIns="45000" lIns="36700" spcFirstLastPara="1" rIns="36700" wrap="square" tIns="45000">
            <a:spAutoFit/>
          </a:bodyPr>
          <a:lstStyle/>
          <a:p>
            <a:pPr indent="0" lvl="0" marL="0" marR="0" rtl="0" algn="ctr">
              <a:lnSpc>
                <a:spcPct val="100000"/>
              </a:lnSpc>
              <a:spcBef>
                <a:spcPts val="0"/>
              </a:spcBef>
              <a:spcAft>
                <a:spcPts val="0"/>
              </a:spcAft>
              <a:buNone/>
            </a:pPr>
            <a:r>
              <a:rPr b="0" i="0" lang="en-US" sz="1700" u="none" cap="none" strike="noStrike">
                <a:solidFill>
                  <a:srgbClr val="26303A"/>
                </a:solidFill>
                <a:latin typeface="Arial"/>
                <a:ea typeface="Arial"/>
                <a:cs typeface="Arial"/>
                <a:sym typeface="Arial"/>
              </a:rPr>
              <a:t>192.168.10.1</a:t>
            </a:r>
            <a:endParaRPr b="0" i="0" sz="1700" u="none" cap="none" strike="noStrike">
              <a:latin typeface="Arial"/>
              <a:ea typeface="Arial"/>
              <a:cs typeface="Arial"/>
              <a:sym typeface="Arial"/>
            </a:endParaRPr>
          </a:p>
        </p:txBody>
      </p:sp>
      <p:sp>
        <p:nvSpPr>
          <p:cNvPr id="556" name="Google Shape;556;p8"/>
          <p:cNvSpPr/>
          <p:nvPr/>
        </p:nvSpPr>
        <p:spPr>
          <a:xfrm>
            <a:off x="9539298" y="2885577"/>
            <a:ext cx="2102700" cy="1371300"/>
          </a:xfrm>
          <a:prstGeom prst="roundRect">
            <a:avLst>
              <a:gd fmla="val 16667" name="adj"/>
            </a:avLst>
          </a:prstGeom>
          <a:solidFill>
            <a:srgbClr val="EBF5EB"/>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8"/>
          <p:cNvSpPr/>
          <p:nvPr/>
        </p:nvSpPr>
        <p:spPr>
          <a:xfrm>
            <a:off x="9630738" y="2968017"/>
            <a:ext cx="1920000" cy="395400"/>
          </a:xfrm>
          <a:prstGeom prst="rect">
            <a:avLst/>
          </a:prstGeom>
          <a:noFill/>
          <a:ln>
            <a:noFill/>
          </a:ln>
        </p:spPr>
        <p:txBody>
          <a:bodyPr anchorCtr="0" anchor="t" bIns="45000" lIns="36700" spcFirstLastPara="1" rIns="36700" wrap="square" tIns="45000">
            <a:spAutoFit/>
          </a:bodyPr>
          <a:lstStyle/>
          <a:p>
            <a:pPr indent="0" lvl="0" marL="0" marR="0" rtl="0" algn="ctr">
              <a:lnSpc>
                <a:spcPct val="100000"/>
              </a:lnSpc>
              <a:spcBef>
                <a:spcPts val="0"/>
              </a:spcBef>
              <a:spcAft>
                <a:spcPts val="0"/>
              </a:spcAft>
              <a:buNone/>
            </a:pPr>
            <a:r>
              <a:rPr b="1" i="0" lang="en-US" sz="2000" u="none" cap="none" strike="noStrike">
                <a:solidFill>
                  <a:srgbClr val="12496F"/>
                </a:solidFill>
                <a:latin typeface="Arial"/>
                <a:ea typeface="Arial"/>
                <a:cs typeface="Arial"/>
                <a:sym typeface="Arial"/>
              </a:rPr>
              <a:t>INTERNET</a:t>
            </a:r>
            <a:endParaRPr b="0" i="0" sz="2000" u="none" cap="none" strike="noStrike">
              <a:latin typeface="Arial"/>
              <a:ea typeface="Arial"/>
              <a:cs typeface="Arial"/>
              <a:sym typeface="Arial"/>
            </a:endParaRPr>
          </a:p>
        </p:txBody>
      </p:sp>
      <p:sp>
        <p:nvSpPr>
          <p:cNvPr id="558" name="Google Shape;558;p8"/>
          <p:cNvSpPr/>
          <p:nvPr/>
        </p:nvSpPr>
        <p:spPr>
          <a:xfrm>
            <a:off x="9649098" y="3415857"/>
            <a:ext cx="1883100" cy="349500"/>
          </a:xfrm>
          <a:prstGeom prst="rect">
            <a:avLst/>
          </a:prstGeom>
          <a:noFill/>
          <a:ln>
            <a:noFill/>
          </a:ln>
        </p:spPr>
        <p:txBody>
          <a:bodyPr anchorCtr="0" anchor="t" bIns="45000" lIns="36700" spcFirstLastPara="1" rIns="36700" wrap="square" tIns="45000">
            <a:spAutoFit/>
          </a:bodyPr>
          <a:lstStyle/>
          <a:p>
            <a:pPr indent="0" lvl="0" marL="0" marR="0" rtl="0" algn="ctr">
              <a:lnSpc>
                <a:spcPct val="100000"/>
              </a:lnSpc>
              <a:spcBef>
                <a:spcPts val="0"/>
              </a:spcBef>
              <a:spcAft>
                <a:spcPts val="0"/>
              </a:spcAft>
              <a:buNone/>
            </a:pPr>
            <a:r>
              <a:rPr b="0" i="0" lang="en-US" sz="1700" u="none" cap="none" strike="noStrike">
                <a:solidFill>
                  <a:srgbClr val="26303A"/>
                </a:solidFill>
                <a:latin typeface="Arial"/>
                <a:ea typeface="Arial"/>
                <a:cs typeface="Arial"/>
                <a:sym typeface="Arial"/>
              </a:rPr>
              <a:t>Otra red</a:t>
            </a:r>
            <a:endParaRPr b="0" i="0" sz="1700" u="none" cap="none" strike="noStrike">
              <a:latin typeface="Arial"/>
              <a:ea typeface="Arial"/>
              <a:cs typeface="Arial"/>
              <a:sym typeface="Arial"/>
            </a:endParaRPr>
          </a:p>
        </p:txBody>
      </p:sp>
      <p:sp>
        <p:nvSpPr>
          <p:cNvPr id="559" name="Google Shape;559;p8"/>
          <p:cNvSpPr txBox="1"/>
          <p:nvPr/>
        </p:nvSpPr>
        <p:spPr>
          <a:xfrm>
            <a:off x="562837" y="4864267"/>
            <a:ext cx="2420100" cy="114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a:solidFill>
                  <a:schemeClr val="dk1"/>
                </a:solidFill>
                <a:latin typeface="Times New Roman"/>
                <a:ea typeface="Times New Roman"/>
                <a:cs typeface="Times New Roman"/>
                <a:sym typeface="Times New Roman"/>
              </a:rPr>
              <a:t>El PC utiliza su </a:t>
            </a:r>
            <a:r>
              <a:rPr b="1" lang="en-US">
                <a:solidFill>
                  <a:schemeClr val="dk1"/>
                </a:solidFill>
                <a:latin typeface="Times New Roman"/>
                <a:ea typeface="Times New Roman"/>
                <a:cs typeface="Times New Roman"/>
                <a:sym typeface="Times New Roman"/>
              </a:rPr>
              <a:t>IP y máscara</a:t>
            </a:r>
            <a:r>
              <a:rPr lang="en-US">
                <a:solidFill>
                  <a:schemeClr val="dk1"/>
                </a:solidFill>
                <a:latin typeface="Times New Roman"/>
                <a:ea typeface="Times New Roman"/>
                <a:cs typeface="Times New Roman"/>
                <a:sym typeface="Times New Roman"/>
              </a:rPr>
              <a:t> para comprobar si el destino está en la misma red o en otra diferente.</a:t>
            </a:r>
            <a:endParaRPr>
              <a:latin typeface="Times New Roman"/>
              <a:ea typeface="Times New Roman"/>
              <a:cs typeface="Times New Roman"/>
              <a:sym typeface="Times New Roman"/>
            </a:endParaRPr>
          </a:p>
        </p:txBody>
      </p:sp>
      <p:sp>
        <p:nvSpPr>
          <p:cNvPr id="560" name="Google Shape;560;p8"/>
          <p:cNvSpPr/>
          <p:nvPr/>
        </p:nvSpPr>
        <p:spPr>
          <a:xfrm>
            <a:off x="3559975" y="1100117"/>
            <a:ext cx="3381300" cy="1548600"/>
          </a:xfrm>
          <a:prstGeom prst="wedgeEllipseCallout">
            <a:avLst>
              <a:gd fmla="val -20833" name="adj1"/>
              <a:gd fmla="val 62500" name="adj2"/>
            </a:avLst>
          </a:prstGeom>
          <a:solidFill>
            <a:srgbClr val="E7F1F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1" name="Google Shape;561;p8"/>
          <p:cNvSpPr txBox="1"/>
          <p:nvPr/>
        </p:nvSpPr>
        <p:spPr>
          <a:xfrm>
            <a:off x="3845976" y="1323492"/>
            <a:ext cx="3063000" cy="1046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a:solidFill>
                  <a:schemeClr val="dk1"/>
                </a:solidFill>
                <a:latin typeface="Times New Roman"/>
                <a:ea typeface="Times New Roman"/>
                <a:cs typeface="Times New Roman"/>
                <a:sym typeface="Times New Roman"/>
              </a:rPr>
              <a:t>Si el destino es local, el PC obtiene su </a:t>
            </a:r>
            <a:r>
              <a:rPr b="1" lang="en-US">
                <a:solidFill>
                  <a:schemeClr val="dk1"/>
                </a:solidFill>
                <a:latin typeface="Times New Roman"/>
                <a:ea typeface="Times New Roman"/>
                <a:cs typeface="Times New Roman"/>
                <a:sym typeface="Times New Roman"/>
              </a:rPr>
              <a:t>MAC mediante ARP</a:t>
            </a:r>
            <a:r>
              <a:rPr lang="en-US">
                <a:solidFill>
                  <a:schemeClr val="dk1"/>
                </a:solidFill>
                <a:latin typeface="Times New Roman"/>
                <a:ea typeface="Times New Roman"/>
                <a:cs typeface="Times New Roman"/>
                <a:sym typeface="Times New Roman"/>
              </a:rPr>
              <a:t> (en IPv4) y envía la trama. El switch la reenvía según la dirección MAC de destino.</a:t>
            </a:r>
            <a:endParaRPr b="1" sz="1700">
              <a:latin typeface="Times New Roman"/>
              <a:ea typeface="Times New Roman"/>
              <a:cs typeface="Times New Roman"/>
              <a:sym typeface="Times New Roman"/>
            </a:endParaRPr>
          </a:p>
          <a:p>
            <a:pPr indent="0" lvl="0" marL="0" rtl="0" algn="l">
              <a:spcBef>
                <a:spcPts val="1200"/>
              </a:spcBef>
              <a:spcAft>
                <a:spcPts val="0"/>
              </a:spcAft>
              <a:buNone/>
            </a:pPr>
            <a:r>
              <a:t/>
            </a:r>
            <a:endParaRPr sz="1800"/>
          </a:p>
        </p:txBody>
      </p:sp>
      <p:sp>
        <p:nvSpPr>
          <p:cNvPr id="562" name="Google Shape;562;p8"/>
          <p:cNvSpPr/>
          <p:nvPr/>
        </p:nvSpPr>
        <p:spPr>
          <a:xfrm>
            <a:off x="5088975" y="4681625"/>
            <a:ext cx="4291800" cy="1548600"/>
          </a:xfrm>
          <a:prstGeom prst="wedgeEllipseCallout">
            <a:avLst>
              <a:gd fmla="val 22025" name="adj1"/>
              <a:gd fmla="val -70301" name="adj2"/>
            </a:avLst>
          </a:prstGeom>
          <a:solidFill>
            <a:srgbClr val="E7F1F9"/>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3" name="Google Shape;563;p8"/>
          <p:cNvSpPr txBox="1"/>
          <p:nvPr/>
        </p:nvSpPr>
        <p:spPr>
          <a:xfrm>
            <a:off x="5511100" y="4919575"/>
            <a:ext cx="3761100" cy="114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a:solidFill>
                  <a:schemeClr val="dk1"/>
                </a:solidFill>
                <a:latin typeface="Times New Roman"/>
                <a:ea typeface="Times New Roman"/>
                <a:cs typeface="Times New Roman"/>
                <a:sym typeface="Times New Roman"/>
              </a:rPr>
              <a:t>Si el destino es remoto, el PC envía la trama a la </a:t>
            </a:r>
            <a:r>
              <a:rPr b="1" lang="en-US">
                <a:solidFill>
                  <a:schemeClr val="dk1"/>
                </a:solidFill>
                <a:latin typeface="Times New Roman"/>
                <a:ea typeface="Times New Roman"/>
                <a:cs typeface="Times New Roman"/>
                <a:sym typeface="Times New Roman"/>
              </a:rPr>
              <a:t>puerta de enlace</a:t>
            </a:r>
            <a:r>
              <a:rPr lang="en-US">
                <a:solidFill>
                  <a:schemeClr val="dk1"/>
                </a:solidFill>
                <a:latin typeface="Times New Roman"/>
                <a:ea typeface="Times New Roman"/>
                <a:cs typeface="Times New Roman"/>
                <a:sym typeface="Times New Roman"/>
              </a:rPr>
              <a:t>. El router consulta su </a:t>
            </a:r>
            <a:r>
              <a:rPr b="1" lang="en-US">
                <a:solidFill>
                  <a:schemeClr val="dk1"/>
                </a:solidFill>
                <a:latin typeface="Times New Roman"/>
                <a:ea typeface="Times New Roman"/>
                <a:cs typeface="Times New Roman"/>
                <a:sym typeface="Times New Roman"/>
              </a:rPr>
              <a:t>tabla de rutas</a:t>
            </a:r>
            <a:r>
              <a:rPr lang="en-US">
                <a:solidFill>
                  <a:schemeClr val="dk1"/>
                </a:solidFill>
                <a:latin typeface="Times New Roman"/>
                <a:ea typeface="Times New Roman"/>
                <a:cs typeface="Times New Roman"/>
                <a:sym typeface="Times New Roman"/>
              </a:rPr>
              <a:t> y encamina el paquete hacia la siguiente red.</a:t>
            </a:r>
            <a:endParaRPr sz="1700">
              <a:latin typeface="Times New Roman"/>
              <a:ea typeface="Times New Roman"/>
              <a:cs typeface="Times New Roman"/>
              <a:sym typeface="Times New Roman"/>
            </a:endParaRPr>
          </a:p>
        </p:txBody>
      </p:sp>
      <p:sp>
        <p:nvSpPr>
          <p:cNvPr id="564" name="Google Shape;564;p8"/>
          <p:cNvSpPr/>
          <p:nvPr/>
        </p:nvSpPr>
        <p:spPr>
          <a:xfrm>
            <a:off x="7664900" y="908075"/>
            <a:ext cx="4113300" cy="1740900"/>
          </a:xfrm>
          <a:prstGeom prst="wedgeEllipseCallout">
            <a:avLst>
              <a:gd fmla="val 35389" name="adj1"/>
              <a:gd fmla="val 61335" name="adj2"/>
            </a:avLst>
          </a:prstGeom>
          <a:solidFill>
            <a:srgbClr val="E7F1F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5" name="Google Shape;565;p8"/>
          <p:cNvSpPr txBox="1"/>
          <p:nvPr/>
        </p:nvSpPr>
        <p:spPr>
          <a:xfrm>
            <a:off x="8287825" y="1065003"/>
            <a:ext cx="3063000" cy="137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En una red doméstica IPv4, el router suele usar </a:t>
            </a:r>
            <a:r>
              <a:rPr b="1" lang="en-US">
                <a:solidFill>
                  <a:schemeClr val="dk1"/>
                </a:solidFill>
                <a:latin typeface="Times New Roman"/>
                <a:ea typeface="Times New Roman"/>
                <a:cs typeface="Times New Roman"/>
                <a:sym typeface="Times New Roman"/>
              </a:rPr>
              <a:t>NAT/PAT</a:t>
            </a:r>
            <a:r>
              <a:rPr lang="en-US">
                <a:solidFill>
                  <a:schemeClr val="dk1"/>
                </a:solidFill>
                <a:latin typeface="Times New Roman"/>
                <a:ea typeface="Times New Roman"/>
                <a:cs typeface="Times New Roman"/>
                <a:sym typeface="Times New Roman"/>
              </a:rPr>
              <a:t> para que varios equipos privados compartan una IP pública. No es obligato</a:t>
            </a:r>
            <a:r>
              <a:rPr lang="en-US" sz="1100">
                <a:solidFill>
                  <a:schemeClr val="dk1"/>
                </a:solidFill>
              </a:rPr>
              <a:t>rio en todos los routers.</a:t>
            </a:r>
            <a:endParaRPr sz="1100">
              <a:solidFill>
                <a:schemeClr val="dk1"/>
              </a:solidFill>
            </a:endParaRPr>
          </a:p>
          <a:p>
            <a:pPr indent="0" lvl="0" marL="0" rtl="0" algn="just">
              <a:spcBef>
                <a:spcPts val="1200"/>
              </a:spcBef>
              <a:spcAft>
                <a:spcPts val="0"/>
              </a:spcAft>
              <a:buNone/>
            </a:pPr>
            <a:r>
              <a:t/>
            </a:r>
            <a:endParaRPr>
              <a:latin typeface="Times New Roman"/>
              <a:ea typeface="Times New Roman"/>
              <a:cs typeface="Times New Roman"/>
              <a:sym typeface="Times New Roman"/>
            </a:endParaRPr>
          </a:p>
          <a:p>
            <a:pPr indent="0" lvl="0" marL="0" rtl="0" algn="l">
              <a:spcBef>
                <a:spcPts val="0"/>
              </a:spcBef>
              <a:spcAft>
                <a:spcPts val="0"/>
              </a:spcAft>
              <a:buNone/>
            </a:pPr>
            <a:r>
              <a:t/>
            </a:r>
            <a:endParaRPr sz="1800"/>
          </a:p>
        </p:txBody>
      </p:sp>
      <p:sp>
        <p:nvSpPr>
          <p:cNvPr id="566" name="Google Shape;566;p8"/>
          <p:cNvSpPr/>
          <p:nvPr/>
        </p:nvSpPr>
        <p:spPr>
          <a:xfrm>
            <a:off x="2982925" y="3472000"/>
            <a:ext cx="577200" cy="349500"/>
          </a:xfrm>
          <a:prstGeom prst="rightArrow">
            <a:avLst>
              <a:gd fmla="val 50000" name="adj1"/>
              <a:gd fmla="val 50000" name="adj2"/>
            </a:avLst>
          </a:prstGeom>
          <a:solidFill>
            <a:srgbClr val="E7F1F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7" name="Google Shape;567;p8"/>
          <p:cNvSpPr/>
          <p:nvPr/>
        </p:nvSpPr>
        <p:spPr>
          <a:xfrm>
            <a:off x="5908712" y="3490425"/>
            <a:ext cx="577200" cy="349500"/>
          </a:xfrm>
          <a:prstGeom prst="rightArrow">
            <a:avLst>
              <a:gd fmla="val 50000" name="adj1"/>
              <a:gd fmla="val 50000" name="adj2"/>
            </a:avLst>
          </a:prstGeom>
          <a:solidFill>
            <a:srgbClr val="E7F1F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8" name="Google Shape;568;p8"/>
          <p:cNvSpPr/>
          <p:nvPr/>
        </p:nvSpPr>
        <p:spPr>
          <a:xfrm>
            <a:off x="8839013" y="3490438"/>
            <a:ext cx="577200" cy="349500"/>
          </a:xfrm>
          <a:prstGeom prst="rightArrow">
            <a:avLst>
              <a:gd fmla="val 50000" name="adj1"/>
              <a:gd fmla="val 50000" name="adj2"/>
            </a:avLst>
          </a:prstGeom>
          <a:solidFill>
            <a:srgbClr val="E7F1F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69" name="Google Shape;569;p8"/>
          <p:cNvPicPr preferRelativeResize="0"/>
          <p:nvPr/>
        </p:nvPicPr>
        <p:blipFill>
          <a:blip r:embed="rId3">
            <a:alphaModFix/>
          </a:blip>
          <a:stretch>
            <a:fillRect/>
          </a:stretch>
        </p:blipFill>
        <p:spPr>
          <a:xfrm>
            <a:off x="471350" y="1306525"/>
            <a:ext cx="2618702" cy="1371299"/>
          </a:xfrm>
          <a:prstGeom prst="rect">
            <a:avLst/>
          </a:prstGeom>
          <a:noFill/>
          <a:ln>
            <a:noFill/>
          </a:ln>
        </p:spPr>
      </p:pic>
      <p:pic>
        <p:nvPicPr>
          <p:cNvPr id="570" name="Google Shape;570;p8"/>
          <p:cNvPicPr preferRelativeResize="0"/>
          <p:nvPr/>
        </p:nvPicPr>
        <p:blipFill>
          <a:blip r:embed="rId4">
            <a:alphaModFix/>
          </a:blip>
          <a:stretch>
            <a:fillRect/>
          </a:stretch>
        </p:blipFill>
        <p:spPr>
          <a:xfrm>
            <a:off x="9630750" y="4780549"/>
            <a:ext cx="2420098" cy="135076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h56bf6ea97996a94a_1_8"/>
          <p:cNvSpPr/>
          <p:nvPr/>
        </p:nvSpPr>
        <p:spPr>
          <a:xfrm>
            <a:off x="244200" y="4592542"/>
            <a:ext cx="3063000" cy="1548600"/>
          </a:xfrm>
          <a:prstGeom prst="wedgeEllipseCallout">
            <a:avLst>
              <a:gd fmla="val -18931" name="adj1"/>
              <a:gd fmla="val -69978" name="adj2"/>
            </a:avLst>
          </a:prstGeom>
          <a:solidFill>
            <a:srgbClr val="E7F1F9"/>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6" name="Google Shape;576;h56bf6ea97996a94a_1_8"/>
          <p:cNvSpPr/>
          <p:nvPr/>
        </p:nvSpPr>
        <p:spPr>
          <a:xfrm>
            <a:off x="0" y="0"/>
            <a:ext cx="12191400" cy="658200"/>
          </a:xfrm>
          <a:prstGeom prst="rect">
            <a:avLst/>
          </a:prstGeom>
          <a:solidFill>
            <a:srgbClr val="12496F"/>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h56bf6ea97996a94a_1_8"/>
          <p:cNvSpPr/>
          <p:nvPr/>
        </p:nvSpPr>
        <p:spPr>
          <a:xfrm>
            <a:off x="567000" y="82440"/>
            <a:ext cx="10972500" cy="4560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i="0" lang="en-US" sz="2400" u="none" cap="none" strike="noStrike">
                <a:solidFill>
                  <a:srgbClr val="FFFFFF"/>
                </a:solidFill>
                <a:latin typeface="Arial"/>
                <a:ea typeface="Arial"/>
                <a:cs typeface="Arial"/>
                <a:sym typeface="Arial"/>
              </a:rPr>
              <a:t>7 · ¿Por dónde circula el tráfico? Antonio ;D </a:t>
            </a:r>
            <a:endParaRPr b="0" i="0" sz="2400" u="none" cap="none" strike="noStrike">
              <a:latin typeface="Arial"/>
              <a:ea typeface="Arial"/>
              <a:cs typeface="Arial"/>
              <a:sym typeface="Arial"/>
            </a:endParaRPr>
          </a:p>
        </p:txBody>
      </p:sp>
      <p:sp>
        <p:nvSpPr>
          <p:cNvPr id="578" name="Google Shape;578;h56bf6ea97996a94a_1_8"/>
          <p:cNvSpPr/>
          <p:nvPr/>
        </p:nvSpPr>
        <p:spPr>
          <a:xfrm>
            <a:off x="10" y="658085"/>
            <a:ext cx="10789500" cy="4407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0" i="0" lang="en-US" sz="1800" u="none" cap="none" strike="noStrike">
                <a:solidFill>
                  <a:srgbClr val="12496F"/>
                </a:solidFill>
                <a:latin typeface="Arial"/>
                <a:ea typeface="Arial"/>
                <a:cs typeface="Arial"/>
                <a:sym typeface="Arial"/>
              </a:rPr>
              <a:t>Compara dos comunicaciones con destinos diferentes.</a:t>
            </a:r>
            <a:endParaRPr b="0" i="0" sz="1800" u="none" cap="none" strike="noStrike">
              <a:latin typeface="Arial"/>
              <a:ea typeface="Arial"/>
              <a:cs typeface="Arial"/>
              <a:sym typeface="Arial"/>
            </a:endParaRPr>
          </a:p>
        </p:txBody>
      </p:sp>
      <p:sp>
        <p:nvSpPr>
          <p:cNvPr id="579" name="Google Shape;579;h56bf6ea97996a94a_1_8"/>
          <p:cNvSpPr/>
          <p:nvPr/>
        </p:nvSpPr>
        <p:spPr>
          <a:xfrm>
            <a:off x="501050" y="6315875"/>
            <a:ext cx="11392500" cy="456000"/>
          </a:xfrm>
          <a:prstGeom prst="rect">
            <a:avLst/>
          </a:prstGeom>
          <a:noFill/>
          <a:ln>
            <a:noFill/>
          </a:ln>
        </p:spPr>
        <p:txBody>
          <a:bodyPr anchorCtr="0" anchor="t" bIns="45000" lIns="36700" spcFirstLastPara="1" rIns="36700" wrap="square" tIns="45000">
            <a:noAutofit/>
          </a:bodyPr>
          <a:lstStyle/>
          <a:p>
            <a:pPr indent="0" lvl="0" marL="0" rtl="0" algn="l">
              <a:lnSpc>
                <a:spcPct val="115000"/>
              </a:lnSpc>
              <a:spcBef>
                <a:spcPts val="1200"/>
              </a:spcBef>
              <a:spcAft>
                <a:spcPts val="0"/>
              </a:spcAft>
              <a:buSzPts val="1100"/>
              <a:buNone/>
            </a:pPr>
            <a:r>
              <a:rPr lang="en-US" sz="1700">
                <a:solidFill>
                  <a:srgbClr val="687078"/>
                </a:solidFill>
                <a:latin typeface="Times New Roman"/>
                <a:ea typeface="Times New Roman"/>
                <a:cs typeface="Times New Roman"/>
                <a:sym typeface="Times New Roman"/>
              </a:rPr>
              <a:t>el PC decide si el destino es local o remoto; el switch reenvía tramas y el router encamina paquetes entre redes.</a:t>
            </a:r>
            <a:endParaRPr sz="1700">
              <a:solidFill>
                <a:srgbClr val="687078"/>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None/>
            </a:pPr>
            <a:r>
              <a:t/>
            </a:r>
            <a:endParaRPr sz="2000">
              <a:solidFill>
                <a:srgbClr val="687078"/>
              </a:solidFill>
            </a:endParaRPr>
          </a:p>
        </p:txBody>
      </p:sp>
      <p:sp>
        <p:nvSpPr>
          <p:cNvPr id="580" name="Google Shape;580;h56bf6ea97996a94a_1_8"/>
          <p:cNvSpPr/>
          <p:nvPr/>
        </p:nvSpPr>
        <p:spPr>
          <a:xfrm>
            <a:off x="761058" y="2885577"/>
            <a:ext cx="2102700" cy="1371300"/>
          </a:xfrm>
          <a:prstGeom prst="roundRect">
            <a:avLst>
              <a:gd fmla="val 16667" name="adj"/>
            </a:avLst>
          </a:prstGeom>
          <a:solidFill>
            <a:srgbClr val="EBF5EB"/>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h56bf6ea97996a94a_1_8"/>
          <p:cNvSpPr/>
          <p:nvPr/>
        </p:nvSpPr>
        <p:spPr>
          <a:xfrm>
            <a:off x="852497" y="2968017"/>
            <a:ext cx="1920000" cy="395400"/>
          </a:xfrm>
          <a:prstGeom prst="rect">
            <a:avLst/>
          </a:prstGeom>
          <a:noFill/>
          <a:ln>
            <a:noFill/>
          </a:ln>
        </p:spPr>
        <p:txBody>
          <a:bodyPr anchorCtr="0" anchor="t" bIns="45000" lIns="36700" spcFirstLastPara="1" rIns="36700" wrap="square" tIns="45000">
            <a:noAutofit/>
          </a:bodyPr>
          <a:lstStyle/>
          <a:p>
            <a:pPr indent="0" lvl="0" marL="0" marR="0" rtl="0" algn="ctr">
              <a:lnSpc>
                <a:spcPct val="100000"/>
              </a:lnSpc>
              <a:spcBef>
                <a:spcPts val="0"/>
              </a:spcBef>
              <a:spcAft>
                <a:spcPts val="0"/>
              </a:spcAft>
              <a:buNone/>
            </a:pPr>
            <a:r>
              <a:rPr b="1" i="0" lang="en-US" sz="2000" u="none" cap="none" strike="noStrike">
                <a:solidFill>
                  <a:srgbClr val="12496F"/>
                </a:solidFill>
                <a:latin typeface="Arial"/>
                <a:ea typeface="Arial"/>
                <a:cs typeface="Arial"/>
                <a:sym typeface="Arial"/>
              </a:rPr>
              <a:t>PC-A</a:t>
            </a:r>
            <a:endParaRPr b="0" i="0" sz="2000" u="none" cap="none" strike="noStrike">
              <a:latin typeface="Arial"/>
              <a:ea typeface="Arial"/>
              <a:cs typeface="Arial"/>
              <a:sym typeface="Arial"/>
            </a:endParaRPr>
          </a:p>
        </p:txBody>
      </p:sp>
      <p:sp>
        <p:nvSpPr>
          <p:cNvPr id="582" name="Google Shape;582;h56bf6ea97996a94a_1_8"/>
          <p:cNvSpPr/>
          <p:nvPr/>
        </p:nvSpPr>
        <p:spPr>
          <a:xfrm>
            <a:off x="870858" y="3415857"/>
            <a:ext cx="1883100" cy="349500"/>
          </a:xfrm>
          <a:prstGeom prst="rect">
            <a:avLst/>
          </a:prstGeom>
          <a:noFill/>
          <a:ln>
            <a:noFill/>
          </a:ln>
        </p:spPr>
        <p:txBody>
          <a:bodyPr anchorCtr="0" anchor="t" bIns="45000" lIns="36700" spcFirstLastPara="1" rIns="36700" wrap="square" tIns="45000">
            <a:noAutofit/>
          </a:bodyPr>
          <a:lstStyle/>
          <a:p>
            <a:pPr indent="0" lvl="0" marL="0" marR="0" rtl="0" algn="ctr">
              <a:lnSpc>
                <a:spcPct val="100000"/>
              </a:lnSpc>
              <a:spcBef>
                <a:spcPts val="0"/>
              </a:spcBef>
              <a:spcAft>
                <a:spcPts val="0"/>
              </a:spcAft>
              <a:buNone/>
            </a:pPr>
            <a:r>
              <a:rPr b="0" i="0" lang="en-US" sz="1700" u="none" cap="none" strike="noStrike">
                <a:solidFill>
                  <a:srgbClr val="26303A"/>
                </a:solidFill>
                <a:latin typeface="Arial"/>
                <a:ea typeface="Arial"/>
                <a:cs typeface="Arial"/>
                <a:sym typeface="Arial"/>
              </a:rPr>
              <a:t>192.168.10.20</a:t>
            </a:r>
            <a:endParaRPr b="0" i="0" sz="1700" u="none" cap="none" strike="noStrike">
              <a:latin typeface="Arial"/>
              <a:ea typeface="Arial"/>
              <a:cs typeface="Arial"/>
              <a:sym typeface="Arial"/>
            </a:endParaRPr>
          </a:p>
        </p:txBody>
      </p:sp>
      <p:sp>
        <p:nvSpPr>
          <p:cNvPr id="583" name="Google Shape;583;h56bf6ea97996a94a_1_8"/>
          <p:cNvSpPr/>
          <p:nvPr/>
        </p:nvSpPr>
        <p:spPr>
          <a:xfrm>
            <a:off x="3687138" y="2885577"/>
            <a:ext cx="2102700" cy="1371300"/>
          </a:xfrm>
          <a:prstGeom prst="roundRect">
            <a:avLst>
              <a:gd fmla="val 16667" name="adj"/>
            </a:avLst>
          </a:prstGeom>
          <a:solidFill>
            <a:srgbClr val="E7F1F9"/>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h56bf6ea97996a94a_1_8"/>
          <p:cNvSpPr/>
          <p:nvPr/>
        </p:nvSpPr>
        <p:spPr>
          <a:xfrm>
            <a:off x="3778578" y="2968017"/>
            <a:ext cx="1920000" cy="395400"/>
          </a:xfrm>
          <a:prstGeom prst="rect">
            <a:avLst/>
          </a:prstGeom>
          <a:noFill/>
          <a:ln>
            <a:noFill/>
          </a:ln>
        </p:spPr>
        <p:txBody>
          <a:bodyPr anchorCtr="0" anchor="t" bIns="45000" lIns="36700" spcFirstLastPara="1" rIns="36700" wrap="square" tIns="45000">
            <a:noAutofit/>
          </a:bodyPr>
          <a:lstStyle/>
          <a:p>
            <a:pPr indent="0" lvl="0" marL="0" marR="0" rtl="0" algn="ctr">
              <a:lnSpc>
                <a:spcPct val="100000"/>
              </a:lnSpc>
              <a:spcBef>
                <a:spcPts val="0"/>
              </a:spcBef>
              <a:spcAft>
                <a:spcPts val="0"/>
              </a:spcAft>
              <a:buNone/>
            </a:pPr>
            <a:r>
              <a:rPr b="1" i="0" lang="en-US" sz="2000" u="none" cap="none" strike="noStrike">
                <a:solidFill>
                  <a:srgbClr val="12496F"/>
                </a:solidFill>
                <a:latin typeface="Arial"/>
                <a:ea typeface="Arial"/>
                <a:cs typeface="Arial"/>
                <a:sym typeface="Arial"/>
              </a:rPr>
              <a:t>SWITCH</a:t>
            </a:r>
            <a:endParaRPr b="0" i="0" sz="2000" u="none" cap="none" strike="noStrike">
              <a:latin typeface="Arial"/>
              <a:ea typeface="Arial"/>
              <a:cs typeface="Arial"/>
              <a:sym typeface="Arial"/>
            </a:endParaRPr>
          </a:p>
        </p:txBody>
      </p:sp>
      <p:sp>
        <p:nvSpPr>
          <p:cNvPr id="585" name="Google Shape;585;h56bf6ea97996a94a_1_8"/>
          <p:cNvSpPr/>
          <p:nvPr/>
        </p:nvSpPr>
        <p:spPr>
          <a:xfrm>
            <a:off x="3796938" y="3415857"/>
            <a:ext cx="1883100" cy="349500"/>
          </a:xfrm>
          <a:prstGeom prst="rect">
            <a:avLst/>
          </a:prstGeom>
          <a:noFill/>
          <a:ln>
            <a:noFill/>
          </a:ln>
        </p:spPr>
        <p:txBody>
          <a:bodyPr anchorCtr="0" anchor="t" bIns="45000" lIns="36700" spcFirstLastPara="1" rIns="36700" wrap="square" tIns="45000">
            <a:noAutofit/>
          </a:bodyPr>
          <a:lstStyle/>
          <a:p>
            <a:pPr indent="0" lvl="0" marL="0" marR="0" rtl="0" algn="ctr">
              <a:lnSpc>
                <a:spcPct val="100000"/>
              </a:lnSpc>
              <a:spcBef>
                <a:spcPts val="0"/>
              </a:spcBef>
              <a:spcAft>
                <a:spcPts val="0"/>
              </a:spcAft>
              <a:buNone/>
            </a:pPr>
            <a:r>
              <a:rPr b="0" i="0" lang="en-US" sz="1700" u="none" cap="none" strike="noStrike">
                <a:solidFill>
                  <a:srgbClr val="26303A"/>
                </a:solidFill>
                <a:latin typeface="Arial"/>
                <a:ea typeface="Arial"/>
                <a:cs typeface="Arial"/>
                <a:sym typeface="Arial"/>
              </a:rPr>
              <a:t>Red local</a:t>
            </a:r>
            <a:endParaRPr b="0" i="0" sz="1700" u="none" cap="none" strike="noStrike">
              <a:latin typeface="Arial"/>
              <a:ea typeface="Arial"/>
              <a:cs typeface="Arial"/>
              <a:sym typeface="Arial"/>
            </a:endParaRPr>
          </a:p>
        </p:txBody>
      </p:sp>
      <p:sp>
        <p:nvSpPr>
          <p:cNvPr id="586" name="Google Shape;586;h56bf6ea97996a94a_1_8"/>
          <p:cNvSpPr/>
          <p:nvPr/>
        </p:nvSpPr>
        <p:spPr>
          <a:xfrm>
            <a:off x="6613218" y="2885577"/>
            <a:ext cx="2102700" cy="1371300"/>
          </a:xfrm>
          <a:prstGeom prst="roundRect">
            <a:avLst>
              <a:gd fmla="val 16667" name="adj"/>
            </a:avLst>
          </a:prstGeom>
          <a:solidFill>
            <a:srgbClr val="E7F1F9"/>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h56bf6ea97996a94a_1_8"/>
          <p:cNvSpPr/>
          <p:nvPr/>
        </p:nvSpPr>
        <p:spPr>
          <a:xfrm>
            <a:off x="6704658" y="2968017"/>
            <a:ext cx="1920000" cy="395400"/>
          </a:xfrm>
          <a:prstGeom prst="rect">
            <a:avLst/>
          </a:prstGeom>
          <a:noFill/>
          <a:ln>
            <a:noFill/>
          </a:ln>
        </p:spPr>
        <p:txBody>
          <a:bodyPr anchorCtr="0" anchor="t" bIns="45000" lIns="36700" spcFirstLastPara="1" rIns="36700" wrap="square" tIns="45000">
            <a:noAutofit/>
          </a:bodyPr>
          <a:lstStyle/>
          <a:p>
            <a:pPr indent="0" lvl="0" marL="0" marR="0" rtl="0" algn="ctr">
              <a:lnSpc>
                <a:spcPct val="100000"/>
              </a:lnSpc>
              <a:spcBef>
                <a:spcPts val="0"/>
              </a:spcBef>
              <a:spcAft>
                <a:spcPts val="0"/>
              </a:spcAft>
              <a:buNone/>
            </a:pPr>
            <a:r>
              <a:rPr b="1" i="0" lang="en-US" sz="2000" u="none" cap="none" strike="noStrike">
                <a:solidFill>
                  <a:srgbClr val="12496F"/>
                </a:solidFill>
                <a:latin typeface="Arial"/>
                <a:ea typeface="Arial"/>
                <a:cs typeface="Arial"/>
                <a:sym typeface="Arial"/>
              </a:rPr>
              <a:t>ROUTER</a:t>
            </a:r>
            <a:endParaRPr b="0" i="0" sz="2000" u="none" cap="none" strike="noStrike">
              <a:latin typeface="Arial"/>
              <a:ea typeface="Arial"/>
              <a:cs typeface="Arial"/>
              <a:sym typeface="Arial"/>
            </a:endParaRPr>
          </a:p>
        </p:txBody>
      </p:sp>
      <p:sp>
        <p:nvSpPr>
          <p:cNvPr id="588" name="Google Shape;588;h56bf6ea97996a94a_1_8"/>
          <p:cNvSpPr/>
          <p:nvPr/>
        </p:nvSpPr>
        <p:spPr>
          <a:xfrm>
            <a:off x="6723018" y="3415857"/>
            <a:ext cx="1883100" cy="349500"/>
          </a:xfrm>
          <a:prstGeom prst="rect">
            <a:avLst/>
          </a:prstGeom>
          <a:noFill/>
          <a:ln>
            <a:noFill/>
          </a:ln>
        </p:spPr>
        <p:txBody>
          <a:bodyPr anchorCtr="0" anchor="t" bIns="45000" lIns="36700" spcFirstLastPara="1" rIns="36700" wrap="square" tIns="45000">
            <a:noAutofit/>
          </a:bodyPr>
          <a:lstStyle/>
          <a:p>
            <a:pPr indent="0" lvl="0" marL="0" marR="0" rtl="0" algn="ctr">
              <a:lnSpc>
                <a:spcPct val="100000"/>
              </a:lnSpc>
              <a:spcBef>
                <a:spcPts val="0"/>
              </a:spcBef>
              <a:spcAft>
                <a:spcPts val="0"/>
              </a:spcAft>
              <a:buNone/>
            </a:pPr>
            <a:r>
              <a:rPr b="0" i="0" lang="en-US" sz="1700" u="none" cap="none" strike="noStrike">
                <a:solidFill>
                  <a:srgbClr val="26303A"/>
                </a:solidFill>
                <a:latin typeface="Arial"/>
                <a:ea typeface="Arial"/>
                <a:cs typeface="Arial"/>
                <a:sym typeface="Arial"/>
              </a:rPr>
              <a:t>192.168.10.1</a:t>
            </a:r>
            <a:endParaRPr b="0" i="0" sz="1700" u="none" cap="none" strike="noStrike">
              <a:latin typeface="Arial"/>
              <a:ea typeface="Arial"/>
              <a:cs typeface="Arial"/>
              <a:sym typeface="Arial"/>
            </a:endParaRPr>
          </a:p>
        </p:txBody>
      </p:sp>
      <p:sp>
        <p:nvSpPr>
          <p:cNvPr id="589" name="Google Shape;589;h56bf6ea97996a94a_1_8"/>
          <p:cNvSpPr/>
          <p:nvPr/>
        </p:nvSpPr>
        <p:spPr>
          <a:xfrm>
            <a:off x="9539298" y="2885577"/>
            <a:ext cx="2102700" cy="1371300"/>
          </a:xfrm>
          <a:prstGeom prst="roundRect">
            <a:avLst>
              <a:gd fmla="val 16667" name="adj"/>
            </a:avLst>
          </a:prstGeom>
          <a:solidFill>
            <a:srgbClr val="EBF5EB"/>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h56bf6ea97996a94a_1_8"/>
          <p:cNvSpPr/>
          <p:nvPr/>
        </p:nvSpPr>
        <p:spPr>
          <a:xfrm>
            <a:off x="9630738" y="2968017"/>
            <a:ext cx="1920000" cy="395400"/>
          </a:xfrm>
          <a:prstGeom prst="rect">
            <a:avLst/>
          </a:prstGeom>
          <a:noFill/>
          <a:ln>
            <a:noFill/>
          </a:ln>
        </p:spPr>
        <p:txBody>
          <a:bodyPr anchorCtr="0" anchor="t" bIns="45000" lIns="36700" spcFirstLastPara="1" rIns="36700" wrap="square" tIns="45000">
            <a:noAutofit/>
          </a:bodyPr>
          <a:lstStyle/>
          <a:p>
            <a:pPr indent="0" lvl="0" marL="0" marR="0" rtl="0" algn="ctr">
              <a:lnSpc>
                <a:spcPct val="100000"/>
              </a:lnSpc>
              <a:spcBef>
                <a:spcPts val="0"/>
              </a:spcBef>
              <a:spcAft>
                <a:spcPts val="0"/>
              </a:spcAft>
              <a:buNone/>
            </a:pPr>
            <a:r>
              <a:rPr b="1" i="0" lang="en-US" sz="2000" u="none" cap="none" strike="noStrike">
                <a:solidFill>
                  <a:srgbClr val="12496F"/>
                </a:solidFill>
                <a:latin typeface="Arial"/>
                <a:ea typeface="Arial"/>
                <a:cs typeface="Arial"/>
                <a:sym typeface="Arial"/>
              </a:rPr>
              <a:t>INTERNET</a:t>
            </a:r>
            <a:endParaRPr b="0" i="0" sz="2000" u="none" cap="none" strike="noStrike">
              <a:latin typeface="Arial"/>
              <a:ea typeface="Arial"/>
              <a:cs typeface="Arial"/>
              <a:sym typeface="Arial"/>
            </a:endParaRPr>
          </a:p>
        </p:txBody>
      </p:sp>
      <p:sp>
        <p:nvSpPr>
          <p:cNvPr id="591" name="Google Shape;591;h56bf6ea97996a94a_1_8"/>
          <p:cNvSpPr/>
          <p:nvPr/>
        </p:nvSpPr>
        <p:spPr>
          <a:xfrm>
            <a:off x="9649098" y="3415857"/>
            <a:ext cx="1883100" cy="349500"/>
          </a:xfrm>
          <a:prstGeom prst="rect">
            <a:avLst/>
          </a:prstGeom>
          <a:noFill/>
          <a:ln>
            <a:noFill/>
          </a:ln>
        </p:spPr>
        <p:txBody>
          <a:bodyPr anchorCtr="0" anchor="t" bIns="45000" lIns="36700" spcFirstLastPara="1" rIns="36700" wrap="square" tIns="45000">
            <a:noAutofit/>
          </a:bodyPr>
          <a:lstStyle/>
          <a:p>
            <a:pPr indent="0" lvl="0" marL="0" marR="0" rtl="0" algn="ctr">
              <a:lnSpc>
                <a:spcPct val="100000"/>
              </a:lnSpc>
              <a:spcBef>
                <a:spcPts val="0"/>
              </a:spcBef>
              <a:spcAft>
                <a:spcPts val="0"/>
              </a:spcAft>
              <a:buNone/>
            </a:pPr>
            <a:r>
              <a:rPr b="0" i="0" lang="en-US" sz="1700" u="none" cap="none" strike="noStrike">
                <a:solidFill>
                  <a:srgbClr val="26303A"/>
                </a:solidFill>
                <a:latin typeface="Arial"/>
                <a:ea typeface="Arial"/>
                <a:cs typeface="Arial"/>
                <a:sym typeface="Arial"/>
              </a:rPr>
              <a:t>Otra red</a:t>
            </a:r>
            <a:endParaRPr b="0" i="0" sz="1700" u="none" cap="none" strike="noStrike">
              <a:latin typeface="Arial"/>
              <a:ea typeface="Arial"/>
              <a:cs typeface="Arial"/>
              <a:sym typeface="Arial"/>
            </a:endParaRPr>
          </a:p>
        </p:txBody>
      </p:sp>
      <p:sp>
        <p:nvSpPr>
          <p:cNvPr id="592" name="Google Shape;592;h56bf6ea97996a94a_1_8"/>
          <p:cNvSpPr txBox="1"/>
          <p:nvPr/>
        </p:nvSpPr>
        <p:spPr>
          <a:xfrm>
            <a:off x="562837" y="4864267"/>
            <a:ext cx="2420100" cy="114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a:solidFill>
                  <a:schemeClr val="dk1"/>
                </a:solidFill>
                <a:latin typeface="Times New Roman"/>
                <a:ea typeface="Times New Roman"/>
                <a:cs typeface="Times New Roman"/>
                <a:sym typeface="Times New Roman"/>
              </a:rPr>
              <a:t>El PC utiliza su </a:t>
            </a:r>
            <a:r>
              <a:rPr b="1" lang="en-US">
                <a:solidFill>
                  <a:schemeClr val="dk1"/>
                </a:solidFill>
                <a:latin typeface="Times New Roman"/>
                <a:ea typeface="Times New Roman"/>
                <a:cs typeface="Times New Roman"/>
                <a:sym typeface="Times New Roman"/>
              </a:rPr>
              <a:t>IP y máscara</a:t>
            </a:r>
            <a:r>
              <a:rPr lang="en-US">
                <a:solidFill>
                  <a:schemeClr val="dk1"/>
                </a:solidFill>
                <a:latin typeface="Times New Roman"/>
                <a:ea typeface="Times New Roman"/>
                <a:cs typeface="Times New Roman"/>
                <a:sym typeface="Times New Roman"/>
              </a:rPr>
              <a:t> para comprobar si el destino está en la misma red o en otra diferente.</a:t>
            </a:r>
            <a:endParaRPr>
              <a:latin typeface="Times New Roman"/>
              <a:ea typeface="Times New Roman"/>
              <a:cs typeface="Times New Roman"/>
              <a:sym typeface="Times New Roman"/>
            </a:endParaRPr>
          </a:p>
        </p:txBody>
      </p:sp>
      <p:sp>
        <p:nvSpPr>
          <p:cNvPr id="593" name="Google Shape;593;h56bf6ea97996a94a_1_8"/>
          <p:cNvSpPr/>
          <p:nvPr/>
        </p:nvSpPr>
        <p:spPr>
          <a:xfrm>
            <a:off x="3559975" y="1100117"/>
            <a:ext cx="3381300" cy="1548600"/>
          </a:xfrm>
          <a:prstGeom prst="wedgeEllipseCallout">
            <a:avLst>
              <a:gd fmla="val -20833" name="adj1"/>
              <a:gd fmla="val 62500" name="adj2"/>
            </a:avLst>
          </a:prstGeom>
          <a:solidFill>
            <a:srgbClr val="E7F1F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4" name="Google Shape;594;h56bf6ea97996a94a_1_8"/>
          <p:cNvSpPr txBox="1"/>
          <p:nvPr/>
        </p:nvSpPr>
        <p:spPr>
          <a:xfrm>
            <a:off x="3845976" y="1323492"/>
            <a:ext cx="3063000" cy="1046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a:solidFill>
                  <a:schemeClr val="dk1"/>
                </a:solidFill>
                <a:latin typeface="Times New Roman"/>
                <a:ea typeface="Times New Roman"/>
                <a:cs typeface="Times New Roman"/>
                <a:sym typeface="Times New Roman"/>
              </a:rPr>
              <a:t>Si el destino es local, el PC obtiene su </a:t>
            </a:r>
            <a:r>
              <a:rPr b="1" lang="en-US">
                <a:solidFill>
                  <a:schemeClr val="dk1"/>
                </a:solidFill>
                <a:latin typeface="Times New Roman"/>
                <a:ea typeface="Times New Roman"/>
                <a:cs typeface="Times New Roman"/>
                <a:sym typeface="Times New Roman"/>
              </a:rPr>
              <a:t>MAC mediante ARP</a:t>
            </a:r>
            <a:r>
              <a:rPr lang="en-US">
                <a:solidFill>
                  <a:schemeClr val="dk1"/>
                </a:solidFill>
                <a:latin typeface="Times New Roman"/>
                <a:ea typeface="Times New Roman"/>
                <a:cs typeface="Times New Roman"/>
                <a:sym typeface="Times New Roman"/>
              </a:rPr>
              <a:t> (en IPv4) y envía la trama. El switch la reenvía según la dirección MAC de destino.</a:t>
            </a:r>
            <a:endParaRPr b="1" sz="1700">
              <a:latin typeface="Times New Roman"/>
              <a:ea typeface="Times New Roman"/>
              <a:cs typeface="Times New Roman"/>
              <a:sym typeface="Times New Roman"/>
            </a:endParaRPr>
          </a:p>
          <a:p>
            <a:pPr indent="0" lvl="0" marL="0" rtl="0" algn="l">
              <a:spcBef>
                <a:spcPts val="1200"/>
              </a:spcBef>
              <a:spcAft>
                <a:spcPts val="0"/>
              </a:spcAft>
              <a:buNone/>
            </a:pPr>
            <a:r>
              <a:t/>
            </a:r>
            <a:endParaRPr sz="1800"/>
          </a:p>
        </p:txBody>
      </p:sp>
      <p:sp>
        <p:nvSpPr>
          <p:cNvPr id="595" name="Google Shape;595;h56bf6ea97996a94a_1_8"/>
          <p:cNvSpPr/>
          <p:nvPr/>
        </p:nvSpPr>
        <p:spPr>
          <a:xfrm>
            <a:off x="5088975" y="4681625"/>
            <a:ext cx="4291800" cy="1548600"/>
          </a:xfrm>
          <a:prstGeom prst="wedgeEllipseCallout">
            <a:avLst>
              <a:gd fmla="val 22025" name="adj1"/>
              <a:gd fmla="val -70301" name="adj2"/>
            </a:avLst>
          </a:prstGeom>
          <a:solidFill>
            <a:srgbClr val="E7F1F9"/>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6" name="Google Shape;596;h56bf6ea97996a94a_1_8"/>
          <p:cNvSpPr txBox="1"/>
          <p:nvPr/>
        </p:nvSpPr>
        <p:spPr>
          <a:xfrm>
            <a:off x="5511100" y="4919575"/>
            <a:ext cx="3761100" cy="114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a:solidFill>
                  <a:schemeClr val="dk1"/>
                </a:solidFill>
                <a:latin typeface="Times New Roman"/>
                <a:ea typeface="Times New Roman"/>
                <a:cs typeface="Times New Roman"/>
                <a:sym typeface="Times New Roman"/>
              </a:rPr>
              <a:t>Si el destino es remoto, el PC envía la trama a la </a:t>
            </a:r>
            <a:r>
              <a:rPr b="1" lang="en-US">
                <a:solidFill>
                  <a:schemeClr val="dk1"/>
                </a:solidFill>
                <a:latin typeface="Times New Roman"/>
                <a:ea typeface="Times New Roman"/>
                <a:cs typeface="Times New Roman"/>
                <a:sym typeface="Times New Roman"/>
              </a:rPr>
              <a:t>puerta de enlace</a:t>
            </a:r>
            <a:r>
              <a:rPr lang="en-US">
                <a:solidFill>
                  <a:schemeClr val="dk1"/>
                </a:solidFill>
                <a:latin typeface="Times New Roman"/>
                <a:ea typeface="Times New Roman"/>
                <a:cs typeface="Times New Roman"/>
                <a:sym typeface="Times New Roman"/>
              </a:rPr>
              <a:t>. El router consulta su </a:t>
            </a:r>
            <a:r>
              <a:rPr b="1" lang="en-US">
                <a:solidFill>
                  <a:schemeClr val="dk1"/>
                </a:solidFill>
                <a:latin typeface="Times New Roman"/>
                <a:ea typeface="Times New Roman"/>
                <a:cs typeface="Times New Roman"/>
                <a:sym typeface="Times New Roman"/>
              </a:rPr>
              <a:t>tabla de rutas</a:t>
            </a:r>
            <a:r>
              <a:rPr lang="en-US">
                <a:solidFill>
                  <a:schemeClr val="dk1"/>
                </a:solidFill>
                <a:latin typeface="Times New Roman"/>
                <a:ea typeface="Times New Roman"/>
                <a:cs typeface="Times New Roman"/>
                <a:sym typeface="Times New Roman"/>
              </a:rPr>
              <a:t> y encamina el paquete hacia la siguiente red.</a:t>
            </a:r>
            <a:endParaRPr sz="1700">
              <a:latin typeface="Times New Roman"/>
              <a:ea typeface="Times New Roman"/>
              <a:cs typeface="Times New Roman"/>
              <a:sym typeface="Times New Roman"/>
            </a:endParaRPr>
          </a:p>
        </p:txBody>
      </p:sp>
      <p:sp>
        <p:nvSpPr>
          <p:cNvPr id="597" name="Google Shape;597;h56bf6ea97996a94a_1_8"/>
          <p:cNvSpPr/>
          <p:nvPr/>
        </p:nvSpPr>
        <p:spPr>
          <a:xfrm>
            <a:off x="7664900" y="908075"/>
            <a:ext cx="4113300" cy="1740900"/>
          </a:xfrm>
          <a:prstGeom prst="wedgeEllipseCallout">
            <a:avLst>
              <a:gd fmla="val 35389" name="adj1"/>
              <a:gd fmla="val 61335" name="adj2"/>
            </a:avLst>
          </a:prstGeom>
          <a:solidFill>
            <a:srgbClr val="E7F1F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8" name="Google Shape;598;h56bf6ea97996a94a_1_8"/>
          <p:cNvSpPr txBox="1"/>
          <p:nvPr/>
        </p:nvSpPr>
        <p:spPr>
          <a:xfrm>
            <a:off x="8287825" y="1065003"/>
            <a:ext cx="3063000" cy="137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a:solidFill>
                  <a:schemeClr val="dk1"/>
                </a:solidFill>
                <a:latin typeface="Times New Roman"/>
                <a:ea typeface="Times New Roman"/>
                <a:cs typeface="Times New Roman"/>
                <a:sym typeface="Times New Roman"/>
              </a:rPr>
              <a:t>En una red doméstica IPv4, el router suele usar </a:t>
            </a:r>
            <a:r>
              <a:rPr b="1" lang="en-US">
                <a:solidFill>
                  <a:schemeClr val="dk1"/>
                </a:solidFill>
                <a:latin typeface="Times New Roman"/>
                <a:ea typeface="Times New Roman"/>
                <a:cs typeface="Times New Roman"/>
                <a:sym typeface="Times New Roman"/>
              </a:rPr>
              <a:t>NAT/PAT</a:t>
            </a:r>
            <a:r>
              <a:rPr lang="en-US">
                <a:solidFill>
                  <a:schemeClr val="dk1"/>
                </a:solidFill>
                <a:latin typeface="Times New Roman"/>
                <a:ea typeface="Times New Roman"/>
                <a:cs typeface="Times New Roman"/>
                <a:sym typeface="Times New Roman"/>
              </a:rPr>
              <a:t> para que varios equipos privados compartan una IP pública. No es obligato</a:t>
            </a:r>
            <a:r>
              <a:rPr lang="en-US" sz="1100">
                <a:solidFill>
                  <a:schemeClr val="dk1"/>
                </a:solidFill>
              </a:rPr>
              <a:t>rio en todos los routers.</a:t>
            </a:r>
            <a:endParaRPr sz="1100">
              <a:solidFill>
                <a:schemeClr val="dk1"/>
              </a:solidFill>
            </a:endParaRPr>
          </a:p>
          <a:p>
            <a:pPr indent="0" lvl="0" marL="0" rtl="0" algn="just">
              <a:spcBef>
                <a:spcPts val="1200"/>
              </a:spcBef>
              <a:spcAft>
                <a:spcPts val="0"/>
              </a:spcAft>
              <a:buNone/>
            </a:pPr>
            <a:r>
              <a:t/>
            </a:r>
            <a:endParaRPr>
              <a:latin typeface="Times New Roman"/>
              <a:ea typeface="Times New Roman"/>
              <a:cs typeface="Times New Roman"/>
              <a:sym typeface="Times New Roman"/>
            </a:endParaRPr>
          </a:p>
          <a:p>
            <a:pPr indent="0" lvl="0" marL="0" rtl="0" algn="l">
              <a:spcBef>
                <a:spcPts val="0"/>
              </a:spcBef>
              <a:spcAft>
                <a:spcPts val="0"/>
              </a:spcAft>
              <a:buNone/>
            </a:pPr>
            <a:r>
              <a:t/>
            </a:r>
            <a:endParaRPr sz="1800"/>
          </a:p>
        </p:txBody>
      </p:sp>
      <p:sp>
        <p:nvSpPr>
          <p:cNvPr id="599" name="Google Shape;599;h56bf6ea97996a94a_1_8"/>
          <p:cNvSpPr/>
          <p:nvPr/>
        </p:nvSpPr>
        <p:spPr>
          <a:xfrm>
            <a:off x="2982925" y="3472000"/>
            <a:ext cx="577200" cy="349500"/>
          </a:xfrm>
          <a:prstGeom prst="rightArrow">
            <a:avLst>
              <a:gd fmla="val 50000" name="adj1"/>
              <a:gd fmla="val 50000" name="adj2"/>
            </a:avLst>
          </a:prstGeom>
          <a:solidFill>
            <a:srgbClr val="E7F1F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0" name="Google Shape;600;h56bf6ea97996a94a_1_8"/>
          <p:cNvSpPr/>
          <p:nvPr/>
        </p:nvSpPr>
        <p:spPr>
          <a:xfrm>
            <a:off x="5908712" y="3490425"/>
            <a:ext cx="577200" cy="349500"/>
          </a:xfrm>
          <a:prstGeom prst="rightArrow">
            <a:avLst>
              <a:gd fmla="val 50000" name="adj1"/>
              <a:gd fmla="val 50000" name="adj2"/>
            </a:avLst>
          </a:prstGeom>
          <a:solidFill>
            <a:srgbClr val="E7F1F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1" name="Google Shape;601;h56bf6ea97996a94a_1_8"/>
          <p:cNvSpPr/>
          <p:nvPr/>
        </p:nvSpPr>
        <p:spPr>
          <a:xfrm>
            <a:off x="8839013" y="3490438"/>
            <a:ext cx="577200" cy="349500"/>
          </a:xfrm>
          <a:prstGeom prst="rightArrow">
            <a:avLst>
              <a:gd fmla="val 50000" name="adj1"/>
              <a:gd fmla="val 50000" name="adj2"/>
            </a:avLst>
          </a:prstGeom>
          <a:solidFill>
            <a:srgbClr val="E7F1F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02" name="Google Shape;602;h56bf6ea97996a94a_1_8"/>
          <p:cNvPicPr preferRelativeResize="0"/>
          <p:nvPr/>
        </p:nvPicPr>
        <p:blipFill>
          <a:blip r:embed="rId3">
            <a:alphaModFix/>
          </a:blip>
          <a:stretch>
            <a:fillRect/>
          </a:stretch>
        </p:blipFill>
        <p:spPr>
          <a:xfrm>
            <a:off x="471350" y="1306525"/>
            <a:ext cx="2618702" cy="1371299"/>
          </a:xfrm>
          <a:prstGeom prst="rect">
            <a:avLst/>
          </a:prstGeom>
          <a:noFill/>
          <a:ln>
            <a:noFill/>
          </a:ln>
        </p:spPr>
      </p:pic>
      <p:pic>
        <p:nvPicPr>
          <p:cNvPr id="603" name="Google Shape;603;h56bf6ea97996a94a_1_8"/>
          <p:cNvPicPr preferRelativeResize="0"/>
          <p:nvPr/>
        </p:nvPicPr>
        <p:blipFill>
          <a:blip r:embed="rId4">
            <a:alphaModFix/>
          </a:blip>
          <a:stretch>
            <a:fillRect/>
          </a:stretch>
        </p:blipFill>
        <p:spPr>
          <a:xfrm>
            <a:off x="9630750" y="4780549"/>
            <a:ext cx="2420098" cy="135076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9"/>
          <p:cNvSpPr/>
          <p:nvPr/>
        </p:nvSpPr>
        <p:spPr>
          <a:xfrm>
            <a:off x="0" y="0"/>
            <a:ext cx="12191400" cy="658080"/>
          </a:xfrm>
          <a:prstGeom prst="rect">
            <a:avLst/>
          </a:prstGeom>
          <a:solidFill>
            <a:srgbClr val="12496F"/>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9"/>
          <p:cNvSpPr/>
          <p:nvPr/>
        </p:nvSpPr>
        <p:spPr>
          <a:xfrm>
            <a:off x="567000" y="82440"/>
            <a:ext cx="10972440" cy="45612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1" i="0" lang="en-US" sz="2400" u="none" cap="none" strike="noStrike">
                <a:solidFill>
                  <a:srgbClr val="FFFFFF"/>
                </a:solidFill>
                <a:latin typeface="Arial"/>
                <a:ea typeface="Arial"/>
                <a:cs typeface="Arial"/>
                <a:sym typeface="Arial"/>
              </a:rPr>
              <a:t>8 · Punto de acceso (AP): Fabián Fern</a:t>
            </a:r>
            <a:r>
              <a:rPr b="1" lang="en-US" sz="2400">
                <a:solidFill>
                  <a:srgbClr val="FFFFFF"/>
                </a:solidFill>
              </a:rPr>
              <a:t>á</a:t>
            </a:r>
            <a:r>
              <a:rPr b="1" i="0" lang="en-US" sz="2400" u="none" cap="none" strike="noStrike">
                <a:solidFill>
                  <a:srgbClr val="FFFFFF"/>
                </a:solidFill>
                <a:latin typeface="Arial"/>
                <a:ea typeface="Arial"/>
                <a:cs typeface="Arial"/>
                <a:sym typeface="Arial"/>
              </a:rPr>
              <a:t>ndez</a:t>
            </a:r>
            <a:endParaRPr b="0" i="0" sz="2400" u="none" cap="none" strike="noStrike">
              <a:latin typeface="Arial"/>
              <a:ea typeface="Arial"/>
              <a:cs typeface="Arial"/>
              <a:sym typeface="Arial"/>
            </a:endParaRPr>
          </a:p>
        </p:txBody>
      </p:sp>
      <p:sp>
        <p:nvSpPr>
          <p:cNvPr id="610" name="Google Shape;610;p9"/>
          <p:cNvSpPr/>
          <p:nvPr/>
        </p:nvSpPr>
        <p:spPr>
          <a:xfrm>
            <a:off x="0" y="703450"/>
            <a:ext cx="6002700" cy="3036300"/>
          </a:xfrm>
          <a:prstGeom prst="roundRect">
            <a:avLst>
              <a:gd fmla="val 16667" name="adj"/>
            </a:avLst>
          </a:prstGeom>
          <a:solidFill>
            <a:srgbClr val="E7F1F9"/>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9"/>
          <p:cNvSpPr/>
          <p:nvPr/>
        </p:nvSpPr>
        <p:spPr>
          <a:xfrm>
            <a:off x="247355" y="993955"/>
            <a:ext cx="5097600" cy="3954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1" i="0" lang="en-US" sz="2000" u="none" cap="none" strike="noStrike">
                <a:solidFill>
                  <a:srgbClr val="12496F"/>
                </a:solidFill>
                <a:latin typeface="Arial"/>
                <a:ea typeface="Arial"/>
                <a:cs typeface="Arial"/>
                <a:sym typeface="Arial"/>
              </a:rPr>
              <a:t>Función</a:t>
            </a:r>
            <a:endParaRPr b="0" i="0" sz="2000" u="none" cap="none" strike="noStrike">
              <a:latin typeface="Arial"/>
              <a:ea typeface="Arial"/>
              <a:cs typeface="Arial"/>
              <a:sym typeface="Arial"/>
            </a:endParaRPr>
          </a:p>
        </p:txBody>
      </p:sp>
      <p:sp>
        <p:nvSpPr>
          <p:cNvPr id="612" name="Google Shape;612;p9"/>
          <p:cNvSpPr/>
          <p:nvPr/>
        </p:nvSpPr>
        <p:spPr>
          <a:xfrm>
            <a:off x="247350" y="1437475"/>
            <a:ext cx="5930700" cy="5430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0" i="0" lang="en-US" sz="1500" u="none" cap="none" strike="noStrike">
                <a:solidFill>
                  <a:srgbClr val="26303A"/>
                </a:solidFill>
                <a:latin typeface="Arial"/>
                <a:ea typeface="Arial"/>
                <a:cs typeface="Arial"/>
                <a:sym typeface="Arial"/>
              </a:rPr>
              <a:t>Gestiona la conexión inalámbrica de clientes y enlaza con la red cableada.</a:t>
            </a:r>
            <a:endParaRPr b="0" i="0" sz="1500" u="none" cap="none" strike="noStrike">
              <a:latin typeface="Arial"/>
              <a:ea typeface="Arial"/>
              <a:cs typeface="Arial"/>
              <a:sym typeface="Arial"/>
            </a:endParaRPr>
          </a:p>
        </p:txBody>
      </p:sp>
      <p:sp>
        <p:nvSpPr>
          <p:cNvPr id="613" name="Google Shape;613;p9"/>
          <p:cNvSpPr/>
          <p:nvPr/>
        </p:nvSpPr>
        <p:spPr>
          <a:xfrm>
            <a:off x="6002650" y="703450"/>
            <a:ext cx="6189300" cy="3032100"/>
          </a:xfrm>
          <a:prstGeom prst="roundRect">
            <a:avLst>
              <a:gd fmla="val 16667" name="adj"/>
            </a:avLst>
          </a:prstGeom>
          <a:solidFill>
            <a:srgbClr val="EBF5EB"/>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9"/>
          <p:cNvSpPr/>
          <p:nvPr/>
        </p:nvSpPr>
        <p:spPr>
          <a:xfrm>
            <a:off x="6359760" y="994018"/>
            <a:ext cx="5097600" cy="3954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1" i="0" lang="en-US" sz="2000" u="none" cap="none" strike="noStrike">
                <a:solidFill>
                  <a:srgbClr val="12496F"/>
                </a:solidFill>
                <a:latin typeface="Arial"/>
                <a:ea typeface="Arial"/>
                <a:cs typeface="Arial"/>
                <a:sym typeface="Arial"/>
              </a:rPr>
              <a:t>SSID</a:t>
            </a:r>
            <a:endParaRPr b="0" i="0" sz="2000" u="none" cap="none" strike="noStrike">
              <a:latin typeface="Arial"/>
              <a:ea typeface="Arial"/>
              <a:cs typeface="Arial"/>
              <a:sym typeface="Arial"/>
            </a:endParaRPr>
          </a:p>
        </p:txBody>
      </p:sp>
      <p:sp>
        <p:nvSpPr>
          <p:cNvPr id="615" name="Google Shape;615;p9"/>
          <p:cNvSpPr/>
          <p:nvPr/>
        </p:nvSpPr>
        <p:spPr>
          <a:xfrm>
            <a:off x="6359749" y="1437475"/>
            <a:ext cx="5415000" cy="10050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0" i="0" lang="en-US" sz="1500" u="none" cap="none" strike="noStrike">
                <a:solidFill>
                  <a:srgbClr val="26303A"/>
                </a:solidFill>
                <a:latin typeface="Arial"/>
                <a:ea typeface="Arial"/>
                <a:cs typeface="Arial"/>
                <a:sym typeface="Arial"/>
              </a:rPr>
              <a:t>Nombre de la red Wi-Fi anunciado por el AP (puede haber varios AP con el mismo SSID).</a:t>
            </a:r>
            <a:endParaRPr b="0" i="0" sz="1500" u="none" cap="none" strike="noStrike">
              <a:latin typeface="Arial"/>
              <a:ea typeface="Arial"/>
              <a:cs typeface="Arial"/>
              <a:sym typeface="Arial"/>
            </a:endParaRPr>
          </a:p>
        </p:txBody>
      </p:sp>
      <p:sp>
        <p:nvSpPr>
          <p:cNvPr id="616" name="Google Shape;616;p9"/>
          <p:cNvSpPr/>
          <p:nvPr/>
        </p:nvSpPr>
        <p:spPr>
          <a:xfrm>
            <a:off x="0" y="3821700"/>
            <a:ext cx="6002700" cy="3036300"/>
          </a:xfrm>
          <a:prstGeom prst="roundRect">
            <a:avLst>
              <a:gd fmla="val 16667" name="adj"/>
            </a:avLst>
          </a:prstGeom>
          <a:solidFill>
            <a:srgbClr val="FFF2E0"/>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9"/>
          <p:cNvSpPr/>
          <p:nvPr/>
        </p:nvSpPr>
        <p:spPr>
          <a:xfrm>
            <a:off x="316330" y="4005000"/>
            <a:ext cx="5097600" cy="3954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1" i="0" lang="en-US" sz="2000" u="none" cap="none" strike="noStrike">
                <a:solidFill>
                  <a:srgbClr val="12496F"/>
                </a:solidFill>
                <a:latin typeface="Arial"/>
                <a:ea typeface="Arial"/>
                <a:cs typeface="Arial"/>
                <a:sym typeface="Arial"/>
              </a:rPr>
              <a:t>Seguridad</a:t>
            </a:r>
            <a:endParaRPr b="0" i="0" sz="2000" u="none" cap="none" strike="noStrike">
              <a:latin typeface="Arial"/>
              <a:ea typeface="Arial"/>
              <a:cs typeface="Arial"/>
              <a:sym typeface="Arial"/>
            </a:endParaRPr>
          </a:p>
        </p:txBody>
      </p:sp>
      <p:sp>
        <p:nvSpPr>
          <p:cNvPr id="618" name="Google Shape;618;p9"/>
          <p:cNvSpPr/>
          <p:nvPr/>
        </p:nvSpPr>
        <p:spPr>
          <a:xfrm>
            <a:off x="6002651" y="3821695"/>
            <a:ext cx="6189300" cy="3036300"/>
          </a:xfrm>
          <a:prstGeom prst="roundRect">
            <a:avLst>
              <a:gd fmla="val 16667" name="adj"/>
            </a:avLst>
          </a:prstGeom>
          <a:solidFill>
            <a:srgbClr val="F3ECF9"/>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9"/>
          <p:cNvSpPr/>
          <p:nvPr/>
        </p:nvSpPr>
        <p:spPr>
          <a:xfrm>
            <a:off x="6359760" y="4187625"/>
            <a:ext cx="5097600" cy="3954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1" i="0" lang="en-US" sz="2000" u="none" cap="none" strike="noStrike">
                <a:solidFill>
                  <a:srgbClr val="12496F"/>
                </a:solidFill>
                <a:latin typeface="Arial"/>
                <a:ea typeface="Arial"/>
                <a:cs typeface="Arial"/>
                <a:sym typeface="Arial"/>
              </a:rPr>
              <a:t>PoE</a:t>
            </a:r>
            <a:endParaRPr b="0" i="0" sz="2000" u="none" cap="none" strike="noStrike">
              <a:latin typeface="Arial"/>
              <a:ea typeface="Arial"/>
              <a:cs typeface="Arial"/>
              <a:sym typeface="Arial"/>
            </a:endParaRPr>
          </a:p>
        </p:txBody>
      </p:sp>
      <p:sp>
        <p:nvSpPr>
          <p:cNvPr id="620" name="Google Shape;620;p9"/>
          <p:cNvSpPr/>
          <p:nvPr/>
        </p:nvSpPr>
        <p:spPr>
          <a:xfrm>
            <a:off x="6359750" y="4737552"/>
            <a:ext cx="5097600" cy="6978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0" i="0" lang="en-US" sz="1500" u="none" cap="none" strike="noStrike">
                <a:solidFill>
                  <a:srgbClr val="26303A"/>
                </a:solidFill>
                <a:latin typeface="Arial"/>
                <a:ea typeface="Arial"/>
                <a:cs typeface="Arial"/>
                <a:sym typeface="Arial"/>
              </a:rPr>
              <a:t>Muchos AP profesionales reciben datos y alimentación por Ethernet compatible.</a:t>
            </a:r>
            <a:endParaRPr b="0" i="0" sz="1500" u="none" cap="none" strike="noStrike">
              <a:latin typeface="Arial"/>
              <a:ea typeface="Arial"/>
              <a:cs typeface="Arial"/>
              <a:sym typeface="Arial"/>
            </a:endParaRPr>
          </a:p>
        </p:txBody>
      </p:sp>
      <p:sp>
        <p:nvSpPr>
          <p:cNvPr id="621" name="Google Shape;621;p9"/>
          <p:cNvSpPr txBox="1"/>
          <p:nvPr/>
        </p:nvSpPr>
        <p:spPr>
          <a:xfrm>
            <a:off x="247350" y="2080075"/>
            <a:ext cx="5458800" cy="12342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1200"/>
              </a:spcBef>
              <a:spcAft>
                <a:spcPts val="0"/>
              </a:spcAft>
              <a:buClr>
                <a:schemeClr val="dk1"/>
              </a:buClr>
              <a:buSzPts val="1500"/>
              <a:buChar char="●"/>
            </a:pPr>
            <a:r>
              <a:rPr b="1" lang="en-US" sz="1500">
                <a:solidFill>
                  <a:schemeClr val="dk1"/>
                </a:solidFill>
              </a:rPr>
              <a:t>Modo AP: </a:t>
            </a:r>
            <a:r>
              <a:rPr lang="en-US" sz="1500">
                <a:solidFill>
                  <a:schemeClr val="dk1"/>
                </a:solidFill>
              </a:rPr>
              <a:t>Por cable</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US" sz="1500">
                <a:solidFill>
                  <a:schemeClr val="dk1"/>
                </a:solidFill>
              </a:rPr>
              <a:t>Modo Repetidor/Extensor:</a:t>
            </a:r>
            <a:r>
              <a:rPr lang="en-US" sz="1500">
                <a:solidFill>
                  <a:schemeClr val="dk1"/>
                </a:solidFill>
              </a:rPr>
              <a:t> Amplia señal Wi-Fi</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US" sz="1500">
                <a:solidFill>
                  <a:schemeClr val="dk1"/>
                </a:solidFill>
              </a:rPr>
              <a:t>Modo Puente (Bridge):</a:t>
            </a:r>
            <a:r>
              <a:rPr lang="en-US" sz="1500">
                <a:solidFill>
                  <a:schemeClr val="dk1"/>
                </a:solidFill>
              </a:rPr>
              <a:t> Conecta de forma inalámbrica dos redes cableadas separadas.</a:t>
            </a:r>
            <a:endParaRPr sz="1500">
              <a:solidFill>
                <a:schemeClr val="dk1"/>
              </a:solidFill>
            </a:endParaRPr>
          </a:p>
          <a:p>
            <a:pPr indent="0" lvl="0" marL="0" rtl="0" algn="l">
              <a:spcBef>
                <a:spcPts val="2100"/>
              </a:spcBef>
              <a:spcAft>
                <a:spcPts val="0"/>
              </a:spcAft>
              <a:buNone/>
            </a:pPr>
            <a:r>
              <a:t/>
            </a:r>
            <a:endParaRPr sz="1800"/>
          </a:p>
        </p:txBody>
      </p:sp>
      <p:sp>
        <p:nvSpPr>
          <p:cNvPr id="622" name="Google Shape;622;p9"/>
          <p:cNvSpPr txBox="1"/>
          <p:nvPr/>
        </p:nvSpPr>
        <p:spPr>
          <a:xfrm>
            <a:off x="6370750" y="1980475"/>
            <a:ext cx="5168700" cy="1616100"/>
          </a:xfrm>
          <a:prstGeom prst="rect">
            <a:avLst/>
          </a:prstGeom>
          <a:noFill/>
          <a:ln>
            <a:noFill/>
          </a:ln>
        </p:spPr>
        <p:txBody>
          <a:bodyPr anchorCtr="0" anchor="t" bIns="91425" lIns="91425" spcFirstLastPara="1" rIns="91425" wrap="square" tIns="91425">
            <a:noAutofit/>
          </a:bodyPr>
          <a:lstStyle/>
          <a:p>
            <a:pPr indent="-323850" lvl="0" marL="457200" rtl="0" algn="l">
              <a:lnSpc>
                <a:spcPct val="100000"/>
              </a:lnSpc>
              <a:spcBef>
                <a:spcPts val="2100"/>
              </a:spcBef>
              <a:spcAft>
                <a:spcPts val="0"/>
              </a:spcAft>
              <a:buClr>
                <a:schemeClr val="dk1"/>
              </a:buClr>
              <a:buSzPts val="1500"/>
              <a:buChar char="●"/>
            </a:pPr>
            <a:r>
              <a:rPr b="1" lang="en-US" sz="1500">
                <a:solidFill>
                  <a:schemeClr val="dk1"/>
                </a:solidFill>
              </a:rPr>
              <a:t>S</a:t>
            </a:r>
            <a:r>
              <a:rPr b="1" lang="en-US" sz="1500">
                <a:solidFill>
                  <a:schemeClr val="dk1"/>
                </a:solidFill>
              </a:rPr>
              <a:t>egmentación por VLAN:</a:t>
            </a:r>
            <a:r>
              <a:rPr lang="en-US" sz="1500">
                <a:solidFill>
                  <a:schemeClr val="dk1"/>
                </a:solidFill>
              </a:rPr>
              <a:t> Permite separar el tráfico de cada SSID por seguridad. Los invitados no pueden ver ni acceder a las carpetas de los empleados.</a:t>
            </a:r>
            <a:endParaRPr sz="1800"/>
          </a:p>
        </p:txBody>
      </p:sp>
      <p:sp>
        <p:nvSpPr>
          <p:cNvPr id="623" name="Google Shape;623;p9"/>
          <p:cNvSpPr txBox="1"/>
          <p:nvPr/>
        </p:nvSpPr>
        <p:spPr>
          <a:xfrm>
            <a:off x="137950" y="4469200"/>
            <a:ext cx="5035200" cy="22548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2100"/>
              </a:spcBef>
              <a:spcAft>
                <a:spcPts val="0"/>
              </a:spcAft>
              <a:buClr>
                <a:schemeClr val="dk1"/>
              </a:buClr>
              <a:buSzPts val="1500"/>
              <a:buChar char="●"/>
            </a:pPr>
            <a:r>
              <a:rPr b="1" lang="en-US" sz="1500">
                <a:solidFill>
                  <a:schemeClr val="dk1"/>
                </a:solidFill>
              </a:rPr>
              <a:t>Cifrado moderno:</a:t>
            </a:r>
            <a:r>
              <a:rPr lang="en-US" sz="1500">
                <a:solidFill>
                  <a:schemeClr val="dk1"/>
                </a:solidFill>
              </a:rPr>
              <a:t> WPA3 incorpora mecanismos de autenticación y cifrado más robustos que los de generaciones anteriores </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US" sz="1500">
                <a:solidFill>
                  <a:schemeClr val="dk1"/>
                </a:solidFill>
              </a:rPr>
              <a:t>Aislamiento de clientes:</a:t>
            </a:r>
            <a:r>
              <a:rPr lang="en-US" sz="1500">
                <a:solidFill>
                  <a:schemeClr val="dk1"/>
                </a:solidFill>
              </a:rPr>
              <a:t> Puede impedir la comunicación directa entre clientes inalámbricos asociados, según la configuración </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US" sz="1500">
                <a:solidFill>
                  <a:schemeClr val="dk1"/>
                </a:solidFill>
              </a:rPr>
              <a:t>Portal Cautivo: </a:t>
            </a:r>
            <a:r>
              <a:rPr lang="en-US" sz="1500">
                <a:solidFill>
                  <a:schemeClr val="dk1"/>
                </a:solidFill>
              </a:rPr>
              <a:t>Página de acceso o aceptación de condiciones, que puede requerir autenticación </a:t>
            </a:r>
            <a:endParaRPr sz="1500">
              <a:solidFill>
                <a:schemeClr val="dk1"/>
              </a:solidFill>
            </a:endParaRPr>
          </a:p>
          <a:p>
            <a:pPr indent="0" lvl="0" marL="0" rtl="0" algn="l">
              <a:spcBef>
                <a:spcPts val="4200"/>
              </a:spcBef>
              <a:spcAft>
                <a:spcPts val="0"/>
              </a:spcAft>
              <a:buNone/>
            </a:pPr>
            <a:r>
              <a:t/>
            </a:r>
            <a:endParaRPr sz="1800"/>
          </a:p>
        </p:txBody>
      </p:sp>
      <p:sp>
        <p:nvSpPr>
          <p:cNvPr id="624" name="Google Shape;624;p9"/>
          <p:cNvSpPr txBox="1"/>
          <p:nvPr/>
        </p:nvSpPr>
        <p:spPr>
          <a:xfrm>
            <a:off x="6359750" y="5334400"/>
            <a:ext cx="5097600" cy="11592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Char char="●"/>
            </a:pPr>
            <a:r>
              <a:rPr b="1" lang="en-US" sz="1500">
                <a:solidFill>
                  <a:schemeClr val="dk1"/>
                </a:solidFill>
              </a:rPr>
              <a:t>Estándares:</a:t>
            </a:r>
            <a:r>
              <a:rPr lang="en-US" sz="1500">
                <a:solidFill>
                  <a:schemeClr val="dk1"/>
                </a:solidFill>
              </a:rPr>
              <a:t> Se rige por los estándares IEEE 802.3af (PoE) y 802.3at (PoE+) </a:t>
            </a:r>
            <a:endParaRPr sz="1500"/>
          </a:p>
        </p:txBody>
      </p:sp>
      <p:pic>
        <p:nvPicPr>
          <p:cNvPr id="625" name="Google Shape;625;p9"/>
          <p:cNvPicPr preferRelativeResize="0"/>
          <p:nvPr/>
        </p:nvPicPr>
        <p:blipFill>
          <a:blip r:embed="rId3">
            <a:alphaModFix/>
          </a:blip>
          <a:stretch>
            <a:fillRect/>
          </a:stretch>
        </p:blipFill>
        <p:spPr>
          <a:xfrm>
            <a:off x="4968150" y="2799576"/>
            <a:ext cx="1743051" cy="1439238"/>
          </a:xfrm>
          <a:prstGeom prst="rect">
            <a:avLst/>
          </a:prstGeom>
          <a:noFill/>
          <a:ln>
            <a:noFill/>
          </a:ln>
        </p:spPr>
      </p:pic>
      <p:pic>
        <p:nvPicPr>
          <p:cNvPr id="626" name="Google Shape;626;p9"/>
          <p:cNvPicPr preferRelativeResize="0"/>
          <p:nvPr/>
        </p:nvPicPr>
        <p:blipFill>
          <a:blip r:embed="rId4">
            <a:alphaModFix/>
          </a:blip>
          <a:stretch>
            <a:fillRect/>
          </a:stretch>
        </p:blipFill>
        <p:spPr>
          <a:xfrm>
            <a:off x="1750600" y="3900050"/>
            <a:ext cx="543000" cy="543000"/>
          </a:xfrm>
          <a:prstGeom prst="rect">
            <a:avLst/>
          </a:prstGeom>
          <a:noFill/>
          <a:ln>
            <a:noFill/>
          </a:ln>
        </p:spPr>
      </p:pic>
      <p:pic>
        <p:nvPicPr>
          <p:cNvPr id="627" name="Google Shape;627;p9"/>
          <p:cNvPicPr preferRelativeResize="0"/>
          <p:nvPr/>
        </p:nvPicPr>
        <p:blipFill>
          <a:blip r:embed="rId5">
            <a:alphaModFix/>
          </a:blip>
          <a:stretch>
            <a:fillRect/>
          </a:stretch>
        </p:blipFill>
        <p:spPr>
          <a:xfrm>
            <a:off x="1459625" y="847575"/>
            <a:ext cx="589900" cy="5899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h3173d30833cc6355_8_15"/>
          <p:cNvSpPr/>
          <p:nvPr/>
        </p:nvSpPr>
        <p:spPr>
          <a:xfrm>
            <a:off x="0" y="0"/>
            <a:ext cx="12191400" cy="658200"/>
          </a:xfrm>
          <a:prstGeom prst="rect">
            <a:avLst/>
          </a:prstGeom>
          <a:solidFill>
            <a:srgbClr val="12496F"/>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h3173d30833cc6355_8_15"/>
          <p:cNvSpPr/>
          <p:nvPr/>
        </p:nvSpPr>
        <p:spPr>
          <a:xfrm>
            <a:off x="567000" y="82440"/>
            <a:ext cx="10972500" cy="4560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i="0" lang="en-US" sz="2400" u="none" cap="none" strike="noStrike">
                <a:solidFill>
                  <a:srgbClr val="FFFFFF"/>
                </a:solidFill>
                <a:latin typeface="Arial"/>
                <a:ea typeface="Arial"/>
                <a:cs typeface="Arial"/>
                <a:sym typeface="Arial"/>
              </a:rPr>
              <a:t>8 · Punto de acceso (AP): Fabián Fern</a:t>
            </a:r>
            <a:r>
              <a:rPr b="1" lang="en-US" sz="2400">
                <a:solidFill>
                  <a:srgbClr val="FFFFFF"/>
                </a:solidFill>
              </a:rPr>
              <a:t>á</a:t>
            </a:r>
            <a:r>
              <a:rPr b="1" i="0" lang="en-US" sz="2400" u="none" cap="none" strike="noStrike">
                <a:solidFill>
                  <a:srgbClr val="FFFFFF"/>
                </a:solidFill>
                <a:latin typeface="Arial"/>
                <a:ea typeface="Arial"/>
                <a:cs typeface="Arial"/>
                <a:sym typeface="Arial"/>
              </a:rPr>
              <a:t>ndez (</a:t>
            </a:r>
            <a:r>
              <a:rPr b="1" lang="en-US" sz="2400">
                <a:solidFill>
                  <a:srgbClr val="FFFFFF"/>
                </a:solidFill>
              </a:rPr>
              <a:t>Parte 2)</a:t>
            </a:r>
            <a:endParaRPr b="0" i="0" sz="2400" u="none" cap="none" strike="noStrike">
              <a:latin typeface="Arial"/>
              <a:ea typeface="Arial"/>
              <a:cs typeface="Arial"/>
              <a:sym typeface="Arial"/>
            </a:endParaRPr>
          </a:p>
        </p:txBody>
      </p:sp>
      <p:sp>
        <p:nvSpPr>
          <p:cNvPr id="634" name="Google Shape;634;h3173d30833cc6355_8_15"/>
          <p:cNvSpPr/>
          <p:nvPr/>
        </p:nvSpPr>
        <p:spPr>
          <a:xfrm>
            <a:off x="-42750" y="703450"/>
            <a:ext cx="12192000" cy="6154500"/>
          </a:xfrm>
          <a:prstGeom prst="roundRect">
            <a:avLst>
              <a:gd fmla="val 16667" name="adj"/>
            </a:avLst>
          </a:prstGeom>
          <a:solidFill>
            <a:srgbClr val="E7F1F9"/>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h3173d30833cc6355_8_15"/>
          <p:cNvSpPr/>
          <p:nvPr/>
        </p:nvSpPr>
        <p:spPr>
          <a:xfrm>
            <a:off x="1241525" y="1023525"/>
            <a:ext cx="9301800" cy="740400"/>
          </a:xfrm>
          <a:prstGeom prst="rect">
            <a:avLst/>
          </a:prstGeom>
          <a:noFill/>
          <a:ln>
            <a:noFill/>
          </a:ln>
        </p:spPr>
        <p:txBody>
          <a:bodyPr anchorCtr="0" anchor="t" bIns="45000" lIns="36700" spcFirstLastPara="1" rIns="36700" wrap="square" tIns="45000">
            <a:noAutofit/>
          </a:bodyPr>
          <a:lstStyle/>
          <a:p>
            <a:pPr indent="0" lvl="0" marL="0" marR="0" rtl="0" algn="ctr">
              <a:lnSpc>
                <a:spcPct val="100000"/>
              </a:lnSpc>
              <a:spcBef>
                <a:spcPts val="0"/>
              </a:spcBef>
              <a:spcAft>
                <a:spcPts val="0"/>
              </a:spcAft>
              <a:buNone/>
            </a:pPr>
            <a:r>
              <a:rPr b="1" lang="en-US" sz="2700">
                <a:solidFill>
                  <a:srgbClr val="12496F"/>
                </a:solidFill>
              </a:rPr>
              <a:t>Caso práctico</a:t>
            </a:r>
            <a:endParaRPr b="0" i="0" sz="2700" u="none" cap="none" strike="noStrike">
              <a:latin typeface="Arial"/>
              <a:ea typeface="Arial"/>
              <a:cs typeface="Arial"/>
              <a:sym typeface="Arial"/>
            </a:endParaRPr>
          </a:p>
        </p:txBody>
      </p:sp>
      <p:pic>
        <p:nvPicPr>
          <p:cNvPr id="636" name="Google Shape;636;h3173d30833cc6355_8_15"/>
          <p:cNvPicPr preferRelativeResize="0"/>
          <p:nvPr/>
        </p:nvPicPr>
        <p:blipFill>
          <a:blip r:embed="rId3">
            <a:alphaModFix/>
          </a:blip>
          <a:stretch>
            <a:fillRect/>
          </a:stretch>
        </p:blipFill>
        <p:spPr>
          <a:xfrm>
            <a:off x="10201625" y="4513100"/>
            <a:ext cx="1175950" cy="1175950"/>
          </a:xfrm>
          <a:prstGeom prst="rect">
            <a:avLst/>
          </a:prstGeom>
          <a:solidFill>
            <a:srgbClr val="E7F1F9"/>
          </a:solidFill>
          <a:ln>
            <a:noFill/>
          </a:ln>
          <a:effectLst>
            <a:outerShdw blurRad="39960" rotWithShape="0" dir="5400000" dist="23040">
              <a:srgbClr val="000000">
                <a:alpha val="34900"/>
              </a:srgbClr>
            </a:outerShdw>
          </a:effectLst>
        </p:spPr>
      </p:pic>
      <p:pic>
        <p:nvPicPr>
          <p:cNvPr id="637" name="Google Shape;637;h3173d30833cc6355_8_15"/>
          <p:cNvPicPr preferRelativeResize="0"/>
          <p:nvPr/>
        </p:nvPicPr>
        <p:blipFill>
          <a:blip r:embed="rId3">
            <a:alphaModFix/>
          </a:blip>
          <a:stretch>
            <a:fillRect/>
          </a:stretch>
        </p:blipFill>
        <p:spPr>
          <a:xfrm>
            <a:off x="6230663" y="4513096"/>
            <a:ext cx="1175974" cy="1175950"/>
          </a:xfrm>
          <a:prstGeom prst="rect">
            <a:avLst/>
          </a:prstGeom>
          <a:solidFill>
            <a:srgbClr val="E7F1F9"/>
          </a:solidFill>
          <a:ln>
            <a:noFill/>
          </a:ln>
          <a:effectLst>
            <a:outerShdw blurRad="39960" rotWithShape="0" dir="5400000" dist="23040">
              <a:srgbClr val="000000">
                <a:alpha val="34900"/>
              </a:srgbClr>
            </a:outerShdw>
          </a:effectLst>
        </p:spPr>
      </p:pic>
      <p:pic>
        <p:nvPicPr>
          <p:cNvPr id="638" name="Google Shape;638;h3173d30833cc6355_8_15"/>
          <p:cNvPicPr preferRelativeResize="0"/>
          <p:nvPr/>
        </p:nvPicPr>
        <p:blipFill>
          <a:blip r:embed="rId4">
            <a:alphaModFix/>
          </a:blip>
          <a:stretch>
            <a:fillRect/>
          </a:stretch>
        </p:blipFill>
        <p:spPr>
          <a:xfrm>
            <a:off x="7967075" y="1023526"/>
            <a:ext cx="1743051" cy="1439238"/>
          </a:xfrm>
          <a:prstGeom prst="rect">
            <a:avLst/>
          </a:prstGeom>
          <a:noFill/>
          <a:ln>
            <a:noFill/>
          </a:ln>
        </p:spPr>
      </p:pic>
      <p:sp>
        <p:nvSpPr>
          <p:cNvPr id="639" name="Google Shape;639;h3173d30833cc6355_8_15"/>
          <p:cNvSpPr txBox="1"/>
          <p:nvPr/>
        </p:nvSpPr>
        <p:spPr>
          <a:xfrm>
            <a:off x="404025" y="1440525"/>
            <a:ext cx="3350100" cy="2606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sz="1500">
                <a:solidFill>
                  <a:schemeClr val="dk1"/>
                </a:solidFill>
              </a:rPr>
              <a:t>Dos aulas (Aula A y Aula B).</a:t>
            </a:r>
            <a:endParaRPr sz="1500">
              <a:solidFill>
                <a:schemeClr val="dk1"/>
              </a:solidFill>
            </a:endParaRPr>
          </a:p>
          <a:p>
            <a:pPr indent="0" lvl="0" marL="0" rtl="0" algn="l">
              <a:lnSpc>
                <a:spcPct val="115000"/>
              </a:lnSpc>
              <a:spcBef>
                <a:spcPts val="2100"/>
              </a:spcBef>
              <a:spcAft>
                <a:spcPts val="0"/>
              </a:spcAft>
              <a:buNone/>
            </a:pPr>
            <a:r>
              <a:rPr lang="en-US" sz="1500">
                <a:solidFill>
                  <a:schemeClr val="dk1"/>
                </a:solidFill>
              </a:rPr>
              <a:t>El router principal está en la secretaría del colegio y la señal llega muy débil y con cortes.</a:t>
            </a:r>
            <a:endParaRPr sz="1500">
              <a:solidFill>
                <a:schemeClr val="dk1"/>
              </a:solidFill>
            </a:endParaRPr>
          </a:p>
          <a:p>
            <a:pPr indent="0" lvl="0" marL="0" rtl="0" algn="l">
              <a:lnSpc>
                <a:spcPct val="115000"/>
              </a:lnSpc>
              <a:spcBef>
                <a:spcPts val="2100"/>
              </a:spcBef>
              <a:spcAft>
                <a:spcPts val="0"/>
              </a:spcAft>
              <a:buNone/>
            </a:pPr>
            <a:r>
              <a:rPr b="1" lang="en-US" sz="1500">
                <a:solidFill>
                  <a:schemeClr val="dk1"/>
                </a:solidFill>
              </a:rPr>
              <a:t>Consecuencia:</a:t>
            </a:r>
            <a:r>
              <a:rPr lang="en-US" sz="1500">
                <a:solidFill>
                  <a:schemeClr val="dk1"/>
                </a:solidFill>
              </a:rPr>
              <a:t> Cuando </a:t>
            </a:r>
            <a:r>
              <a:rPr b="1" lang="en-US" sz="1500">
                <a:solidFill>
                  <a:schemeClr val="dk1"/>
                </a:solidFill>
              </a:rPr>
              <a:t>30 alumnos</a:t>
            </a:r>
            <a:r>
              <a:rPr lang="en-US" sz="1500">
                <a:solidFill>
                  <a:schemeClr val="dk1"/>
                </a:solidFill>
              </a:rPr>
              <a:t> intentan conectarse a la vez se satura</a:t>
            </a:r>
            <a:endParaRPr sz="1500">
              <a:solidFill>
                <a:schemeClr val="dk1"/>
              </a:solidFill>
            </a:endParaRPr>
          </a:p>
          <a:p>
            <a:pPr indent="0" lvl="0" marL="0" rtl="0" algn="l">
              <a:spcBef>
                <a:spcPts val="1200"/>
              </a:spcBef>
              <a:spcAft>
                <a:spcPts val="0"/>
              </a:spcAft>
              <a:buNone/>
            </a:pPr>
            <a:r>
              <a:t/>
            </a:r>
            <a:endParaRPr sz="1800"/>
          </a:p>
        </p:txBody>
      </p:sp>
      <p:sp>
        <p:nvSpPr>
          <p:cNvPr id="640" name="Google Shape;640;h3173d30833cc6355_8_15"/>
          <p:cNvSpPr txBox="1"/>
          <p:nvPr/>
        </p:nvSpPr>
        <p:spPr>
          <a:xfrm>
            <a:off x="6321100" y="5820700"/>
            <a:ext cx="995100" cy="3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t>Aula A</a:t>
            </a:r>
            <a:endParaRPr sz="1800"/>
          </a:p>
        </p:txBody>
      </p:sp>
      <p:sp>
        <p:nvSpPr>
          <p:cNvPr id="641" name="Google Shape;641;h3173d30833cc6355_8_15"/>
          <p:cNvSpPr txBox="1"/>
          <p:nvPr/>
        </p:nvSpPr>
        <p:spPr>
          <a:xfrm>
            <a:off x="10380750" y="5820700"/>
            <a:ext cx="995100" cy="3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t>Aula B</a:t>
            </a:r>
            <a:endParaRPr sz="1800"/>
          </a:p>
        </p:txBody>
      </p:sp>
      <p:sp>
        <p:nvSpPr>
          <p:cNvPr id="642" name="Google Shape;642;h3173d30833cc6355_8_15"/>
          <p:cNvSpPr txBox="1"/>
          <p:nvPr/>
        </p:nvSpPr>
        <p:spPr>
          <a:xfrm>
            <a:off x="8651300" y="2462775"/>
            <a:ext cx="551700" cy="56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t>AP</a:t>
            </a:r>
            <a:endParaRPr sz="1800"/>
          </a:p>
        </p:txBody>
      </p:sp>
      <p:cxnSp>
        <p:nvCxnSpPr>
          <p:cNvPr id="643" name="Google Shape;643;h3173d30833cc6355_8_15"/>
          <p:cNvCxnSpPr>
            <a:stCxn id="638" idx="3"/>
            <a:endCxn id="636" idx="0"/>
          </p:cNvCxnSpPr>
          <p:nvPr/>
        </p:nvCxnSpPr>
        <p:spPr>
          <a:xfrm>
            <a:off x="9710126" y="1743144"/>
            <a:ext cx="1079400" cy="2769900"/>
          </a:xfrm>
          <a:prstGeom prst="straightConnector1">
            <a:avLst/>
          </a:prstGeom>
          <a:noFill/>
          <a:ln cap="flat" cmpd="sng" w="9525">
            <a:solidFill>
              <a:schemeClr val="dk2"/>
            </a:solidFill>
            <a:prstDash val="solid"/>
            <a:round/>
            <a:headEnd len="med" w="med" type="none"/>
            <a:tailEnd len="med" w="med" type="none"/>
          </a:ln>
        </p:spPr>
      </p:cxnSp>
      <p:cxnSp>
        <p:nvCxnSpPr>
          <p:cNvPr id="644" name="Google Shape;644;h3173d30833cc6355_8_15"/>
          <p:cNvCxnSpPr>
            <a:stCxn id="638" idx="1"/>
            <a:endCxn id="637" idx="0"/>
          </p:cNvCxnSpPr>
          <p:nvPr/>
        </p:nvCxnSpPr>
        <p:spPr>
          <a:xfrm flipH="1">
            <a:off x="6818675" y="1743144"/>
            <a:ext cx="1148400" cy="2769900"/>
          </a:xfrm>
          <a:prstGeom prst="straightConnector1">
            <a:avLst/>
          </a:prstGeom>
          <a:noFill/>
          <a:ln cap="flat" cmpd="sng" w="9525">
            <a:solidFill>
              <a:schemeClr val="dk2"/>
            </a:solidFill>
            <a:prstDash val="solid"/>
            <a:round/>
            <a:headEnd len="med" w="med" type="none"/>
            <a:tailEnd len="med" w="med" type="none"/>
          </a:ln>
        </p:spPr>
      </p:cxnSp>
      <p:pic>
        <p:nvPicPr>
          <p:cNvPr id="645" name="Google Shape;645;h3173d30833cc6355_8_15"/>
          <p:cNvPicPr preferRelativeResize="0"/>
          <p:nvPr/>
        </p:nvPicPr>
        <p:blipFill>
          <a:blip r:embed="rId5">
            <a:alphaModFix/>
          </a:blip>
          <a:stretch>
            <a:fillRect/>
          </a:stretch>
        </p:blipFill>
        <p:spPr>
          <a:xfrm>
            <a:off x="3849400" y="1477975"/>
            <a:ext cx="1439250" cy="1439250"/>
          </a:xfrm>
          <a:prstGeom prst="rect">
            <a:avLst/>
          </a:prstGeom>
          <a:solidFill>
            <a:srgbClr val="E7F1F9"/>
          </a:solidFill>
          <a:ln>
            <a:noFill/>
          </a:ln>
          <a:effectLst>
            <a:outerShdw blurRad="39960" rotWithShape="0" dir="5400000" dist="23040">
              <a:srgbClr val="000000">
                <a:alpha val="34900"/>
              </a:srgbClr>
            </a:outerShdw>
          </a:effectLst>
        </p:spPr>
      </p:pic>
      <p:pic>
        <p:nvPicPr>
          <p:cNvPr id="646" name="Google Shape;646;h3173d30833cc6355_8_15"/>
          <p:cNvPicPr preferRelativeResize="0"/>
          <p:nvPr/>
        </p:nvPicPr>
        <p:blipFill rotWithShape="1">
          <a:blip r:embed="rId6">
            <a:alphaModFix/>
          </a:blip>
          <a:srcRect b="21648" l="71344" r="0" t="20331"/>
          <a:stretch/>
        </p:blipFill>
        <p:spPr>
          <a:xfrm>
            <a:off x="5495575" y="1354813"/>
            <a:ext cx="2029700" cy="1685575"/>
          </a:xfrm>
          <a:prstGeom prst="rect">
            <a:avLst/>
          </a:prstGeom>
          <a:noFill/>
          <a:ln>
            <a:noFill/>
          </a:ln>
        </p:spPr>
      </p:pic>
      <p:sp>
        <p:nvSpPr>
          <p:cNvPr id="647" name="Google Shape;647;h3173d30833cc6355_8_15"/>
          <p:cNvSpPr txBox="1"/>
          <p:nvPr/>
        </p:nvSpPr>
        <p:spPr>
          <a:xfrm>
            <a:off x="768575" y="4690250"/>
            <a:ext cx="4177800" cy="174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t>El router envía señales desde secretaría, el punto de acceso la recoge, y la reparte más potente a otras aulas</a:t>
            </a:r>
            <a:endParaRPr sz="18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h3173d30833cc6355_27_4"/>
          <p:cNvSpPr/>
          <p:nvPr/>
        </p:nvSpPr>
        <p:spPr>
          <a:xfrm>
            <a:off x="0" y="0"/>
            <a:ext cx="12191400" cy="658200"/>
          </a:xfrm>
          <a:prstGeom prst="rect">
            <a:avLst/>
          </a:prstGeom>
          <a:solidFill>
            <a:srgbClr val="12496F"/>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h3173d30833cc6355_27_4"/>
          <p:cNvSpPr/>
          <p:nvPr/>
        </p:nvSpPr>
        <p:spPr>
          <a:xfrm>
            <a:off x="567000" y="82440"/>
            <a:ext cx="10972500" cy="4560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lang="en-US" sz="2400">
                <a:solidFill>
                  <a:srgbClr val="FFFFFF"/>
                </a:solidFill>
              </a:rPr>
              <a:t> </a:t>
            </a:r>
            <a:r>
              <a:rPr b="1" i="0" lang="en-US" sz="2400" u="none" cap="none" strike="noStrike">
                <a:solidFill>
                  <a:srgbClr val="FFFFFF"/>
                </a:solidFill>
                <a:latin typeface="Arial"/>
                <a:ea typeface="Arial"/>
                <a:cs typeface="Arial"/>
                <a:sym typeface="Arial"/>
              </a:rPr>
              <a:t>9 · </a:t>
            </a:r>
            <a:r>
              <a:rPr b="1" lang="en-US" sz="2400">
                <a:solidFill>
                  <a:srgbClr val="FFFFFF"/>
                </a:solidFill>
              </a:rPr>
              <a:t>Modem </a:t>
            </a:r>
            <a:r>
              <a:rPr b="1" lang="en-US" sz="2400">
                <a:solidFill>
                  <a:srgbClr val="FFFFFF"/>
                </a:solidFill>
              </a:rPr>
              <a:t>David Fernández Vilches</a:t>
            </a:r>
            <a:endParaRPr b="0" i="0" sz="2400" u="none" cap="none" strike="noStrike">
              <a:latin typeface="Arial"/>
              <a:ea typeface="Arial"/>
              <a:cs typeface="Arial"/>
              <a:sym typeface="Arial"/>
            </a:endParaRPr>
          </a:p>
        </p:txBody>
      </p:sp>
      <p:sp>
        <p:nvSpPr>
          <p:cNvPr id="654" name="Google Shape;654;h3173d30833cc6355_27_4"/>
          <p:cNvSpPr/>
          <p:nvPr/>
        </p:nvSpPr>
        <p:spPr>
          <a:xfrm>
            <a:off x="594350" y="1691648"/>
            <a:ext cx="5408400" cy="1609200"/>
          </a:xfrm>
          <a:prstGeom prst="roundRect">
            <a:avLst>
              <a:gd fmla="val 16667" name="adj"/>
            </a:avLst>
          </a:prstGeom>
          <a:solidFill>
            <a:srgbClr val="E7F1F9"/>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h3173d30833cc6355_27_4"/>
          <p:cNvSpPr/>
          <p:nvPr/>
        </p:nvSpPr>
        <p:spPr>
          <a:xfrm>
            <a:off x="749880" y="1792080"/>
            <a:ext cx="5097600" cy="3954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lang="en-US" sz="2000">
                <a:solidFill>
                  <a:srgbClr val="12496F"/>
                </a:solidFill>
              </a:rPr>
              <a:t>Modem</a:t>
            </a:r>
            <a:endParaRPr b="0" i="0" sz="2000" u="none" cap="none" strike="noStrike">
              <a:latin typeface="Arial"/>
              <a:ea typeface="Arial"/>
              <a:cs typeface="Arial"/>
              <a:sym typeface="Arial"/>
            </a:endParaRPr>
          </a:p>
        </p:txBody>
      </p:sp>
      <p:sp>
        <p:nvSpPr>
          <p:cNvPr id="656" name="Google Shape;656;h3173d30833cc6355_27_4"/>
          <p:cNvSpPr/>
          <p:nvPr/>
        </p:nvSpPr>
        <p:spPr>
          <a:xfrm>
            <a:off x="749880" y="2286000"/>
            <a:ext cx="5097600" cy="7002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lang="en-US" sz="2000">
                <a:solidFill>
                  <a:srgbClr val="26303A"/>
                </a:solidFill>
              </a:rPr>
              <a:t>Modula y demodula las señales segun la tecnologia de acceso </a:t>
            </a:r>
            <a:endParaRPr b="0" i="0" sz="2000" u="none" cap="none" strike="noStrike">
              <a:latin typeface="Arial"/>
              <a:ea typeface="Arial"/>
              <a:cs typeface="Arial"/>
              <a:sym typeface="Arial"/>
            </a:endParaRPr>
          </a:p>
        </p:txBody>
      </p:sp>
      <p:sp>
        <p:nvSpPr>
          <p:cNvPr id="657" name="Google Shape;657;h3173d30833cc6355_27_4"/>
          <p:cNvSpPr/>
          <p:nvPr/>
        </p:nvSpPr>
        <p:spPr>
          <a:xfrm>
            <a:off x="594347" y="3550775"/>
            <a:ext cx="6922800" cy="2048100"/>
          </a:xfrm>
          <a:prstGeom prst="roundRect">
            <a:avLst>
              <a:gd fmla="val 16667" name="adj"/>
            </a:avLst>
          </a:prstGeom>
          <a:solidFill>
            <a:srgbClr val="FFF2E0"/>
          </a:solidFill>
          <a:ln>
            <a:noFill/>
          </a:ln>
          <a:effectLst>
            <a:outerShdw blurRad="52485" rotWithShape="0" dir="5400000" dist="30262">
              <a:srgbClr val="000000">
                <a:alpha val="349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658" name="Google Shape;658;h3173d30833cc6355_27_4"/>
          <p:cNvSpPr/>
          <p:nvPr/>
        </p:nvSpPr>
        <p:spPr>
          <a:xfrm>
            <a:off x="749880" y="3651225"/>
            <a:ext cx="5097600" cy="3954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lang="en-US" sz="2000">
                <a:solidFill>
                  <a:srgbClr val="12496F"/>
                </a:solidFill>
              </a:rPr>
              <a:t>Problema que resuelve</a:t>
            </a:r>
            <a:endParaRPr b="0" i="0" sz="2000" u="none" cap="none" strike="noStrike">
              <a:latin typeface="Arial"/>
              <a:ea typeface="Arial"/>
              <a:cs typeface="Arial"/>
              <a:sym typeface="Arial"/>
            </a:endParaRPr>
          </a:p>
        </p:txBody>
      </p:sp>
      <p:sp>
        <p:nvSpPr>
          <p:cNvPr id="659" name="Google Shape;659;h3173d30833cc6355_27_4"/>
          <p:cNvSpPr/>
          <p:nvPr/>
        </p:nvSpPr>
        <p:spPr>
          <a:xfrm>
            <a:off x="749875" y="4145150"/>
            <a:ext cx="6243600" cy="10050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0" i="0" lang="en-US" sz="2000" u="none" cap="none" strike="noStrike">
                <a:solidFill>
                  <a:srgbClr val="26303A"/>
                </a:solidFill>
                <a:latin typeface="Arial"/>
                <a:ea typeface="Arial"/>
                <a:cs typeface="Arial"/>
                <a:sym typeface="Arial"/>
              </a:rPr>
              <a:t>Interconecta la LAN con la red del proveedor; puede </a:t>
            </a:r>
            <a:r>
              <a:rPr lang="en-US" sz="2000">
                <a:solidFill>
                  <a:srgbClr val="26303A"/>
                </a:solidFill>
              </a:rPr>
              <a:t>adaptar las señales segun la tecnologia de acceso del proveedor</a:t>
            </a:r>
            <a:endParaRPr b="0" i="0" sz="2000" u="none" cap="none" strike="noStrike">
              <a:latin typeface="Arial"/>
              <a:ea typeface="Arial"/>
              <a:cs typeface="Arial"/>
              <a:sym typeface="Arial"/>
            </a:endParaRPr>
          </a:p>
        </p:txBody>
      </p:sp>
      <p:pic>
        <p:nvPicPr>
          <p:cNvPr id="660" name="Google Shape;660;h3173d30833cc6355_27_4"/>
          <p:cNvPicPr preferRelativeResize="0"/>
          <p:nvPr/>
        </p:nvPicPr>
        <p:blipFill>
          <a:blip r:embed="rId3">
            <a:alphaModFix/>
          </a:blip>
          <a:stretch>
            <a:fillRect/>
          </a:stretch>
        </p:blipFill>
        <p:spPr>
          <a:xfrm>
            <a:off x="6254000" y="695888"/>
            <a:ext cx="1881569" cy="2587775"/>
          </a:xfrm>
          <a:prstGeom prst="rect">
            <a:avLst/>
          </a:prstGeom>
          <a:noFill/>
          <a:ln>
            <a:noFill/>
          </a:ln>
        </p:spPr>
      </p:pic>
      <p:pic>
        <p:nvPicPr>
          <p:cNvPr id="661" name="Google Shape;661;h3173d30833cc6355_27_4"/>
          <p:cNvPicPr preferRelativeResize="0"/>
          <p:nvPr/>
        </p:nvPicPr>
        <p:blipFill>
          <a:blip r:embed="rId4">
            <a:alphaModFix/>
          </a:blip>
          <a:stretch>
            <a:fillRect/>
          </a:stretch>
        </p:blipFill>
        <p:spPr>
          <a:xfrm>
            <a:off x="7669547" y="3550775"/>
            <a:ext cx="4370054" cy="218502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10"/>
          <p:cNvSpPr/>
          <p:nvPr/>
        </p:nvSpPr>
        <p:spPr>
          <a:xfrm>
            <a:off x="0" y="0"/>
            <a:ext cx="12191400" cy="658080"/>
          </a:xfrm>
          <a:prstGeom prst="rect">
            <a:avLst/>
          </a:prstGeom>
          <a:solidFill>
            <a:srgbClr val="12496F"/>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0"/>
          <p:cNvSpPr/>
          <p:nvPr/>
        </p:nvSpPr>
        <p:spPr>
          <a:xfrm>
            <a:off x="567000" y="82440"/>
            <a:ext cx="10972440" cy="45612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1" lang="en-US" sz="2400">
                <a:solidFill>
                  <a:srgbClr val="FFFFFF"/>
                </a:solidFill>
              </a:rPr>
              <a:t> </a:t>
            </a:r>
            <a:r>
              <a:rPr b="1" i="0" lang="en-US" sz="2400" u="none" cap="none" strike="noStrike">
                <a:solidFill>
                  <a:srgbClr val="FFFFFF"/>
                </a:solidFill>
                <a:latin typeface="Arial"/>
                <a:ea typeface="Arial"/>
                <a:cs typeface="Arial"/>
                <a:sym typeface="Arial"/>
              </a:rPr>
              <a:t>9 · </a:t>
            </a:r>
            <a:r>
              <a:rPr b="1" lang="en-US" sz="2400">
                <a:solidFill>
                  <a:srgbClr val="FFFFFF"/>
                </a:solidFill>
              </a:rPr>
              <a:t>ONT </a:t>
            </a:r>
            <a:r>
              <a:rPr b="1" lang="en-US" sz="2400">
                <a:solidFill>
                  <a:srgbClr val="FFFFFF"/>
                </a:solidFill>
              </a:rPr>
              <a:t>David Fernández Vilches</a:t>
            </a:r>
            <a:endParaRPr b="0" i="0" sz="2400" u="none" cap="none" strike="noStrike">
              <a:latin typeface="Arial"/>
              <a:ea typeface="Arial"/>
              <a:cs typeface="Arial"/>
              <a:sym typeface="Arial"/>
            </a:endParaRPr>
          </a:p>
        </p:txBody>
      </p:sp>
      <p:sp>
        <p:nvSpPr>
          <p:cNvPr id="668" name="Google Shape;668;p10"/>
          <p:cNvSpPr/>
          <p:nvPr/>
        </p:nvSpPr>
        <p:spPr>
          <a:xfrm>
            <a:off x="567150" y="1164426"/>
            <a:ext cx="5408400" cy="1145100"/>
          </a:xfrm>
          <a:prstGeom prst="roundRect">
            <a:avLst>
              <a:gd fmla="val 16667" name="adj"/>
            </a:avLst>
          </a:prstGeom>
          <a:solidFill>
            <a:srgbClr val="E7F1F9"/>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0"/>
          <p:cNvSpPr/>
          <p:nvPr/>
        </p:nvSpPr>
        <p:spPr>
          <a:xfrm>
            <a:off x="722680" y="1264855"/>
            <a:ext cx="5097600" cy="3954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1" lang="en-US" sz="2000">
                <a:solidFill>
                  <a:srgbClr val="12496F"/>
                </a:solidFill>
              </a:rPr>
              <a:t>Función</a:t>
            </a:r>
            <a:endParaRPr b="0" i="0" sz="2000" u="none" cap="none" strike="noStrike">
              <a:latin typeface="Arial"/>
              <a:ea typeface="Arial"/>
              <a:cs typeface="Arial"/>
              <a:sym typeface="Arial"/>
            </a:endParaRPr>
          </a:p>
        </p:txBody>
      </p:sp>
      <p:sp>
        <p:nvSpPr>
          <p:cNvPr id="670" name="Google Shape;670;p10"/>
          <p:cNvSpPr/>
          <p:nvPr/>
        </p:nvSpPr>
        <p:spPr>
          <a:xfrm>
            <a:off x="722680" y="1758775"/>
            <a:ext cx="5097600" cy="7002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lang="en-US" sz="2000">
                <a:solidFill>
                  <a:srgbClr val="26303A"/>
                </a:solidFill>
              </a:rPr>
              <a:t>Termina el enlace óptico de acceso</a:t>
            </a:r>
            <a:endParaRPr b="0" i="0" sz="2000" u="none" cap="none" strike="noStrike">
              <a:latin typeface="Arial"/>
              <a:ea typeface="Arial"/>
              <a:cs typeface="Arial"/>
              <a:sym typeface="Arial"/>
            </a:endParaRPr>
          </a:p>
        </p:txBody>
      </p:sp>
      <p:sp>
        <p:nvSpPr>
          <p:cNvPr id="671" name="Google Shape;671;p10"/>
          <p:cNvSpPr/>
          <p:nvPr/>
        </p:nvSpPr>
        <p:spPr>
          <a:xfrm>
            <a:off x="567000" y="2557500"/>
            <a:ext cx="6919800" cy="2601600"/>
          </a:xfrm>
          <a:prstGeom prst="roundRect">
            <a:avLst>
              <a:gd fmla="val 16667" name="adj"/>
            </a:avLst>
          </a:prstGeom>
          <a:solidFill>
            <a:srgbClr val="FFF2E0"/>
          </a:solidFill>
          <a:ln>
            <a:noFill/>
          </a:ln>
          <a:effectLst>
            <a:outerShdw blurRad="52485" rotWithShape="0" dir="5400000" dist="30262">
              <a:srgbClr val="000000">
                <a:alpha val="34902"/>
              </a:srgbClr>
            </a:outerShdw>
          </a:effectLst>
        </p:spPr>
        <p:txBody>
          <a:bodyPr anchorCtr="0" anchor="ctr" bIns="120075" lIns="120075" spcFirstLastPara="1" rIns="120075" wrap="square" tIns="120075">
            <a:noAutofit/>
          </a:bodyPr>
          <a:lstStyle/>
          <a:p>
            <a:pPr indent="0" lvl="0" marL="0" rtl="0" algn="l">
              <a:spcBef>
                <a:spcPts val="0"/>
              </a:spcBef>
              <a:spcAft>
                <a:spcPts val="0"/>
              </a:spcAft>
              <a:buNone/>
            </a:pPr>
            <a:r>
              <a:t/>
            </a:r>
            <a:endParaRPr/>
          </a:p>
        </p:txBody>
      </p:sp>
      <p:sp>
        <p:nvSpPr>
          <p:cNvPr id="672" name="Google Shape;672;p10"/>
          <p:cNvSpPr/>
          <p:nvPr/>
        </p:nvSpPr>
        <p:spPr>
          <a:xfrm>
            <a:off x="637488" y="2641997"/>
            <a:ext cx="6041400" cy="519300"/>
          </a:xfrm>
          <a:prstGeom prst="rect">
            <a:avLst/>
          </a:prstGeom>
          <a:noFill/>
          <a:ln>
            <a:noFill/>
          </a:ln>
        </p:spPr>
        <p:txBody>
          <a:bodyPr anchorCtr="0" anchor="t" bIns="59100" lIns="48200" spcFirstLastPara="1" rIns="48200" wrap="square" tIns="59100">
            <a:spAutoFit/>
          </a:bodyPr>
          <a:lstStyle/>
          <a:p>
            <a:pPr indent="0" lvl="0" marL="0" marR="0" rtl="0" algn="l">
              <a:lnSpc>
                <a:spcPct val="100000"/>
              </a:lnSpc>
              <a:spcBef>
                <a:spcPts val="0"/>
              </a:spcBef>
              <a:spcAft>
                <a:spcPts val="0"/>
              </a:spcAft>
              <a:buNone/>
            </a:pPr>
            <a:r>
              <a:rPr b="1" lang="en-US" sz="2000">
                <a:solidFill>
                  <a:srgbClr val="12496F"/>
                </a:solidFill>
              </a:rPr>
              <a:t>Problema que resuelve</a:t>
            </a:r>
            <a:endParaRPr b="0" i="0" sz="2627" u="none" cap="none" strike="noStrike">
              <a:latin typeface="Arial"/>
              <a:ea typeface="Arial"/>
              <a:cs typeface="Arial"/>
              <a:sym typeface="Arial"/>
            </a:endParaRPr>
          </a:p>
        </p:txBody>
      </p:sp>
      <p:sp>
        <p:nvSpPr>
          <p:cNvPr id="673" name="Google Shape;673;p10"/>
          <p:cNvSpPr/>
          <p:nvPr/>
        </p:nvSpPr>
        <p:spPr>
          <a:xfrm>
            <a:off x="637488" y="3083504"/>
            <a:ext cx="6041400" cy="1320000"/>
          </a:xfrm>
          <a:prstGeom prst="rect">
            <a:avLst/>
          </a:prstGeom>
          <a:noFill/>
          <a:ln>
            <a:noFill/>
          </a:ln>
        </p:spPr>
        <p:txBody>
          <a:bodyPr anchorCtr="0" anchor="t" bIns="59100" lIns="48200" spcFirstLastPara="1" rIns="48200" wrap="square" tIns="59100">
            <a:spAutoFit/>
          </a:bodyPr>
          <a:lstStyle/>
          <a:p>
            <a:pPr indent="0" lvl="0" marL="0" marR="0" rtl="0" algn="l">
              <a:lnSpc>
                <a:spcPct val="100000"/>
              </a:lnSpc>
              <a:spcBef>
                <a:spcPts val="0"/>
              </a:spcBef>
              <a:spcAft>
                <a:spcPts val="0"/>
              </a:spcAft>
              <a:buNone/>
            </a:pPr>
            <a:r>
              <a:rPr lang="en-US" sz="2000">
                <a:solidFill>
                  <a:srgbClr val="26303A"/>
                </a:solidFill>
              </a:rPr>
              <a:t>Traduce los impulsos de luz de la fibra optica en señales </a:t>
            </a:r>
            <a:r>
              <a:rPr lang="en-US" sz="2000">
                <a:solidFill>
                  <a:srgbClr val="26303A"/>
                </a:solidFill>
              </a:rPr>
              <a:t>eléctricas</a:t>
            </a:r>
            <a:r>
              <a:rPr lang="en-US" sz="2000">
                <a:solidFill>
                  <a:srgbClr val="26303A"/>
                </a:solidFill>
              </a:rPr>
              <a:t> </a:t>
            </a:r>
            <a:r>
              <a:rPr lang="en-US" sz="2000">
                <a:solidFill>
                  <a:srgbClr val="26303A"/>
                </a:solidFill>
              </a:rPr>
              <a:t>comprensibles</a:t>
            </a:r>
            <a:r>
              <a:rPr lang="en-US" sz="2000">
                <a:solidFill>
                  <a:srgbClr val="26303A"/>
                </a:solidFill>
              </a:rPr>
              <a:t> para los dispositivos de red locales, ermina la conexión óptica de una red de acceso PON y proporciona una interfaz hacia el equipo del usuario, frecuentemente RJ45.. </a:t>
            </a:r>
            <a:endParaRPr b="0" i="0" sz="2627" u="none" cap="none" strike="noStrike">
              <a:latin typeface="Arial"/>
              <a:ea typeface="Arial"/>
              <a:cs typeface="Arial"/>
              <a:sym typeface="Arial"/>
            </a:endParaRPr>
          </a:p>
        </p:txBody>
      </p:sp>
      <p:pic>
        <p:nvPicPr>
          <p:cNvPr id="674" name="Google Shape;674;p10"/>
          <p:cNvPicPr preferRelativeResize="0"/>
          <p:nvPr/>
        </p:nvPicPr>
        <p:blipFill rotWithShape="1">
          <a:blip r:embed="rId3">
            <a:alphaModFix/>
          </a:blip>
          <a:srcRect b="30337" l="0" r="0" t="26405"/>
          <a:stretch/>
        </p:blipFill>
        <p:spPr>
          <a:xfrm>
            <a:off x="6058475" y="835500"/>
            <a:ext cx="3407608" cy="1474025"/>
          </a:xfrm>
          <a:prstGeom prst="rect">
            <a:avLst/>
          </a:prstGeom>
          <a:noFill/>
          <a:ln>
            <a:noFill/>
          </a:ln>
        </p:spPr>
      </p:pic>
      <p:pic>
        <p:nvPicPr>
          <p:cNvPr id="675" name="Google Shape;675;p10"/>
          <p:cNvPicPr preferRelativeResize="0"/>
          <p:nvPr/>
        </p:nvPicPr>
        <p:blipFill>
          <a:blip r:embed="rId4">
            <a:alphaModFix/>
          </a:blip>
          <a:stretch>
            <a:fillRect/>
          </a:stretch>
        </p:blipFill>
        <p:spPr>
          <a:xfrm>
            <a:off x="7792250" y="2486950"/>
            <a:ext cx="4285527" cy="21427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h3173d30833cc6355_27_22"/>
          <p:cNvSpPr/>
          <p:nvPr/>
        </p:nvSpPr>
        <p:spPr>
          <a:xfrm>
            <a:off x="767032" y="3879787"/>
            <a:ext cx="6556800" cy="1147800"/>
          </a:xfrm>
          <a:prstGeom prst="rect">
            <a:avLst/>
          </a:prstGeom>
          <a:noFill/>
          <a:ln>
            <a:noFill/>
          </a:ln>
        </p:spPr>
        <p:txBody>
          <a:bodyPr anchorCtr="0" anchor="t" bIns="35350" lIns="28825" spcFirstLastPara="1" rIns="28825" wrap="square" tIns="35350">
            <a:noAutofit/>
          </a:bodyPr>
          <a:lstStyle/>
          <a:p>
            <a:pPr indent="0" lvl="0" marL="0" marR="0" rtl="0" algn="l">
              <a:lnSpc>
                <a:spcPct val="100000"/>
              </a:lnSpc>
              <a:spcBef>
                <a:spcPts val="0"/>
              </a:spcBef>
              <a:spcAft>
                <a:spcPts val="0"/>
              </a:spcAft>
              <a:buNone/>
            </a:pPr>
            <a:r>
              <a:rPr b="0" i="0" lang="en-US" sz="1571" u="none" cap="none" strike="noStrike">
                <a:solidFill>
                  <a:srgbClr val="26303A"/>
                </a:solidFill>
                <a:latin typeface="Arial"/>
                <a:ea typeface="Arial"/>
                <a:cs typeface="Arial"/>
                <a:sym typeface="Arial"/>
              </a:rPr>
              <a:t>Intercon</a:t>
            </a:r>
            <a:r>
              <a:rPr lang="en-US" sz="1571">
                <a:solidFill>
                  <a:srgbClr val="26303A"/>
                </a:solidFill>
              </a:rPr>
              <a:t>ferencias. U/UTP no tiene apantallamiento; F/UTP incorpora una pantalla general y S/FTP protege también cada par individualmente.</a:t>
            </a:r>
            <a:endParaRPr sz="1571">
              <a:solidFill>
                <a:srgbClr val="26303A"/>
              </a:solidFill>
            </a:endParaRPr>
          </a:p>
          <a:p>
            <a:pPr indent="0" lvl="0" marL="0" marR="0" rtl="0" algn="l">
              <a:lnSpc>
                <a:spcPct val="100000"/>
              </a:lnSpc>
              <a:spcBef>
                <a:spcPts val="0"/>
              </a:spcBef>
              <a:spcAft>
                <a:spcPts val="0"/>
              </a:spcAft>
              <a:buNone/>
            </a:pPr>
            <a:r>
              <a:t/>
            </a:r>
            <a:endParaRPr b="0" i="0" sz="1571" u="none" cap="none" strike="noStrike">
              <a:latin typeface="Arial"/>
              <a:ea typeface="Arial"/>
              <a:cs typeface="Arial"/>
              <a:sym typeface="Arial"/>
            </a:endParaRPr>
          </a:p>
        </p:txBody>
      </p:sp>
      <p:sp>
        <p:nvSpPr>
          <p:cNvPr id="681" name="Google Shape;681;h3173d30833cc6355_27_22"/>
          <p:cNvSpPr/>
          <p:nvPr/>
        </p:nvSpPr>
        <p:spPr>
          <a:xfrm>
            <a:off x="0" y="0"/>
            <a:ext cx="12191400" cy="658200"/>
          </a:xfrm>
          <a:prstGeom prst="rect">
            <a:avLst/>
          </a:prstGeom>
          <a:solidFill>
            <a:srgbClr val="12496F"/>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h3173d30833cc6355_27_22"/>
          <p:cNvSpPr/>
          <p:nvPr/>
        </p:nvSpPr>
        <p:spPr>
          <a:xfrm>
            <a:off x="567000" y="82440"/>
            <a:ext cx="10972500" cy="4560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lang="en-US" sz="2400">
                <a:solidFill>
                  <a:srgbClr val="FFFFFF"/>
                </a:solidFill>
              </a:rPr>
              <a:t> </a:t>
            </a:r>
            <a:r>
              <a:rPr b="1" i="0" lang="en-US" sz="2400" u="none" cap="none" strike="noStrike">
                <a:solidFill>
                  <a:srgbClr val="FFFFFF"/>
                </a:solidFill>
                <a:latin typeface="Arial"/>
                <a:ea typeface="Arial"/>
                <a:cs typeface="Arial"/>
                <a:sym typeface="Arial"/>
              </a:rPr>
              <a:t>9 · </a:t>
            </a:r>
            <a:r>
              <a:rPr b="1" lang="en-US" sz="2400">
                <a:solidFill>
                  <a:srgbClr val="FFFFFF"/>
                </a:solidFill>
              </a:rPr>
              <a:t>R</a:t>
            </a:r>
            <a:r>
              <a:rPr b="1" i="0" lang="en-US" sz="2400" u="none" cap="none" strike="noStrike">
                <a:solidFill>
                  <a:srgbClr val="FFFFFF"/>
                </a:solidFill>
                <a:latin typeface="Arial"/>
                <a:ea typeface="Arial"/>
                <a:cs typeface="Arial"/>
                <a:sym typeface="Arial"/>
              </a:rPr>
              <a:t>outer </a:t>
            </a:r>
            <a:r>
              <a:rPr b="1" lang="en-US" sz="2400">
                <a:solidFill>
                  <a:srgbClr val="FFFFFF"/>
                </a:solidFill>
              </a:rPr>
              <a:t>David Fernández Vilches</a:t>
            </a:r>
            <a:endParaRPr b="0" i="0" sz="2400" u="none" cap="none" strike="noStrike">
              <a:latin typeface="Arial"/>
              <a:ea typeface="Arial"/>
              <a:cs typeface="Arial"/>
              <a:sym typeface="Arial"/>
            </a:endParaRPr>
          </a:p>
        </p:txBody>
      </p:sp>
      <p:sp>
        <p:nvSpPr>
          <p:cNvPr id="683" name="Google Shape;683;h3173d30833cc6355_27_22"/>
          <p:cNvSpPr/>
          <p:nvPr/>
        </p:nvSpPr>
        <p:spPr>
          <a:xfrm>
            <a:off x="567000" y="1065100"/>
            <a:ext cx="6956400" cy="1609200"/>
          </a:xfrm>
          <a:prstGeom prst="roundRect">
            <a:avLst>
              <a:gd fmla="val 16667" name="adj"/>
            </a:avLst>
          </a:prstGeom>
          <a:solidFill>
            <a:srgbClr val="E7F1F9"/>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h3173d30833cc6355_27_22"/>
          <p:cNvSpPr/>
          <p:nvPr/>
        </p:nvSpPr>
        <p:spPr>
          <a:xfrm>
            <a:off x="722530" y="1165530"/>
            <a:ext cx="5097600" cy="3954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lang="en-US" sz="2000">
                <a:solidFill>
                  <a:srgbClr val="12496F"/>
                </a:solidFill>
              </a:rPr>
              <a:t>Funcionamiento</a:t>
            </a:r>
            <a:endParaRPr b="0" i="0" sz="2000" u="none" cap="none" strike="noStrike">
              <a:latin typeface="Arial"/>
              <a:ea typeface="Arial"/>
              <a:cs typeface="Arial"/>
              <a:sym typeface="Arial"/>
            </a:endParaRPr>
          </a:p>
        </p:txBody>
      </p:sp>
      <p:sp>
        <p:nvSpPr>
          <p:cNvPr id="685" name="Google Shape;685;h3173d30833cc6355_27_22"/>
          <p:cNvSpPr/>
          <p:nvPr/>
        </p:nvSpPr>
        <p:spPr>
          <a:xfrm>
            <a:off x="722524" y="1659450"/>
            <a:ext cx="6420000" cy="7002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lang="en-US" sz="2000">
                <a:solidFill>
                  <a:srgbClr val="26303A"/>
                </a:solidFill>
              </a:rPr>
              <a:t>Interconecta la LAN con la red del proveedor, </a:t>
            </a:r>
            <a:r>
              <a:rPr lang="en-US" sz="2000">
                <a:solidFill>
                  <a:srgbClr val="26303A"/>
                </a:solidFill>
              </a:rPr>
              <a:t>ofreciendo</a:t>
            </a:r>
            <a:r>
              <a:rPr lang="en-US" sz="2000">
                <a:solidFill>
                  <a:srgbClr val="26303A"/>
                </a:solidFill>
              </a:rPr>
              <a:t> NAT, DHCP y firewall</a:t>
            </a:r>
            <a:endParaRPr sz="2000">
              <a:solidFill>
                <a:srgbClr val="26303A"/>
              </a:solidFill>
            </a:endParaRPr>
          </a:p>
        </p:txBody>
      </p:sp>
      <p:sp>
        <p:nvSpPr>
          <p:cNvPr id="686" name="Google Shape;686;h3173d30833cc6355_27_22"/>
          <p:cNvSpPr/>
          <p:nvPr/>
        </p:nvSpPr>
        <p:spPr>
          <a:xfrm>
            <a:off x="567000" y="3200950"/>
            <a:ext cx="6956400" cy="2339100"/>
          </a:xfrm>
          <a:prstGeom prst="roundRect">
            <a:avLst>
              <a:gd fmla="val 16667" name="adj"/>
            </a:avLst>
          </a:prstGeom>
          <a:solidFill>
            <a:srgbClr val="FFF2E0"/>
          </a:solidFill>
          <a:ln>
            <a:noFill/>
          </a:ln>
          <a:effectLst>
            <a:outerShdw blurRad="31397" rotWithShape="0" dir="5400000" dist="18103">
              <a:srgbClr val="000000">
                <a:alpha val="34900"/>
              </a:srgbClr>
            </a:outerShdw>
          </a:effectLst>
        </p:spPr>
        <p:txBody>
          <a:bodyPr anchorCtr="0" anchor="ctr" bIns="71825" lIns="71825" spcFirstLastPara="1" rIns="71825" wrap="square" tIns="71825">
            <a:noAutofit/>
          </a:bodyPr>
          <a:lstStyle/>
          <a:p>
            <a:pPr indent="0" lvl="0" marL="0" marR="0" rtl="0" algn="l">
              <a:lnSpc>
                <a:spcPct val="100000"/>
              </a:lnSpc>
              <a:spcBef>
                <a:spcPts val="0"/>
              </a:spcBef>
              <a:spcAft>
                <a:spcPts val="0"/>
              </a:spcAft>
              <a:buClr>
                <a:srgbClr val="000000"/>
              </a:buClr>
              <a:buFont typeface="Arial"/>
              <a:buNone/>
            </a:pPr>
            <a:r>
              <a:rPr lang="en-US" sz="1571">
                <a:solidFill>
                  <a:srgbClr val="26303A"/>
                </a:solidFill>
              </a:rPr>
              <a:t>Conecta</a:t>
            </a:r>
            <a:r>
              <a:rPr lang="en-US" sz="1571">
                <a:solidFill>
                  <a:srgbClr val="26303A"/>
                </a:solidFill>
              </a:rPr>
              <a:t> la red de la casa o de oficina a Internet, gestiona las direccions IP de los dispositivos y  protege la red ante los </a:t>
            </a:r>
            <a:r>
              <a:rPr lang="en-US" sz="1550">
                <a:solidFill>
                  <a:srgbClr val="26303A"/>
                </a:solidFill>
              </a:rPr>
              <a:t>intrusos</a:t>
            </a:r>
            <a:endParaRPr sz="1550"/>
          </a:p>
        </p:txBody>
      </p:sp>
      <p:sp>
        <p:nvSpPr>
          <p:cNvPr id="687" name="Google Shape;687;h3173d30833cc6355_27_22"/>
          <p:cNvSpPr/>
          <p:nvPr/>
        </p:nvSpPr>
        <p:spPr>
          <a:xfrm>
            <a:off x="665603" y="3315677"/>
            <a:ext cx="3231900" cy="451800"/>
          </a:xfrm>
          <a:prstGeom prst="rect">
            <a:avLst/>
          </a:prstGeom>
          <a:noFill/>
          <a:ln>
            <a:noFill/>
          </a:ln>
        </p:spPr>
        <p:txBody>
          <a:bodyPr anchorCtr="0" anchor="t" bIns="35350" lIns="28825" spcFirstLastPara="1" rIns="28825" wrap="square" tIns="35350">
            <a:noAutofit/>
          </a:bodyPr>
          <a:lstStyle/>
          <a:p>
            <a:pPr indent="0" lvl="0" marL="0" marR="0" rtl="0" algn="l">
              <a:lnSpc>
                <a:spcPct val="100000"/>
              </a:lnSpc>
              <a:spcBef>
                <a:spcPts val="0"/>
              </a:spcBef>
              <a:spcAft>
                <a:spcPts val="0"/>
              </a:spcAft>
              <a:buNone/>
            </a:pPr>
            <a:r>
              <a:rPr b="1" lang="en-US" sz="1571">
                <a:solidFill>
                  <a:srgbClr val="12496F"/>
                </a:solidFill>
              </a:rPr>
              <a:t>Problema que resuelve</a:t>
            </a:r>
            <a:endParaRPr b="0" i="0" sz="1571" u="none" cap="none" strike="noStrike">
              <a:latin typeface="Arial"/>
              <a:ea typeface="Arial"/>
              <a:cs typeface="Arial"/>
              <a:sym typeface="Arial"/>
            </a:endParaRPr>
          </a:p>
        </p:txBody>
      </p:sp>
      <p:pic>
        <p:nvPicPr>
          <p:cNvPr id="688" name="Google Shape;688;h3173d30833cc6355_27_22"/>
          <p:cNvPicPr preferRelativeResize="0"/>
          <p:nvPr/>
        </p:nvPicPr>
        <p:blipFill>
          <a:blip r:embed="rId3">
            <a:alphaModFix/>
          </a:blip>
          <a:stretch>
            <a:fillRect/>
          </a:stretch>
        </p:blipFill>
        <p:spPr>
          <a:xfrm>
            <a:off x="7881250" y="910672"/>
            <a:ext cx="1763645" cy="1763625"/>
          </a:xfrm>
          <a:prstGeom prst="rect">
            <a:avLst/>
          </a:prstGeom>
          <a:noFill/>
          <a:ln>
            <a:noFill/>
          </a:ln>
        </p:spPr>
      </p:pic>
      <p:pic>
        <p:nvPicPr>
          <p:cNvPr id="689" name="Google Shape;689;h3173d30833cc6355_27_22"/>
          <p:cNvPicPr preferRelativeResize="0"/>
          <p:nvPr/>
        </p:nvPicPr>
        <p:blipFill>
          <a:blip r:embed="rId4">
            <a:alphaModFix/>
          </a:blip>
          <a:stretch>
            <a:fillRect/>
          </a:stretch>
        </p:blipFill>
        <p:spPr>
          <a:xfrm>
            <a:off x="7659425" y="3279547"/>
            <a:ext cx="4363801" cy="21819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h17fcd86a78420194_0_3"/>
          <p:cNvSpPr/>
          <p:nvPr/>
        </p:nvSpPr>
        <p:spPr>
          <a:xfrm>
            <a:off x="809780" y="3642951"/>
            <a:ext cx="6556800" cy="12012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0" i="0" lang="en-US" sz="2000" u="none" cap="none" strike="noStrike">
                <a:solidFill>
                  <a:srgbClr val="26303A"/>
                </a:solidFill>
                <a:latin typeface="Arial"/>
                <a:ea typeface="Arial"/>
                <a:cs typeface="Arial"/>
                <a:sym typeface="Arial"/>
              </a:rPr>
              <a:t>Intercon</a:t>
            </a:r>
            <a:r>
              <a:rPr lang="en-US" sz="2000">
                <a:solidFill>
                  <a:srgbClr val="26303A"/>
                </a:solidFill>
              </a:rPr>
              <a:t>ferencias. U/UTP no tiene apantallamiento; F/UTP incorpora una pantalla general y S/FTP protege también cada par individualmente.</a:t>
            </a:r>
            <a:endParaRPr sz="2000">
              <a:solidFill>
                <a:srgbClr val="26303A"/>
              </a:solidFill>
            </a:endParaRPr>
          </a:p>
          <a:p>
            <a:pPr indent="0" lvl="0" marL="0" marR="0" rtl="0" algn="l">
              <a:lnSpc>
                <a:spcPct val="100000"/>
              </a:lnSpc>
              <a:spcBef>
                <a:spcPts val="0"/>
              </a:spcBef>
              <a:spcAft>
                <a:spcPts val="0"/>
              </a:spcAft>
              <a:buNone/>
            </a:pPr>
            <a:r>
              <a:t/>
            </a:r>
            <a:endParaRPr b="0" i="0" sz="2000" u="none" cap="none" strike="noStrike">
              <a:latin typeface="Arial"/>
              <a:ea typeface="Arial"/>
              <a:cs typeface="Arial"/>
              <a:sym typeface="Arial"/>
            </a:endParaRPr>
          </a:p>
        </p:txBody>
      </p:sp>
      <p:sp>
        <p:nvSpPr>
          <p:cNvPr id="695" name="Google Shape;695;h17fcd86a78420194_0_3"/>
          <p:cNvSpPr/>
          <p:nvPr/>
        </p:nvSpPr>
        <p:spPr>
          <a:xfrm>
            <a:off x="0" y="0"/>
            <a:ext cx="12191400" cy="658200"/>
          </a:xfrm>
          <a:prstGeom prst="rect">
            <a:avLst/>
          </a:prstGeom>
          <a:solidFill>
            <a:srgbClr val="12496F"/>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h17fcd86a78420194_0_3"/>
          <p:cNvSpPr/>
          <p:nvPr/>
        </p:nvSpPr>
        <p:spPr>
          <a:xfrm>
            <a:off x="567000" y="82440"/>
            <a:ext cx="10972500" cy="4560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lang="en-US" sz="2400">
                <a:solidFill>
                  <a:srgbClr val="FFFFFF"/>
                </a:solidFill>
              </a:rPr>
              <a:t> </a:t>
            </a:r>
            <a:r>
              <a:rPr b="1" i="0" lang="en-US" sz="2400" u="none" cap="none" strike="noStrike">
                <a:solidFill>
                  <a:srgbClr val="FFFFFF"/>
                </a:solidFill>
                <a:latin typeface="Arial"/>
                <a:ea typeface="Arial"/>
                <a:cs typeface="Arial"/>
                <a:sym typeface="Arial"/>
              </a:rPr>
              <a:t>9 · </a:t>
            </a:r>
            <a:r>
              <a:rPr b="1" lang="en-US" sz="2400">
                <a:solidFill>
                  <a:srgbClr val="FFFFFF"/>
                </a:solidFill>
              </a:rPr>
              <a:t>	Switch </a:t>
            </a:r>
            <a:r>
              <a:rPr b="1" lang="en-US" sz="2400">
                <a:solidFill>
                  <a:srgbClr val="FFFFFF"/>
                </a:solidFill>
              </a:rPr>
              <a:t>David Fernández Vilches</a:t>
            </a:r>
            <a:endParaRPr b="0" i="0" sz="2400" u="none" cap="none" strike="noStrike">
              <a:latin typeface="Arial"/>
              <a:ea typeface="Arial"/>
              <a:cs typeface="Arial"/>
              <a:sym typeface="Arial"/>
            </a:endParaRPr>
          </a:p>
        </p:txBody>
      </p:sp>
      <p:sp>
        <p:nvSpPr>
          <p:cNvPr id="697" name="Google Shape;697;h17fcd86a78420194_0_3"/>
          <p:cNvSpPr/>
          <p:nvPr/>
        </p:nvSpPr>
        <p:spPr>
          <a:xfrm>
            <a:off x="567000" y="1179650"/>
            <a:ext cx="6956400" cy="1609200"/>
          </a:xfrm>
          <a:prstGeom prst="roundRect">
            <a:avLst>
              <a:gd fmla="val 16667" name="adj"/>
            </a:avLst>
          </a:prstGeom>
          <a:solidFill>
            <a:srgbClr val="E7F1F9"/>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h17fcd86a78420194_0_3"/>
          <p:cNvSpPr/>
          <p:nvPr/>
        </p:nvSpPr>
        <p:spPr>
          <a:xfrm>
            <a:off x="722530" y="1280080"/>
            <a:ext cx="5097600" cy="3954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lang="en-US" sz="2000">
                <a:solidFill>
                  <a:srgbClr val="12496F"/>
                </a:solidFill>
              </a:rPr>
              <a:t>Funcionamiento</a:t>
            </a:r>
            <a:endParaRPr b="0" i="0" sz="2000" u="none" cap="none" strike="noStrike">
              <a:latin typeface="Arial"/>
              <a:ea typeface="Arial"/>
              <a:cs typeface="Arial"/>
              <a:sym typeface="Arial"/>
            </a:endParaRPr>
          </a:p>
        </p:txBody>
      </p:sp>
      <p:sp>
        <p:nvSpPr>
          <p:cNvPr id="699" name="Google Shape;699;h17fcd86a78420194_0_3"/>
          <p:cNvSpPr/>
          <p:nvPr/>
        </p:nvSpPr>
        <p:spPr>
          <a:xfrm>
            <a:off x="722524" y="1774000"/>
            <a:ext cx="6420000" cy="7002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lang="en-US" sz="2000">
                <a:solidFill>
                  <a:srgbClr val="26303A"/>
                </a:solidFill>
              </a:rPr>
              <a:t>Conecta muchos dispositivos entre si dentro de la misma LAN</a:t>
            </a:r>
            <a:endParaRPr sz="2000">
              <a:solidFill>
                <a:srgbClr val="26303A"/>
              </a:solidFill>
            </a:endParaRPr>
          </a:p>
        </p:txBody>
      </p:sp>
      <p:sp>
        <p:nvSpPr>
          <p:cNvPr id="700" name="Google Shape;700;h17fcd86a78420194_0_3"/>
          <p:cNvSpPr/>
          <p:nvPr/>
        </p:nvSpPr>
        <p:spPr>
          <a:xfrm>
            <a:off x="609750" y="2932525"/>
            <a:ext cx="6956400" cy="2448000"/>
          </a:xfrm>
          <a:prstGeom prst="roundRect">
            <a:avLst>
              <a:gd fmla="val 16667" name="adj"/>
            </a:avLst>
          </a:prstGeom>
          <a:solidFill>
            <a:srgbClr val="FFF2E0"/>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US" sz="2000">
                <a:solidFill>
                  <a:srgbClr val="26303A"/>
                </a:solidFill>
              </a:rPr>
              <a:t>Permite que los equipos de una LAN se comuniquen directamente entre ellos enviando los datos sollo al dispositivo de destino, mejoran la velocidad y la seguridad en una LAN</a:t>
            </a:r>
            <a:endParaRPr/>
          </a:p>
        </p:txBody>
      </p:sp>
      <p:sp>
        <p:nvSpPr>
          <p:cNvPr id="701" name="Google Shape;701;h17fcd86a78420194_0_3"/>
          <p:cNvSpPr/>
          <p:nvPr/>
        </p:nvSpPr>
        <p:spPr>
          <a:xfrm>
            <a:off x="708352" y="3052591"/>
            <a:ext cx="3231900" cy="4725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lang="en-US" sz="2000">
                <a:solidFill>
                  <a:srgbClr val="12496F"/>
                </a:solidFill>
              </a:rPr>
              <a:t>Problema que resuelve</a:t>
            </a:r>
            <a:endParaRPr b="0" i="0" sz="2000" u="none" cap="none" strike="noStrike">
              <a:latin typeface="Arial"/>
              <a:ea typeface="Arial"/>
              <a:cs typeface="Arial"/>
              <a:sym typeface="Arial"/>
            </a:endParaRPr>
          </a:p>
        </p:txBody>
      </p:sp>
      <p:pic>
        <p:nvPicPr>
          <p:cNvPr id="702" name="Google Shape;702;h17fcd86a78420194_0_3"/>
          <p:cNvPicPr preferRelativeResize="0"/>
          <p:nvPr/>
        </p:nvPicPr>
        <p:blipFill>
          <a:blip r:embed="rId3">
            <a:alphaModFix/>
          </a:blip>
          <a:stretch>
            <a:fillRect/>
          </a:stretch>
        </p:blipFill>
        <p:spPr>
          <a:xfrm>
            <a:off x="7675800" y="900863"/>
            <a:ext cx="3385575" cy="2166774"/>
          </a:xfrm>
          <a:prstGeom prst="rect">
            <a:avLst/>
          </a:prstGeom>
          <a:noFill/>
          <a:ln>
            <a:noFill/>
          </a:ln>
        </p:spPr>
      </p:pic>
      <p:pic>
        <p:nvPicPr>
          <p:cNvPr id="703" name="Google Shape;703;h17fcd86a78420194_0_3"/>
          <p:cNvPicPr preferRelativeResize="0"/>
          <p:nvPr/>
        </p:nvPicPr>
        <p:blipFill>
          <a:blip r:embed="rId4">
            <a:alphaModFix/>
          </a:blip>
          <a:stretch>
            <a:fillRect/>
          </a:stretch>
        </p:blipFill>
        <p:spPr>
          <a:xfrm>
            <a:off x="7718550" y="3220037"/>
            <a:ext cx="4321052" cy="216052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A"/>
        </a:solidFill>
      </p:bgPr>
    </p:bg>
    <p:spTree>
      <p:nvGrpSpPr>
        <p:cNvPr id="708" name="Shape 708"/>
        <p:cNvGrpSpPr/>
        <p:nvPr/>
      </p:nvGrpSpPr>
      <p:grpSpPr>
        <a:xfrm>
          <a:off x="0" y="0"/>
          <a:ext cx="0" cy="0"/>
          <a:chOff x="0" y="0"/>
          <a:chExt cx="0" cy="0"/>
        </a:xfrm>
      </p:grpSpPr>
      <p:sp>
        <p:nvSpPr>
          <p:cNvPr id="709" name="Google Shape;709;h3173d30833cc6355_15_81"/>
          <p:cNvSpPr/>
          <p:nvPr/>
        </p:nvSpPr>
        <p:spPr>
          <a:xfrm>
            <a:off x="216511" y="806737"/>
            <a:ext cx="11313300" cy="37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A54"/>
              </a:buClr>
              <a:buSzPts val="1871"/>
              <a:buFont typeface="Inter"/>
              <a:buNone/>
            </a:pPr>
            <a:r>
              <a:rPr b="0" i="0" lang="en-US" sz="1871" u="none" cap="none" strike="noStrike">
                <a:solidFill>
                  <a:srgbClr val="173A54"/>
                </a:solidFill>
                <a:latin typeface="Inter"/>
                <a:ea typeface="Inter"/>
                <a:cs typeface="Inter"/>
                <a:sym typeface="Inter"/>
              </a:rPr>
              <a:t>Cuatro elementos que determinan el rendimiento de una conexión Ethernet</a:t>
            </a:r>
            <a:endParaRPr b="0" i="0" sz="1871" u="none" cap="none" strike="noStrike">
              <a:solidFill>
                <a:schemeClr val="dk1"/>
              </a:solidFill>
              <a:latin typeface="Inter"/>
              <a:ea typeface="Inter"/>
              <a:cs typeface="Inter"/>
              <a:sym typeface="Inter"/>
            </a:endParaRPr>
          </a:p>
        </p:txBody>
      </p:sp>
      <p:sp>
        <p:nvSpPr>
          <p:cNvPr id="710" name="Google Shape;710;h3173d30833cc6355_15_81"/>
          <p:cNvSpPr/>
          <p:nvPr/>
        </p:nvSpPr>
        <p:spPr>
          <a:xfrm>
            <a:off x="216511" y="1241311"/>
            <a:ext cx="570300" cy="32400"/>
          </a:xfrm>
          <a:prstGeom prst="rect">
            <a:avLst/>
          </a:prstGeom>
          <a:solidFill>
            <a:srgbClr val="0D8D96"/>
          </a:solidFill>
          <a:ln cap="flat" cmpd="sng" w="13200">
            <a:solidFill>
              <a:srgbClr val="333333">
                <a:alpha val="0"/>
              </a:srgbClr>
            </a:solidFill>
            <a:prstDash val="solid"/>
            <a:round/>
            <a:headEnd len="sm" w="sm" type="none"/>
            <a:tailEnd len="sm" w="sm" type="none"/>
          </a:ln>
        </p:spPr>
        <p:txBody>
          <a:bodyPr anchorCtr="0" anchor="ctr" bIns="95050" lIns="95050" spcFirstLastPara="1" rIns="95050" wrap="square" tIns="95050">
            <a:noAutofit/>
          </a:bodyPr>
          <a:lstStyle/>
          <a:p>
            <a:pPr indent="0" lvl="0" marL="0" rtl="0" algn="l">
              <a:spcBef>
                <a:spcPts val="0"/>
              </a:spcBef>
              <a:spcAft>
                <a:spcPts val="0"/>
              </a:spcAft>
              <a:buNone/>
            </a:pPr>
            <a:r>
              <a:t/>
            </a:r>
            <a:endParaRPr/>
          </a:p>
        </p:txBody>
      </p:sp>
      <p:sp>
        <p:nvSpPr>
          <p:cNvPr id="711" name="Google Shape;711;h3173d30833cc6355_15_81"/>
          <p:cNvSpPr/>
          <p:nvPr/>
        </p:nvSpPr>
        <p:spPr>
          <a:xfrm>
            <a:off x="135450" y="1445800"/>
            <a:ext cx="5715900" cy="2250900"/>
          </a:xfrm>
          <a:prstGeom prst="roundRect">
            <a:avLst>
              <a:gd fmla="val 7860" name="adj"/>
            </a:avLst>
          </a:prstGeom>
          <a:solidFill>
            <a:srgbClr val="FFFFFF"/>
          </a:solidFill>
          <a:ln cap="flat" cmpd="sng" w="13650">
            <a:solidFill>
              <a:srgbClr val="DFE7EC"/>
            </a:solidFill>
            <a:prstDash val="solid"/>
            <a:round/>
            <a:headEnd len="sm" w="sm" type="none"/>
            <a:tailEnd len="sm" w="sm" type="none"/>
          </a:ln>
          <a:effectLst>
            <a:outerShdw blurRad="34130" rotWithShape="0" algn="bl" dir="5400000" dist="54607">
              <a:srgbClr val="9EB1BE">
                <a:alpha val="12160"/>
              </a:srgbClr>
            </a:outerShdw>
          </a:effectLst>
        </p:spPr>
        <p:txBody>
          <a:bodyPr anchorCtr="0" anchor="ctr" bIns="98275" lIns="98275" spcFirstLastPara="1" rIns="98275" wrap="square" tIns="98275">
            <a:noAutofit/>
          </a:bodyPr>
          <a:lstStyle/>
          <a:p>
            <a:pPr indent="0" lvl="0" marL="0" rtl="0" algn="l">
              <a:spcBef>
                <a:spcPts val="0"/>
              </a:spcBef>
              <a:spcAft>
                <a:spcPts val="0"/>
              </a:spcAft>
              <a:buNone/>
            </a:pPr>
            <a:r>
              <a:t/>
            </a:r>
            <a:endParaRPr/>
          </a:p>
        </p:txBody>
      </p:sp>
      <p:sp>
        <p:nvSpPr>
          <p:cNvPr id="712" name="Google Shape;712;h3173d30833cc6355_15_81"/>
          <p:cNvSpPr/>
          <p:nvPr/>
        </p:nvSpPr>
        <p:spPr>
          <a:xfrm>
            <a:off x="428095" y="1626092"/>
            <a:ext cx="471900" cy="422700"/>
          </a:xfrm>
          <a:prstGeom prst="roundRect">
            <a:avLst>
              <a:gd fmla="val 20930" name="adj"/>
            </a:avLst>
          </a:prstGeom>
          <a:solidFill>
            <a:srgbClr val="CB7C3C">
              <a:alpha val="12160"/>
            </a:srgbClr>
          </a:solidFill>
          <a:ln cap="flat" cmpd="sng" w="13650">
            <a:solidFill>
              <a:srgbClr val="CB7C3C">
                <a:alpha val="0"/>
              </a:srgbClr>
            </a:solidFill>
            <a:prstDash val="solid"/>
            <a:round/>
            <a:headEnd len="sm" w="sm" type="none"/>
            <a:tailEnd len="sm" w="sm" type="none"/>
          </a:ln>
        </p:spPr>
        <p:txBody>
          <a:bodyPr anchorCtr="0" anchor="ctr" bIns="98275" lIns="98275" spcFirstLastPara="1" rIns="98275" wrap="square" tIns="98275">
            <a:noAutofit/>
          </a:bodyPr>
          <a:lstStyle/>
          <a:p>
            <a:pPr indent="0" lvl="0" marL="0" rtl="0" algn="l">
              <a:spcBef>
                <a:spcPts val="0"/>
              </a:spcBef>
              <a:spcAft>
                <a:spcPts val="0"/>
              </a:spcAft>
              <a:buNone/>
            </a:pPr>
            <a:r>
              <a:t/>
            </a:r>
            <a:endParaRPr/>
          </a:p>
        </p:txBody>
      </p:sp>
      <p:sp>
        <p:nvSpPr>
          <p:cNvPr id="713" name="Google Shape;713;h3173d30833cc6355_15_81"/>
          <p:cNvSpPr/>
          <p:nvPr/>
        </p:nvSpPr>
        <p:spPr>
          <a:xfrm>
            <a:off x="428100" y="1652033"/>
            <a:ext cx="471900" cy="37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7C3C"/>
              </a:buClr>
              <a:buSzPts val="1322"/>
              <a:buFont typeface="Inter"/>
              <a:buNone/>
            </a:pPr>
            <a:r>
              <a:rPr b="1" i="0" lang="en-US" sz="1322" u="none" cap="none" strike="noStrike">
                <a:solidFill>
                  <a:srgbClr val="CB7C3C"/>
                </a:solidFill>
                <a:latin typeface="Inter"/>
                <a:ea typeface="Inter"/>
                <a:cs typeface="Inter"/>
                <a:sym typeface="Inter"/>
              </a:rPr>
              <a:t>01</a:t>
            </a:r>
            <a:endParaRPr b="0" i="0" sz="1322" u="none" cap="none" strike="noStrike">
              <a:solidFill>
                <a:schemeClr val="dk1"/>
              </a:solidFill>
              <a:latin typeface="Inter"/>
              <a:ea typeface="Inter"/>
              <a:cs typeface="Inter"/>
              <a:sym typeface="Inter"/>
            </a:endParaRPr>
          </a:p>
        </p:txBody>
      </p:sp>
      <p:sp>
        <p:nvSpPr>
          <p:cNvPr id="714" name="Google Shape;714;h3173d30833cc6355_15_81"/>
          <p:cNvSpPr/>
          <p:nvPr/>
        </p:nvSpPr>
        <p:spPr>
          <a:xfrm>
            <a:off x="961112" y="1706275"/>
            <a:ext cx="3735000" cy="275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A54"/>
              </a:buClr>
              <a:buSzPts val="1892"/>
              <a:buFont typeface="Inter"/>
              <a:buNone/>
            </a:pPr>
            <a:r>
              <a:rPr b="1" i="0" lang="en-US" sz="1892" u="none" cap="none" strike="noStrike">
                <a:solidFill>
                  <a:srgbClr val="173A54"/>
                </a:solidFill>
                <a:latin typeface="Inter"/>
                <a:ea typeface="Inter"/>
                <a:cs typeface="Inter"/>
                <a:sym typeface="Inter"/>
              </a:rPr>
              <a:t>Cable</a:t>
            </a:r>
            <a:endParaRPr b="0" i="0" sz="1892" u="none" cap="none" strike="noStrike">
              <a:solidFill>
                <a:schemeClr val="dk1"/>
              </a:solidFill>
              <a:latin typeface="Inter"/>
              <a:ea typeface="Inter"/>
              <a:cs typeface="Inter"/>
              <a:sym typeface="Inter"/>
            </a:endParaRPr>
          </a:p>
        </p:txBody>
      </p:sp>
      <p:sp>
        <p:nvSpPr>
          <p:cNvPr id="715" name="Google Shape;715;h3173d30833cc6355_15_81"/>
          <p:cNvSpPr/>
          <p:nvPr/>
        </p:nvSpPr>
        <p:spPr>
          <a:xfrm>
            <a:off x="6168933" y="1445825"/>
            <a:ext cx="5715900" cy="2250900"/>
          </a:xfrm>
          <a:prstGeom prst="roundRect">
            <a:avLst>
              <a:gd fmla="val 7860" name="adj"/>
            </a:avLst>
          </a:prstGeom>
          <a:solidFill>
            <a:srgbClr val="FFFFFF"/>
          </a:solidFill>
          <a:ln cap="flat" cmpd="sng" w="13650">
            <a:solidFill>
              <a:srgbClr val="DFE7EC"/>
            </a:solidFill>
            <a:prstDash val="solid"/>
            <a:round/>
            <a:headEnd len="sm" w="sm" type="none"/>
            <a:tailEnd len="sm" w="sm" type="none"/>
          </a:ln>
          <a:effectLst>
            <a:outerShdw blurRad="34130" rotWithShape="0" algn="bl" dir="5400000" dist="54607">
              <a:srgbClr val="9EB1BE">
                <a:alpha val="12160"/>
              </a:srgbClr>
            </a:outerShdw>
          </a:effectLst>
        </p:spPr>
        <p:txBody>
          <a:bodyPr anchorCtr="0" anchor="ctr" bIns="98275" lIns="98275" spcFirstLastPara="1" rIns="98275" wrap="square" tIns="98275">
            <a:noAutofit/>
          </a:bodyPr>
          <a:lstStyle/>
          <a:p>
            <a:pPr indent="0" lvl="0" marL="0" rtl="0" algn="l">
              <a:spcBef>
                <a:spcPts val="0"/>
              </a:spcBef>
              <a:spcAft>
                <a:spcPts val="0"/>
              </a:spcAft>
              <a:buNone/>
            </a:pPr>
            <a:r>
              <a:t/>
            </a:r>
            <a:endParaRPr/>
          </a:p>
        </p:txBody>
      </p:sp>
      <p:sp>
        <p:nvSpPr>
          <p:cNvPr id="716" name="Google Shape;716;h3173d30833cc6355_15_81"/>
          <p:cNvSpPr/>
          <p:nvPr/>
        </p:nvSpPr>
        <p:spPr>
          <a:xfrm>
            <a:off x="6385178" y="1657154"/>
            <a:ext cx="471900" cy="422700"/>
          </a:xfrm>
          <a:prstGeom prst="roundRect">
            <a:avLst>
              <a:gd fmla="val 20930" name="adj"/>
            </a:avLst>
          </a:prstGeom>
          <a:solidFill>
            <a:srgbClr val="0D8D96">
              <a:alpha val="12160"/>
            </a:srgbClr>
          </a:solidFill>
          <a:ln cap="flat" cmpd="sng" w="13650">
            <a:solidFill>
              <a:srgbClr val="0D8D96">
                <a:alpha val="0"/>
              </a:srgbClr>
            </a:solidFill>
            <a:prstDash val="solid"/>
            <a:round/>
            <a:headEnd len="sm" w="sm" type="none"/>
            <a:tailEnd len="sm" w="sm" type="none"/>
          </a:ln>
        </p:spPr>
        <p:txBody>
          <a:bodyPr anchorCtr="0" anchor="ctr" bIns="98275" lIns="98275" spcFirstLastPara="1" rIns="98275" wrap="square" tIns="98275">
            <a:noAutofit/>
          </a:bodyPr>
          <a:lstStyle/>
          <a:p>
            <a:pPr indent="0" lvl="0" marL="0" rtl="0" algn="l">
              <a:spcBef>
                <a:spcPts val="0"/>
              </a:spcBef>
              <a:spcAft>
                <a:spcPts val="0"/>
              </a:spcAft>
              <a:buNone/>
            </a:pPr>
            <a:r>
              <a:t/>
            </a:r>
            <a:endParaRPr/>
          </a:p>
        </p:txBody>
      </p:sp>
      <p:sp>
        <p:nvSpPr>
          <p:cNvPr id="717" name="Google Shape;717;h3173d30833cc6355_15_81"/>
          <p:cNvSpPr/>
          <p:nvPr/>
        </p:nvSpPr>
        <p:spPr>
          <a:xfrm>
            <a:off x="6385175" y="1672874"/>
            <a:ext cx="471900" cy="37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8D96"/>
              </a:buClr>
              <a:buSzPts val="1322"/>
              <a:buFont typeface="Inter"/>
              <a:buNone/>
            </a:pPr>
            <a:r>
              <a:rPr b="1" i="0" lang="en-US" sz="1322" u="none" cap="none" strike="noStrike">
                <a:solidFill>
                  <a:srgbClr val="0D8D96"/>
                </a:solidFill>
                <a:latin typeface="Inter"/>
                <a:ea typeface="Inter"/>
                <a:cs typeface="Inter"/>
                <a:sym typeface="Inter"/>
              </a:rPr>
              <a:t>02</a:t>
            </a:r>
            <a:endParaRPr b="0" i="0" sz="1322" u="none" cap="none" strike="noStrike">
              <a:solidFill>
                <a:schemeClr val="dk1"/>
              </a:solidFill>
              <a:latin typeface="Inter"/>
              <a:ea typeface="Inter"/>
              <a:cs typeface="Inter"/>
              <a:sym typeface="Inter"/>
            </a:endParaRPr>
          </a:p>
        </p:txBody>
      </p:sp>
      <p:sp>
        <p:nvSpPr>
          <p:cNvPr id="718" name="Google Shape;718;h3173d30833cc6355_15_81"/>
          <p:cNvSpPr/>
          <p:nvPr/>
        </p:nvSpPr>
        <p:spPr>
          <a:xfrm>
            <a:off x="6994595" y="1706300"/>
            <a:ext cx="3735000" cy="275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A54"/>
              </a:buClr>
              <a:buSzPts val="1892"/>
              <a:buFont typeface="Inter"/>
              <a:buNone/>
            </a:pPr>
            <a:r>
              <a:rPr b="1" i="0" lang="en-US" sz="1892" u="none" cap="none" strike="noStrike">
                <a:solidFill>
                  <a:srgbClr val="173A54"/>
                </a:solidFill>
                <a:latin typeface="Inter"/>
                <a:ea typeface="Inter"/>
                <a:cs typeface="Inter"/>
                <a:sym typeface="Inter"/>
              </a:rPr>
              <a:t>Categoría</a:t>
            </a:r>
            <a:endParaRPr b="0" i="0" sz="1892" u="none" cap="none" strike="noStrike">
              <a:solidFill>
                <a:schemeClr val="dk1"/>
              </a:solidFill>
              <a:latin typeface="Inter"/>
              <a:ea typeface="Inter"/>
              <a:cs typeface="Inter"/>
              <a:sym typeface="Inter"/>
            </a:endParaRPr>
          </a:p>
        </p:txBody>
      </p:sp>
      <p:sp>
        <p:nvSpPr>
          <p:cNvPr id="719" name="Google Shape;719;h3173d30833cc6355_15_81"/>
          <p:cNvSpPr/>
          <p:nvPr/>
        </p:nvSpPr>
        <p:spPr>
          <a:xfrm>
            <a:off x="135450" y="4004925"/>
            <a:ext cx="5715900" cy="2340000"/>
          </a:xfrm>
          <a:prstGeom prst="roundRect">
            <a:avLst>
              <a:gd fmla="val 7860" name="adj"/>
            </a:avLst>
          </a:prstGeom>
          <a:solidFill>
            <a:srgbClr val="FFFFFF"/>
          </a:solidFill>
          <a:ln cap="flat" cmpd="sng" w="13650">
            <a:solidFill>
              <a:srgbClr val="DFE7EC"/>
            </a:solidFill>
            <a:prstDash val="solid"/>
            <a:round/>
            <a:headEnd len="sm" w="sm" type="none"/>
            <a:tailEnd len="sm" w="sm" type="none"/>
          </a:ln>
          <a:effectLst>
            <a:outerShdw blurRad="34130" rotWithShape="0" algn="bl" dir="5400000" dist="54607">
              <a:srgbClr val="9EB1BE">
                <a:alpha val="12160"/>
              </a:srgbClr>
            </a:outerShdw>
          </a:effectLst>
        </p:spPr>
        <p:txBody>
          <a:bodyPr anchorCtr="0" anchor="ctr" bIns="98275" lIns="98275" spcFirstLastPara="1" rIns="98275" wrap="square" tIns="98275">
            <a:noAutofit/>
          </a:bodyPr>
          <a:lstStyle/>
          <a:p>
            <a:pPr indent="0" lvl="0" marL="0" rtl="0" algn="l">
              <a:spcBef>
                <a:spcPts val="0"/>
              </a:spcBef>
              <a:spcAft>
                <a:spcPts val="0"/>
              </a:spcAft>
              <a:buNone/>
            </a:pPr>
            <a:r>
              <a:t/>
            </a:r>
            <a:endParaRPr/>
          </a:p>
        </p:txBody>
      </p:sp>
      <p:sp>
        <p:nvSpPr>
          <p:cNvPr id="720" name="Google Shape;720;h3173d30833cc6355_15_81"/>
          <p:cNvSpPr/>
          <p:nvPr/>
        </p:nvSpPr>
        <p:spPr>
          <a:xfrm>
            <a:off x="428095" y="4191596"/>
            <a:ext cx="471900" cy="422700"/>
          </a:xfrm>
          <a:prstGeom prst="roundRect">
            <a:avLst>
              <a:gd fmla="val 20930" name="adj"/>
            </a:avLst>
          </a:prstGeom>
          <a:solidFill>
            <a:srgbClr val="3E79AC">
              <a:alpha val="12160"/>
            </a:srgbClr>
          </a:solidFill>
          <a:ln cap="flat" cmpd="sng" w="13650">
            <a:solidFill>
              <a:srgbClr val="3E79AC">
                <a:alpha val="0"/>
              </a:srgbClr>
            </a:solidFill>
            <a:prstDash val="solid"/>
            <a:round/>
            <a:headEnd len="sm" w="sm" type="none"/>
            <a:tailEnd len="sm" w="sm" type="none"/>
          </a:ln>
        </p:spPr>
        <p:txBody>
          <a:bodyPr anchorCtr="0" anchor="ctr" bIns="98275" lIns="98275" spcFirstLastPara="1" rIns="98275" wrap="square" tIns="98275">
            <a:noAutofit/>
          </a:bodyPr>
          <a:lstStyle/>
          <a:p>
            <a:pPr indent="0" lvl="0" marL="0" rtl="0" algn="l">
              <a:spcBef>
                <a:spcPts val="0"/>
              </a:spcBef>
              <a:spcAft>
                <a:spcPts val="0"/>
              </a:spcAft>
              <a:buNone/>
            </a:pPr>
            <a:r>
              <a:t/>
            </a:r>
            <a:endParaRPr/>
          </a:p>
        </p:txBody>
      </p:sp>
      <p:sp>
        <p:nvSpPr>
          <p:cNvPr id="721" name="Google Shape;721;h3173d30833cc6355_15_81"/>
          <p:cNvSpPr/>
          <p:nvPr/>
        </p:nvSpPr>
        <p:spPr>
          <a:xfrm>
            <a:off x="428100" y="4231173"/>
            <a:ext cx="471900" cy="37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E79AC"/>
              </a:buClr>
              <a:buSzPts val="1322"/>
              <a:buFont typeface="Inter"/>
              <a:buNone/>
            </a:pPr>
            <a:r>
              <a:rPr b="1" i="0" lang="en-US" sz="1322" u="none" cap="none" strike="noStrike">
                <a:solidFill>
                  <a:srgbClr val="3E79AC"/>
                </a:solidFill>
                <a:latin typeface="Inter"/>
                <a:ea typeface="Inter"/>
                <a:cs typeface="Inter"/>
                <a:sym typeface="Inter"/>
              </a:rPr>
              <a:t>03</a:t>
            </a:r>
            <a:endParaRPr b="0" i="0" sz="1322" u="none" cap="none" strike="noStrike">
              <a:solidFill>
                <a:schemeClr val="dk1"/>
              </a:solidFill>
              <a:latin typeface="Inter"/>
              <a:ea typeface="Inter"/>
              <a:cs typeface="Inter"/>
              <a:sym typeface="Inter"/>
            </a:endParaRPr>
          </a:p>
        </p:txBody>
      </p:sp>
      <p:sp>
        <p:nvSpPr>
          <p:cNvPr id="722" name="Google Shape;722;h3173d30833cc6355_15_81"/>
          <p:cNvSpPr/>
          <p:nvPr/>
        </p:nvSpPr>
        <p:spPr>
          <a:xfrm>
            <a:off x="961112" y="4265393"/>
            <a:ext cx="3735000" cy="275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A54"/>
              </a:buClr>
              <a:buSzPts val="1892"/>
              <a:buFont typeface="Inter"/>
              <a:buNone/>
            </a:pPr>
            <a:r>
              <a:rPr b="1" i="0" lang="en-US" sz="1892" u="none" cap="none" strike="noStrike">
                <a:solidFill>
                  <a:srgbClr val="173A54"/>
                </a:solidFill>
                <a:latin typeface="Inter"/>
                <a:ea typeface="Inter"/>
                <a:cs typeface="Inter"/>
                <a:sym typeface="Inter"/>
              </a:rPr>
              <a:t>Conector</a:t>
            </a:r>
            <a:endParaRPr b="0" i="0" sz="1892" u="none" cap="none" strike="noStrike">
              <a:solidFill>
                <a:schemeClr val="dk1"/>
              </a:solidFill>
              <a:latin typeface="Inter"/>
              <a:ea typeface="Inter"/>
              <a:cs typeface="Inter"/>
              <a:sym typeface="Inter"/>
            </a:endParaRPr>
          </a:p>
        </p:txBody>
      </p:sp>
      <p:sp>
        <p:nvSpPr>
          <p:cNvPr id="723" name="Google Shape;723;h3173d30833cc6355_15_81"/>
          <p:cNvSpPr/>
          <p:nvPr/>
        </p:nvSpPr>
        <p:spPr>
          <a:xfrm>
            <a:off x="6168925" y="3903150"/>
            <a:ext cx="5715900" cy="2631000"/>
          </a:xfrm>
          <a:prstGeom prst="roundRect">
            <a:avLst>
              <a:gd fmla="val 7860" name="adj"/>
            </a:avLst>
          </a:prstGeom>
          <a:solidFill>
            <a:srgbClr val="FFFFFF"/>
          </a:solidFill>
          <a:ln cap="flat" cmpd="sng" w="13650">
            <a:solidFill>
              <a:srgbClr val="DFE7EC"/>
            </a:solidFill>
            <a:prstDash val="solid"/>
            <a:round/>
            <a:headEnd len="sm" w="sm" type="none"/>
            <a:tailEnd len="sm" w="sm" type="none"/>
          </a:ln>
          <a:effectLst>
            <a:outerShdw blurRad="34130" rotWithShape="0" algn="bl" dir="5400000" dist="54607">
              <a:srgbClr val="9EB1BE">
                <a:alpha val="12160"/>
              </a:srgbClr>
            </a:outerShdw>
          </a:effectLst>
        </p:spPr>
        <p:txBody>
          <a:bodyPr anchorCtr="0" anchor="ctr" bIns="98275" lIns="98275" spcFirstLastPara="1" rIns="98275" wrap="square" tIns="98275">
            <a:noAutofit/>
          </a:bodyPr>
          <a:lstStyle/>
          <a:p>
            <a:pPr indent="0" lvl="0" marL="0" rtl="0" algn="l">
              <a:spcBef>
                <a:spcPts val="0"/>
              </a:spcBef>
              <a:spcAft>
                <a:spcPts val="0"/>
              </a:spcAft>
              <a:buNone/>
            </a:pPr>
            <a:r>
              <a:t/>
            </a:r>
            <a:endParaRPr/>
          </a:p>
        </p:txBody>
      </p:sp>
      <p:sp>
        <p:nvSpPr>
          <p:cNvPr id="724" name="Google Shape;724;h3173d30833cc6355_15_81"/>
          <p:cNvSpPr/>
          <p:nvPr/>
        </p:nvSpPr>
        <p:spPr>
          <a:xfrm>
            <a:off x="6385178" y="4008821"/>
            <a:ext cx="471900" cy="422700"/>
          </a:xfrm>
          <a:prstGeom prst="roundRect">
            <a:avLst>
              <a:gd fmla="val 20930" name="adj"/>
            </a:avLst>
          </a:prstGeom>
          <a:solidFill>
            <a:srgbClr val="8265AA">
              <a:alpha val="12160"/>
            </a:srgbClr>
          </a:solidFill>
          <a:ln cap="flat" cmpd="sng" w="13650">
            <a:solidFill>
              <a:srgbClr val="8265AA">
                <a:alpha val="0"/>
              </a:srgbClr>
            </a:solidFill>
            <a:prstDash val="solid"/>
            <a:round/>
            <a:headEnd len="sm" w="sm" type="none"/>
            <a:tailEnd len="sm" w="sm" type="none"/>
          </a:ln>
        </p:spPr>
        <p:txBody>
          <a:bodyPr anchorCtr="0" anchor="ctr" bIns="98275" lIns="98275" spcFirstLastPara="1" rIns="98275" wrap="square" tIns="98275">
            <a:noAutofit/>
          </a:bodyPr>
          <a:lstStyle/>
          <a:p>
            <a:pPr indent="0" lvl="0" marL="0" rtl="0" algn="l">
              <a:spcBef>
                <a:spcPts val="0"/>
              </a:spcBef>
              <a:spcAft>
                <a:spcPts val="0"/>
              </a:spcAft>
              <a:buNone/>
            </a:pPr>
            <a:r>
              <a:t/>
            </a:r>
            <a:endParaRPr/>
          </a:p>
        </p:txBody>
      </p:sp>
      <p:sp>
        <p:nvSpPr>
          <p:cNvPr id="725" name="Google Shape;725;h3173d30833cc6355_15_81"/>
          <p:cNvSpPr/>
          <p:nvPr/>
        </p:nvSpPr>
        <p:spPr>
          <a:xfrm>
            <a:off x="6385175" y="4077320"/>
            <a:ext cx="471900" cy="275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265AA"/>
              </a:buClr>
              <a:buSzPts val="1322"/>
              <a:buFont typeface="Inter"/>
              <a:buNone/>
            </a:pPr>
            <a:r>
              <a:rPr b="1" i="0" lang="en-US" sz="1322" u="none" cap="none" strike="noStrike">
                <a:solidFill>
                  <a:srgbClr val="8265AA"/>
                </a:solidFill>
                <a:latin typeface="Inter"/>
                <a:ea typeface="Inter"/>
                <a:cs typeface="Inter"/>
                <a:sym typeface="Inter"/>
              </a:rPr>
              <a:t>04</a:t>
            </a:r>
            <a:endParaRPr b="0" i="0" sz="1322" u="none" cap="none" strike="noStrike">
              <a:solidFill>
                <a:schemeClr val="dk1"/>
              </a:solidFill>
              <a:latin typeface="Inter"/>
              <a:ea typeface="Inter"/>
              <a:cs typeface="Inter"/>
              <a:sym typeface="Inter"/>
            </a:endParaRPr>
          </a:p>
        </p:txBody>
      </p:sp>
      <p:sp>
        <p:nvSpPr>
          <p:cNvPr id="726" name="Google Shape;726;h3173d30833cc6355_15_81"/>
          <p:cNvSpPr/>
          <p:nvPr/>
        </p:nvSpPr>
        <p:spPr>
          <a:xfrm>
            <a:off x="6994600" y="4021413"/>
            <a:ext cx="4700700" cy="37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A54"/>
              </a:buClr>
              <a:buSzPts val="1892"/>
              <a:buFont typeface="Inter"/>
              <a:buNone/>
            </a:pPr>
            <a:r>
              <a:rPr b="1" i="0" lang="en-US" sz="1892" u="none" cap="none" strike="noStrike">
                <a:solidFill>
                  <a:srgbClr val="173A54"/>
                </a:solidFill>
                <a:latin typeface="Inter"/>
                <a:ea typeface="Inter"/>
                <a:cs typeface="Inter"/>
                <a:sym typeface="Inter"/>
              </a:rPr>
              <a:t>Distancia: </a:t>
            </a:r>
            <a:r>
              <a:rPr lang="en-US" sz="1505">
                <a:solidFill>
                  <a:srgbClr val="173448"/>
                </a:solidFill>
                <a:latin typeface="Inter"/>
                <a:ea typeface="Inter"/>
                <a:cs typeface="Inter"/>
                <a:sym typeface="Inter"/>
              </a:rPr>
              <a:t>El canal habitual alcanza hasta 100 m</a:t>
            </a:r>
            <a:endParaRPr b="1" sz="1892">
              <a:solidFill>
                <a:srgbClr val="173A54"/>
              </a:solidFill>
              <a:latin typeface="Inter"/>
              <a:ea typeface="Inter"/>
              <a:cs typeface="Inter"/>
              <a:sym typeface="Inter"/>
            </a:endParaRPr>
          </a:p>
        </p:txBody>
      </p:sp>
      <p:sp>
        <p:nvSpPr>
          <p:cNvPr id="727" name="Google Shape;727;h3173d30833cc6355_15_81"/>
          <p:cNvSpPr/>
          <p:nvPr/>
        </p:nvSpPr>
        <p:spPr>
          <a:xfrm>
            <a:off x="400841" y="2261629"/>
            <a:ext cx="2968500" cy="747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3448"/>
              </a:buClr>
              <a:buSzPts val="1516"/>
              <a:buFont typeface="Inter"/>
              <a:buNone/>
            </a:pPr>
            <a:r>
              <a:rPr b="0" i="0" lang="en-US" sz="1516" u="none" cap="none" strike="noStrike">
                <a:solidFill>
                  <a:srgbClr val="173448"/>
                </a:solidFill>
                <a:latin typeface="Inter"/>
                <a:ea typeface="Inter"/>
                <a:cs typeface="Inter"/>
                <a:sym typeface="Inter"/>
              </a:rPr>
              <a:t>Cuatro pares de hilos de cobre trenzados reducen las interferencias.</a:t>
            </a:r>
            <a:endParaRPr b="0" i="0" sz="1516" u="none" cap="none" strike="noStrike">
              <a:solidFill>
                <a:schemeClr val="dk1"/>
              </a:solidFill>
              <a:latin typeface="Inter"/>
              <a:ea typeface="Inter"/>
              <a:cs typeface="Inter"/>
              <a:sym typeface="Inter"/>
            </a:endParaRPr>
          </a:p>
        </p:txBody>
      </p:sp>
      <p:sp>
        <p:nvSpPr>
          <p:cNvPr id="728" name="Google Shape;728;h3173d30833cc6355_15_81"/>
          <p:cNvSpPr/>
          <p:nvPr/>
        </p:nvSpPr>
        <p:spPr>
          <a:xfrm>
            <a:off x="400841" y="3136434"/>
            <a:ext cx="2978400" cy="24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45F29"/>
              </a:buClr>
              <a:buSzPts val="1354"/>
              <a:buFont typeface="Inter"/>
              <a:buNone/>
            </a:pPr>
            <a:r>
              <a:rPr b="1" i="0" lang="en-US" sz="1354" u="none" cap="none" strike="noStrike">
                <a:solidFill>
                  <a:srgbClr val="A45F29"/>
                </a:solidFill>
                <a:latin typeface="Inter"/>
                <a:ea typeface="Inter"/>
                <a:cs typeface="Inter"/>
                <a:sym typeface="Inter"/>
              </a:rPr>
              <a:t>U/UTP · F/UTP · S/FTP</a:t>
            </a:r>
            <a:endParaRPr b="0" i="0" sz="1354" u="none" cap="none" strike="noStrike">
              <a:solidFill>
                <a:schemeClr val="dk1"/>
              </a:solidFill>
              <a:latin typeface="Inter"/>
              <a:ea typeface="Inter"/>
              <a:cs typeface="Inter"/>
              <a:sym typeface="Inter"/>
            </a:endParaRPr>
          </a:p>
        </p:txBody>
      </p:sp>
      <p:sp>
        <p:nvSpPr>
          <p:cNvPr id="729" name="Google Shape;729;h3173d30833cc6355_15_81"/>
          <p:cNvSpPr/>
          <p:nvPr/>
        </p:nvSpPr>
        <p:spPr>
          <a:xfrm>
            <a:off x="6439275" y="2167454"/>
            <a:ext cx="2830800" cy="943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3448"/>
              </a:buClr>
              <a:buSzPts val="1494"/>
              <a:buFont typeface="Inter"/>
              <a:buNone/>
            </a:pPr>
            <a:r>
              <a:rPr b="0" i="0" lang="en-US" sz="1494" u="none" cap="none" strike="noStrike">
                <a:solidFill>
                  <a:srgbClr val="173448"/>
                </a:solidFill>
                <a:latin typeface="Inter"/>
                <a:ea typeface="Inter"/>
                <a:cs typeface="Inter"/>
                <a:sym typeface="Inter"/>
              </a:rPr>
              <a:t>La categoría determina las prestaciones según la velocidad y la longitud del enlace.</a:t>
            </a:r>
            <a:endParaRPr b="0" i="0" sz="1494" u="none" cap="none" strike="noStrike">
              <a:solidFill>
                <a:schemeClr val="dk1"/>
              </a:solidFill>
              <a:latin typeface="Inter"/>
              <a:ea typeface="Inter"/>
              <a:cs typeface="Inter"/>
              <a:sym typeface="Inter"/>
            </a:endParaRPr>
          </a:p>
        </p:txBody>
      </p:sp>
      <p:sp>
        <p:nvSpPr>
          <p:cNvPr id="730" name="Google Shape;730;h3173d30833cc6355_15_81"/>
          <p:cNvSpPr/>
          <p:nvPr/>
        </p:nvSpPr>
        <p:spPr>
          <a:xfrm>
            <a:off x="6439275" y="3198550"/>
            <a:ext cx="4910100" cy="42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D"/>
              </a:buClr>
              <a:buSzPts val="1075"/>
              <a:buFont typeface="Inter"/>
              <a:buNone/>
            </a:pPr>
            <a:r>
              <a:rPr b="0" i="0" lang="en-US" sz="1075" u="none" cap="none" strike="noStrike">
                <a:solidFill>
                  <a:srgbClr val="526B7D"/>
                </a:solidFill>
                <a:latin typeface="Inter"/>
                <a:ea typeface="Inter"/>
                <a:cs typeface="Inter"/>
                <a:sym typeface="Inter"/>
              </a:rPr>
              <a:t>*</a:t>
            </a:r>
            <a:r>
              <a:rPr lang="en-US" sz="1075">
                <a:solidFill>
                  <a:srgbClr val="526B7D"/>
                </a:solidFill>
                <a:latin typeface="Inter"/>
                <a:ea typeface="Inter"/>
                <a:cs typeface="Inter"/>
                <a:sym typeface="Inter"/>
              </a:rPr>
              <a:t>Cat 6: 10GBASE-T hasta unos 55 m, según la instalación. Para 10 Gb/s a 100 m, utilizar Cat 6A. </a:t>
            </a:r>
            <a:r>
              <a:rPr b="0" i="0" lang="en-US" sz="1075" u="none" cap="none" strike="noStrike">
                <a:solidFill>
                  <a:srgbClr val="526B7D"/>
                </a:solidFill>
                <a:latin typeface="Inter"/>
                <a:ea typeface="Inter"/>
                <a:cs typeface="Inter"/>
                <a:sym typeface="Inter"/>
              </a:rPr>
              <a:t>.</a:t>
            </a:r>
            <a:endParaRPr b="0" i="0" sz="1075" u="none" cap="none" strike="noStrike">
              <a:solidFill>
                <a:schemeClr val="dk1"/>
              </a:solidFill>
              <a:latin typeface="Inter"/>
              <a:ea typeface="Inter"/>
              <a:cs typeface="Inter"/>
              <a:sym typeface="Inter"/>
            </a:endParaRPr>
          </a:p>
        </p:txBody>
      </p:sp>
      <p:sp>
        <p:nvSpPr>
          <p:cNvPr id="731" name="Google Shape;731;h3173d30833cc6355_15_81"/>
          <p:cNvSpPr/>
          <p:nvPr/>
        </p:nvSpPr>
        <p:spPr>
          <a:xfrm>
            <a:off x="400841" y="4820747"/>
            <a:ext cx="2948700" cy="796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3448"/>
              </a:buClr>
              <a:buSzPts val="1505"/>
              <a:buFont typeface="Inter"/>
              <a:buNone/>
            </a:pPr>
            <a:r>
              <a:rPr b="0" i="0" lang="en-US" sz="1505" u="none" cap="none" strike="noStrike">
                <a:solidFill>
                  <a:srgbClr val="173448"/>
                </a:solidFill>
                <a:latin typeface="Inter"/>
                <a:ea typeface="Inter"/>
                <a:cs typeface="Inter"/>
                <a:sym typeface="Inter"/>
              </a:rPr>
              <a:t>El conector 8P8C, llamado «RJ-45», tiene ocho contactos metálicos.</a:t>
            </a:r>
            <a:endParaRPr b="0" i="0" sz="1505" u="none" cap="none" strike="noStrike">
              <a:solidFill>
                <a:schemeClr val="dk1"/>
              </a:solidFill>
              <a:latin typeface="Inter"/>
              <a:ea typeface="Inter"/>
              <a:cs typeface="Inter"/>
              <a:sym typeface="Inter"/>
            </a:endParaRPr>
          </a:p>
        </p:txBody>
      </p:sp>
      <p:sp>
        <p:nvSpPr>
          <p:cNvPr id="732" name="Google Shape;732;h3173d30833cc6355_15_81"/>
          <p:cNvSpPr/>
          <p:nvPr/>
        </p:nvSpPr>
        <p:spPr>
          <a:xfrm>
            <a:off x="400841" y="5725039"/>
            <a:ext cx="2968500" cy="236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79AC"/>
              </a:buClr>
              <a:buSzPts val="1322"/>
              <a:buFont typeface="Inter"/>
              <a:buNone/>
            </a:pPr>
            <a:r>
              <a:rPr b="1" i="0" lang="en-US" sz="1322" u="none" cap="none" strike="noStrike">
                <a:solidFill>
                  <a:srgbClr val="3E79AC"/>
                </a:solidFill>
                <a:latin typeface="Inter"/>
                <a:ea typeface="Inter"/>
                <a:cs typeface="Inter"/>
                <a:sym typeface="Inter"/>
              </a:rPr>
              <a:t>Cableado: T568A o T568B</a:t>
            </a:r>
            <a:endParaRPr b="0" i="0" sz="1322" u="none" cap="none" strike="noStrike">
              <a:solidFill>
                <a:schemeClr val="dk1"/>
              </a:solidFill>
              <a:latin typeface="Inter"/>
              <a:ea typeface="Inter"/>
              <a:cs typeface="Inter"/>
              <a:sym typeface="Inter"/>
            </a:endParaRPr>
          </a:p>
        </p:txBody>
      </p:sp>
      <p:sp>
        <p:nvSpPr>
          <p:cNvPr id="733" name="Google Shape;733;h3173d30833cc6355_15_81"/>
          <p:cNvSpPr/>
          <p:nvPr/>
        </p:nvSpPr>
        <p:spPr>
          <a:xfrm>
            <a:off x="0" y="0"/>
            <a:ext cx="12191400" cy="658200"/>
          </a:xfrm>
          <a:prstGeom prst="rect">
            <a:avLst/>
          </a:prstGeom>
          <a:solidFill>
            <a:srgbClr val="12496F"/>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h3173d30833cc6355_15_81"/>
          <p:cNvSpPr/>
          <p:nvPr/>
        </p:nvSpPr>
        <p:spPr>
          <a:xfrm>
            <a:off x="567000" y="82450"/>
            <a:ext cx="11472600" cy="4560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i="0" lang="en-US" sz="2400" u="none" cap="none" strike="noStrike">
                <a:solidFill>
                  <a:srgbClr val="FFFFFF"/>
                </a:solidFill>
                <a:latin typeface="Arial"/>
                <a:ea typeface="Arial"/>
                <a:cs typeface="Arial"/>
                <a:sym typeface="Arial"/>
              </a:rPr>
              <a:t>10 · Ethernet sobre par trenzado: 										</a:t>
            </a:r>
            <a:r>
              <a:rPr b="1" i="1" lang="en-US" sz="2400">
                <a:solidFill>
                  <a:srgbClr val="FFFFFF"/>
                </a:solidFill>
              </a:rPr>
              <a:t>Roberto García</a:t>
            </a:r>
            <a:endParaRPr b="1" i="1" sz="2400" u="none" cap="none" strike="noStrike"/>
          </a:p>
        </p:txBody>
      </p:sp>
      <p:pic>
        <p:nvPicPr>
          <p:cNvPr id="735" name="Google Shape;735;h3173d30833cc6355_15_81"/>
          <p:cNvPicPr preferRelativeResize="0"/>
          <p:nvPr/>
        </p:nvPicPr>
        <p:blipFill>
          <a:blip r:embed="rId3">
            <a:alphaModFix/>
          </a:blip>
          <a:stretch>
            <a:fillRect/>
          </a:stretch>
        </p:blipFill>
        <p:spPr>
          <a:xfrm>
            <a:off x="3585650" y="4265400"/>
            <a:ext cx="1779200" cy="1779200"/>
          </a:xfrm>
          <a:prstGeom prst="rect">
            <a:avLst/>
          </a:prstGeom>
          <a:solidFill>
            <a:srgbClr val="FFFFFF"/>
          </a:solidFill>
          <a:ln cap="flat" cmpd="sng" w="13650">
            <a:solidFill>
              <a:srgbClr val="DFE7EC"/>
            </a:solidFill>
            <a:prstDash val="solid"/>
            <a:round/>
            <a:headEnd len="sm" w="sm" type="none"/>
            <a:tailEnd len="sm" w="sm" type="none"/>
          </a:ln>
          <a:effectLst>
            <a:outerShdw blurRad="34130" rotWithShape="0" algn="bl" dir="5400000" dist="54607">
              <a:srgbClr val="9EB1BE">
                <a:alpha val="12160"/>
              </a:srgbClr>
            </a:outerShdw>
          </a:effectLst>
        </p:spPr>
      </p:pic>
      <p:pic>
        <p:nvPicPr>
          <p:cNvPr id="736" name="Google Shape;736;h3173d30833cc6355_15_81"/>
          <p:cNvPicPr preferRelativeResize="0"/>
          <p:nvPr/>
        </p:nvPicPr>
        <p:blipFill>
          <a:blip r:embed="rId4">
            <a:alphaModFix/>
          </a:blip>
          <a:stretch>
            <a:fillRect/>
          </a:stretch>
        </p:blipFill>
        <p:spPr>
          <a:xfrm>
            <a:off x="3443100" y="1618425"/>
            <a:ext cx="2064300" cy="2064300"/>
          </a:xfrm>
          <a:prstGeom prst="rect">
            <a:avLst/>
          </a:prstGeom>
          <a:noFill/>
          <a:ln>
            <a:noFill/>
          </a:ln>
        </p:spPr>
      </p:pic>
      <p:pic>
        <p:nvPicPr>
          <p:cNvPr id="737" name="Google Shape;737;h3173d30833cc6355_15_81"/>
          <p:cNvPicPr preferRelativeResize="0"/>
          <p:nvPr/>
        </p:nvPicPr>
        <p:blipFill>
          <a:blip r:embed="rId5">
            <a:alphaModFix/>
          </a:blip>
          <a:stretch>
            <a:fillRect/>
          </a:stretch>
        </p:blipFill>
        <p:spPr>
          <a:xfrm>
            <a:off x="9123051" y="1579262"/>
            <a:ext cx="2358124" cy="1521100"/>
          </a:xfrm>
          <a:prstGeom prst="rect">
            <a:avLst/>
          </a:prstGeom>
          <a:noFill/>
          <a:ln>
            <a:noFill/>
          </a:ln>
        </p:spPr>
      </p:pic>
      <p:pic>
        <p:nvPicPr>
          <p:cNvPr id="738" name="Google Shape;738;h3173d30833cc6355_15_81"/>
          <p:cNvPicPr preferRelativeResize="0"/>
          <p:nvPr/>
        </p:nvPicPr>
        <p:blipFill>
          <a:blip r:embed="rId6">
            <a:alphaModFix/>
          </a:blip>
          <a:stretch>
            <a:fillRect/>
          </a:stretch>
        </p:blipFill>
        <p:spPr>
          <a:xfrm>
            <a:off x="6857075" y="4421550"/>
            <a:ext cx="4425468" cy="20643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12"/>
          <p:cNvSpPr/>
          <p:nvPr/>
        </p:nvSpPr>
        <p:spPr>
          <a:xfrm>
            <a:off x="0" y="0"/>
            <a:ext cx="12191400" cy="658080"/>
          </a:xfrm>
          <a:prstGeom prst="rect">
            <a:avLst/>
          </a:prstGeom>
          <a:solidFill>
            <a:srgbClr val="12496F"/>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2"/>
          <p:cNvSpPr/>
          <p:nvPr/>
        </p:nvSpPr>
        <p:spPr>
          <a:xfrm>
            <a:off x="567000" y="82440"/>
            <a:ext cx="10972440" cy="45612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1" i="0" lang="en-US" sz="2400" u="none" cap="none" strike="noStrike">
                <a:solidFill>
                  <a:srgbClr val="FFFFFF"/>
                </a:solidFill>
                <a:latin typeface="Arial"/>
                <a:ea typeface="Arial"/>
                <a:cs typeface="Arial"/>
                <a:sym typeface="Arial"/>
              </a:rPr>
              <a:t>11</a:t>
            </a:r>
            <a:r>
              <a:rPr b="1" lang="en-US" sz="2400">
                <a:solidFill>
                  <a:srgbClr val="FFFFFF"/>
                </a:solidFill>
              </a:rPr>
              <a:t>.</a:t>
            </a:r>
            <a:r>
              <a:rPr b="1" i="0" lang="en-US" sz="2400" u="none" cap="none" strike="noStrike">
                <a:solidFill>
                  <a:srgbClr val="FFFFFF"/>
                </a:solidFill>
                <a:latin typeface="Arial"/>
                <a:ea typeface="Arial"/>
                <a:cs typeface="Arial"/>
                <a:sym typeface="Arial"/>
              </a:rPr>
              <a:t> ¿Qué significan 1 Gb/s y 2,5 Gb/s?</a:t>
            </a:r>
            <a:endParaRPr b="0" i="0" sz="2400" u="none" cap="none" strike="noStrike">
              <a:latin typeface="Arial"/>
              <a:ea typeface="Arial"/>
              <a:cs typeface="Arial"/>
              <a:sym typeface="Arial"/>
            </a:endParaRPr>
          </a:p>
        </p:txBody>
      </p:sp>
      <p:sp>
        <p:nvSpPr>
          <p:cNvPr id="745" name="Google Shape;745;p12"/>
          <p:cNvSpPr/>
          <p:nvPr/>
        </p:nvSpPr>
        <p:spPr>
          <a:xfrm>
            <a:off x="713160" y="813960"/>
            <a:ext cx="10789560" cy="440640"/>
          </a:xfrm>
          <a:prstGeom prst="rect">
            <a:avLst/>
          </a:prstGeom>
          <a:noFill/>
          <a:ln>
            <a:noFill/>
          </a:ln>
        </p:spPr>
        <p:txBody>
          <a:bodyPr anchorCtr="0" anchor="t" bIns="45000" lIns="36700" spcFirstLastPara="1" rIns="36700" wrap="square" tIns="45000">
            <a:spAutoFit/>
          </a:bodyPr>
          <a:lstStyle/>
          <a:p>
            <a:pPr indent="0" lvl="0" marL="0" marR="0" rtl="0" algn="ctr">
              <a:lnSpc>
                <a:spcPct val="100000"/>
              </a:lnSpc>
              <a:spcBef>
                <a:spcPts val="0"/>
              </a:spcBef>
              <a:spcAft>
                <a:spcPts val="0"/>
              </a:spcAft>
              <a:buNone/>
            </a:pPr>
            <a:r>
              <a:rPr b="1" i="0" lang="en-US" sz="2300" u="none" cap="none" strike="noStrike">
                <a:solidFill>
                  <a:srgbClr val="12496F"/>
                </a:solidFill>
              </a:rPr>
              <a:t>No confundas velocidad de enlace con velocidad real de una descarga.</a:t>
            </a:r>
            <a:endParaRPr b="1" i="0" sz="2300" u="none" cap="none" strike="noStrike"/>
          </a:p>
        </p:txBody>
      </p:sp>
      <p:sp>
        <p:nvSpPr>
          <p:cNvPr id="746" name="Google Shape;746;p12"/>
          <p:cNvSpPr/>
          <p:nvPr/>
        </p:nvSpPr>
        <p:spPr>
          <a:xfrm>
            <a:off x="596638" y="1530000"/>
            <a:ext cx="11022600" cy="1500600"/>
          </a:xfrm>
          <a:prstGeom prst="roundRect">
            <a:avLst>
              <a:gd fmla="val 16667" name="adj"/>
            </a:avLst>
          </a:prstGeom>
          <a:solidFill>
            <a:srgbClr val="E7F1F9"/>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solidFill>
                <a:srgbClr val="26303A"/>
              </a:solidFill>
            </a:endParaRPr>
          </a:p>
        </p:txBody>
      </p:sp>
      <p:sp>
        <p:nvSpPr>
          <p:cNvPr id="747" name="Google Shape;747;p12"/>
          <p:cNvSpPr/>
          <p:nvPr/>
        </p:nvSpPr>
        <p:spPr>
          <a:xfrm>
            <a:off x="752158" y="1649744"/>
            <a:ext cx="5097600" cy="4713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1" lang="en-US" sz="2000">
                <a:solidFill>
                  <a:srgbClr val="12496F"/>
                </a:solidFill>
              </a:rPr>
              <a:t>Gigabit (Gb) y Gigabyte (GB)</a:t>
            </a:r>
            <a:endParaRPr b="1" sz="2000">
              <a:solidFill>
                <a:srgbClr val="12496F"/>
              </a:solidFill>
            </a:endParaRPr>
          </a:p>
        </p:txBody>
      </p:sp>
      <p:sp>
        <p:nvSpPr>
          <p:cNvPr id="748" name="Google Shape;748;p12"/>
          <p:cNvSpPr/>
          <p:nvPr/>
        </p:nvSpPr>
        <p:spPr>
          <a:xfrm>
            <a:off x="752163" y="2120975"/>
            <a:ext cx="10711800" cy="11034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1" lang="en-US" sz="2000">
                <a:solidFill>
                  <a:srgbClr val="26303A"/>
                </a:solidFill>
              </a:rPr>
              <a:t>Gb:</a:t>
            </a:r>
            <a:r>
              <a:rPr lang="en-US" sz="2000">
                <a:solidFill>
                  <a:srgbClr val="26303A"/>
                </a:solidFill>
              </a:rPr>
              <a:t> Unidad de medida de transferencia de datos basada en bits, representa 10</a:t>
            </a:r>
            <a:r>
              <a:rPr baseline="30000" lang="en-US" sz="2000">
                <a:solidFill>
                  <a:srgbClr val="26303A"/>
                </a:solidFill>
              </a:rPr>
              <a:t>9</a:t>
            </a:r>
            <a:r>
              <a:rPr lang="en-US" sz="2000">
                <a:solidFill>
                  <a:srgbClr val="26303A"/>
                </a:solidFill>
              </a:rPr>
              <a:t> bits.</a:t>
            </a:r>
            <a:endParaRPr sz="2000">
              <a:solidFill>
                <a:srgbClr val="26303A"/>
              </a:solidFill>
            </a:endParaRPr>
          </a:p>
          <a:p>
            <a:pPr indent="0" lvl="0" marL="0" marR="0" rtl="0" algn="l">
              <a:lnSpc>
                <a:spcPct val="100000"/>
              </a:lnSpc>
              <a:spcBef>
                <a:spcPts val="0"/>
              </a:spcBef>
              <a:spcAft>
                <a:spcPts val="0"/>
              </a:spcAft>
              <a:buNone/>
            </a:pPr>
            <a:r>
              <a:t/>
            </a:r>
            <a:endParaRPr sz="800">
              <a:solidFill>
                <a:srgbClr val="26303A"/>
              </a:solidFill>
            </a:endParaRPr>
          </a:p>
          <a:p>
            <a:pPr indent="0" lvl="0" marL="0" marR="0" rtl="0" algn="l">
              <a:lnSpc>
                <a:spcPct val="100000"/>
              </a:lnSpc>
              <a:spcBef>
                <a:spcPts val="0"/>
              </a:spcBef>
              <a:spcAft>
                <a:spcPts val="0"/>
              </a:spcAft>
              <a:buNone/>
            </a:pPr>
            <a:r>
              <a:rPr b="1" lang="en-US" sz="2000">
                <a:solidFill>
                  <a:srgbClr val="26303A"/>
                </a:solidFill>
              </a:rPr>
              <a:t>GB:</a:t>
            </a:r>
            <a:r>
              <a:rPr lang="en-US" sz="2000">
                <a:solidFill>
                  <a:srgbClr val="26303A"/>
                </a:solidFill>
              </a:rPr>
              <a:t> Unidad de medida de capacidad de almacenamiento basada en octetos de bytes.</a:t>
            </a:r>
            <a:endParaRPr sz="2000">
              <a:solidFill>
                <a:srgbClr val="26303A"/>
              </a:solidFill>
            </a:endParaRPr>
          </a:p>
        </p:txBody>
      </p:sp>
      <p:sp>
        <p:nvSpPr>
          <p:cNvPr id="749" name="Google Shape;749;p12"/>
          <p:cNvSpPr/>
          <p:nvPr/>
        </p:nvSpPr>
        <p:spPr>
          <a:xfrm>
            <a:off x="594475" y="3306000"/>
            <a:ext cx="11022600" cy="3151200"/>
          </a:xfrm>
          <a:prstGeom prst="roundRect">
            <a:avLst>
              <a:gd fmla="val 16667" name="adj"/>
            </a:avLst>
          </a:prstGeom>
          <a:solidFill>
            <a:srgbClr val="F3ECF9"/>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2"/>
          <p:cNvSpPr/>
          <p:nvPr/>
        </p:nvSpPr>
        <p:spPr>
          <a:xfrm>
            <a:off x="911433" y="3460529"/>
            <a:ext cx="10389300" cy="6084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1" lang="en-US" sz="2000">
                <a:solidFill>
                  <a:srgbClr val="12496F"/>
                </a:solidFill>
              </a:rPr>
              <a:t>Cuello de botella</a:t>
            </a:r>
            <a:endParaRPr b="0" i="0" sz="2000" u="none" cap="none" strike="noStrike">
              <a:latin typeface="Arial"/>
              <a:ea typeface="Arial"/>
              <a:cs typeface="Arial"/>
              <a:sym typeface="Arial"/>
            </a:endParaRPr>
          </a:p>
        </p:txBody>
      </p:sp>
      <p:sp>
        <p:nvSpPr>
          <p:cNvPr id="751" name="Google Shape;751;p12"/>
          <p:cNvSpPr/>
          <p:nvPr/>
        </p:nvSpPr>
        <p:spPr>
          <a:xfrm>
            <a:off x="911450" y="4068850"/>
            <a:ext cx="10389300" cy="21945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lang="en-US" sz="2000">
                <a:solidFill>
                  <a:srgbClr val="26303A"/>
                </a:solidFill>
              </a:rPr>
              <a:t>Cualquier elemento de la cadena de datos que frena el rendimiento y no permite alcanzar la velocidad máxima teórica. Puede deberse a tres factores principalmente:</a:t>
            </a:r>
            <a:endParaRPr sz="2000">
              <a:solidFill>
                <a:srgbClr val="26303A"/>
              </a:solidFill>
            </a:endParaRPr>
          </a:p>
          <a:p>
            <a:pPr indent="0" lvl="0" marL="0" marR="0" rtl="0" algn="l">
              <a:lnSpc>
                <a:spcPct val="100000"/>
              </a:lnSpc>
              <a:spcBef>
                <a:spcPts val="0"/>
              </a:spcBef>
              <a:spcAft>
                <a:spcPts val="0"/>
              </a:spcAft>
              <a:buNone/>
            </a:pPr>
            <a:r>
              <a:t/>
            </a:r>
            <a:endParaRPr sz="2000">
              <a:solidFill>
                <a:srgbClr val="26303A"/>
              </a:solidFill>
            </a:endParaRPr>
          </a:p>
          <a:p>
            <a:pPr indent="-355600" lvl="0" marL="457200" marR="0" rtl="0" algn="l">
              <a:lnSpc>
                <a:spcPct val="100000"/>
              </a:lnSpc>
              <a:spcBef>
                <a:spcPts val="0"/>
              </a:spcBef>
              <a:spcAft>
                <a:spcPts val="0"/>
              </a:spcAft>
              <a:buClr>
                <a:srgbClr val="26303A"/>
              </a:buClr>
              <a:buSzPts val="2000"/>
              <a:buChar char="-"/>
            </a:pPr>
            <a:r>
              <a:rPr lang="en-US" sz="2000">
                <a:solidFill>
                  <a:srgbClr val="26303A"/>
                </a:solidFill>
              </a:rPr>
              <a:t>Tramo más lento: En el caso de que una de las partes </a:t>
            </a:r>
            <a:r>
              <a:rPr lang="en-US" sz="2000">
                <a:solidFill>
                  <a:srgbClr val="26303A"/>
                </a:solidFill>
              </a:rPr>
              <a:t>ralentice</a:t>
            </a:r>
            <a:r>
              <a:rPr lang="en-US" sz="2000">
                <a:solidFill>
                  <a:srgbClr val="26303A"/>
                </a:solidFill>
              </a:rPr>
              <a:t> a las demás.</a:t>
            </a:r>
            <a:endParaRPr sz="2000">
              <a:solidFill>
                <a:srgbClr val="26303A"/>
              </a:solidFill>
            </a:endParaRPr>
          </a:p>
          <a:p>
            <a:pPr indent="-355600" lvl="0" marL="457200" marR="0" rtl="0" algn="l">
              <a:lnSpc>
                <a:spcPct val="100000"/>
              </a:lnSpc>
              <a:spcBef>
                <a:spcPts val="0"/>
              </a:spcBef>
              <a:spcAft>
                <a:spcPts val="0"/>
              </a:spcAft>
              <a:buClr>
                <a:srgbClr val="26303A"/>
              </a:buClr>
              <a:buSzPts val="2000"/>
              <a:buChar char="-"/>
            </a:pPr>
            <a:r>
              <a:rPr lang="en-US" sz="2000">
                <a:solidFill>
                  <a:srgbClr val="26303A"/>
                </a:solidFill>
              </a:rPr>
              <a:t>Servidor: Puede saturarse, lo que afecta a la descarga, pues no envía en sus máximas.</a:t>
            </a:r>
            <a:endParaRPr sz="2000">
              <a:solidFill>
                <a:srgbClr val="26303A"/>
              </a:solidFill>
            </a:endParaRPr>
          </a:p>
          <a:p>
            <a:pPr indent="-355600" lvl="0" marL="457200" marR="0" rtl="0" algn="l">
              <a:lnSpc>
                <a:spcPct val="100000"/>
              </a:lnSpc>
              <a:spcBef>
                <a:spcPts val="0"/>
              </a:spcBef>
              <a:spcAft>
                <a:spcPts val="0"/>
              </a:spcAft>
              <a:buClr>
                <a:srgbClr val="26303A"/>
              </a:buClr>
              <a:buSzPts val="2000"/>
              <a:buChar char="-"/>
            </a:pPr>
            <a:r>
              <a:rPr lang="en-US" sz="2000">
                <a:solidFill>
                  <a:srgbClr val="26303A"/>
                </a:solidFill>
              </a:rPr>
              <a:t>Conexión exterior: Aun siendo la red interna de alta velocidad, si el operador tiene un límite inferior, la velocidad estará capada.</a:t>
            </a:r>
            <a:endParaRPr sz="2000">
              <a:solidFill>
                <a:srgbClr val="26303A"/>
              </a:solidFill>
            </a:endParaRPr>
          </a:p>
        </p:txBody>
      </p:sp>
      <p:sp>
        <p:nvSpPr>
          <p:cNvPr id="752" name="Google Shape;752;p12"/>
          <p:cNvSpPr txBox="1"/>
          <p:nvPr/>
        </p:nvSpPr>
        <p:spPr>
          <a:xfrm>
            <a:off x="10684004" y="6457133"/>
            <a:ext cx="15273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US">
                <a:solidFill>
                  <a:srgbClr val="12496F"/>
                </a:solidFill>
              </a:rPr>
              <a:t>Kati González</a:t>
            </a:r>
            <a:endParaRPr>
              <a:solidFill>
                <a:srgbClr val="12496F"/>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h3173d30833cc6355_10_5"/>
          <p:cNvSpPr/>
          <p:nvPr/>
        </p:nvSpPr>
        <p:spPr>
          <a:xfrm>
            <a:off x="0" y="0"/>
            <a:ext cx="12191400" cy="658200"/>
          </a:xfrm>
          <a:prstGeom prst="rect">
            <a:avLst/>
          </a:prstGeom>
          <a:solidFill>
            <a:srgbClr val="12496F"/>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h3173d30833cc6355_10_5"/>
          <p:cNvSpPr/>
          <p:nvPr/>
        </p:nvSpPr>
        <p:spPr>
          <a:xfrm>
            <a:off x="567000" y="82440"/>
            <a:ext cx="10972500" cy="4560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i="0" lang="en-US" sz="2400" u="none" cap="none" strike="noStrike">
                <a:solidFill>
                  <a:srgbClr val="FFFFFF"/>
                </a:solidFill>
                <a:latin typeface="Arial"/>
                <a:ea typeface="Arial"/>
                <a:cs typeface="Arial"/>
                <a:sym typeface="Arial"/>
              </a:rPr>
              <a:t>11</a:t>
            </a:r>
            <a:r>
              <a:rPr b="1" lang="en-US" sz="2400">
                <a:solidFill>
                  <a:srgbClr val="FFFFFF"/>
                </a:solidFill>
              </a:rPr>
              <a:t>.</a:t>
            </a:r>
            <a:r>
              <a:rPr b="1" i="0" lang="en-US" sz="2400" u="none" cap="none" strike="noStrike">
                <a:solidFill>
                  <a:srgbClr val="FFFFFF"/>
                </a:solidFill>
                <a:latin typeface="Arial"/>
                <a:ea typeface="Arial"/>
                <a:cs typeface="Arial"/>
                <a:sym typeface="Arial"/>
              </a:rPr>
              <a:t> ¿Qué significan 1 Gb/s y 2,5 Gb/s?</a:t>
            </a:r>
            <a:endParaRPr b="0" i="0" sz="2400" u="none" cap="none" strike="noStrike">
              <a:latin typeface="Arial"/>
              <a:ea typeface="Arial"/>
              <a:cs typeface="Arial"/>
              <a:sym typeface="Arial"/>
            </a:endParaRPr>
          </a:p>
        </p:txBody>
      </p:sp>
      <p:sp>
        <p:nvSpPr>
          <p:cNvPr id="759" name="Google Shape;759;h3173d30833cc6355_10_5"/>
          <p:cNvSpPr/>
          <p:nvPr/>
        </p:nvSpPr>
        <p:spPr>
          <a:xfrm>
            <a:off x="567000" y="1085050"/>
            <a:ext cx="5408400" cy="4408200"/>
          </a:xfrm>
          <a:prstGeom prst="roundRect">
            <a:avLst>
              <a:gd fmla="val 16667" name="adj"/>
            </a:avLst>
          </a:prstGeom>
          <a:solidFill>
            <a:srgbClr val="EBF5EB"/>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h3173d30833cc6355_10_5"/>
          <p:cNvSpPr/>
          <p:nvPr/>
        </p:nvSpPr>
        <p:spPr>
          <a:xfrm>
            <a:off x="722525" y="1351198"/>
            <a:ext cx="5097600" cy="456000"/>
          </a:xfrm>
          <a:prstGeom prst="rect">
            <a:avLst/>
          </a:prstGeom>
          <a:noFill/>
          <a:ln>
            <a:noFill/>
          </a:ln>
        </p:spPr>
        <p:txBody>
          <a:bodyPr anchorCtr="0" anchor="t" bIns="45000" lIns="36700" spcFirstLastPara="1" rIns="36700" wrap="square" tIns="45000">
            <a:noAutofit/>
          </a:bodyPr>
          <a:lstStyle/>
          <a:p>
            <a:pPr indent="0" lvl="0" marL="0" rtl="0" algn="ctr">
              <a:spcBef>
                <a:spcPts val="0"/>
              </a:spcBef>
              <a:spcAft>
                <a:spcPts val="0"/>
              </a:spcAft>
              <a:buNone/>
            </a:pPr>
            <a:r>
              <a:rPr b="1" lang="en-US" sz="2000">
                <a:solidFill>
                  <a:srgbClr val="12496F"/>
                </a:solidFill>
              </a:rPr>
              <a:t>1 GbE (Gigabit Ethernet, IEEE 802.3ab)</a:t>
            </a:r>
            <a:endParaRPr sz="2000">
              <a:solidFill>
                <a:schemeClr val="dk1"/>
              </a:solidFill>
            </a:endParaRPr>
          </a:p>
          <a:p>
            <a:pPr indent="0" lvl="0" marL="0" marR="0" rtl="0" algn="l">
              <a:lnSpc>
                <a:spcPct val="100000"/>
              </a:lnSpc>
              <a:spcBef>
                <a:spcPts val="0"/>
              </a:spcBef>
              <a:spcAft>
                <a:spcPts val="0"/>
              </a:spcAft>
              <a:buNone/>
            </a:pPr>
            <a:r>
              <a:t/>
            </a:r>
            <a:endParaRPr b="1" sz="2000">
              <a:solidFill>
                <a:srgbClr val="12496F"/>
              </a:solidFill>
            </a:endParaRPr>
          </a:p>
        </p:txBody>
      </p:sp>
      <p:sp>
        <p:nvSpPr>
          <p:cNvPr id="761" name="Google Shape;761;h3173d30833cc6355_10_5"/>
          <p:cNvSpPr/>
          <p:nvPr/>
        </p:nvSpPr>
        <p:spPr>
          <a:xfrm>
            <a:off x="722500" y="1926675"/>
            <a:ext cx="5097600" cy="3566700"/>
          </a:xfrm>
          <a:prstGeom prst="rect">
            <a:avLst/>
          </a:prstGeom>
          <a:noFill/>
          <a:ln>
            <a:noFill/>
          </a:ln>
        </p:spPr>
        <p:txBody>
          <a:bodyPr anchorCtr="0" anchor="t" bIns="45000" lIns="36700" spcFirstLastPara="1" rIns="36700" wrap="square" tIns="45000">
            <a:noAutofit/>
          </a:bodyPr>
          <a:lstStyle/>
          <a:p>
            <a:pPr indent="-355600" lvl="0" marL="457200" rtl="0" algn="l">
              <a:spcBef>
                <a:spcPts val="0"/>
              </a:spcBef>
              <a:spcAft>
                <a:spcPts val="0"/>
              </a:spcAft>
              <a:buClr>
                <a:srgbClr val="26303A"/>
              </a:buClr>
              <a:buSzPts val="2000"/>
              <a:buChar char="-"/>
            </a:pPr>
            <a:r>
              <a:rPr lang="en-US" sz="2000">
                <a:solidFill>
                  <a:srgbClr val="26303A"/>
                </a:solidFill>
              </a:rPr>
              <a:t>Estándar de red, capacidad de enlace de 1 Gb/s y una transferencia de datos máxima teórica de 125 MB/s.</a:t>
            </a:r>
            <a:endParaRPr sz="2000">
              <a:solidFill>
                <a:srgbClr val="26303A"/>
              </a:solidFill>
            </a:endParaRPr>
          </a:p>
          <a:p>
            <a:pPr indent="0" lvl="0" marL="457200" rtl="0" algn="l">
              <a:spcBef>
                <a:spcPts val="0"/>
              </a:spcBef>
              <a:spcAft>
                <a:spcPts val="0"/>
              </a:spcAft>
              <a:buNone/>
            </a:pPr>
            <a:r>
              <a:t/>
            </a:r>
            <a:endParaRPr sz="2000">
              <a:solidFill>
                <a:srgbClr val="26303A"/>
              </a:solidFill>
            </a:endParaRPr>
          </a:p>
          <a:p>
            <a:pPr indent="-355600" lvl="0" marL="457200" rtl="0" algn="l">
              <a:spcBef>
                <a:spcPts val="0"/>
              </a:spcBef>
              <a:spcAft>
                <a:spcPts val="0"/>
              </a:spcAft>
              <a:buClr>
                <a:srgbClr val="26303A"/>
              </a:buClr>
              <a:buSzPts val="2000"/>
              <a:buChar char="-"/>
            </a:pPr>
            <a:r>
              <a:rPr lang="en-US" sz="2000">
                <a:solidFill>
                  <a:srgbClr val="26303A"/>
                </a:solidFill>
              </a:rPr>
              <a:t>Full-duplex, envía y recibe datos al mismo tiempo.</a:t>
            </a:r>
            <a:endParaRPr sz="2000">
              <a:solidFill>
                <a:srgbClr val="26303A"/>
              </a:solidFill>
            </a:endParaRPr>
          </a:p>
          <a:p>
            <a:pPr indent="-355600" lvl="0" marL="457200" rtl="0" algn="l">
              <a:spcBef>
                <a:spcPts val="0"/>
              </a:spcBef>
              <a:spcAft>
                <a:spcPts val="0"/>
              </a:spcAft>
              <a:buClr>
                <a:srgbClr val="26303A"/>
              </a:buClr>
              <a:buSzPts val="2000"/>
              <a:buChar char="-"/>
            </a:pPr>
            <a:r>
              <a:rPr lang="en-US" sz="2000">
                <a:solidFill>
                  <a:srgbClr val="26303A"/>
                </a:solidFill>
              </a:rPr>
              <a:t>Se utiliza en cableado de par trenzado de Cat 5e o superior.</a:t>
            </a:r>
            <a:endParaRPr sz="2000">
              <a:solidFill>
                <a:srgbClr val="26303A"/>
              </a:solidFill>
            </a:endParaRPr>
          </a:p>
          <a:p>
            <a:pPr indent="-355600" lvl="0" marL="457200" rtl="0" algn="l">
              <a:spcBef>
                <a:spcPts val="0"/>
              </a:spcBef>
              <a:spcAft>
                <a:spcPts val="0"/>
              </a:spcAft>
              <a:buClr>
                <a:srgbClr val="26303A"/>
              </a:buClr>
              <a:buSzPts val="2000"/>
              <a:buChar char="-"/>
            </a:pPr>
            <a:r>
              <a:rPr lang="en-US" sz="2000">
                <a:solidFill>
                  <a:srgbClr val="26303A"/>
                </a:solidFill>
              </a:rPr>
              <a:t>Estándar más común en entornos.</a:t>
            </a:r>
            <a:endParaRPr sz="2000">
              <a:solidFill>
                <a:srgbClr val="26303A"/>
              </a:solidFill>
            </a:endParaRPr>
          </a:p>
          <a:p>
            <a:pPr indent="0" lvl="0" marL="0" rtl="0" algn="l">
              <a:spcBef>
                <a:spcPts val="0"/>
              </a:spcBef>
              <a:spcAft>
                <a:spcPts val="0"/>
              </a:spcAft>
              <a:buNone/>
            </a:pPr>
            <a:r>
              <a:t/>
            </a:r>
            <a:endParaRPr sz="2000">
              <a:solidFill>
                <a:srgbClr val="26303A"/>
              </a:solidFill>
            </a:endParaRPr>
          </a:p>
        </p:txBody>
      </p:sp>
      <p:sp>
        <p:nvSpPr>
          <p:cNvPr id="762" name="Google Shape;762;h3173d30833cc6355_10_5"/>
          <p:cNvSpPr/>
          <p:nvPr/>
        </p:nvSpPr>
        <p:spPr>
          <a:xfrm>
            <a:off x="6131100" y="1085075"/>
            <a:ext cx="5408400" cy="4408200"/>
          </a:xfrm>
          <a:prstGeom prst="roundRect">
            <a:avLst>
              <a:gd fmla="val 16667" name="adj"/>
            </a:avLst>
          </a:prstGeom>
          <a:solidFill>
            <a:srgbClr val="FFF2E0"/>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h3173d30833cc6355_10_5"/>
          <p:cNvSpPr/>
          <p:nvPr/>
        </p:nvSpPr>
        <p:spPr>
          <a:xfrm>
            <a:off x="6286625" y="1351224"/>
            <a:ext cx="5097600" cy="400200"/>
          </a:xfrm>
          <a:prstGeom prst="rect">
            <a:avLst/>
          </a:prstGeom>
          <a:noFill/>
          <a:ln>
            <a:noFill/>
          </a:ln>
        </p:spPr>
        <p:txBody>
          <a:bodyPr anchorCtr="0" anchor="t" bIns="45000" lIns="36700" spcFirstLastPara="1" rIns="36700" wrap="square" tIns="45000">
            <a:noAutofit/>
          </a:bodyPr>
          <a:lstStyle/>
          <a:p>
            <a:pPr indent="0" lvl="0" marL="0" rtl="0" algn="ctr">
              <a:spcBef>
                <a:spcPts val="0"/>
              </a:spcBef>
              <a:spcAft>
                <a:spcPts val="0"/>
              </a:spcAft>
              <a:buNone/>
            </a:pPr>
            <a:r>
              <a:rPr b="1" lang="en-US" sz="2000">
                <a:solidFill>
                  <a:srgbClr val="12496F"/>
                </a:solidFill>
              </a:rPr>
              <a:t>2.5 GbE (IEEE 802.3bz)</a:t>
            </a:r>
            <a:endParaRPr sz="2000">
              <a:solidFill>
                <a:schemeClr val="dk1"/>
              </a:solidFill>
            </a:endParaRPr>
          </a:p>
          <a:p>
            <a:pPr indent="0" lvl="0" marL="0" marR="0" rtl="0" algn="l">
              <a:lnSpc>
                <a:spcPct val="100000"/>
              </a:lnSpc>
              <a:spcBef>
                <a:spcPts val="0"/>
              </a:spcBef>
              <a:spcAft>
                <a:spcPts val="0"/>
              </a:spcAft>
              <a:buNone/>
            </a:pPr>
            <a:r>
              <a:t/>
            </a:r>
            <a:endParaRPr b="1" sz="2000">
              <a:solidFill>
                <a:srgbClr val="12496F"/>
              </a:solidFill>
            </a:endParaRPr>
          </a:p>
        </p:txBody>
      </p:sp>
      <p:sp>
        <p:nvSpPr>
          <p:cNvPr id="764" name="Google Shape;764;h3173d30833cc6355_10_5"/>
          <p:cNvSpPr/>
          <p:nvPr/>
        </p:nvSpPr>
        <p:spPr>
          <a:xfrm>
            <a:off x="6286625" y="1926675"/>
            <a:ext cx="5097600" cy="3566700"/>
          </a:xfrm>
          <a:prstGeom prst="rect">
            <a:avLst/>
          </a:prstGeom>
          <a:noFill/>
          <a:ln>
            <a:noFill/>
          </a:ln>
        </p:spPr>
        <p:txBody>
          <a:bodyPr anchorCtr="0" anchor="t" bIns="45000" lIns="36700" spcFirstLastPara="1" rIns="36700" wrap="square" tIns="45000">
            <a:noAutofit/>
          </a:bodyPr>
          <a:lstStyle/>
          <a:p>
            <a:pPr indent="-355600" lvl="0" marL="457200" rtl="0" algn="l">
              <a:spcBef>
                <a:spcPts val="0"/>
              </a:spcBef>
              <a:spcAft>
                <a:spcPts val="0"/>
              </a:spcAft>
              <a:buClr>
                <a:srgbClr val="26303A"/>
              </a:buClr>
              <a:buSzPts val="2000"/>
              <a:buChar char="-"/>
            </a:pPr>
            <a:r>
              <a:rPr lang="en-US" sz="2000">
                <a:solidFill>
                  <a:srgbClr val="26303A"/>
                </a:solidFill>
              </a:rPr>
              <a:t>Estándar de red, capacidad de enlace de 2.5 Gb/s y una transferencia de datos máxima teórica  de 312.5 MB/s.</a:t>
            </a:r>
            <a:endParaRPr sz="2000">
              <a:solidFill>
                <a:srgbClr val="26303A"/>
              </a:solidFill>
            </a:endParaRPr>
          </a:p>
          <a:p>
            <a:pPr indent="0" lvl="0" marL="457200" rtl="0" algn="l">
              <a:spcBef>
                <a:spcPts val="0"/>
              </a:spcBef>
              <a:spcAft>
                <a:spcPts val="0"/>
              </a:spcAft>
              <a:buNone/>
            </a:pPr>
            <a:r>
              <a:t/>
            </a:r>
            <a:endParaRPr sz="2000">
              <a:solidFill>
                <a:srgbClr val="26303A"/>
              </a:solidFill>
            </a:endParaRPr>
          </a:p>
          <a:p>
            <a:pPr indent="-355600" lvl="0" marL="457200" rtl="0" algn="l">
              <a:spcBef>
                <a:spcPts val="0"/>
              </a:spcBef>
              <a:spcAft>
                <a:spcPts val="0"/>
              </a:spcAft>
              <a:buClr>
                <a:srgbClr val="26303A"/>
              </a:buClr>
              <a:buSzPts val="2000"/>
              <a:buChar char="-"/>
            </a:pPr>
            <a:r>
              <a:rPr lang="en-US" sz="2000">
                <a:solidFill>
                  <a:srgbClr val="26303A"/>
                </a:solidFill>
              </a:rPr>
              <a:t>Full-duplex.</a:t>
            </a:r>
            <a:endParaRPr sz="2000">
              <a:solidFill>
                <a:srgbClr val="26303A"/>
              </a:solidFill>
            </a:endParaRPr>
          </a:p>
          <a:p>
            <a:pPr indent="-355600" lvl="0" marL="457200" rtl="0" algn="l">
              <a:spcBef>
                <a:spcPts val="0"/>
              </a:spcBef>
              <a:spcAft>
                <a:spcPts val="0"/>
              </a:spcAft>
              <a:buClr>
                <a:srgbClr val="26303A"/>
              </a:buClr>
              <a:buSzPts val="2000"/>
              <a:buChar char="-"/>
            </a:pPr>
            <a:r>
              <a:rPr lang="en-US" sz="2000">
                <a:solidFill>
                  <a:srgbClr val="26303A"/>
                </a:solidFill>
              </a:rPr>
              <a:t>Se utiliza en cableado de par trenzado de Cat 5e o superior, pero a mayor velocidad.</a:t>
            </a:r>
            <a:endParaRPr sz="2000">
              <a:solidFill>
                <a:srgbClr val="26303A"/>
              </a:solidFill>
            </a:endParaRPr>
          </a:p>
          <a:p>
            <a:pPr indent="-355600" lvl="0" marL="457200" rtl="0" algn="l">
              <a:spcBef>
                <a:spcPts val="0"/>
              </a:spcBef>
              <a:spcAft>
                <a:spcPts val="0"/>
              </a:spcAft>
              <a:buClr>
                <a:srgbClr val="26303A"/>
              </a:buClr>
              <a:buSzPts val="2000"/>
              <a:buChar char="-"/>
            </a:pPr>
            <a:r>
              <a:rPr lang="en-US" sz="2000">
                <a:solidFill>
                  <a:srgbClr val="26303A"/>
                </a:solidFill>
              </a:rPr>
              <a:t>Estándar de transición en hardware de altas prestaciones, dispositivos NAS…</a:t>
            </a:r>
            <a:endParaRPr sz="2000">
              <a:solidFill>
                <a:srgbClr val="26303A"/>
              </a:solidFill>
            </a:endParaRPr>
          </a:p>
          <a:p>
            <a:pPr indent="0" lvl="0" marL="0" marR="0" rtl="0" algn="l">
              <a:lnSpc>
                <a:spcPct val="100000"/>
              </a:lnSpc>
              <a:spcBef>
                <a:spcPts val="0"/>
              </a:spcBef>
              <a:spcAft>
                <a:spcPts val="0"/>
              </a:spcAft>
              <a:buNone/>
            </a:pPr>
            <a:r>
              <a:t/>
            </a:r>
            <a:endParaRPr sz="2000">
              <a:solidFill>
                <a:srgbClr val="26303A"/>
              </a:solidFill>
            </a:endParaRPr>
          </a:p>
        </p:txBody>
      </p:sp>
      <p:sp>
        <p:nvSpPr>
          <p:cNvPr id="765" name="Google Shape;765;h3173d30833cc6355_10_5"/>
          <p:cNvSpPr txBox="1"/>
          <p:nvPr/>
        </p:nvSpPr>
        <p:spPr>
          <a:xfrm>
            <a:off x="10684004" y="6457133"/>
            <a:ext cx="15273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US">
                <a:solidFill>
                  <a:srgbClr val="12496F"/>
                </a:solidFill>
              </a:rPr>
              <a:t>Kati González</a:t>
            </a:r>
            <a:endParaRPr>
              <a:solidFill>
                <a:srgbClr val="12496F"/>
              </a:solidFill>
            </a:endParaRPr>
          </a:p>
        </p:txBody>
      </p:sp>
      <p:sp>
        <p:nvSpPr>
          <p:cNvPr id="766" name="Google Shape;766;h3173d30833cc6355_10_5"/>
          <p:cNvSpPr/>
          <p:nvPr/>
        </p:nvSpPr>
        <p:spPr>
          <a:xfrm>
            <a:off x="1246200" y="5706400"/>
            <a:ext cx="9614100" cy="813900"/>
          </a:xfrm>
          <a:prstGeom prst="roundRect">
            <a:avLst>
              <a:gd fmla="val 16667" name="adj"/>
            </a:avLst>
          </a:prstGeom>
          <a:solidFill>
            <a:srgbClr val="9FC5E8"/>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h3173d30833cc6355_10_5"/>
          <p:cNvSpPr/>
          <p:nvPr/>
        </p:nvSpPr>
        <p:spPr>
          <a:xfrm>
            <a:off x="1440025" y="5784475"/>
            <a:ext cx="9265200" cy="813900"/>
          </a:xfrm>
          <a:prstGeom prst="rect">
            <a:avLst/>
          </a:prstGeom>
          <a:noFill/>
          <a:ln>
            <a:noFill/>
          </a:ln>
        </p:spPr>
        <p:txBody>
          <a:bodyPr anchorCtr="0" anchor="t" bIns="45000" lIns="36700" spcFirstLastPara="1" rIns="36700" wrap="square" tIns="45000">
            <a:noAutofit/>
          </a:bodyPr>
          <a:lstStyle/>
          <a:p>
            <a:pPr indent="0" lvl="0" marL="0" rtl="0" algn="ctr">
              <a:spcBef>
                <a:spcPts val="0"/>
              </a:spcBef>
              <a:spcAft>
                <a:spcPts val="0"/>
              </a:spcAft>
              <a:buNone/>
            </a:pPr>
            <a:r>
              <a:rPr lang="en-US" sz="2000">
                <a:solidFill>
                  <a:schemeClr val="dk1"/>
                </a:solidFill>
              </a:rPr>
              <a:t>Ambos estándares funcionan con</a:t>
            </a:r>
            <a:r>
              <a:rPr lang="en-US" sz="2000">
                <a:solidFill>
                  <a:srgbClr val="26303A"/>
                </a:solidFill>
              </a:rPr>
              <a:t> </a:t>
            </a:r>
            <a:r>
              <a:rPr lang="en-US" sz="2000">
                <a:solidFill>
                  <a:schemeClr val="dk1"/>
                </a:solidFill>
              </a:rPr>
              <a:t>el mecanismo de autonegociación, acuerdan automáticamente la velocidad máxima en común que ambos soportan.</a:t>
            </a:r>
            <a:endParaRPr sz="2000">
              <a:solidFill>
                <a:srgbClr val="26303A"/>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13"/>
          <p:cNvSpPr/>
          <p:nvPr/>
        </p:nvSpPr>
        <p:spPr>
          <a:xfrm>
            <a:off x="0" y="0"/>
            <a:ext cx="12191400" cy="658080"/>
          </a:xfrm>
          <a:prstGeom prst="rect">
            <a:avLst/>
          </a:prstGeom>
          <a:solidFill>
            <a:srgbClr val="12496F"/>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13"/>
          <p:cNvSpPr/>
          <p:nvPr/>
        </p:nvSpPr>
        <p:spPr>
          <a:xfrm>
            <a:off x="567000" y="82440"/>
            <a:ext cx="10972440" cy="45612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1" i="0" lang="en-US" sz="2400" u="none" cap="none" strike="noStrike">
                <a:solidFill>
                  <a:srgbClr val="FFFFFF"/>
                </a:solidFill>
                <a:latin typeface="Arial"/>
                <a:ea typeface="Arial"/>
                <a:cs typeface="Arial"/>
                <a:sym typeface="Arial"/>
              </a:rPr>
              <a:t>12 · Fibra óptica y conectores: </a:t>
            </a:r>
            <a:r>
              <a:rPr b="1" lang="en-US" sz="2400">
                <a:solidFill>
                  <a:srgbClr val="FFFFFF"/>
                </a:solidFill>
              </a:rPr>
              <a:t>Álvaro Linares </a:t>
            </a:r>
            <a:endParaRPr b="0" i="0" sz="2400" u="none" cap="none" strike="noStrike">
              <a:latin typeface="Arial"/>
              <a:ea typeface="Arial"/>
              <a:cs typeface="Arial"/>
              <a:sym typeface="Arial"/>
            </a:endParaRPr>
          </a:p>
        </p:txBody>
      </p:sp>
      <p:sp>
        <p:nvSpPr>
          <p:cNvPr id="774" name="Google Shape;774;p13"/>
          <p:cNvSpPr/>
          <p:nvPr/>
        </p:nvSpPr>
        <p:spPr>
          <a:xfrm>
            <a:off x="713160" y="813960"/>
            <a:ext cx="10789500" cy="4407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0" i="0" lang="en-US" sz="2300" u="none" cap="none" strike="noStrike">
                <a:solidFill>
                  <a:srgbClr val="12496F"/>
                </a:solidFill>
                <a:latin typeface="Arial"/>
                <a:ea typeface="Arial"/>
                <a:cs typeface="Arial"/>
                <a:sym typeface="Arial"/>
              </a:rPr>
              <a:t>La fibra transmite mediante luz y es frecuente en troncales y acceso.</a:t>
            </a:r>
            <a:endParaRPr b="0" i="0" sz="2300" u="none" cap="none" strike="noStrike">
              <a:latin typeface="Arial"/>
              <a:ea typeface="Arial"/>
              <a:cs typeface="Arial"/>
              <a:sym typeface="Arial"/>
            </a:endParaRPr>
          </a:p>
        </p:txBody>
      </p:sp>
      <p:sp>
        <p:nvSpPr>
          <p:cNvPr id="775" name="Google Shape;775;p13"/>
          <p:cNvSpPr/>
          <p:nvPr/>
        </p:nvSpPr>
        <p:spPr>
          <a:xfrm>
            <a:off x="594350" y="1299814"/>
            <a:ext cx="5408400" cy="2439900"/>
          </a:xfrm>
          <a:prstGeom prst="roundRect">
            <a:avLst>
              <a:gd fmla="val 16667" name="adj"/>
            </a:avLst>
          </a:prstGeom>
          <a:solidFill>
            <a:srgbClr val="E7F1F9"/>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13"/>
          <p:cNvSpPr/>
          <p:nvPr/>
        </p:nvSpPr>
        <p:spPr>
          <a:xfrm>
            <a:off x="749880" y="1408416"/>
            <a:ext cx="5097600" cy="3954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1" i="0" lang="en-US" sz="2000" u="none" cap="none" strike="noStrike">
                <a:solidFill>
                  <a:srgbClr val="12496F"/>
                </a:solidFill>
                <a:latin typeface="Arial"/>
                <a:ea typeface="Arial"/>
                <a:cs typeface="Arial"/>
                <a:sym typeface="Arial"/>
              </a:rPr>
              <a:t>Fibra monomodo</a:t>
            </a:r>
            <a:endParaRPr b="0" i="0" sz="2000" u="none" cap="none" strike="noStrike">
              <a:latin typeface="Arial"/>
              <a:ea typeface="Arial"/>
              <a:cs typeface="Arial"/>
              <a:sym typeface="Arial"/>
            </a:endParaRPr>
          </a:p>
        </p:txBody>
      </p:sp>
      <p:sp>
        <p:nvSpPr>
          <p:cNvPr id="777" name="Google Shape;777;p13"/>
          <p:cNvSpPr/>
          <p:nvPr/>
        </p:nvSpPr>
        <p:spPr>
          <a:xfrm>
            <a:off x="749880" y="1816011"/>
            <a:ext cx="5097600" cy="700200"/>
          </a:xfrm>
          <a:prstGeom prst="rect">
            <a:avLst/>
          </a:prstGeom>
          <a:noFill/>
          <a:ln>
            <a:noFill/>
          </a:ln>
        </p:spPr>
        <p:txBody>
          <a:bodyPr anchorCtr="0" anchor="t" bIns="45000" lIns="36700" spcFirstLastPara="1" rIns="36700" wrap="square" tIns="45000">
            <a:spAutoFit/>
          </a:bodyPr>
          <a:lstStyle/>
          <a:p>
            <a:pPr indent="-304800" lvl="0" marL="457200" rtl="0" algn="l">
              <a:lnSpc>
                <a:spcPct val="115000"/>
              </a:lnSpc>
              <a:spcBef>
                <a:spcPts val="900"/>
              </a:spcBef>
              <a:spcAft>
                <a:spcPts val="0"/>
              </a:spcAft>
              <a:buClr>
                <a:schemeClr val="dk1"/>
              </a:buClr>
              <a:buSzPts val="1200"/>
              <a:buChar char="●"/>
            </a:pPr>
            <a:r>
              <a:rPr b="1" lang="en-US" sz="1200">
                <a:solidFill>
                  <a:schemeClr val="dk1"/>
                </a:solidFill>
              </a:rPr>
              <a:t>Distancia</a:t>
            </a:r>
            <a:r>
              <a:rPr lang="en-US" sz="1200">
                <a:solidFill>
                  <a:schemeClr val="dk1"/>
                </a:solidFill>
              </a:rPr>
              <a:t>: Ideal para conectar ciudades a muchos kilómetros de distancia.</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Cómo viaja la luz:</a:t>
            </a:r>
            <a:r>
              <a:rPr lang="en-US" sz="1200">
                <a:solidFill>
                  <a:schemeClr val="dk1"/>
                </a:solidFill>
              </a:rPr>
              <a:t> El cable por dentro es ultra delgado, así que la luz va en línea recta perfecta.</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Color del cable:</a:t>
            </a:r>
            <a:r>
              <a:rPr lang="en-US" sz="1200">
                <a:solidFill>
                  <a:schemeClr val="dk1"/>
                </a:solidFill>
              </a:rPr>
              <a:t> El plástico exterior es siempre de color amarillo para reconocerlo rápido.</a:t>
            </a:r>
            <a:endParaRPr sz="1200">
              <a:solidFill>
                <a:schemeClr val="dk1"/>
              </a:solidFill>
            </a:endParaRPr>
          </a:p>
          <a:p>
            <a:pPr indent="0" lvl="0" marL="0" rtl="0" algn="l">
              <a:lnSpc>
                <a:spcPct val="115000"/>
              </a:lnSpc>
              <a:spcBef>
                <a:spcPts val="1200"/>
              </a:spcBef>
              <a:spcAft>
                <a:spcPts val="0"/>
              </a:spcAft>
              <a:buNone/>
            </a:pPr>
            <a:r>
              <a:t/>
            </a:r>
            <a:endParaRPr b="1" sz="1200">
              <a:solidFill>
                <a:schemeClr val="dk1"/>
              </a:solidFill>
            </a:endParaRPr>
          </a:p>
          <a:p>
            <a:pPr indent="0" lvl="0" marL="0" marR="0" rtl="0" algn="l">
              <a:lnSpc>
                <a:spcPct val="100000"/>
              </a:lnSpc>
              <a:spcBef>
                <a:spcPts val="1200"/>
              </a:spcBef>
              <a:spcAft>
                <a:spcPts val="0"/>
              </a:spcAft>
              <a:buNone/>
            </a:pPr>
            <a:r>
              <a:t/>
            </a:r>
            <a:endParaRPr sz="2000"/>
          </a:p>
        </p:txBody>
      </p:sp>
      <p:sp>
        <p:nvSpPr>
          <p:cNvPr id="778" name="Google Shape;778;p13"/>
          <p:cNvSpPr/>
          <p:nvPr/>
        </p:nvSpPr>
        <p:spPr>
          <a:xfrm>
            <a:off x="6204250" y="1299774"/>
            <a:ext cx="5408400" cy="2439900"/>
          </a:xfrm>
          <a:prstGeom prst="roundRect">
            <a:avLst>
              <a:gd fmla="val 16667" name="adj"/>
            </a:avLst>
          </a:prstGeom>
          <a:solidFill>
            <a:srgbClr val="EBF5EB"/>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13"/>
          <p:cNvSpPr/>
          <p:nvPr/>
        </p:nvSpPr>
        <p:spPr>
          <a:xfrm>
            <a:off x="6359760" y="1379641"/>
            <a:ext cx="5097600" cy="3954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1" i="0" lang="en-US" sz="2000" u="none" cap="none" strike="noStrike">
                <a:solidFill>
                  <a:srgbClr val="12496F"/>
                </a:solidFill>
                <a:latin typeface="Arial"/>
                <a:ea typeface="Arial"/>
                <a:cs typeface="Arial"/>
                <a:sym typeface="Arial"/>
              </a:rPr>
              <a:t>Fibra multimodo</a:t>
            </a:r>
            <a:endParaRPr b="0" i="0" sz="2000" u="none" cap="none" strike="noStrike">
              <a:latin typeface="Arial"/>
              <a:ea typeface="Arial"/>
              <a:cs typeface="Arial"/>
              <a:sym typeface="Arial"/>
            </a:endParaRPr>
          </a:p>
        </p:txBody>
      </p:sp>
      <p:sp>
        <p:nvSpPr>
          <p:cNvPr id="780" name="Google Shape;780;p13"/>
          <p:cNvSpPr/>
          <p:nvPr/>
        </p:nvSpPr>
        <p:spPr>
          <a:xfrm>
            <a:off x="6359760" y="1482503"/>
            <a:ext cx="5097600" cy="700200"/>
          </a:xfrm>
          <a:prstGeom prst="rect">
            <a:avLst/>
          </a:prstGeom>
          <a:noFill/>
          <a:ln>
            <a:noFill/>
          </a:ln>
        </p:spPr>
        <p:txBody>
          <a:bodyPr anchorCtr="0" anchor="t" bIns="45000" lIns="36700" spcFirstLastPara="1" rIns="36700" wrap="square" tIns="45000">
            <a:spAutoFit/>
          </a:bodyPr>
          <a:lstStyle/>
          <a:p>
            <a:pPr indent="0" lvl="0" marL="0" rtl="0" algn="l">
              <a:lnSpc>
                <a:spcPct val="115000"/>
              </a:lnSpc>
              <a:spcBef>
                <a:spcPts val="900"/>
              </a:spcBef>
              <a:spcAft>
                <a:spcPts val="0"/>
              </a:spcAft>
              <a:buClr>
                <a:schemeClr val="dk1"/>
              </a:buClr>
              <a:buSzPts val="1100"/>
              <a:buFont typeface="Arial"/>
              <a:buNone/>
            </a:pPr>
            <a:r>
              <a:t/>
            </a:r>
            <a:endParaRPr sz="1200">
              <a:solidFill>
                <a:schemeClr val="dk1"/>
              </a:solidFill>
            </a:endParaRPr>
          </a:p>
          <a:p>
            <a:pPr indent="-304800" lvl="0" marL="457200" rtl="0" algn="l">
              <a:lnSpc>
                <a:spcPct val="115000"/>
              </a:lnSpc>
              <a:spcBef>
                <a:spcPts val="1200"/>
              </a:spcBef>
              <a:spcAft>
                <a:spcPts val="0"/>
              </a:spcAft>
              <a:buClr>
                <a:schemeClr val="dk1"/>
              </a:buClr>
              <a:buSzPts val="1200"/>
              <a:buChar char="●"/>
            </a:pPr>
            <a:r>
              <a:rPr b="1" lang="en-US" sz="1200">
                <a:solidFill>
                  <a:schemeClr val="dk1"/>
                </a:solidFill>
              </a:rPr>
              <a:t>Distancia:</a:t>
            </a:r>
            <a:r>
              <a:rPr lang="en-US" sz="1200">
                <a:solidFill>
                  <a:schemeClr val="dk1"/>
                </a:solidFill>
              </a:rPr>
              <a:t> Ideal para distancias cortas dentro de un mismo edificio.</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Cómo viaja la luz:</a:t>
            </a:r>
            <a:r>
              <a:rPr lang="en-US" sz="1200">
                <a:solidFill>
                  <a:schemeClr val="dk1"/>
                </a:solidFill>
              </a:rPr>
              <a:t> El cable por dentro es más ancho, por lo que la luz viaja rebotando por las paredes.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Color del cable:</a:t>
            </a:r>
            <a:r>
              <a:rPr lang="en-US" sz="1200">
                <a:solidFill>
                  <a:schemeClr val="dk1"/>
                </a:solidFill>
              </a:rPr>
              <a:t> El plástico exterior es de color azul turquesa o fucsia.</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None/>
            </a:pPr>
            <a:r>
              <a:rPr lang="en-US" sz="1200">
                <a:solidFill>
                  <a:schemeClr val="dk1"/>
                </a:solidFill>
              </a:rPr>
              <a:t>.</a:t>
            </a:r>
            <a:endParaRPr sz="1200">
              <a:solidFill>
                <a:schemeClr val="dk1"/>
              </a:solidFill>
            </a:endParaRPr>
          </a:p>
          <a:p>
            <a:pPr indent="0" lvl="0" marL="0" marR="0" rtl="0" algn="l">
              <a:lnSpc>
                <a:spcPct val="100000"/>
              </a:lnSpc>
              <a:spcBef>
                <a:spcPts val="2100"/>
              </a:spcBef>
              <a:spcAft>
                <a:spcPts val="0"/>
              </a:spcAft>
              <a:buNone/>
            </a:pPr>
            <a:r>
              <a:t/>
            </a:r>
            <a:endParaRPr sz="2000">
              <a:solidFill>
                <a:srgbClr val="26303A"/>
              </a:solidFill>
            </a:endParaRPr>
          </a:p>
        </p:txBody>
      </p:sp>
      <p:sp>
        <p:nvSpPr>
          <p:cNvPr id="781" name="Google Shape;781;p13"/>
          <p:cNvSpPr/>
          <p:nvPr/>
        </p:nvSpPr>
        <p:spPr>
          <a:xfrm>
            <a:off x="594350" y="3904549"/>
            <a:ext cx="5408400" cy="2048100"/>
          </a:xfrm>
          <a:prstGeom prst="roundRect">
            <a:avLst>
              <a:gd fmla="val 16667" name="adj"/>
            </a:avLst>
          </a:prstGeom>
          <a:solidFill>
            <a:srgbClr val="FFF2E0"/>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13"/>
          <p:cNvSpPr/>
          <p:nvPr/>
        </p:nvSpPr>
        <p:spPr>
          <a:xfrm>
            <a:off x="749880" y="3985817"/>
            <a:ext cx="5097600" cy="3954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1" i="0" lang="en-US" sz="2000" u="none" cap="none" strike="noStrike">
                <a:solidFill>
                  <a:srgbClr val="12496F"/>
                </a:solidFill>
                <a:latin typeface="Arial"/>
                <a:ea typeface="Arial"/>
                <a:cs typeface="Arial"/>
                <a:sym typeface="Arial"/>
              </a:rPr>
              <a:t>Conectores</a:t>
            </a:r>
            <a:endParaRPr b="0" i="0" sz="2000" u="none" cap="none" strike="noStrike">
              <a:latin typeface="Arial"/>
              <a:ea typeface="Arial"/>
              <a:cs typeface="Arial"/>
              <a:sym typeface="Arial"/>
            </a:endParaRPr>
          </a:p>
        </p:txBody>
      </p:sp>
      <p:sp>
        <p:nvSpPr>
          <p:cNvPr id="783" name="Google Shape;783;p13"/>
          <p:cNvSpPr/>
          <p:nvPr/>
        </p:nvSpPr>
        <p:spPr>
          <a:xfrm>
            <a:off x="749880" y="4316679"/>
            <a:ext cx="5097600" cy="700200"/>
          </a:xfrm>
          <a:prstGeom prst="rect">
            <a:avLst/>
          </a:prstGeom>
          <a:noFill/>
          <a:ln>
            <a:noFill/>
          </a:ln>
        </p:spPr>
        <p:txBody>
          <a:bodyPr anchorCtr="0" anchor="t" bIns="45000" lIns="36700" spcFirstLastPara="1" rIns="36700" wrap="square" tIns="45000">
            <a:spAutoFit/>
          </a:bodyPr>
          <a:lstStyle/>
          <a:p>
            <a:pPr indent="0" lvl="0" marL="0" rtl="0" algn="l">
              <a:lnSpc>
                <a:spcPct val="115000"/>
              </a:lnSpc>
              <a:spcBef>
                <a:spcPts val="900"/>
              </a:spcBef>
              <a:spcAft>
                <a:spcPts val="0"/>
              </a:spcAft>
              <a:buClr>
                <a:schemeClr val="dk1"/>
              </a:buClr>
              <a:buSzPts val="1100"/>
              <a:buFont typeface="Arial"/>
              <a:buNone/>
            </a:pPr>
            <a:r>
              <a:rPr lang="en-US" sz="1200">
                <a:solidFill>
                  <a:schemeClr val="dk1"/>
                </a:solidFill>
              </a:rPr>
              <a:t>LC y SC son ejemplos de conectores ópticos.</a:t>
            </a:r>
            <a:endParaRPr sz="1200">
              <a:solidFill>
                <a:schemeClr val="dk1"/>
              </a:solidFill>
            </a:endParaRPr>
          </a:p>
          <a:p>
            <a:pPr indent="-304800" lvl="0" marL="457200" rtl="0" algn="l">
              <a:lnSpc>
                <a:spcPct val="115000"/>
              </a:lnSpc>
              <a:spcBef>
                <a:spcPts val="1200"/>
              </a:spcBef>
              <a:spcAft>
                <a:spcPts val="0"/>
              </a:spcAft>
              <a:buClr>
                <a:schemeClr val="dk1"/>
              </a:buClr>
              <a:buSzPts val="1200"/>
              <a:buChar char="●"/>
            </a:pPr>
            <a:r>
              <a:rPr b="1" lang="en-US" sz="1200">
                <a:solidFill>
                  <a:schemeClr val="dk1"/>
                </a:solidFill>
              </a:rPr>
              <a:t>Modelo LC:</a:t>
            </a:r>
            <a:r>
              <a:rPr lang="en-US" sz="1200">
                <a:solidFill>
                  <a:schemeClr val="dk1"/>
                </a:solidFill>
              </a:rPr>
              <a:t> Es el más pequeño y seguro; sirve para conectar muchos cables juntos en una oficina.</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Modelo SC:</a:t>
            </a:r>
            <a:r>
              <a:rPr lang="en-US" sz="1200">
                <a:solidFill>
                  <a:schemeClr val="dk1"/>
                </a:solidFill>
              </a:rPr>
              <a:t> Es cuadrado y entra a presión; es el que se usa en el router de las casas.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Colores en las puntas:</a:t>
            </a:r>
            <a:r>
              <a:rPr lang="en-US" sz="1200">
                <a:solidFill>
                  <a:schemeClr val="dk1"/>
                </a:solidFill>
              </a:rPr>
              <a:t> Las puntas azules son para internet normal y las verdes son especiales para televisión.</a:t>
            </a:r>
            <a:endParaRPr sz="1200">
              <a:solidFill>
                <a:schemeClr val="dk1"/>
              </a:solidFill>
            </a:endParaRPr>
          </a:p>
          <a:p>
            <a:pPr indent="0" lvl="0" marL="0" marR="0" rtl="0" algn="l">
              <a:lnSpc>
                <a:spcPct val="100000"/>
              </a:lnSpc>
              <a:spcBef>
                <a:spcPts val="1200"/>
              </a:spcBef>
              <a:spcAft>
                <a:spcPts val="0"/>
              </a:spcAft>
              <a:buNone/>
            </a:pPr>
            <a:r>
              <a:t/>
            </a:r>
            <a:endParaRPr sz="2000">
              <a:solidFill>
                <a:srgbClr val="26303A"/>
              </a:solidFill>
            </a:endParaRPr>
          </a:p>
        </p:txBody>
      </p:sp>
      <p:sp>
        <p:nvSpPr>
          <p:cNvPr id="784" name="Google Shape;784;p13"/>
          <p:cNvSpPr/>
          <p:nvPr/>
        </p:nvSpPr>
        <p:spPr>
          <a:xfrm>
            <a:off x="6204240" y="3904560"/>
            <a:ext cx="5408280" cy="2048040"/>
          </a:xfrm>
          <a:prstGeom prst="roundRect">
            <a:avLst>
              <a:gd fmla="val 16667" name="adj"/>
            </a:avLst>
          </a:prstGeom>
          <a:solidFill>
            <a:srgbClr val="F3ECF9"/>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3"/>
          <p:cNvSpPr/>
          <p:nvPr/>
        </p:nvSpPr>
        <p:spPr>
          <a:xfrm>
            <a:off x="6359760" y="3928267"/>
            <a:ext cx="5097600" cy="3954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1" i="0" lang="en-US" sz="2000" u="none" cap="none" strike="noStrike">
                <a:solidFill>
                  <a:srgbClr val="12496F"/>
                </a:solidFill>
                <a:latin typeface="Arial"/>
                <a:ea typeface="Arial"/>
                <a:cs typeface="Arial"/>
                <a:sym typeface="Arial"/>
              </a:rPr>
              <a:t>Compatibilidad</a:t>
            </a:r>
            <a:endParaRPr b="0" i="0" sz="2000" u="none" cap="none" strike="noStrike">
              <a:latin typeface="Arial"/>
              <a:ea typeface="Arial"/>
              <a:cs typeface="Arial"/>
              <a:sym typeface="Arial"/>
            </a:endParaRPr>
          </a:p>
        </p:txBody>
      </p:sp>
      <p:sp>
        <p:nvSpPr>
          <p:cNvPr id="786" name="Google Shape;786;p13"/>
          <p:cNvSpPr/>
          <p:nvPr/>
        </p:nvSpPr>
        <p:spPr>
          <a:xfrm>
            <a:off x="6395543" y="4243767"/>
            <a:ext cx="5097600" cy="1005000"/>
          </a:xfrm>
          <a:prstGeom prst="rect">
            <a:avLst/>
          </a:prstGeom>
          <a:noFill/>
          <a:ln>
            <a:noFill/>
          </a:ln>
        </p:spPr>
        <p:txBody>
          <a:bodyPr anchorCtr="0" anchor="t" bIns="45000" lIns="36700" spcFirstLastPara="1" rIns="36700" wrap="square" tIns="45000">
            <a:spAutoFit/>
          </a:bodyPr>
          <a:lstStyle/>
          <a:p>
            <a:pPr indent="0" lvl="0" marL="0" rtl="0" algn="l">
              <a:lnSpc>
                <a:spcPct val="115000"/>
              </a:lnSpc>
              <a:spcBef>
                <a:spcPts val="900"/>
              </a:spcBef>
              <a:spcAft>
                <a:spcPts val="0"/>
              </a:spcAft>
              <a:buClr>
                <a:schemeClr val="dk1"/>
              </a:buClr>
              <a:buSzPts val="1100"/>
              <a:buFont typeface="Arial"/>
              <a:buNone/>
            </a:pPr>
            <a:r>
              <a:rPr lang="en-US" sz="1100">
                <a:solidFill>
                  <a:schemeClr val="dk1"/>
                </a:solidFill>
              </a:rPr>
              <a:t>Hay que comprobar tipo de fibra, transceptor, longitud de onda y velocidad.</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Regla de oro:</a:t>
            </a:r>
            <a:r>
              <a:rPr lang="en-US" sz="1100">
                <a:solidFill>
                  <a:schemeClr val="dk1"/>
                </a:solidFill>
              </a:rPr>
              <a:t> Los equipos de ambos lados deben estar sintonizados con el mismo cable y la misma velocidad.</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El error común:</a:t>
            </a:r>
            <a:r>
              <a:rPr lang="en-US" sz="1100">
                <a:solidFill>
                  <a:schemeClr val="dk1"/>
                </a:solidFill>
              </a:rPr>
              <a:t> Si mezclas un cable de distancia corta con un equipo de distancia larga, la luz se pierde.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Resultado del error:</a:t>
            </a:r>
            <a:r>
              <a:rPr lang="en-US" sz="1100">
                <a:solidFill>
                  <a:schemeClr val="dk1"/>
                </a:solidFill>
              </a:rPr>
              <a:t> La información se destruye por completo y el internet se cae</a:t>
            </a:r>
            <a:r>
              <a:rPr b="1" lang="en-US" sz="1100">
                <a:solidFill>
                  <a:schemeClr val="dk1"/>
                </a:solidFill>
              </a:rPr>
              <a:t>.</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marR="0" rtl="0" algn="l">
              <a:lnSpc>
                <a:spcPct val="100000"/>
              </a:lnSpc>
              <a:spcBef>
                <a:spcPts val="0"/>
              </a:spcBef>
              <a:spcAft>
                <a:spcPts val="0"/>
              </a:spcAft>
              <a:buNone/>
            </a:pPr>
            <a:r>
              <a:t/>
            </a:r>
            <a:endParaRPr sz="1900">
              <a:solidFill>
                <a:srgbClr val="26303A"/>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h3173d30833cc6355_0_21"/>
          <p:cNvSpPr/>
          <p:nvPr/>
        </p:nvSpPr>
        <p:spPr>
          <a:xfrm>
            <a:off x="0" y="0"/>
            <a:ext cx="12191400" cy="658200"/>
          </a:xfrm>
          <a:prstGeom prst="rect">
            <a:avLst/>
          </a:prstGeom>
          <a:solidFill>
            <a:srgbClr val="12496F"/>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h3173d30833cc6355_0_21"/>
          <p:cNvSpPr/>
          <p:nvPr/>
        </p:nvSpPr>
        <p:spPr>
          <a:xfrm>
            <a:off x="567000" y="82440"/>
            <a:ext cx="10972500" cy="4560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i="0" lang="en-US" sz="2400" u="none" cap="none" strike="noStrike">
                <a:solidFill>
                  <a:srgbClr val="FFFFFF"/>
                </a:solidFill>
                <a:latin typeface="Arial"/>
                <a:ea typeface="Arial"/>
                <a:cs typeface="Arial"/>
                <a:sym typeface="Arial"/>
              </a:rPr>
              <a:t>12 · </a:t>
            </a:r>
            <a:r>
              <a:rPr b="1" lang="en-US" sz="2400">
                <a:solidFill>
                  <a:srgbClr val="FFFFFF"/>
                </a:solidFill>
              </a:rPr>
              <a:t>Caso practico edificios:</a:t>
            </a:r>
            <a:r>
              <a:rPr b="1" i="0" lang="en-US" sz="2400" u="none" cap="none" strike="noStrike">
                <a:solidFill>
                  <a:srgbClr val="FFFFFF"/>
                </a:solidFill>
                <a:latin typeface="Arial"/>
                <a:ea typeface="Arial"/>
                <a:cs typeface="Arial"/>
                <a:sym typeface="Arial"/>
              </a:rPr>
              <a:t> </a:t>
            </a:r>
            <a:r>
              <a:rPr b="1" lang="en-US" sz="2400">
                <a:solidFill>
                  <a:srgbClr val="FFFFFF"/>
                </a:solidFill>
              </a:rPr>
              <a:t>Álvaro Linares </a:t>
            </a:r>
            <a:endParaRPr b="0" i="0" sz="2400" u="none" cap="none" strike="noStrike">
              <a:latin typeface="Arial"/>
              <a:ea typeface="Arial"/>
              <a:cs typeface="Arial"/>
              <a:sym typeface="Arial"/>
            </a:endParaRPr>
          </a:p>
        </p:txBody>
      </p:sp>
      <p:sp>
        <p:nvSpPr>
          <p:cNvPr id="793" name="Google Shape;793;h3173d30833cc6355_0_21"/>
          <p:cNvSpPr/>
          <p:nvPr/>
        </p:nvSpPr>
        <p:spPr>
          <a:xfrm>
            <a:off x="713160" y="642510"/>
            <a:ext cx="10789500" cy="4407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lang="en-US" sz="2300">
                <a:solidFill>
                  <a:srgbClr val="12496F"/>
                </a:solidFill>
              </a:rPr>
              <a:t>Dos aulas separados a 350 m necesitan un enlace de 10 Gb/s</a:t>
            </a:r>
            <a:endParaRPr b="0" i="0" sz="2300" u="none" cap="none" strike="noStrike">
              <a:latin typeface="Arial"/>
              <a:ea typeface="Arial"/>
              <a:cs typeface="Arial"/>
              <a:sym typeface="Arial"/>
            </a:endParaRPr>
          </a:p>
        </p:txBody>
      </p:sp>
      <p:sp>
        <p:nvSpPr>
          <p:cNvPr id="794" name="Google Shape;794;h3173d30833cc6355_0_21"/>
          <p:cNvSpPr/>
          <p:nvPr/>
        </p:nvSpPr>
        <p:spPr>
          <a:xfrm>
            <a:off x="594350" y="2033239"/>
            <a:ext cx="5408400" cy="2439900"/>
          </a:xfrm>
          <a:prstGeom prst="roundRect">
            <a:avLst>
              <a:gd fmla="val 16667" name="adj"/>
            </a:avLst>
          </a:prstGeom>
          <a:solidFill>
            <a:srgbClr val="E7F1F9"/>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h3173d30833cc6355_0_21"/>
          <p:cNvSpPr/>
          <p:nvPr/>
        </p:nvSpPr>
        <p:spPr>
          <a:xfrm>
            <a:off x="749880" y="2132316"/>
            <a:ext cx="5097600" cy="3954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lang="en-US" sz="2000">
                <a:solidFill>
                  <a:srgbClr val="12496F"/>
                </a:solidFill>
              </a:rPr>
              <a:t>Situación</a:t>
            </a:r>
            <a:endParaRPr b="0" i="0" sz="2000" u="none" cap="none" strike="noStrike">
              <a:latin typeface="Arial"/>
              <a:ea typeface="Arial"/>
              <a:cs typeface="Arial"/>
              <a:sym typeface="Arial"/>
            </a:endParaRPr>
          </a:p>
        </p:txBody>
      </p:sp>
      <p:sp>
        <p:nvSpPr>
          <p:cNvPr id="796" name="Google Shape;796;h3173d30833cc6355_0_21"/>
          <p:cNvSpPr/>
          <p:nvPr/>
        </p:nvSpPr>
        <p:spPr>
          <a:xfrm>
            <a:off x="6204250" y="2033199"/>
            <a:ext cx="5408400" cy="2439900"/>
          </a:xfrm>
          <a:prstGeom prst="roundRect">
            <a:avLst>
              <a:gd fmla="val 16667" name="adj"/>
            </a:avLst>
          </a:prstGeom>
          <a:solidFill>
            <a:srgbClr val="EBF5EB"/>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h3173d30833cc6355_0_21"/>
          <p:cNvSpPr/>
          <p:nvPr/>
        </p:nvSpPr>
        <p:spPr>
          <a:xfrm>
            <a:off x="6359760" y="2113066"/>
            <a:ext cx="5097600" cy="3954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lang="en-US" sz="2000">
                <a:solidFill>
                  <a:srgbClr val="12496F"/>
                </a:solidFill>
              </a:rPr>
              <a:t>Solución</a:t>
            </a:r>
            <a:endParaRPr b="0" i="0" sz="2000" u="none" cap="none" strike="noStrike">
              <a:latin typeface="Arial"/>
              <a:ea typeface="Arial"/>
              <a:cs typeface="Arial"/>
              <a:sym typeface="Arial"/>
            </a:endParaRPr>
          </a:p>
        </p:txBody>
      </p:sp>
      <p:sp>
        <p:nvSpPr>
          <p:cNvPr id="798" name="Google Shape;798;h3173d30833cc6355_0_21"/>
          <p:cNvSpPr/>
          <p:nvPr/>
        </p:nvSpPr>
        <p:spPr>
          <a:xfrm>
            <a:off x="594350" y="4637974"/>
            <a:ext cx="5408400" cy="2048100"/>
          </a:xfrm>
          <a:prstGeom prst="roundRect">
            <a:avLst>
              <a:gd fmla="val 16667" name="adj"/>
            </a:avLst>
          </a:prstGeom>
          <a:solidFill>
            <a:srgbClr val="FFF2E0"/>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h3173d30833cc6355_0_21"/>
          <p:cNvSpPr/>
          <p:nvPr/>
        </p:nvSpPr>
        <p:spPr>
          <a:xfrm>
            <a:off x="749880" y="4719242"/>
            <a:ext cx="5097600" cy="3954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lang="en-US" sz="2000">
                <a:solidFill>
                  <a:srgbClr val="12496F"/>
                </a:solidFill>
              </a:rPr>
              <a:t>Alternativas	</a:t>
            </a:r>
            <a:endParaRPr b="0" i="0" sz="2000" u="none" cap="none" strike="noStrike">
              <a:latin typeface="Arial"/>
              <a:ea typeface="Arial"/>
              <a:cs typeface="Arial"/>
              <a:sym typeface="Arial"/>
            </a:endParaRPr>
          </a:p>
        </p:txBody>
      </p:sp>
      <p:sp>
        <p:nvSpPr>
          <p:cNvPr id="800" name="Google Shape;800;h3173d30833cc6355_0_21"/>
          <p:cNvSpPr/>
          <p:nvPr/>
        </p:nvSpPr>
        <p:spPr>
          <a:xfrm>
            <a:off x="6204240" y="4637985"/>
            <a:ext cx="5408400" cy="2048100"/>
          </a:xfrm>
          <a:prstGeom prst="roundRect">
            <a:avLst>
              <a:gd fmla="val 16667" name="adj"/>
            </a:avLst>
          </a:prstGeom>
          <a:solidFill>
            <a:srgbClr val="F3ECF9"/>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h3173d30833cc6355_0_21"/>
          <p:cNvSpPr/>
          <p:nvPr/>
        </p:nvSpPr>
        <p:spPr>
          <a:xfrm>
            <a:off x="6359760" y="4661692"/>
            <a:ext cx="5097600" cy="3954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lang="en-US" sz="2000">
                <a:solidFill>
                  <a:srgbClr val="12496F"/>
                </a:solidFill>
              </a:rPr>
              <a:t>Error típico</a:t>
            </a:r>
            <a:endParaRPr b="0" i="0" sz="2000" u="none" cap="none" strike="noStrike">
              <a:latin typeface="Arial"/>
              <a:ea typeface="Arial"/>
              <a:cs typeface="Arial"/>
              <a:sym typeface="Arial"/>
            </a:endParaRPr>
          </a:p>
        </p:txBody>
      </p:sp>
      <p:sp>
        <p:nvSpPr>
          <p:cNvPr id="802" name="Google Shape;802;h3173d30833cc6355_0_21"/>
          <p:cNvSpPr txBox="1"/>
          <p:nvPr/>
        </p:nvSpPr>
        <p:spPr>
          <a:xfrm>
            <a:off x="794375" y="2620650"/>
            <a:ext cx="5053200" cy="156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1800"/>
              <a:t>• Edificio A y edificio B, a 350 m de distancia</a:t>
            </a:r>
            <a:endParaRPr sz="1800"/>
          </a:p>
          <a:p>
            <a:pPr indent="0" lvl="0" marL="0" rtl="0" algn="l">
              <a:spcBef>
                <a:spcPts val="0"/>
              </a:spcBef>
              <a:spcAft>
                <a:spcPts val="0"/>
              </a:spcAft>
              <a:buClr>
                <a:schemeClr val="dk1"/>
              </a:buClr>
              <a:buSzPts val="1100"/>
              <a:buFont typeface="Arial"/>
              <a:buNone/>
            </a:pPr>
            <a:r>
              <a:rPr lang="en-US" sz="1800"/>
              <a:t>• Se necesitan 10 Gb/s estables</a:t>
            </a:r>
            <a:endParaRPr sz="1800"/>
          </a:p>
          <a:p>
            <a:pPr indent="0" lvl="0" marL="0" rtl="0" algn="l">
              <a:spcBef>
                <a:spcPts val="0"/>
              </a:spcBef>
              <a:spcAft>
                <a:spcPts val="0"/>
              </a:spcAft>
              <a:buClr>
                <a:schemeClr val="dk1"/>
              </a:buClr>
              <a:buSzPts val="1100"/>
              <a:buFont typeface="Arial"/>
              <a:buNone/>
            </a:pPr>
            <a:r>
              <a:rPr lang="en-US" sz="1800"/>
              <a:t>• Los dos switches tienen puertos SFP+</a:t>
            </a:r>
            <a:endParaRPr sz="1800"/>
          </a:p>
          <a:p>
            <a:pPr indent="0" lvl="0" marL="0" rtl="0" algn="l">
              <a:spcBef>
                <a:spcPts val="0"/>
              </a:spcBef>
              <a:spcAft>
                <a:spcPts val="0"/>
              </a:spcAft>
              <a:buNone/>
            </a:pPr>
            <a:r>
              <a:t/>
            </a:r>
            <a:endParaRPr sz="1800"/>
          </a:p>
        </p:txBody>
      </p:sp>
      <p:sp>
        <p:nvSpPr>
          <p:cNvPr id="803" name="Google Shape;803;h3173d30833cc6355_0_21"/>
          <p:cNvSpPr/>
          <p:nvPr/>
        </p:nvSpPr>
        <p:spPr>
          <a:xfrm>
            <a:off x="708650" y="1068075"/>
            <a:ext cx="2047800" cy="866700"/>
          </a:xfrm>
          <a:prstGeom prst="roundRect">
            <a:avLst>
              <a:gd fmla="val 16667" name="adj"/>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t>SWITCH CLASE A</a:t>
            </a:r>
            <a:endParaRPr b="1"/>
          </a:p>
          <a:p>
            <a:pPr indent="0" lvl="0" marL="0" rtl="0" algn="ctr">
              <a:spcBef>
                <a:spcPts val="0"/>
              </a:spcBef>
              <a:spcAft>
                <a:spcPts val="0"/>
              </a:spcAft>
              <a:buNone/>
            </a:pPr>
            <a:r>
              <a:rPr b="1" lang="en-US"/>
              <a:t>SFP + SR 850 nm</a:t>
            </a:r>
            <a:endParaRPr b="1"/>
          </a:p>
          <a:p>
            <a:pPr indent="0" lvl="0" marL="0" rtl="0" algn="l">
              <a:spcBef>
                <a:spcPts val="0"/>
              </a:spcBef>
              <a:spcAft>
                <a:spcPts val="0"/>
              </a:spcAft>
              <a:buNone/>
            </a:pPr>
            <a:r>
              <a:t/>
            </a:r>
            <a:endParaRPr b="1"/>
          </a:p>
        </p:txBody>
      </p:sp>
      <p:cxnSp>
        <p:nvCxnSpPr>
          <p:cNvPr id="804" name="Google Shape;804;h3173d30833cc6355_0_21"/>
          <p:cNvCxnSpPr/>
          <p:nvPr/>
        </p:nvCxnSpPr>
        <p:spPr>
          <a:xfrm>
            <a:off x="2756450" y="1501425"/>
            <a:ext cx="800100" cy="14400"/>
          </a:xfrm>
          <a:prstGeom prst="straightConnector1">
            <a:avLst/>
          </a:prstGeom>
          <a:noFill/>
          <a:ln cap="flat" cmpd="sng" w="38100">
            <a:solidFill>
              <a:schemeClr val="dk2"/>
            </a:solidFill>
            <a:prstDash val="solid"/>
            <a:round/>
            <a:headEnd len="med" w="med" type="none"/>
            <a:tailEnd len="med" w="med" type="triangle"/>
          </a:ln>
        </p:spPr>
      </p:cxnSp>
      <p:sp>
        <p:nvSpPr>
          <p:cNvPr id="805" name="Google Shape;805;h3173d30833cc6355_0_21"/>
          <p:cNvSpPr/>
          <p:nvPr/>
        </p:nvSpPr>
        <p:spPr>
          <a:xfrm>
            <a:off x="3689975" y="1075275"/>
            <a:ext cx="2047800" cy="866700"/>
          </a:xfrm>
          <a:prstGeom prst="roundRect">
            <a:avLst>
              <a:gd fmla="val 16667" name="adj"/>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a:t> CONECTORES LC</a:t>
            </a:r>
            <a:endParaRPr b="1"/>
          </a:p>
          <a:p>
            <a:pPr indent="0" lvl="0" marL="0" rtl="0" algn="l">
              <a:spcBef>
                <a:spcPts val="0"/>
              </a:spcBef>
              <a:spcAft>
                <a:spcPts val="0"/>
              </a:spcAft>
              <a:buNone/>
            </a:pPr>
            <a:r>
              <a:rPr b="1" lang="en-US"/>
              <a:t>dúplex, multimodo</a:t>
            </a:r>
            <a:endParaRPr b="1"/>
          </a:p>
        </p:txBody>
      </p:sp>
      <p:sp>
        <p:nvSpPr>
          <p:cNvPr id="806" name="Google Shape;806;h3173d30833cc6355_0_21"/>
          <p:cNvSpPr/>
          <p:nvPr/>
        </p:nvSpPr>
        <p:spPr>
          <a:xfrm>
            <a:off x="6583525" y="1064475"/>
            <a:ext cx="2047800" cy="866700"/>
          </a:xfrm>
          <a:prstGeom prst="roundRect">
            <a:avLst>
              <a:gd fmla="val 16667" name="adj"/>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t>FIBRA OM4</a:t>
            </a:r>
            <a:endParaRPr b="1"/>
          </a:p>
          <a:p>
            <a:pPr indent="0" lvl="0" marL="0" rtl="0" algn="ctr">
              <a:spcBef>
                <a:spcPts val="0"/>
              </a:spcBef>
              <a:spcAft>
                <a:spcPts val="0"/>
              </a:spcAft>
              <a:buNone/>
            </a:pPr>
            <a:r>
              <a:rPr b="1" lang="en-US"/>
              <a:t>350m en enlace</a:t>
            </a:r>
            <a:endParaRPr b="1"/>
          </a:p>
          <a:p>
            <a:pPr indent="0" lvl="0" marL="0" rtl="0" algn="l">
              <a:spcBef>
                <a:spcPts val="0"/>
              </a:spcBef>
              <a:spcAft>
                <a:spcPts val="0"/>
              </a:spcAft>
              <a:buNone/>
            </a:pPr>
            <a:r>
              <a:t/>
            </a:r>
            <a:endParaRPr b="1"/>
          </a:p>
        </p:txBody>
      </p:sp>
      <p:cxnSp>
        <p:nvCxnSpPr>
          <p:cNvPr id="807" name="Google Shape;807;h3173d30833cc6355_0_21"/>
          <p:cNvCxnSpPr/>
          <p:nvPr/>
        </p:nvCxnSpPr>
        <p:spPr>
          <a:xfrm>
            <a:off x="8631325" y="1497825"/>
            <a:ext cx="800100" cy="14400"/>
          </a:xfrm>
          <a:prstGeom prst="straightConnector1">
            <a:avLst/>
          </a:prstGeom>
          <a:noFill/>
          <a:ln cap="flat" cmpd="sng" w="38100">
            <a:solidFill>
              <a:schemeClr val="dk2"/>
            </a:solidFill>
            <a:prstDash val="solid"/>
            <a:round/>
            <a:headEnd len="med" w="med" type="none"/>
            <a:tailEnd len="med" w="med" type="triangle"/>
          </a:ln>
        </p:spPr>
      </p:cxnSp>
      <p:sp>
        <p:nvSpPr>
          <p:cNvPr id="808" name="Google Shape;808;h3173d30833cc6355_0_21"/>
          <p:cNvSpPr/>
          <p:nvPr/>
        </p:nvSpPr>
        <p:spPr>
          <a:xfrm>
            <a:off x="9564850" y="1071675"/>
            <a:ext cx="2047800" cy="866700"/>
          </a:xfrm>
          <a:prstGeom prst="roundRect">
            <a:avLst>
              <a:gd fmla="val 16667" name="adj"/>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t>SWITCH CLASE B</a:t>
            </a:r>
            <a:endParaRPr b="1"/>
          </a:p>
          <a:p>
            <a:pPr indent="0" lvl="0" marL="0" rtl="0" algn="l">
              <a:spcBef>
                <a:spcPts val="0"/>
              </a:spcBef>
              <a:spcAft>
                <a:spcPts val="0"/>
              </a:spcAft>
              <a:buNone/>
            </a:pPr>
            <a:r>
              <a:rPr b="1" lang="en-US"/>
              <a:t>SFP + SR 850 nm</a:t>
            </a:r>
            <a:endParaRPr b="1"/>
          </a:p>
        </p:txBody>
      </p:sp>
      <p:cxnSp>
        <p:nvCxnSpPr>
          <p:cNvPr id="809" name="Google Shape;809;h3173d30833cc6355_0_21"/>
          <p:cNvCxnSpPr/>
          <p:nvPr/>
        </p:nvCxnSpPr>
        <p:spPr>
          <a:xfrm>
            <a:off x="5760600" y="1501425"/>
            <a:ext cx="800100" cy="14400"/>
          </a:xfrm>
          <a:prstGeom prst="straightConnector1">
            <a:avLst/>
          </a:prstGeom>
          <a:noFill/>
          <a:ln cap="flat" cmpd="sng" w="38100">
            <a:solidFill>
              <a:schemeClr val="dk2"/>
            </a:solidFill>
            <a:prstDash val="solid"/>
            <a:round/>
            <a:headEnd len="med" w="med" type="none"/>
            <a:tailEnd len="med" w="med" type="triangle"/>
          </a:ln>
        </p:spPr>
      </p:cxnSp>
      <p:sp>
        <p:nvSpPr>
          <p:cNvPr id="810" name="Google Shape;810;h3173d30833cc6355_0_21"/>
          <p:cNvSpPr txBox="1"/>
          <p:nvPr/>
        </p:nvSpPr>
        <p:spPr>
          <a:xfrm>
            <a:off x="6347450" y="2553975"/>
            <a:ext cx="5000700" cy="17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t>• Fibra multimodo OM4: llega a 400 m a 10 Gb/s </a:t>
            </a:r>
            <a:endParaRPr sz="1800"/>
          </a:p>
          <a:p>
            <a:pPr indent="0" lvl="0" marL="0" rtl="0" algn="l">
              <a:spcBef>
                <a:spcPts val="0"/>
              </a:spcBef>
              <a:spcAft>
                <a:spcPts val="0"/>
              </a:spcAft>
              <a:buNone/>
            </a:pPr>
            <a:r>
              <a:rPr lang="en-US" sz="1800"/>
              <a:t>•Módulos SFP+ SR de 850 nm en ambos extremos </a:t>
            </a:r>
            <a:endParaRPr sz="1800"/>
          </a:p>
          <a:p>
            <a:pPr indent="0" lvl="0" marL="0" rtl="0" algn="l">
              <a:spcBef>
                <a:spcPts val="0"/>
              </a:spcBef>
              <a:spcAft>
                <a:spcPts val="0"/>
              </a:spcAft>
              <a:buClr>
                <a:schemeClr val="dk1"/>
              </a:buClr>
              <a:buSzPts val="1100"/>
              <a:buFont typeface="Arial"/>
              <a:buNone/>
            </a:pPr>
            <a:r>
              <a:rPr lang="en-US" sz="1800"/>
              <a:t>• Conectores LC dúplex</a:t>
            </a:r>
            <a:endParaRPr sz="1800"/>
          </a:p>
          <a:p>
            <a:pPr indent="0" lvl="0" marL="0" rtl="0" algn="l">
              <a:spcBef>
                <a:spcPts val="0"/>
              </a:spcBef>
              <a:spcAft>
                <a:spcPts val="0"/>
              </a:spcAft>
              <a:buClr>
                <a:schemeClr val="dk1"/>
              </a:buClr>
              <a:buSzPts val="1100"/>
              <a:buFont typeface="Arial"/>
              <a:buNone/>
            </a:pPr>
            <a:r>
              <a:rPr lang="en-US" sz="1800"/>
              <a:t>Alternativas</a:t>
            </a:r>
            <a:endParaRPr sz="1800"/>
          </a:p>
          <a:p>
            <a:pPr indent="0" lvl="0" marL="0" rtl="0" algn="l">
              <a:spcBef>
                <a:spcPts val="0"/>
              </a:spcBef>
              <a:spcAft>
                <a:spcPts val="0"/>
              </a:spcAft>
              <a:buNone/>
            </a:pPr>
            <a:r>
              <a:t/>
            </a:r>
            <a:endParaRPr sz="1800"/>
          </a:p>
        </p:txBody>
      </p:sp>
      <p:sp>
        <p:nvSpPr>
          <p:cNvPr id="811" name="Google Shape;811;h3173d30833cc6355_0_21"/>
          <p:cNvSpPr txBox="1"/>
          <p:nvPr/>
        </p:nvSpPr>
        <p:spPr>
          <a:xfrm>
            <a:off x="870575" y="5192400"/>
            <a:ext cx="4867200" cy="135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t>• OM3 no basta: a 10 Gb/s solo llega a 300 m</a:t>
            </a:r>
            <a:endParaRPr sz="1800"/>
          </a:p>
          <a:p>
            <a:pPr indent="0" lvl="0" marL="0" rtl="0" algn="l">
              <a:spcBef>
                <a:spcPts val="0"/>
              </a:spcBef>
              <a:spcAft>
                <a:spcPts val="0"/>
              </a:spcAft>
              <a:buNone/>
            </a:pPr>
            <a:r>
              <a:rPr lang="en-US" sz="1800"/>
              <a:t>• A6 km haría falta monomodo OS2 con SFP+ LR de 1310 nm (hasta 10 km)</a:t>
            </a:r>
            <a:endParaRPr sz="1800"/>
          </a:p>
          <a:p>
            <a:pPr indent="0" lvl="0" marL="0" rtl="0" algn="l">
              <a:spcBef>
                <a:spcPts val="0"/>
              </a:spcBef>
              <a:spcAft>
                <a:spcPts val="0"/>
              </a:spcAft>
              <a:buNone/>
            </a:pPr>
            <a:r>
              <a:t/>
            </a:r>
            <a:endParaRPr sz="1800"/>
          </a:p>
        </p:txBody>
      </p:sp>
      <p:sp>
        <p:nvSpPr>
          <p:cNvPr id="812" name="Google Shape;812;h3173d30833cc6355_0_21"/>
          <p:cNvSpPr txBox="1"/>
          <p:nvPr/>
        </p:nvSpPr>
        <p:spPr>
          <a:xfrm>
            <a:off x="6409700" y="5043800"/>
            <a:ext cx="4867200" cy="135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1800"/>
              <a:t>• Un módulo LR (monomodo) en un lado y un SR (multimodo) en el otro</a:t>
            </a:r>
            <a:endParaRPr sz="1800"/>
          </a:p>
          <a:p>
            <a:pPr indent="0" lvl="0" marL="0" rtl="0" algn="l">
              <a:spcBef>
                <a:spcPts val="0"/>
              </a:spcBef>
              <a:spcAft>
                <a:spcPts val="0"/>
              </a:spcAft>
              <a:buClr>
                <a:schemeClr val="dk1"/>
              </a:buClr>
              <a:buSzPts val="1100"/>
              <a:buFont typeface="Arial"/>
              <a:buNone/>
            </a:pPr>
            <a:r>
              <a:rPr lang="en-US" sz="1800"/>
              <a:t>• El enlace no funciona o pierde mucha señal</a:t>
            </a:r>
            <a:endParaRPr sz="1800"/>
          </a:p>
          <a:p>
            <a:pPr indent="0" lvl="0" marL="0" rtl="0" algn="l">
              <a:spcBef>
                <a:spcPts val="0"/>
              </a:spcBef>
              <a:spcAft>
                <a:spcPts val="0"/>
              </a:spcAft>
              <a:buClr>
                <a:schemeClr val="dk1"/>
              </a:buClr>
              <a:buSzPts val="1100"/>
              <a:buFont typeface="Arial"/>
              <a:buNone/>
            </a:pPr>
            <a:r>
              <a:rPr lang="en-US" sz="1800"/>
              <a:t>• Regla: misma fibra y misma longitud de</a:t>
            </a:r>
            <a:r>
              <a:rPr lang="en-US" sz="1800"/>
              <a:t> </a:t>
            </a:r>
            <a:r>
              <a:rPr lang="en-US" sz="1800"/>
              <a:t>onda en lo</a:t>
            </a:r>
            <a:r>
              <a:rPr lang="en-US" sz="1800"/>
              <a:t>s </a:t>
            </a:r>
            <a:r>
              <a:rPr lang="en-US" sz="1800"/>
              <a:t>dos extremos</a:t>
            </a:r>
            <a:endParaRPr sz="1800"/>
          </a:p>
          <a:p>
            <a:pPr indent="0" lvl="0" marL="0" rtl="0" algn="l">
              <a:spcBef>
                <a:spcPts val="0"/>
              </a:spcBef>
              <a:spcAft>
                <a:spcPts val="0"/>
              </a:spcAft>
              <a:buNone/>
            </a:pPr>
            <a:r>
              <a:t/>
            </a:r>
            <a:endParaRPr sz="18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h3173d30833cc6355_42_0"/>
          <p:cNvSpPr/>
          <p:nvPr/>
        </p:nvSpPr>
        <p:spPr>
          <a:xfrm>
            <a:off x="0" y="0"/>
            <a:ext cx="12191100" cy="658500"/>
          </a:xfrm>
          <a:prstGeom prst="rect">
            <a:avLst/>
          </a:prstGeom>
          <a:solidFill>
            <a:srgbClr val="12496F"/>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h3173d30833cc6355_42_0"/>
          <p:cNvSpPr/>
          <p:nvPr/>
        </p:nvSpPr>
        <p:spPr>
          <a:xfrm>
            <a:off x="567000" y="82440"/>
            <a:ext cx="10972500" cy="4560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i="0" lang="en-US" sz="2400" u="none" cap="none" strike="noStrike">
                <a:solidFill>
                  <a:srgbClr val="FFFFFF"/>
                </a:solidFill>
                <a:latin typeface="Arial"/>
                <a:ea typeface="Arial"/>
                <a:cs typeface="Arial"/>
                <a:sym typeface="Arial"/>
              </a:rPr>
              <a:t>13 · Puertos y transceptores SFP/SFP+                             </a:t>
            </a:r>
            <a:r>
              <a:rPr b="1" lang="en-US" sz="2400">
                <a:solidFill>
                  <a:srgbClr val="FFFFFF"/>
                </a:solidFill>
              </a:rPr>
              <a:t>Raúl Martínez Báez</a:t>
            </a:r>
            <a:endParaRPr b="0" i="0" sz="2400" u="none" cap="none" strike="noStrike">
              <a:latin typeface="Arial"/>
              <a:ea typeface="Arial"/>
              <a:cs typeface="Arial"/>
              <a:sym typeface="Arial"/>
            </a:endParaRPr>
          </a:p>
        </p:txBody>
      </p:sp>
      <p:sp>
        <p:nvSpPr>
          <p:cNvPr id="819" name="Google Shape;819;h3173d30833cc6355_42_0"/>
          <p:cNvSpPr/>
          <p:nvPr/>
        </p:nvSpPr>
        <p:spPr>
          <a:xfrm>
            <a:off x="658447" y="909210"/>
            <a:ext cx="10789500" cy="790500"/>
          </a:xfrm>
          <a:prstGeom prst="rect">
            <a:avLst/>
          </a:prstGeom>
          <a:noFill/>
          <a:ln>
            <a:noFill/>
          </a:ln>
        </p:spPr>
        <p:txBody>
          <a:bodyPr anchorCtr="0" anchor="t" bIns="45000" lIns="36700" spcFirstLastPara="1" rIns="36700" wrap="square" tIns="45000">
            <a:noAutofit/>
          </a:bodyPr>
          <a:lstStyle/>
          <a:p>
            <a:pPr indent="0" lvl="0" marL="0" rtl="0" algn="l">
              <a:lnSpc>
                <a:spcPct val="115000"/>
              </a:lnSpc>
              <a:spcBef>
                <a:spcPts val="900"/>
              </a:spcBef>
              <a:spcAft>
                <a:spcPts val="0"/>
              </a:spcAft>
              <a:buClr>
                <a:schemeClr val="dk1"/>
              </a:buClr>
              <a:buSzPts val="1100"/>
              <a:buFont typeface="Arial"/>
              <a:buNone/>
            </a:pPr>
            <a:r>
              <a:rPr lang="en-US" sz="1900">
                <a:solidFill>
                  <a:schemeClr val="dk1"/>
                </a:solidFill>
              </a:rPr>
              <a:t>Algunos switches y routers disponen de bahías modulares intercambiables. Esto permite elegir el tipo de conector y cable según la distancia del enlace.</a:t>
            </a:r>
            <a:endParaRPr sz="1900">
              <a:solidFill>
                <a:schemeClr val="dk1"/>
              </a:solidFill>
            </a:endParaRPr>
          </a:p>
          <a:p>
            <a:pPr indent="0" lvl="0" marL="0" marR="0" rtl="0" algn="l">
              <a:lnSpc>
                <a:spcPct val="100000"/>
              </a:lnSpc>
              <a:spcBef>
                <a:spcPts val="1200"/>
              </a:spcBef>
              <a:spcAft>
                <a:spcPts val="0"/>
              </a:spcAft>
              <a:buNone/>
            </a:pPr>
            <a:r>
              <a:t/>
            </a:r>
            <a:endParaRPr sz="2300">
              <a:solidFill>
                <a:srgbClr val="12496F"/>
              </a:solidFill>
            </a:endParaRPr>
          </a:p>
          <a:p>
            <a:pPr indent="0" lvl="0" marL="0" marR="0" rtl="0" algn="l">
              <a:lnSpc>
                <a:spcPct val="100000"/>
              </a:lnSpc>
              <a:spcBef>
                <a:spcPts val="0"/>
              </a:spcBef>
              <a:spcAft>
                <a:spcPts val="0"/>
              </a:spcAft>
              <a:buNone/>
            </a:pPr>
            <a:r>
              <a:t/>
            </a:r>
            <a:endParaRPr sz="2300">
              <a:solidFill>
                <a:srgbClr val="12496F"/>
              </a:solidFill>
            </a:endParaRPr>
          </a:p>
          <a:p>
            <a:pPr indent="0" lvl="0" marL="0" marR="0" rtl="0" algn="l">
              <a:lnSpc>
                <a:spcPct val="100000"/>
              </a:lnSpc>
              <a:spcBef>
                <a:spcPts val="0"/>
              </a:spcBef>
              <a:spcAft>
                <a:spcPts val="0"/>
              </a:spcAft>
              <a:buNone/>
            </a:pPr>
            <a:r>
              <a:t/>
            </a:r>
            <a:endParaRPr sz="2300">
              <a:solidFill>
                <a:srgbClr val="12496F"/>
              </a:solidFill>
            </a:endParaRPr>
          </a:p>
        </p:txBody>
      </p:sp>
      <p:sp>
        <p:nvSpPr>
          <p:cNvPr id="820" name="Google Shape;820;h3173d30833cc6355_42_0"/>
          <p:cNvSpPr/>
          <p:nvPr/>
        </p:nvSpPr>
        <p:spPr>
          <a:xfrm>
            <a:off x="404033" y="3680867"/>
            <a:ext cx="4680900" cy="1352100"/>
          </a:xfrm>
          <a:prstGeom prst="roundRect">
            <a:avLst>
              <a:gd fmla="val 16667" name="adj"/>
            </a:avLst>
          </a:prstGeom>
          <a:solidFill>
            <a:srgbClr val="E7F1F9"/>
          </a:solidFill>
          <a:ln>
            <a:noFill/>
          </a:ln>
          <a:effectLst>
            <a:outerShdw blurRad="34583" rotWithShape="0" dir="5400000" dist="19940">
              <a:srgbClr val="000000">
                <a:alpha val="34900"/>
              </a:srgbClr>
            </a:outerShdw>
          </a:effectLst>
        </p:spPr>
        <p:txBody>
          <a:bodyPr anchorCtr="0" anchor="ctr" bIns="79125" lIns="79125" spcFirstLastPara="1" rIns="79125" wrap="square" tIns="79125">
            <a:noAutofit/>
          </a:bodyPr>
          <a:lstStyle/>
          <a:p>
            <a:pPr indent="0" lvl="0" marL="0" rtl="0" algn="l">
              <a:spcBef>
                <a:spcPts val="0"/>
              </a:spcBef>
              <a:spcAft>
                <a:spcPts val="0"/>
              </a:spcAft>
              <a:buNone/>
            </a:pPr>
            <a:r>
              <a:t/>
            </a:r>
            <a:endParaRPr/>
          </a:p>
        </p:txBody>
      </p:sp>
      <p:sp>
        <p:nvSpPr>
          <p:cNvPr id="821" name="Google Shape;821;h3173d30833cc6355_42_0"/>
          <p:cNvSpPr/>
          <p:nvPr/>
        </p:nvSpPr>
        <p:spPr>
          <a:xfrm>
            <a:off x="538619" y="3748822"/>
            <a:ext cx="4411500" cy="342300"/>
          </a:xfrm>
          <a:prstGeom prst="rect">
            <a:avLst/>
          </a:prstGeom>
          <a:noFill/>
          <a:ln>
            <a:noFill/>
          </a:ln>
        </p:spPr>
        <p:txBody>
          <a:bodyPr anchorCtr="0" anchor="t" bIns="38975" lIns="31775" spcFirstLastPara="1" rIns="31775" wrap="square" tIns="38975">
            <a:noAutofit/>
          </a:bodyPr>
          <a:lstStyle/>
          <a:p>
            <a:pPr indent="0" lvl="0" marL="0" marR="0" rtl="0" algn="l">
              <a:lnSpc>
                <a:spcPct val="100000"/>
              </a:lnSpc>
              <a:spcBef>
                <a:spcPts val="0"/>
              </a:spcBef>
              <a:spcAft>
                <a:spcPts val="0"/>
              </a:spcAft>
              <a:buNone/>
            </a:pPr>
            <a:r>
              <a:rPr b="1" i="0" lang="en-US" sz="1700" u="none" cap="none" strike="noStrike">
                <a:solidFill>
                  <a:srgbClr val="12496F"/>
                </a:solidFill>
                <a:latin typeface="Arial"/>
                <a:ea typeface="Arial"/>
                <a:cs typeface="Arial"/>
                <a:sym typeface="Arial"/>
              </a:rPr>
              <a:t>Puerto RJ-4</a:t>
            </a:r>
            <a:r>
              <a:rPr b="1" lang="en-US" sz="1700">
                <a:solidFill>
                  <a:srgbClr val="12496F"/>
                </a:solidFill>
              </a:rPr>
              <a:t>5 </a:t>
            </a:r>
            <a:endParaRPr b="0" i="0" sz="1700" u="none" cap="none" strike="noStrike">
              <a:latin typeface="Arial"/>
              <a:ea typeface="Arial"/>
              <a:cs typeface="Arial"/>
              <a:sym typeface="Arial"/>
            </a:endParaRPr>
          </a:p>
        </p:txBody>
      </p:sp>
      <p:sp>
        <p:nvSpPr>
          <p:cNvPr id="822" name="Google Shape;822;h3173d30833cc6355_42_0"/>
          <p:cNvSpPr/>
          <p:nvPr/>
        </p:nvSpPr>
        <p:spPr>
          <a:xfrm>
            <a:off x="538619" y="4108305"/>
            <a:ext cx="4411500" cy="869700"/>
          </a:xfrm>
          <a:prstGeom prst="rect">
            <a:avLst/>
          </a:prstGeom>
          <a:noFill/>
          <a:ln>
            <a:noFill/>
          </a:ln>
        </p:spPr>
        <p:txBody>
          <a:bodyPr anchorCtr="0" anchor="t" bIns="38975" lIns="31775" spcFirstLastPara="1" rIns="31775" wrap="square" tIns="38975">
            <a:noAutofit/>
          </a:bodyPr>
          <a:lstStyle/>
          <a:p>
            <a:pPr indent="0" lvl="0" marL="0" marR="0" rtl="0" algn="l">
              <a:lnSpc>
                <a:spcPct val="100000"/>
              </a:lnSpc>
              <a:spcBef>
                <a:spcPts val="0"/>
              </a:spcBef>
              <a:spcAft>
                <a:spcPts val="0"/>
              </a:spcAft>
              <a:buNone/>
            </a:pPr>
            <a:r>
              <a:rPr lang="en-US" sz="1700">
                <a:solidFill>
                  <a:srgbClr val="26303A"/>
                </a:solidFill>
              </a:rPr>
              <a:t>Permiten conectar un cable de par </a:t>
            </a:r>
            <a:endParaRPr sz="1700">
              <a:solidFill>
                <a:srgbClr val="26303A"/>
              </a:solidFill>
            </a:endParaRPr>
          </a:p>
          <a:p>
            <a:pPr indent="0" lvl="0" marL="0" marR="0" rtl="0" algn="l">
              <a:lnSpc>
                <a:spcPct val="100000"/>
              </a:lnSpc>
              <a:spcBef>
                <a:spcPts val="0"/>
              </a:spcBef>
              <a:spcAft>
                <a:spcPts val="0"/>
              </a:spcAft>
              <a:buNone/>
            </a:pPr>
            <a:r>
              <a:rPr lang="en-US" sz="1700">
                <a:solidFill>
                  <a:srgbClr val="26303A"/>
                </a:solidFill>
              </a:rPr>
              <a:t>trenzado a una interfaz Ethernet </a:t>
            </a:r>
            <a:endParaRPr sz="1700">
              <a:solidFill>
                <a:srgbClr val="26303A"/>
              </a:solidFill>
            </a:endParaRPr>
          </a:p>
          <a:p>
            <a:pPr indent="0" lvl="0" marL="0" marR="0" rtl="0" algn="l">
              <a:lnSpc>
                <a:spcPct val="100000"/>
              </a:lnSpc>
              <a:spcBef>
                <a:spcPts val="0"/>
              </a:spcBef>
              <a:spcAft>
                <a:spcPts val="0"/>
              </a:spcAft>
              <a:buNone/>
            </a:pPr>
            <a:r>
              <a:rPr lang="en-US" sz="1700">
                <a:solidFill>
                  <a:srgbClr val="26303A"/>
                </a:solidFill>
              </a:rPr>
              <a:t>utilizando la ranura SFP. </a:t>
            </a:r>
            <a:endParaRPr b="0" i="0" sz="1700" u="none" cap="none" strike="noStrike">
              <a:latin typeface="Arial"/>
              <a:ea typeface="Arial"/>
              <a:cs typeface="Arial"/>
              <a:sym typeface="Arial"/>
            </a:endParaRPr>
          </a:p>
        </p:txBody>
      </p:sp>
      <p:sp>
        <p:nvSpPr>
          <p:cNvPr id="823" name="Google Shape;823;h3173d30833cc6355_42_0"/>
          <p:cNvSpPr/>
          <p:nvPr/>
        </p:nvSpPr>
        <p:spPr>
          <a:xfrm>
            <a:off x="6131000" y="3680867"/>
            <a:ext cx="5408400" cy="1866000"/>
          </a:xfrm>
          <a:prstGeom prst="roundRect">
            <a:avLst>
              <a:gd fmla="val 16667" name="adj"/>
            </a:avLst>
          </a:prstGeom>
          <a:solidFill>
            <a:srgbClr val="FFF2E0"/>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h3173d30833cc6355_42_0"/>
          <p:cNvSpPr/>
          <p:nvPr/>
        </p:nvSpPr>
        <p:spPr>
          <a:xfrm>
            <a:off x="6286388" y="3722417"/>
            <a:ext cx="5097600" cy="3951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i="0" lang="en-US" sz="2000" u="none" cap="none" strike="noStrike">
                <a:solidFill>
                  <a:srgbClr val="12496F"/>
                </a:solidFill>
                <a:latin typeface="Arial"/>
                <a:ea typeface="Arial"/>
                <a:cs typeface="Arial"/>
                <a:sym typeface="Arial"/>
              </a:rPr>
              <a:t>Módulo </a:t>
            </a:r>
            <a:r>
              <a:rPr b="1" lang="en-US" sz="2000">
                <a:solidFill>
                  <a:srgbClr val="12496F"/>
                </a:solidFill>
              </a:rPr>
              <a:t>≠ </a:t>
            </a:r>
            <a:r>
              <a:rPr b="1" i="0" lang="en-US" sz="2000" u="none" cap="none" strike="noStrike">
                <a:solidFill>
                  <a:srgbClr val="12496F"/>
                </a:solidFill>
                <a:latin typeface="Arial"/>
                <a:ea typeface="Arial"/>
                <a:cs typeface="Arial"/>
                <a:sym typeface="Arial"/>
              </a:rPr>
              <a:t> cable</a:t>
            </a:r>
            <a:endParaRPr b="0" i="0" sz="2000" u="none" cap="none" strike="noStrike">
              <a:latin typeface="Arial"/>
              <a:ea typeface="Arial"/>
              <a:cs typeface="Arial"/>
              <a:sym typeface="Arial"/>
            </a:endParaRPr>
          </a:p>
        </p:txBody>
      </p:sp>
      <p:sp>
        <p:nvSpPr>
          <p:cNvPr id="825" name="Google Shape;825;h3173d30833cc6355_42_0"/>
          <p:cNvSpPr/>
          <p:nvPr/>
        </p:nvSpPr>
        <p:spPr>
          <a:xfrm>
            <a:off x="6286400" y="4104933"/>
            <a:ext cx="5253300" cy="14292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lang="en-US" sz="1400">
                <a:solidFill>
                  <a:srgbClr val="26303A"/>
                </a:solidFill>
              </a:rPr>
              <a:t>Módulo: el cerebro electrónico que se introduce en el switch. Convierte los datos en señales de luz (fibra) o electricidad (cobre).</a:t>
            </a:r>
            <a:endParaRPr sz="1400">
              <a:solidFill>
                <a:srgbClr val="26303A"/>
              </a:solidFill>
            </a:endParaRPr>
          </a:p>
          <a:p>
            <a:pPr indent="0" lvl="0" marL="0" marR="0" rtl="0" algn="l">
              <a:lnSpc>
                <a:spcPct val="100000"/>
              </a:lnSpc>
              <a:spcBef>
                <a:spcPts val="0"/>
              </a:spcBef>
              <a:spcAft>
                <a:spcPts val="0"/>
              </a:spcAft>
              <a:buNone/>
            </a:pPr>
            <a:r>
              <a:rPr lang="en-US" sz="1400">
                <a:solidFill>
                  <a:srgbClr val="26303A"/>
                </a:solidFill>
              </a:rPr>
              <a:t>Cable: Es simplemente el medio físico de transporte </a:t>
            </a:r>
            <a:endParaRPr sz="1400">
              <a:solidFill>
                <a:srgbClr val="26303A"/>
              </a:solidFill>
            </a:endParaRPr>
          </a:p>
          <a:p>
            <a:pPr indent="0" lvl="0" marL="0" marR="0" rtl="0" algn="l">
              <a:lnSpc>
                <a:spcPct val="100000"/>
              </a:lnSpc>
              <a:spcBef>
                <a:spcPts val="0"/>
              </a:spcBef>
              <a:spcAft>
                <a:spcPts val="0"/>
              </a:spcAft>
              <a:buNone/>
            </a:pPr>
            <a:r>
              <a:t/>
            </a:r>
            <a:endParaRPr sz="1400">
              <a:solidFill>
                <a:srgbClr val="26303A"/>
              </a:solidFill>
            </a:endParaRPr>
          </a:p>
          <a:p>
            <a:pPr indent="0" lvl="0" marL="0" marR="0" rtl="0" algn="l">
              <a:lnSpc>
                <a:spcPct val="100000"/>
              </a:lnSpc>
              <a:spcBef>
                <a:spcPts val="0"/>
              </a:spcBef>
              <a:spcAft>
                <a:spcPts val="0"/>
              </a:spcAft>
              <a:buNone/>
            </a:pPr>
            <a:r>
              <a:rPr b="0" i="0" lang="en-US" sz="1400" u="none" cap="none" strike="noStrike">
                <a:solidFill>
                  <a:srgbClr val="26303A"/>
                </a:solidFill>
                <a:latin typeface="Arial"/>
                <a:ea typeface="Arial"/>
                <a:cs typeface="Arial"/>
                <a:sym typeface="Arial"/>
              </a:rPr>
              <a:t>El </a:t>
            </a:r>
            <a:r>
              <a:rPr lang="en-US" sz="1400">
                <a:solidFill>
                  <a:srgbClr val="26303A"/>
                </a:solidFill>
              </a:rPr>
              <a:t>módulo </a:t>
            </a:r>
            <a:r>
              <a:rPr b="0" i="0" lang="en-US" sz="1400" u="none" cap="none" strike="noStrike">
                <a:solidFill>
                  <a:srgbClr val="26303A"/>
                </a:solidFill>
                <a:latin typeface="Arial"/>
                <a:ea typeface="Arial"/>
                <a:cs typeface="Arial"/>
                <a:sym typeface="Arial"/>
              </a:rPr>
              <a:t>determina la interfaz</a:t>
            </a:r>
            <a:r>
              <a:rPr lang="en-US" sz="1400">
                <a:solidFill>
                  <a:srgbClr val="26303A"/>
                </a:solidFill>
              </a:rPr>
              <a:t>,</a:t>
            </a:r>
            <a:r>
              <a:rPr b="0" i="0" lang="en-US" sz="1400" u="none" cap="none" strike="noStrike">
                <a:solidFill>
                  <a:srgbClr val="26303A"/>
                </a:solidFill>
                <a:latin typeface="Arial"/>
                <a:ea typeface="Arial"/>
                <a:cs typeface="Arial"/>
                <a:sym typeface="Arial"/>
              </a:rPr>
              <a:t> el cable debe ser compatible.</a:t>
            </a:r>
            <a:r>
              <a:rPr b="0" i="0" lang="en-US" sz="1300" u="none" cap="none" strike="noStrike">
                <a:solidFill>
                  <a:srgbClr val="26303A"/>
                </a:solidFill>
                <a:latin typeface="Arial"/>
                <a:ea typeface="Arial"/>
                <a:cs typeface="Arial"/>
                <a:sym typeface="Arial"/>
              </a:rPr>
              <a:t> </a:t>
            </a:r>
            <a:endParaRPr b="0" i="0" sz="1300" u="none" cap="none" strike="noStrike">
              <a:latin typeface="Arial"/>
              <a:ea typeface="Arial"/>
              <a:cs typeface="Arial"/>
              <a:sym typeface="Arial"/>
            </a:endParaRPr>
          </a:p>
        </p:txBody>
      </p:sp>
      <p:sp>
        <p:nvSpPr>
          <p:cNvPr id="826" name="Google Shape;826;h3173d30833cc6355_42_0"/>
          <p:cNvSpPr/>
          <p:nvPr/>
        </p:nvSpPr>
        <p:spPr>
          <a:xfrm>
            <a:off x="952500" y="5890167"/>
            <a:ext cx="10024800" cy="612000"/>
          </a:xfrm>
          <a:prstGeom prst="roundRect">
            <a:avLst>
              <a:gd fmla="val 16667" name="adj"/>
            </a:avLst>
          </a:prstGeom>
          <a:solidFill>
            <a:srgbClr val="F3ECF9"/>
          </a:solidFill>
          <a:ln>
            <a:noFill/>
          </a:ln>
          <a:effectLst>
            <a:outerShdw blurRad="37120" rotWithShape="0" dir="5400000" dist="21403">
              <a:srgbClr val="000000">
                <a:alpha val="34900"/>
              </a:srgbClr>
            </a:outerShdw>
          </a:effectLst>
        </p:spPr>
        <p:txBody>
          <a:bodyPr anchorCtr="0" anchor="ctr" bIns="84925" lIns="84925" spcFirstLastPara="1" rIns="84925" wrap="square" tIns="84925">
            <a:noAutofit/>
          </a:bodyPr>
          <a:lstStyle/>
          <a:p>
            <a:pPr indent="0" lvl="0" marL="0" rtl="0" algn="l">
              <a:spcBef>
                <a:spcPts val="0"/>
              </a:spcBef>
              <a:spcAft>
                <a:spcPts val="0"/>
              </a:spcAft>
              <a:buNone/>
            </a:pPr>
            <a:r>
              <a:t/>
            </a:r>
            <a:endParaRPr sz="1500"/>
          </a:p>
        </p:txBody>
      </p:sp>
      <p:sp>
        <p:nvSpPr>
          <p:cNvPr id="827" name="Google Shape;827;h3173d30833cc6355_42_0"/>
          <p:cNvSpPr/>
          <p:nvPr/>
        </p:nvSpPr>
        <p:spPr>
          <a:xfrm>
            <a:off x="687332" y="5796967"/>
            <a:ext cx="7102800" cy="367200"/>
          </a:xfrm>
          <a:prstGeom prst="rect">
            <a:avLst/>
          </a:prstGeom>
          <a:noFill/>
          <a:ln>
            <a:noFill/>
          </a:ln>
        </p:spPr>
        <p:txBody>
          <a:bodyPr anchorCtr="0" anchor="t" bIns="41800" lIns="34100" spcFirstLastPara="1" rIns="34100" wrap="square" tIns="41800">
            <a:noAutofit/>
          </a:bodyPr>
          <a:lstStyle/>
          <a:p>
            <a:pPr indent="0" lvl="0" marL="0" marR="0" rtl="0" algn="l">
              <a:lnSpc>
                <a:spcPct val="100000"/>
              </a:lnSpc>
              <a:spcBef>
                <a:spcPts val="0"/>
              </a:spcBef>
              <a:spcAft>
                <a:spcPts val="0"/>
              </a:spcAft>
              <a:buNone/>
            </a:pPr>
            <a:r>
              <a:t/>
            </a:r>
            <a:endParaRPr b="0" i="0" sz="1500" u="none" cap="none" strike="noStrike">
              <a:latin typeface="Arial"/>
              <a:ea typeface="Arial"/>
              <a:cs typeface="Arial"/>
              <a:sym typeface="Arial"/>
            </a:endParaRPr>
          </a:p>
        </p:txBody>
      </p:sp>
      <p:sp>
        <p:nvSpPr>
          <p:cNvPr id="828" name="Google Shape;828;h3173d30833cc6355_42_0"/>
          <p:cNvSpPr/>
          <p:nvPr/>
        </p:nvSpPr>
        <p:spPr>
          <a:xfrm>
            <a:off x="549033" y="5998567"/>
            <a:ext cx="10845300" cy="395100"/>
          </a:xfrm>
          <a:prstGeom prst="rect">
            <a:avLst/>
          </a:prstGeom>
          <a:noFill/>
          <a:ln>
            <a:noFill/>
          </a:ln>
        </p:spPr>
        <p:txBody>
          <a:bodyPr anchorCtr="0" anchor="t" bIns="41800" lIns="34100" spcFirstLastPara="1" rIns="34100" wrap="square" tIns="41800">
            <a:noAutofit/>
          </a:bodyPr>
          <a:lstStyle/>
          <a:p>
            <a:pPr indent="0" lvl="0" marL="0" marR="0" rtl="0" algn="ctr">
              <a:lnSpc>
                <a:spcPct val="100000"/>
              </a:lnSpc>
              <a:spcBef>
                <a:spcPts val="0"/>
              </a:spcBef>
              <a:spcAft>
                <a:spcPts val="0"/>
              </a:spcAft>
              <a:buNone/>
            </a:pPr>
            <a:r>
              <a:rPr b="1" lang="en-US" sz="1600">
                <a:solidFill>
                  <a:srgbClr val="12496F"/>
                </a:solidFill>
              </a:rPr>
              <a:t>Ejemplo real: </a:t>
            </a:r>
            <a:r>
              <a:rPr b="0" i="0" lang="en-US" sz="1600" u="none" cap="none" strike="noStrike">
                <a:solidFill>
                  <a:srgbClr val="26303A"/>
                </a:solidFill>
                <a:latin typeface="Arial"/>
                <a:ea typeface="Arial"/>
                <a:cs typeface="Arial"/>
                <a:sym typeface="Arial"/>
              </a:rPr>
              <a:t>Enlace entre dos armarios: switches con módulos ópticos compatibles y fibra óptica adecuada.</a:t>
            </a:r>
            <a:r>
              <a:rPr b="0" i="0" lang="en-US" sz="1500" u="none" cap="none" strike="noStrike">
                <a:solidFill>
                  <a:srgbClr val="26303A"/>
                </a:solidFill>
                <a:latin typeface="Arial"/>
                <a:ea typeface="Arial"/>
                <a:cs typeface="Arial"/>
                <a:sym typeface="Arial"/>
              </a:rPr>
              <a:t> </a:t>
            </a:r>
            <a:endParaRPr b="0" i="0" sz="1500" u="none" cap="none" strike="noStrike">
              <a:latin typeface="Arial"/>
              <a:ea typeface="Arial"/>
              <a:cs typeface="Arial"/>
              <a:sym typeface="Arial"/>
            </a:endParaRPr>
          </a:p>
        </p:txBody>
      </p:sp>
      <p:graphicFrame>
        <p:nvGraphicFramePr>
          <p:cNvPr id="829" name="Google Shape;829;h3173d30833cc6355_42_0"/>
          <p:cNvGraphicFramePr/>
          <p:nvPr/>
        </p:nvGraphicFramePr>
        <p:xfrm>
          <a:off x="952492" y="1803525"/>
          <a:ext cx="3000000" cy="3000000"/>
        </p:xfrm>
        <a:graphic>
          <a:graphicData uri="http://schemas.openxmlformats.org/drawingml/2006/table">
            <a:tbl>
              <a:tblPr>
                <a:noFill/>
                <a:tableStyleId>{D5E43AE6-D7B6-4260-96C7-2DE83A4C226C}</a:tableStyleId>
              </a:tblPr>
              <a:tblGrid>
                <a:gridCol w="3429000"/>
                <a:gridCol w="3429000"/>
                <a:gridCol w="3429000"/>
              </a:tblGrid>
              <a:tr h="381000">
                <a:tc>
                  <a:txBody>
                    <a:bodyPr/>
                    <a:lstStyle/>
                    <a:p>
                      <a:pPr indent="0" lvl="0" marL="0" rtl="0" algn="l">
                        <a:spcBef>
                          <a:spcPts val="0"/>
                        </a:spcBef>
                        <a:spcAft>
                          <a:spcPts val="0"/>
                        </a:spcAft>
                        <a:buNone/>
                      </a:pPr>
                      <a:r>
                        <a:rPr b="1" lang="en-US" sz="1500">
                          <a:solidFill>
                            <a:schemeClr val="lt1"/>
                          </a:solidFill>
                        </a:rPr>
                        <a:t>Interfaz</a:t>
                      </a:r>
                      <a:endParaRPr b="1" sz="1500">
                        <a:solidFill>
                          <a:schemeClr val="lt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24496E"/>
                    </a:solidFill>
                  </a:tcPr>
                </a:tc>
                <a:tc>
                  <a:txBody>
                    <a:bodyPr/>
                    <a:lstStyle/>
                    <a:p>
                      <a:pPr indent="0" lvl="0" marL="0" rtl="0" algn="l">
                        <a:spcBef>
                          <a:spcPts val="0"/>
                        </a:spcBef>
                        <a:spcAft>
                          <a:spcPts val="0"/>
                        </a:spcAft>
                        <a:buNone/>
                      </a:pPr>
                      <a:r>
                        <a:rPr b="1" lang="en-US" sz="1500">
                          <a:solidFill>
                            <a:schemeClr val="lt1"/>
                          </a:solidFill>
                        </a:rPr>
                        <a:t>Velocidad Máxima </a:t>
                      </a:r>
                      <a:endParaRPr b="1" sz="1500">
                        <a:solidFill>
                          <a:schemeClr val="lt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24496E"/>
                    </a:solidFill>
                  </a:tcPr>
                </a:tc>
                <a:tc>
                  <a:txBody>
                    <a:bodyPr/>
                    <a:lstStyle/>
                    <a:p>
                      <a:pPr indent="0" lvl="0" marL="0" rtl="0" algn="l">
                        <a:spcBef>
                          <a:spcPts val="0"/>
                        </a:spcBef>
                        <a:spcAft>
                          <a:spcPts val="0"/>
                        </a:spcAft>
                        <a:buNone/>
                      </a:pPr>
                      <a:r>
                        <a:rPr b="1" lang="en-US" sz="1500">
                          <a:solidFill>
                            <a:schemeClr val="lt1"/>
                          </a:solidFill>
                        </a:rPr>
                        <a:t>Tipo de Medio / Uso </a:t>
                      </a:r>
                      <a:endParaRPr b="1" sz="1500">
                        <a:solidFill>
                          <a:schemeClr val="lt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24496E"/>
                    </a:solidFill>
                  </a:tcPr>
                </a:tc>
              </a:tr>
              <a:tr h="381000">
                <a:tc>
                  <a:txBody>
                    <a:bodyPr/>
                    <a:lstStyle/>
                    <a:p>
                      <a:pPr indent="0" lvl="0" marL="0" rtl="0" algn="l">
                        <a:spcBef>
                          <a:spcPts val="0"/>
                        </a:spcBef>
                        <a:spcAft>
                          <a:spcPts val="0"/>
                        </a:spcAft>
                        <a:buNone/>
                      </a:pPr>
                      <a:r>
                        <a:rPr lang="en-US" sz="1500">
                          <a:solidFill>
                            <a:schemeClr val="dk1"/>
                          </a:solidFill>
                        </a:rPr>
                        <a:t>SFP (Estándar) </a:t>
                      </a:r>
                      <a:endParaRPr sz="15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rPr lang="en-US" sz="1500"/>
                        <a:t>Hasta 1 Gb/s </a:t>
                      </a:r>
                      <a:endParaRPr sz="15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500"/>
                        <a:t>Fibra o cobre (enlaces locales). </a:t>
                      </a:r>
                      <a:endParaRPr sz="15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sz="1500">
                          <a:solidFill>
                            <a:schemeClr val="dk1"/>
                          </a:solidFill>
                        </a:rPr>
                        <a:t>SFP+ (Evolución) </a:t>
                      </a:r>
                      <a:endParaRPr sz="15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rPr lang="en-US" sz="1500"/>
                        <a:t>Hasta 10 Gb/s </a:t>
                      </a:r>
                      <a:endParaRPr sz="15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500"/>
                        <a:t>Fibra o cobre (alta velocidad). </a:t>
                      </a:r>
                      <a:endParaRPr sz="15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sz="1500">
                          <a:solidFill>
                            <a:schemeClr val="dk1"/>
                          </a:solidFill>
                        </a:rPr>
                        <a:t>Ventajas de ambos</a:t>
                      </a:r>
                      <a:endParaRPr sz="1500">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gridSpan="2">
                  <a:txBody>
                    <a:bodyPr/>
                    <a:lstStyle/>
                    <a:p>
                      <a:pPr indent="0" lvl="0" marL="0" rtl="0" algn="l">
                        <a:spcBef>
                          <a:spcPts val="0"/>
                        </a:spcBef>
                        <a:spcAft>
                          <a:spcPts val="0"/>
                        </a:spcAft>
                        <a:buNone/>
                      </a:pPr>
                      <a:r>
                        <a:rPr lang="en-US" sz="1500"/>
                        <a:t>S</a:t>
                      </a:r>
                      <a:r>
                        <a:rPr lang="en-US" sz="1500">
                          <a:solidFill>
                            <a:schemeClr val="dk1"/>
                          </a:solidFill>
                        </a:rPr>
                        <a:t>e pueden conectar y desconectar sin apagar el switch ni interrumpir la red. </a:t>
                      </a:r>
                      <a:endParaRPr sz="15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r>
            </a:tbl>
          </a:graphicData>
        </a:graphic>
      </p:graphicFrame>
      <p:pic>
        <p:nvPicPr>
          <p:cNvPr id="830" name="Google Shape;830;h3173d30833cc6355_42_0"/>
          <p:cNvPicPr preferRelativeResize="0"/>
          <p:nvPr/>
        </p:nvPicPr>
        <p:blipFill>
          <a:blip r:embed="rId3">
            <a:alphaModFix/>
          </a:blip>
          <a:stretch>
            <a:fillRect/>
          </a:stretch>
        </p:blipFill>
        <p:spPr>
          <a:xfrm>
            <a:off x="4305067" y="4117633"/>
            <a:ext cx="1461356" cy="142919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15"/>
          <p:cNvSpPr/>
          <p:nvPr/>
        </p:nvSpPr>
        <p:spPr>
          <a:xfrm>
            <a:off x="0" y="0"/>
            <a:ext cx="12191400" cy="658080"/>
          </a:xfrm>
          <a:prstGeom prst="rect">
            <a:avLst/>
          </a:prstGeom>
          <a:solidFill>
            <a:srgbClr val="12496F"/>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15"/>
          <p:cNvSpPr/>
          <p:nvPr/>
        </p:nvSpPr>
        <p:spPr>
          <a:xfrm>
            <a:off x="567000" y="82440"/>
            <a:ext cx="10972440" cy="45612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1" i="0" lang="en-US" sz="2400" u="none" cap="none" strike="noStrike">
                <a:solidFill>
                  <a:srgbClr val="FFFFFF"/>
                </a:solidFill>
                <a:latin typeface="Arial"/>
                <a:ea typeface="Arial"/>
                <a:cs typeface="Arial"/>
                <a:sym typeface="Arial"/>
              </a:rPr>
              <a:t>14 · PoE: electricidad por el cable de red: Alejandro Mercado</a:t>
            </a:r>
            <a:endParaRPr b="0" i="0" sz="2400" u="none" cap="none" strike="noStrike">
              <a:latin typeface="Arial"/>
              <a:ea typeface="Arial"/>
              <a:cs typeface="Arial"/>
              <a:sym typeface="Arial"/>
            </a:endParaRPr>
          </a:p>
        </p:txBody>
      </p:sp>
      <p:sp>
        <p:nvSpPr>
          <p:cNvPr id="837" name="Google Shape;837;p15"/>
          <p:cNvSpPr/>
          <p:nvPr/>
        </p:nvSpPr>
        <p:spPr>
          <a:xfrm>
            <a:off x="100325" y="1687113"/>
            <a:ext cx="5544300" cy="2485200"/>
          </a:xfrm>
          <a:prstGeom prst="roundRect">
            <a:avLst>
              <a:gd fmla="val 16667" name="adj"/>
            </a:avLst>
          </a:prstGeom>
          <a:solidFill>
            <a:srgbClr val="E7F1F9"/>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15"/>
          <p:cNvSpPr/>
          <p:nvPr/>
        </p:nvSpPr>
        <p:spPr>
          <a:xfrm>
            <a:off x="255730" y="1733430"/>
            <a:ext cx="5097600" cy="3954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1" i="0" lang="en-US" sz="2000" u="none" cap="none" strike="noStrike">
                <a:solidFill>
                  <a:srgbClr val="12496F"/>
                </a:solidFill>
                <a:latin typeface="Arial"/>
                <a:ea typeface="Arial"/>
                <a:cs typeface="Arial"/>
                <a:sym typeface="Arial"/>
              </a:rPr>
              <a:t>Equipos habituales</a:t>
            </a:r>
            <a:endParaRPr b="0" i="0" sz="2000" u="none" cap="none" strike="noStrike">
              <a:latin typeface="Arial"/>
              <a:ea typeface="Arial"/>
              <a:cs typeface="Arial"/>
              <a:sym typeface="Arial"/>
            </a:endParaRPr>
          </a:p>
        </p:txBody>
      </p:sp>
      <p:sp>
        <p:nvSpPr>
          <p:cNvPr id="839" name="Google Shape;839;p15"/>
          <p:cNvSpPr/>
          <p:nvPr/>
        </p:nvSpPr>
        <p:spPr>
          <a:xfrm>
            <a:off x="255725" y="2170600"/>
            <a:ext cx="4748400" cy="17397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lang="en-US" sz="1500">
                <a:solidFill>
                  <a:srgbClr val="26303A"/>
                </a:solidFill>
              </a:rPr>
              <a:t>Dispositivos que reciben alimentación y  datos mediante un </a:t>
            </a:r>
            <a:r>
              <a:rPr lang="en-US" sz="1500">
                <a:solidFill>
                  <a:srgbClr val="26303A"/>
                </a:solidFill>
              </a:rPr>
              <a:t>único</a:t>
            </a:r>
            <a:r>
              <a:rPr lang="en-US" sz="1500">
                <a:solidFill>
                  <a:srgbClr val="26303A"/>
                </a:solidFill>
              </a:rPr>
              <a:t> cable Ethernet:</a:t>
            </a:r>
            <a:endParaRPr sz="1500">
              <a:solidFill>
                <a:srgbClr val="26303A"/>
              </a:solidFill>
            </a:endParaRPr>
          </a:p>
          <a:p>
            <a:pPr indent="0" lvl="0" marL="0" marR="0" rtl="0" algn="l">
              <a:lnSpc>
                <a:spcPct val="100000"/>
              </a:lnSpc>
              <a:spcBef>
                <a:spcPts val="0"/>
              </a:spcBef>
              <a:spcAft>
                <a:spcPts val="0"/>
              </a:spcAft>
              <a:buNone/>
            </a:pPr>
            <a:r>
              <a:t/>
            </a:r>
            <a:endParaRPr sz="1500">
              <a:solidFill>
                <a:srgbClr val="26303A"/>
              </a:solidFill>
            </a:endParaRPr>
          </a:p>
          <a:p>
            <a:pPr indent="0" lvl="0" marL="0" marR="0" rtl="0" algn="l">
              <a:lnSpc>
                <a:spcPct val="100000"/>
              </a:lnSpc>
              <a:spcBef>
                <a:spcPts val="0"/>
              </a:spcBef>
              <a:spcAft>
                <a:spcPts val="0"/>
              </a:spcAft>
              <a:buNone/>
            </a:pPr>
            <a:r>
              <a:rPr lang="en-US" sz="1500">
                <a:solidFill>
                  <a:srgbClr val="26303A"/>
                </a:solidFill>
              </a:rPr>
              <a:t>Access Point (</a:t>
            </a:r>
            <a:r>
              <a:rPr b="0" i="0" lang="en-US" sz="1500" u="none" cap="none" strike="noStrike">
                <a:solidFill>
                  <a:srgbClr val="26303A"/>
                </a:solidFill>
                <a:latin typeface="Arial"/>
                <a:ea typeface="Arial"/>
                <a:cs typeface="Arial"/>
                <a:sym typeface="Arial"/>
              </a:rPr>
              <a:t>AP)</a:t>
            </a:r>
            <a:endParaRPr b="0" i="0" sz="1500" u="none" cap="none" strike="noStrike">
              <a:solidFill>
                <a:srgbClr val="26303A"/>
              </a:solidFill>
              <a:latin typeface="Arial"/>
              <a:ea typeface="Arial"/>
              <a:cs typeface="Arial"/>
              <a:sym typeface="Arial"/>
            </a:endParaRPr>
          </a:p>
          <a:p>
            <a:pPr indent="0" lvl="0" marL="0" marR="0" rtl="0" algn="l">
              <a:lnSpc>
                <a:spcPct val="100000"/>
              </a:lnSpc>
              <a:spcBef>
                <a:spcPts val="0"/>
              </a:spcBef>
              <a:spcAft>
                <a:spcPts val="0"/>
              </a:spcAft>
              <a:buNone/>
            </a:pPr>
            <a:r>
              <a:rPr lang="en-US" sz="1500">
                <a:solidFill>
                  <a:srgbClr val="26303A"/>
                </a:solidFill>
              </a:rPr>
              <a:t>C</a:t>
            </a:r>
            <a:r>
              <a:rPr b="0" i="0" lang="en-US" sz="1500" u="none" cap="none" strike="noStrike">
                <a:solidFill>
                  <a:srgbClr val="26303A"/>
                </a:solidFill>
                <a:latin typeface="Arial"/>
                <a:ea typeface="Arial"/>
                <a:cs typeface="Arial"/>
                <a:sym typeface="Arial"/>
              </a:rPr>
              <a:t>ámara IP</a:t>
            </a:r>
            <a:endParaRPr sz="1500">
              <a:solidFill>
                <a:srgbClr val="26303A"/>
              </a:solidFill>
            </a:endParaRPr>
          </a:p>
          <a:p>
            <a:pPr indent="0" lvl="0" marL="0" marR="0" rtl="0" algn="l">
              <a:lnSpc>
                <a:spcPct val="100000"/>
              </a:lnSpc>
              <a:spcBef>
                <a:spcPts val="0"/>
              </a:spcBef>
              <a:spcAft>
                <a:spcPts val="0"/>
              </a:spcAft>
              <a:buNone/>
            </a:pPr>
            <a:r>
              <a:rPr lang="en-US" sz="1500">
                <a:solidFill>
                  <a:srgbClr val="26303A"/>
                </a:solidFill>
              </a:rPr>
              <a:t>T</a:t>
            </a:r>
            <a:r>
              <a:rPr b="0" i="0" lang="en-US" sz="1500" u="none" cap="none" strike="noStrike">
                <a:solidFill>
                  <a:srgbClr val="26303A"/>
                </a:solidFill>
                <a:latin typeface="Arial"/>
                <a:ea typeface="Arial"/>
                <a:cs typeface="Arial"/>
                <a:sym typeface="Arial"/>
              </a:rPr>
              <a:t>eléfono VoIP.</a:t>
            </a:r>
            <a:endParaRPr b="0" i="0" sz="1500" u="none" cap="none" strike="noStrike">
              <a:solidFill>
                <a:srgbClr val="26303A"/>
              </a:solidFill>
              <a:latin typeface="Arial"/>
              <a:ea typeface="Arial"/>
              <a:cs typeface="Arial"/>
              <a:sym typeface="Arial"/>
            </a:endParaRPr>
          </a:p>
          <a:p>
            <a:pPr indent="0" lvl="0" marL="0" marR="0" rtl="0" algn="l">
              <a:lnSpc>
                <a:spcPct val="100000"/>
              </a:lnSpc>
              <a:spcBef>
                <a:spcPts val="0"/>
              </a:spcBef>
              <a:spcAft>
                <a:spcPts val="0"/>
              </a:spcAft>
              <a:buNone/>
            </a:pPr>
            <a:r>
              <a:rPr lang="en-US" sz="1500">
                <a:solidFill>
                  <a:srgbClr val="26303A"/>
                </a:solidFill>
              </a:rPr>
              <a:t>Videoportero IP</a:t>
            </a:r>
            <a:endParaRPr sz="1500">
              <a:solidFill>
                <a:srgbClr val="26303A"/>
              </a:solidFill>
            </a:endParaRPr>
          </a:p>
        </p:txBody>
      </p:sp>
      <p:sp>
        <p:nvSpPr>
          <p:cNvPr id="840" name="Google Shape;840;p15"/>
          <p:cNvSpPr/>
          <p:nvPr/>
        </p:nvSpPr>
        <p:spPr>
          <a:xfrm>
            <a:off x="6204250" y="1554474"/>
            <a:ext cx="5408400" cy="2622300"/>
          </a:xfrm>
          <a:prstGeom prst="roundRect">
            <a:avLst>
              <a:gd fmla="val 16667" name="adj"/>
            </a:avLst>
          </a:prstGeom>
          <a:solidFill>
            <a:srgbClr val="EBF5EB"/>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15"/>
          <p:cNvSpPr/>
          <p:nvPr/>
        </p:nvSpPr>
        <p:spPr>
          <a:xfrm>
            <a:off x="6359760" y="1654918"/>
            <a:ext cx="5097600" cy="3954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1" i="0" lang="en-US" sz="2000" u="none" cap="none" strike="noStrike">
                <a:solidFill>
                  <a:srgbClr val="12496F"/>
                </a:solidFill>
                <a:latin typeface="Arial"/>
                <a:ea typeface="Arial"/>
                <a:cs typeface="Arial"/>
                <a:sym typeface="Arial"/>
              </a:rPr>
              <a:t>PSE y PD</a:t>
            </a:r>
            <a:endParaRPr b="0" i="0" sz="2000" u="none" cap="none" strike="noStrike">
              <a:latin typeface="Arial"/>
              <a:ea typeface="Arial"/>
              <a:cs typeface="Arial"/>
              <a:sym typeface="Arial"/>
            </a:endParaRPr>
          </a:p>
        </p:txBody>
      </p:sp>
      <p:sp>
        <p:nvSpPr>
          <p:cNvPr id="842" name="Google Shape;842;p15"/>
          <p:cNvSpPr/>
          <p:nvPr/>
        </p:nvSpPr>
        <p:spPr>
          <a:xfrm>
            <a:off x="6359875" y="2243613"/>
            <a:ext cx="5097600" cy="13722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lang="en-US" sz="1500">
                <a:solidFill>
                  <a:srgbClr val="26303A"/>
                </a:solidFill>
              </a:rPr>
              <a:t>PSE (Power Sourcing Equipment): Equipo que suministra energía PoE(por ejemplo, un switch PoE).</a:t>
            </a:r>
            <a:endParaRPr sz="1500">
              <a:solidFill>
                <a:srgbClr val="26303A"/>
              </a:solidFill>
            </a:endParaRPr>
          </a:p>
          <a:p>
            <a:pPr indent="0" lvl="0" marL="0" marR="0" rtl="0" algn="l">
              <a:lnSpc>
                <a:spcPct val="100000"/>
              </a:lnSpc>
              <a:spcBef>
                <a:spcPts val="0"/>
              </a:spcBef>
              <a:spcAft>
                <a:spcPts val="0"/>
              </a:spcAft>
              <a:buNone/>
            </a:pPr>
            <a:r>
              <a:t/>
            </a:r>
            <a:endParaRPr sz="1500">
              <a:solidFill>
                <a:srgbClr val="26303A"/>
              </a:solidFill>
            </a:endParaRPr>
          </a:p>
          <a:p>
            <a:pPr indent="0" lvl="0" marL="0" marR="0" rtl="0" algn="l">
              <a:lnSpc>
                <a:spcPct val="100000"/>
              </a:lnSpc>
              <a:spcBef>
                <a:spcPts val="0"/>
              </a:spcBef>
              <a:spcAft>
                <a:spcPts val="0"/>
              </a:spcAft>
              <a:buNone/>
            </a:pPr>
            <a:r>
              <a:rPr lang="en-US" sz="1500">
                <a:solidFill>
                  <a:srgbClr val="26303A"/>
                </a:solidFill>
              </a:rPr>
              <a:t>PD (Powered Device): Equipo que recibe la energía PoE(por ejemplo, una cámara IP o un punto de acceso).</a:t>
            </a:r>
            <a:endParaRPr sz="1500">
              <a:solidFill>
                <a:srgbClr val="26303A"/>
              </a:solidFill>
            </a:endParaRPr>
          </a:p>
        </p:txBody>
      </p:sp>
      <p:sp>
        <p:nvSpPr>
          <p:cNvPr id="843" name="Google Shape;843;p15"/>
          <p:cNvSpPr/>
          <p:nvPr/>
        </p:nvSpPr>
        <p:spPr>
          <a:xfrm>
            <a:off x="100335" y="4606985"/>
            <a:ext cx="5408400" cy="2048100"/>
          </a:xfrm>
          <a:prstGeom prst="roundRect">
            <a:avLst>
              <a:gd fmla="val 16667" name="adj"/>
            </a:avLst>
          </a:prstGeom>
          <a:solidFill>
            <a:srgbClr val="FFF2E0"/>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15"/>
          <p:cNvSpPr/>
          <p:nvPr/>
        </p:nvSpPr>
        <p:spPr>
          <a:xfrm>
            <a:off x="255855" y="4707425"/>
            <a:ext cx="5097600" cy="3954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1" i="0" lang="en-US" sz="2000" u="none" cap="none" strike="noStrike">
                <a:solidFill>
                  <a:srgbClr val="12496F"/>
                </a:solidFill>
                <a:latin typeface="Arial"/>
                <a:ea typeface="Arial"/>
                <a:cs typeface="Arial"/>
                <a:sym typeface="Arial"/>
              </a:rPr>
              <a:t>Comproba</a:t>
            </a:r>
            <a:r>
              <a:rPr b="1" lang="en-US" sz="2000">
                <a:solidFill>
                  <a:srgbClr val="12496F"/>
                </a:solidFill>
              </a:rPr>
              <a:t>ción</a:t>
            </a:r>
            <a:endParaRPr b="0" i="0" sz="2000" u="none" cap="none" strike="noStrike">
              <a:latin typeface="Arial"/>
              <a:ea typeface="Arial"/>
              <a:cs typeface="Arial"/>
              <a:sym typeface="Arial"/>
            </a:endParaRPr>
          </a:p>
        </p:txBody>
      </p:sp>
      <p:sp>
        <p:nvSpPr>
          <p:cNvPr id="845" name="Google Shape;845;p15"/>
          <p:cNvSpPr/>
          <p:nvPr/>
        </p:nvSpPr>
        <p:spPr>
          <a:xfrm>
            <a:off x="255850" y="5201352"/>
            <a:ext cx="5097600" cy="1372200"/>
          </a:xfrm>
          <a:prstGeom prst="rect">
            <a:avLst/>
          </a:prstGeom>
          <a:noFill/>
          <a:ln>
            <a:noFill/>
          </a:ln>
        </p:spPr>
        <p:txBody>
          <a:bodyPr anchorCtr="0" anchor="t" bIns="45000" lIns="36700" spcFirstLastPara="1" rIns="36700" wrap="square" tIns="45000">
            <a:spAutoFit/>
          </a:bodyPr>
          <a:lstStyle/>
          <a:p>
            <a:pPr indent="-336550" lvl="0" marL="457200" marR="0" rtl="0" algn="l">
              <a:lnSpc>
                <a:spcPct val="100000"/>
              </a:lnSpc>
              <a:spcBef>
                <a:spcPts val="0"/>
              </a:spcBef>
              <a:spcAft>
                <a:spcPts val="0"/>
              </a:spcAft>
              <a:buSzPts val="1700"/>
              <a:buFont typeface="Arial"/>
              <a:buChar char="-"/>
            </a:pPr>
            <a:r>
              <a:rPr lang="en-US" sz="1700">
                <a:solidFill>
                  <a:srgbClr val="26303A"/>
                </a:solidFill>
              </a:rPr>
              <a:t>Verificar que el enlace de red funciona correctamente</a:t>
            </a:r>
            <a:endParaRPr sz="1700">
              <a:solidFill>
                <a:srgbClr val="26303A"/>
              </a:solidFill>
            </a:endParaRPr>
          </a:p>
          <a:p>
            <a:pPr indent="-336550" lvl="0" marL="457200" marR="0" rtl="0" algn="l">
              <a:lnSpc>
                <a:spcPct val="100000"/>
              </a:lnSpc>
              <a:spcBef>
                <a:spcPts val="0"/>
              </a:spcBef>
              <a:spcAft>
                <a:spcPts val="0"/>
              </a:spcAft>
              <a:buClr>
                <a:srgbClr val="26303A"/>
              </a:buClr>
              <a:buSzPts val="1700"/>
              <a:buChar char="-"/>
            </a:pPr>
            <a:r>
              <a:rPr lang="en-US" sz="1700">
                <a:solidFill>
                  <a:srgbClr val="26303A"/>
                </a:solidFill>
              </a:rPr>
              <a:t>Comprobar que el equipo recibe alimentación</a:t>
            </a:r>
            <a:endParaRPr sz="1700">
              <a:solidFill>
                <a:srgbClr val="26303A"/>
              </a:solidFill>
            </a:endParaRPr>
          </a:p>
          <a:p>
            <a:pPr indent="-336550" lvl="0" marL="457200" marR="0" rtl="0" algn="l">
              <a:lnSpc>
                <a:spcPct val="100000"/>
              </a:lnSpc>
              <a:spcBef>
                <a:spcPts val="0"/>
              </a:spcBef>
              <a:spcAft>
                <a:spcPts val="0"/>
              </a:spcAft>
              <a:buClr>
                <a:srgbClr val="26303A"/>
              </a:buClr>
              <a:buSzPts val="1700"/>
              <a:buChar char="-"/>
            </a:pPr>
            <a:r>
              <a:rPr lang="en-US" sz="1700">
                <a:solidFill>
                  <a:srgbClr val="26303A"/>
                </a:solidFill>
              </a:rPr>
              <a:t>Confirmar la compatibilidad entre PSE y PD</a:t>
            </a:r>
            <a:endParaRPr sz="1700">
              <a:solidFill>
                <a:srgbClr val="26303A"/>
              </a:solidFill>
            </a:endParaRPr>
          </a:p>
        </p:txBody>
      </p:sp>
      <p:sp>
        <p:nvSpPr>
          <p:cNvPr id="846" name="Google Shape;846;p15"/>
          <p:cNvSpPr/>
          <p:nvPr/>
        </p:nvSpPr>
        <p:spPr>
          <a:xfrm>
            <a:off x="6204352" y="4606985"/>
            <a:ext cx="5408400" cy="2048100"/>
          </a:xfrm>
          <a:prstGeom prst="roundRect">
            <a:avLst>
              <a:gd fmla="val 16667" name="adj"/>
            </a:avLst>
          </a:prstGeom>
          <a:solidFill>
            <a:srgbClr val="F3ECF9"/>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15"/>
          <p:cNvSpPr/>
          <p:nvPr/>
        </p:nvSpPr>
        <p:spPr>
          <a:xfrm>
            <a:off x="6359873" y="4707425"/>
            <a:ext cx="5097600" cy="3954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1" i="0" lang="en-US" sz="2000" u="none" cap="none" strike="noStrike">
                <a:solidFill>
                  <a:srgbClr val="12496F"/>
                </a:solidFill>
                <a:latin typeface="Arial"/>
                <a:ea typeface="Arial"/>
                <a:cs typeface="Arial"/>
                <a:sym typeface="Arial"/>
              </a:rPr>
              <a:t>Precaución</a:t>
            </a:r>
            <a:endParaRPr b="0" i="0" sz="2000" u="none" cap="none" strike="noStrike">
              <a:latin typeface="Arial"/>
              <a:ea typeface="Arial"/>
              <a:cs typeface="Arial"/>
              <a:sym typeface="Arial"/>
            </a:endParaRPr>
          </a:p>
        </p:txBody>
      </p:sp>
      <p:sp>
        <p:nvSpPr>
          <p:cNvPr id="848" name="Google Shape;848;p15"/>
          <p:cNvSpPr/>
          <p:nvPr/>
        </p:nvSpPr>
        <p:spPr>
          <a:xfrm>
            <a:off x="6359873" y="5201345"/>
            <a:ext cx="5097600" cy="10050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lang="en-US" sz="2000">
                <a:solidFill>
                  <a:srgbClr val="26303A"/>
                </a:solidFill>
              </a:rPr>
              <a:t>Utilizar dispositivos y estándares PoE compatibles para evitar fallos o daños en los equipos.</a:t>
            </a:r>
            <a:endParaRPr b="0" i="0" sz="2000" u="none" cap="none" strike="noStrike">
              <a:latin typeface="Arial"/>
              <a:ea typeface="Arial"/>
              <a:cs typeface="Arial"/>
              <a:sym typeface="Arial"/>
            </a:endParaRPr>
          </a:p>
        </p:txBody>
      </p:sp>
      <p:sp>
        <p:nvSpPr>
          <p:cNvPr id="849" name="Google Shape;849;p15"/>
          <p:cNvSpPr/>
          <p:nvPr/>
        </p:nvSpPr>
        <p:spPr>
          <a:xfrm>
            <a:off x="823025" y="631018"/>
            <a:ext cx="10789500" cy="795300"/>
          </a:xfrm>
          <a:prstGeom prst="rect">
            <a:avLst/>
          </a:prstGeom>
          <a:noFill/>
          <a:ln>
            <a:noFill/>
          </a:ln>
        </p:spPr>
        <p:txBody>
          <a:bodyPr anchorCtr="0" anchor="t" bIns="45000" lIns="36700" spcFirstLastPara="1" rIns="36700" wrap="square" tIns="45000">
            <a:spAutoFit/>
          </a:bodyPr>
          <a:lstStyle/>
          <a:p>
            <a:pPr indent="0" lvl="0" marL="0" marR="0" rtl="0" algn="ctr">
              <a:lnSpc>
                <a:spcPct val="100000"/>
              </a:lnSpc>
              <a:spcBef>
                <a:spcPts val="0"/>
              </a:spcBef>
              <a:spcAft>
                <a:spcPts val="0"/>
              </a:spcAft>
              <a:buNone/>
            </a:pPr>
            <a:r>
              <a:rPr b="0" i="0" lang="en-US" sz="2300" u="none" cap="none" strike="noStrike">
                <a:solidFill>
                  <a:srgbClr val="12496F"/>
                </a:solidFill>
                <a:latin typeface="Arial"/>
                <a:ea typeface="Arial"/>
                <a:cs typeface="Arial"/>
                <a:sym typeface="Arial"/>
              </a:rPr>
              <a:t>PoE (Power over Ethernet): tecnología que permite transmitir datos y alimentación eléctrica a través de un único cable Ethernet.</a:t>
            </a:r>
            <a:endParaRPr b="0" i="0" sz="2300" u="none" cap="none" strike="noStrike">
              <a:latin typeface="Arial"/>
              <a:ea typeface="Arial"/>
              <a:cs typeface="Arial"/>
              <a:sym typeface="Arial"/>
            </a:endParaRPr>
          </a:p>
        </p:txBody>
      </p:sp>
      <p:pic>
        <p:nvPicPr>
          <p:cNvPr descr="Understanding PoE Switch Types and Their Applications" id="850" name="Google Shape;850;p15"/>
          <p:cNvPicPr preferRelativeResize="0"/>
          <p:nvPr/>
        </p:nvPicPr>
        <p:blipFill>
          <a:blip r:embed="rId3">
            <a:alphaModFix/>
          </a:blip>
          <a:stretch>
            <a:fillRect/>
          </a:stretch>
        </p:blipFill>
        <p:spPr>
          <a:xfrm>
            <a:off x="2656500" y="2681950"/>
            <a:ext cx="3547748" cy="23726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16"/>
          <p:cNvSpPr/>
          <p:nvPr/>
        </p:nvSpPr>
        <p:spPr>
          <a:xfrm>
            <a:off x="0" y="0"/>
            <a:ext cx="12191400" cy="658080"/>
          </a:xfrm>
          <a:prstGeom prst="rect">
            <a:avLst/>
          </a:prstGeom>
          <a:solidFill>
            <a:srgbClr val="12496F"/>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16"/>
          <p:cNvSpPr/>
          <p:nvPr/>
        </p:nvSpPr>
        <p:spPr>
          <a:xfrm>
            <a:off x="567000" y="82440"/>
            <a:ext cx="10972440" cy="45612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1" i="0" lang="en-US" sz="2400" u="none" cap="none" strike="noStrike">
                <a:solidFill>
                  <a:srgbClr val="FFFFFF"/>
                </a:solidFill>
                <a:latin typeface="Arial"/>
                <a:ea typeface="Arial"/>
                <a:cs typeface="Arial"/>
                <a:sym typeface="Arial"/>
              </a:rPr>
              <a:t>15 · Ejemplo: </a:t>
            </a:r>
            <a:r>
              <a:rPr b="1" lang="en-US" sz="2400">
                <a:solidFill>
                  <a:srgbClr val="FFFFFF"/>
                </a:solidFill>
              </a:rPr>
              <a:t>R</a:t>
            </a:r>
            <a:r>
              <a:rPr b="1" i="0" lang="en-US" sz="2400" u="none" cap="none" strike="noStrike">
                <a:solidFill>
                  <a:srgbClr val="FFFFFF"/>
                </a:solidFill>
                <a:latin typeface="Arial"/>
                <a:ea typeface="Arial"/>
                <a:cs typeface="Arial"/>
                <a:sym typeface="Arial"/>
              </a:rPr>
              <a:t>ed de un aula con Wi-Fi</a:t>
            </a:r>
            <a:r>
              <a:rPr b="1" lang="en-US" sz="2400">
                <a:solidFill>
                  <a:srgbClr val="FFFFFF"/>
                </a:solidFill>
              </a:rPr>
              <a:t>: </a:t>
            </a:r>
            <a:r>
              <a:rPr b="1" i="0" lang="en-US" sz="2400" u="none" cap="none" strike="noStrike">
                <a:solidFill>
                  <a:srgbClr val="FFFFFF"/>
                </a:solidFill>
                <a:latin typeface="Arial"/>
                <a:ea typeface="Arial"/>
                <a:cs typeface="Arial"/>
                <a:sym typeface="Arial"/>
              </a:rPr>
              <a:t>Andrés Mesa</a:t>
            </a:r>
            <a:endParaRPr b="0" i="0" sz="2400" u="none" cap="none" strike="noStrike">
              <a:latin typeface="Arial"/>
              <a:ea typeface="Arial"/>
              <a:cs typeface="Arial"/>
              <a:sym typeface="Arial"/>
            </a:endParaRPr>
          </a:p>
        </p:txBody>
      </p:sp>
      <p:sp>
        <p:nvSpPr>
          <p:cNvPr id="857" name="Google Shape;857;p16"/>
          <p:cNvSpPr/>
          <p:nvPr/>
        </p:nvSpPr>
        <p:spPr>
          <a:xfrm>
            <a:off x="713150" y="813944"/>
            <a:ext cx="10789500" cy="658200"/>
          </a:xfrm>
          <a:prstGeom prst="rect">
            <a:avLst/>
          </a:prstGeom>
          <a:noFill/>
          <a:ln cap="flat" cmpd="sng" w="9525">
            <a:solidFill>
              <a:srgbClr val="000000"/>
            </a:solidFill>
            <a:prstDash val="solid"/>
            <a:round/>
            <a:headEnd len="sm" w="sm" type="none"/>
            <a:tailEnd len="sm" w="sm" type="none"/>
          </a:ln>
        </p:spPr>
        <p:txBody>
          <a:bodyPr anchorCtr="0" anchor="t" bIns="45000" lIns="36700" spcFirstLastPara="1" rIns="36700" wrap="square" tIns="45000">
            <a:spAutoFit/>
          </a:bodyPr>
          <a:lstStyle/>
          <a:p>
            <a:pPr indent="0" lvl="0" marL="0" marR="0" rtl="0" algn="ctr">
              <a:lnSpc>
                <a:spcPct val="100000"/>
              </a:lnSpc>
              <a:spcBef>
                <a:spcPts val="0"/>
              </a:spcBef>
              <a:spcAft>
                <a:spcPts val="0"/>
              </a:spcAft>
              <a:buNone/>
            </a:pPr>
            <a:r>
              <a:rPr lang="en-US" sz="2000">
                <a:solidFill>
                  <a:srgbClr val="12496F"/>
                </a:solidFill>
              </a:rPr>
              <a:t>Ejemplo de infraestructura real para un aula con ordenadores, dispositivos móviles y acceso a internet.</a:t>
            </a:r>
            <a:endParaRPr b="0" i="0" sz="2000" u="none" cap="none" strike="noStrike">
              <a:latin typeface="Arial"/>
              <a:ea typeface="Arial"/>
              <a:cs typeface="Arial"/>
              <a:sym typeface="Arial"/>
            </a:endParaRPr>
          </a:p>
        </p:txBody>
      </p:sp>
      <p:sp>
        <p:nvSpPr>
          <p:cNvPr id="858" name="Google Shape;858;p16"/>
          <p:cNvSpPr/>
          <p:nvPr/>
        </p:nvSpPr>
        <p:spPr>
          <a:xfrm>
            <a:off x="713150" y="6190542"/>
            <a:ext cx="10789500" cy="658200"/>
          </a:xfrm>
          <a:prstGeom prst="rect">
            <a:avLst/>
          </a:prstGeom>
          <a:noFill/>
          <a:ln>
            <a:noFill/>
          </a:ln>
        </p:spPr>
        <p:txBody>
          <a:bodyPr anchorCtr="0" anchor="t" bIns="45000" lIns="36700" spcFirstLastPara="1" rIns="36700" wrap="square" tIns="45000">
            <a:spAutoFit/>
          </a:bodyPr>
          <a:lstStyle/>
          <a:p>
            <a:pPr indent="0" lvl="0" marL="0" marR="0" rtl="0" algn="ctr">
              <a:lnSpc>
                <a:spcPct val="100000"/>
              </a:lnSpc>
              <a:spcBef>
                <a:spcPts val="0"/>
              </a:spcBef>
              <a:spcAft>
                <a:spcPts val="0"/>
              </a:spcAft>
              <a:buNone/>
            </a:pPr>
            <a:r>
              <a:rPr lang="en-US" sz="2000">
                <a:solidFill>
                  <a:srgbClr val="687078"/>
                </a:solidFill>
              </a:rPr>
              <a:t>En la práctica real los equipos se unen por cable al Switch para dar estabilidad, el AP añade Wi-Fi para móviles, y el Router conecta toda la sala a Internet.</a:t>
            </a:r>
            <a:endParaRPr b="0" i="0" sz="2000" u="none" cap="none" strike="noStrike">
              <a:latin typeface="Arial"/>
              <a:ea typeface="Arial"/>
              <a:cs typeface="Arial"/>
              <a:sym typeface="Arial"/>
            </a:endParaRPr>
          </a:p>
        </p:txBody>
      </p:sp>
      <p:cxnSp>
        <p:nvCxnSpPr>
          <p:cNvPr id="859" name="Google Shape;859;p16"/>
          <p:cNvCxnSpPr/>
          <p:nvPr/>
        </p:nvCxnSpPr>
        <p:spPr>
          <a:xfrm>
            <a:off x="2258660" y="2672535"/>
            <a:ext cx="2606100" cy="300"/>
          </a:xfrm>
          <a:prstGeom prst="straightConnector1">
            <a:avLst/>
          </a:prstGeom>
          <a:noFill/>
          <a:ln cap="flat" cmpd="sng" w="38100">
            <a:solidFill>
              <a:srgbClr val="2070B5"/>
            </a:solidFill>
            <a:prstDash val="solid"/>
            <a:round/>
            <a:headEnd len="sm" w="sm" type="none"/>
            <a:tailEnd len="sm" w="sm" type="none"/>
          </a:ln>
          <a:effectLst>
            <a:outerShdw blurRad="40000" rotWithShape="0" dir="5400000" dist="20000">
              <a:srgbClr val="000000">
                <a:alpha val="38039"/>
              </a:srgbClr>
            </a:outerShdw>
          </a:effectLst>
        </p:spPr>
      </p:cxnSp>
      <p:cxnSp>
        <p:nvCxnSpPr>
          <p:cNvPr id="860" name="Google Shape;860;p16"/>
          <p:cNvCxnSpPr/>
          <p:nvPr/>
        </p:nvCxnSpPr>
        <p:spPr>
          <a:xfrm>
            <a:off x="4864700" y="2672535"/>
            <a:ext cx="2651700" cy="300"/>
          </a:xfrm>
          <a:prstGeom prst="straightConnector1">
            <a:avLst/>
          </a:prstGeom>
          <a:noFill/>
          <a:ln cap="flat" cmpd="sng" w="38100">
            <a:solidFill>
              <a:srgbClr val="2070B5"/>
            </a:solidFill>
            <a:prstDash val="solid"/>
            <a:round/>
            <a:headEnd len="sm" w="sm" type="none"/>
            <a:tailEnd len="sm" w="sm" type="none"/>
          </a:ln>
          <a:effectLst>
            <a:outerShdw blurRad="40000" rotWithShape="0" dir="5400000" dist="20000">
              <a:srgbClr val="000000">
                <a:alpha val="38039"/>
              </a:srgbClr>
            </a:outerShdw>
          </a:effectLst>
        </p:spPr>
      </p:cxnSp>
      <p:cxnSp>
        <p:nvCxnSpPr>
          <p:cNvPr id="861" name="Google Shape;861;p16"/>
          <p:cNvCxnSpPr/>
          <p:nvPr/>
        </p:nvCxnSpPr>
        <p:spPr>
          <a:xfrm>
            <a:off x="7865710" y="2672535"/>
            <a:ext cx="2834700" cy="300"/>
          </a:xfrm>
          <a:prstGeom prst="straightConnector1">
            <a:avLst/>
          </a:prstGeom>
          <a:noFill/>
          <a:ln cap="flat" cmpd="sng" w="38100">
            <a:solidFill>
              <a:srgbClr val="2070B5"/>
            </a:solidFill>
            <a:prstDash val="solid"/>
            <a:round/>
            <a:headEnd len="sm" w="sm" type="none"/>
            <a:tailEnd len="sm" w="sm" type="none"/>
          </a:ln>
          <a:effectLst>
            <a:outerShdw blurRad="40000" rotWithShape="0" dir="5400000" dist="20000">
              <a:srgbClr val="000000">
                <a:alpha val="38039"/>
              </a:srgbClr>
            </a:outerShdw>
          </a:effectLst>
        </p:spPr>
      </p:cxnSp>
      <p:cxnSp>
        <p:nvCxnSpPr>
          <p:cNvPr id="862" name="Google Shape;862;p16"/>
          <p:cNvCxnSpPr/>
          <p:nvPr/>
        </p:nvCxnSpPr>
        <p:spPr>
          <a:xfrm>
            <a:off x="4864700" y="2672535"/>
            <a:ext cx="300" cy="2011800"/>
          </a:xfrm>
          <a:prstGeom prst="straightConnector1">
            <a:avLst/>
          </a:prstGeom>
          <a:noFill/>
          <a:ln cap="flat" cmpd="sng" w="38100">
            <a:solidFill>
              <a:srgbClr val="2070B5"/>
            </a:solidFill>
            <a:prstDash val="solid"/>
            <a:round/>
            <a:headEnd len="sm" w="sm" type="none"/>
            <a:tailEnd len="sm" w="sm" type="none"/>
          </a:ln>
          <a:effectLst>
            <a:outerShdw blurRad="40000" rotWithShape="0" dir="5400000" dist="20000">
              <a:srgbClr val="000000">
                <a:alpha val="38039"/>
              </a:srgbClr>
            </a:outerShdw>
          </a:effectLst>
        </p:spPr>
      </p:cxnSp>
      <p:sp>
        <p:nvSpPr>
          <p:cNvPr id="863" name="Google Shape;863;p16"/>
          <p:cNvSpPr/>
          <p:nvPr/>
        </p:nvSpPr>
        <p:spPr>
          <a:xfrm>
            <a:off x="383775" y="1899799"/>
            <a:ext cx="2834700" cy="2440500"/>
          </a:xfrm>
          <a:prstGeom prst="roundRect">
            <a:avLst>
              <a:gd fmla="val 16667" name="adj"/>
            </a:avLst>
          </a:prstGeom>
          <a:solidFill>
            <a:srgbClr val="EBF5EB"/>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16"/>
          <p:cNvSpPr/>
          <p:nvPr/>
        </p:nvSpPr>
        <p:spPr>
          <a:xfrm>
            <a:off x="338350" y="2174875"/>
            <a:ext cx="2970600" cy="995700"/>
          </a:xfrm>
          <a:prstGeom prst="rect">
            <a:avLst/>
          </a:prstGeom>
          <a:noFill/>
          <a:ln>
            <a:noFill/>
          </a:ln>
        </p:spPr>
        <p:txBody>
          <a:bodyPr anchorCtr="0" anchor="t" bIns="45000" lIns="36700" spcFirstLastPara="1" rIns="36700" wrap="square" tIns="45000">
            <a:spAutoFit/>
          </a:bodyPr>
          <a:lstStyle/>
          <a:p>
            <a:pPr indent="0" lvl="0" marL="0" marR="0" rtl="0" algn="ctr">
              <a:lnSpc>
                <a:spcPct val="100000"/>
              </a:lnSpc>
              <a:spcBef>
                <a:spcPts val="0"/>
              </a:spcBef>
              <a:spcAft>
                <a:spcPts val="0"/>
              </a:spcAft>
              <a:buNone/>
            </a:pPr>
            <a:r>
              <a:rPr b="1" lang="en-US" sz="2000">
                <a:solidFill>
                  <a:srgbClr val="12496F"/>
                </a:solidFill>
              </a:rPr>
              <a:t>Equipos del aula.</a:t>
            </a:r>
            <a:endParaRPr b="0" i="0" sz="2000" u="none" cap="none" strike="noStrike">
              <a:latin typeface="Arial"/>
              <a:ea typeface="Arial"/>
              <a:cs typeface="Arial"/>
              <a:sym typeface="Arial"/>
            </a:endParaRPr>
          </a:p>
        </p:txBody>
      </p:sp>
      <p:sp>
        <p:nvSpPr>
          <p:cNvPr id="865" name="Google Shape;865;p16"/>
          <p:cNvSpPr/>
          <p:nvPr/>
        </p:nvSpPr>
        <p:spPr>
          <a:xfrm>
            <a:off x="473575" y="2662100"/>
            <a:ext cx="2744700" cy="1404900"/>
          </a:xfrm>
          <a:prstGeom prst="rect">
            <a:avLst/>
          </a:prstGeom>
          <a:noFill/>
          <a:ln>
            <a:noFill/>
          </a:ln>
        </p:spPr>
        <p:txBody>
          <a:bodyPr anchorCtr="0" anchor="t" bIns="45000" lIns="36700" spcFirstLastPara="1" rIns="36700" wrap="square" tIns="45000">
            <a:spAutoFit/>
          </a:bodyPr>
          <a:lstStyle/>
          <a:p>
            <a:pPr indent="-336550" lvl="0" marL="457200" marR="0" rtl="0" algn="l">
              <a:lnSpc>
                <a:spcPct val="100000"/>
              </a:lnSpc>
              <a:spcBef>
                <a:spcPts val="0"/>
              </a:spcBef>
              <a:spcAft>
                <a:spcPts val="0"/>
              </a:spcAft>
              <a:buClr>
                <a:srgbClr val="26303A"/>
              </a:buClr>
              <a:buSzPts val="1700"/>
              <a:buChar char="●"/>
            </a:pPr>
            <a:r>
              <a:rPr lang="en-US" sz="1700">
                <a:solidFill>
                  <a:srgbClr val="26303A"/>
                </a:solidFill>
              </a:rPr>
              <a:t>20 PCs Alumnos</a:t>
            </a:r>
            <a:endParaRPr sz="1700">
              <a:solidFill>
                <a:srgbClr val="26303A"/>
              </a:solidFill>
            </a:endParaRPr>
          </a:p>
          <a:p>
            <a:pPr indent="-336550" lvl="0" marL="457200" marR="0" rtl="0" algn="l">
              <a:lnSpc>
                <a:spcPct val="100000"/>
              </a:lnSpc>
              <a:spcBef>
                <a:spcPts val="0"/>
              </a:spcBef>
              <a:spcAft>
                <a:spcPts val="0"/>
              </a:spcAft>
              <a:buClr>
                <a:srgbClr val="26303A"/>
              </a:buClr>
              <a:buSzPts val="1700"/>
              <a:buChar char="●"/>
            </a:pPr>
            <a:r>
              <a:rPr lang="en-US" sz="1700">
                <a:solidFill>
                  <a:srgbClr val="26303A"/>
                </a:solidFill>
              </a:rPr>
              <a:t>1 PC Profesor</a:t>
            </a:r>
            <a:endParaRPr sz="1700">
              <a:solidFill>
                <a:srgbClr val="26303A"/>
              </a:solidFill>
            </a:endParaRPr>
          </a:p>
          <a:p>
            <a:pPr indent="-336550" lvl="0" marL="457200" marR="0" rtl="0" algn="l">
              <a:lnSpc>
                <a:spcPct val="100000"/>
              </a:lnSpc>
              <a:spcBef>
                <a:spcPts val="0"/>
              </a:spcBef>
              <a:spcAft>
                <a:spcPts val="0"/>
              </a:spcAft>
              <a:buClr>
                <a:srgbClr val="26303A"/>
              </a:buClr>
              <a:buSzPts val="1700"/>
              <a:buChar char="●"/>
            </a:pPr>
            <a:r>
              <a:rPr lang="en-US" sz="1700">
                <a:solidFill>
                  <a:srgbClr val="26303A"/>
                </a:solidFill>
              </a:rPr>
              <a:t>1 Servidor</a:t>
            </a:r>
            <a:endParaRPr sz="1700">
              <a:solidFill>
                <a:srgbClr val="26303A"/>
              </a:solidFill>
            </a:endParaRPr>
          </a:p>
          <a:p>
            <a:pPr indent="-336550" lvl="0" marL="457200" marR="0" rtl="0" algn="l">
              <a:lnSpc>
                <a:spcPct val="100000"/>
              </a:lnSpc>
              <a:spcBef>
                <a:spcPts val="0"/>
              </a:spcBef>
              <a:spcAft>
                <a:spcPts val="0"/>
              </a:spcAft>
              <a:buClr>
                <a:srgbClr val="26303A"/>
              </a:buClr>
              <a:buSzPts val="1700"/>
              <a:buChar char="●"/>
            </a:pPr>
            <a:r>
              <a:rPr lang="en-US" sz="1700">
                <a:solidFill>
                  <a:srgbClr val="26303A"/>
                </a:solidFill>
              </a:rPr>
              <a:t>1 Impresora de red</a:t>
            </a:r>
            <a:endParaRPr sz="1700">
              <a:solidFill>
                <a:srgbClr val="26303A"/>
              </a:solidFill>
            </a:endParaRPr>
          </a:p>
          <a:p>
            <a:pPr indent="-336550" lvl="0" marL="457200" marR="0" rtl="0" algn="l">
              <a:lnSpc>
                <a:spcPct val="100000"/>
              </a:lnSpc>
              <a:spcBef>
                <a:spcPts val="0"/>
              </a:spcBef>
              <a:spcAft>
                <a:spcPts val="0"/>
              </a:spcAft>
              <a:buClr>
                <a:srgbClr val="26303A"/>
              </a:buClr>
              <a:buSzPts val="1700"/>
              <a:buChar char="●"/>
            </a:pPr>
            <a:r>
              <a:rPr lang="en-US" sz="1700">
                <a:solidFill>
                  <a:srgbClr val="26303A"/>
                </a:solidFill>
              </a:rPr>
              <a:t>Cables RJ45</a:t>
            </a:r>
            <a:endParaRPr sz="1700">
              <a:solidFill>
                <a:srgbClr val="26303A"/>
              </a:solidFill>
            </a:endParaRPr>
          </a:p>
        </p:txBody>
      </p:sp>
      <p:sp>
        <p:nvSpPr>
          <p:cNvPr id="866" name="Google Shape;866;p16"/>
          <p:cNvSpPr/>
          <p:nvPr/>
        </p:nvSpPr>
        <p:spPr>
          <a:xfrm>
            <a:off x="3506000" y="2055500"/>
            <a:ext cx="2606100" cy="1737000"/>
          </a:xfrm>
          <a:prstGeom prst="roundRect">
            <a:avLst>
              <a:gd fmla="val 16667" name="adj"/>
            </a:avLst>
          </a:prstGeom>
          <a:solidFill>
            <a:srgbClr val="E7F1F9"/>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16"/>
          <p:cNvSpPr/>
          <p:nvPr/>
        </p:nvSpPr>
        <p:spPr>
          <a:xfrm>
            <a:off x="3950300" y="2137935"/>
            <a:ext cx="1828500" cy="395400"/>
          </a:xfrm>
          <a:prstGeom prst="rect">
            <a:avLst/>
          </a:prstGeom>
          <a:noFill/>
          <a:ln>
            <a:noFill/>
          </a:ln>
        </p:spPr>
        <p:txBody>
          <a:bodyPr anchorCtr="0" anchor="t" bIns="45000" lIns="36700" spcFirstLastPara="1" rIns="36700" wrap="square" tIns="45000">
            <a:spAutoFit/>
          </a:bodyPr>
          <a:lstStyle/>
          <a:p>
            <a:pPr indent="0" lvl="0" marL="0" marR="0" rtl="0" algn="ctr">
              <a:lnSpc>
                <a:spcPct val="100000"/>
              </a:lnSpc>
              <a:spcBef>
                <a:spcPts val="0"/>
              </a:spcBef>
              <a:spcAft>
                <a:spcPts val="0"/>
              </a:spcAft>
              <a:buNone/>
            </a:pPr>
            <a:r>
              <a:rPr b="1" i="0" lang="en-US" sz="2000" u="none" cap="none" strike="noStrike">
                <a:solidFill>
                  <a:srgbClr val="12496F"/>
                </a:solidFill>
                <a:latin typeface="Arial"/>
                <a:ea typeface="Arial"/>
                <a:cs typeface="Arial"/>
                <a:sym typeface="Arial"/>
              </a:rPr>
              <a:t>SWITCH</a:t>
            </a:r>
            <a:endParaRPr b="0" i="0" sz="2000" u="none" cap="none" strike="noStrike">
              <a:latin typeface="Arial"/>
              <a:ea typeface="Arial"/>
              <a:cs typeface="Arial"/>
              <a:sym typeface="Arial"/>
            </a:endParaRPr>
          </a:p>
        </p:txBody>
      </p:sp>
      <p:sp>
        <p:nvSpPr>
          <p:cNvPr id="868" name="Google Shape;868;p16"/>
          <p:cNvSpPr/>
          <p:nvPr/>
        </p:nvSpPr>
        <p:spPr>
          <a:xfrm>
            <a:off x="2922050" y="2708765"/>
            <a:ext cx="3264900" cy="1404900"/>
          </a:xfrm>
          <a:prstGeom prst="rect">
            <a:avLst/>
          </a:prstGeom>
          <a:noFill/>
          <a:ln>
            <a:noFill/>
          </a:ln>
        </p:spPr>
        <p:txBody>
          <a:bodyPr anchorCtr="0" anchor="t" bIns="45000" lIns="36700" spcFirstLastPara="1" rIns="36700" wrap="square" tIns="45000">
            <a:spAutoFit/>
          </a:bodyPr>
          <a:lstStyle/>
          <a:p>
            <a:pPr indent="-336550" lvl="0" marL="914400" marR="0" rtl="0" algn="l">
              <a:lnSpc>
                <a:spcPct val="100000"/>
              </a:lnSpc>
              <a:spcBef>
                <a:spcPts val="0"/>
              </a:spcBef>
              <a:spcAft>
                <a:spcPts val="0"/>
              </a:spcAft>
              <a:buSzPts val="1700"/>
              <a:buFont typeface="Arial"/>
              <a:buChar char="●"/>
            </a:pPr>
            <a:r>
              <a:rPr lang="en-US" sz="1700">
                <a:solidFill>
                  <a:srgbClr val="26303A"/>
                </a:solidFill>
              </a:rPr>
              <a:t>Switch con 24 puertos</a:t>
            </a:r>
            <a:endParaRPr sz="1700">
              <a:solidFill>
                <a:srgbClr val="26303A"/>
              </a:solidFill>
            </a:endParaRPr>
          </a:p>
          <a:p>
            <a:pPr indent="-336550" lvl="0" marL="914400" marR="0" rtl="0" algn="l">
              <a:lnSpc>
                <a:spcPct val="100000"/>
              </a:lnSpc>
              <a:spcBef>
                <a:spcPts val="0"/>
              </a:spcBef>
              <a:spcAft>
                <a:spcPts val="0"/>
              </a:spcAft>
              <a:buClr>
                <a:srgbClr val="26303A"/>
              </a:buClr>
              <a:buSzPts val="1700"/>
              <a:buChar char="●"/>
            </a:pPr>
            <a:r>
              <a:rPr lang="en-US" sz="1700">
                <a:solidFill>
                  <a:srgbClr val="26303A"/>
                </a:solidFill>
              </a:rPr>
              <a:t>Interconexión local  </a:t>
            </a:r>
            <a:endParaRPr sz="1700">
              <a:solidFill>
                <a:srgbClr val="26303A"/>
              </a:solidFill>
            </a:endParaRPr>
          </a:p>
        </p:txBody>
      </p:sp>
      <p:sp>
        <p:nvSpPr>
          <p:cNvPr id="869" name="Google Shape;869;p16"/>
          <p:cNvSpPr/>
          <p:nvPr/>
        </p:nvSpPr>
        <p:spPr>
          <a:xfrm>
            <a:off x="6843683" y="2143420"/>
            <a:ext cx="2011200" cy="1234200"/>
          </a:xfrm>
          <a:prstGeom prst="roundRect">
            <a:avLst>
              <a:gd fmla="val 16667" name="adj"/>
            </a:avLst>
          </a:prstGeom>
          <a:solidFill>
            <a:srgbClr val="E7F1F9"/>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16"/>
          <p:cNvSpPr/>
          <p:nvPr/>
        </p:nvSpPr>
        <p:spPr>
          <a:xfrm>
            <a:off x="6897623" y="2137935"/>
            <a:ext cx="1828500" cy="395400"/>
          </a:xfrm>
          <a:prstGeom prst="rect">
            <a:avLst/>
          </a:prstGeom>
          <a:noFill/>
          <a:ln>
            <a:noFill/>
          </a:ln>
        </p:spPr>
        <p:txBody>
          <a:bodyPr anchorCtr="0" anchor="t" bIns="45000" lIns="36700" spcFirstLastPara="1" rIns="36700" wrap="square" tIns="45000">
            <a:spAutoFit/>
          </a:bodyPr>
          <a:lstStyle/>
          <a:p>
            <a:pPr indent="0" lvl="0" marL="0" marR="0" rtl="0" algn="ctr">
              <a:lnSpc>
                <a:spcPct val="100000"/>
              </a:lnSpc>
              <a:spcBef>
                <a:spcPts val="0"/>
              </a:spcBef>
              <a:spcAft>
                <a:spcPts val="0"/>
              </a:spcAft>
              <a:buNone/>
            </a:pPr>
            <a:r>
              <a:rPr b="1" i="0" lang="en-US" sz="2000" u="none" cap="none" strike="noStrike">
                <a:solidFill>
                  <a:srgbClr val="12496F"/>
                </a:solidFill>
                <a:latin typeface="Arial"/>
                <a:ea typeface="Arial"/>
                <a:cs typeface="Arial"/>
                <a:sym typeface="Arial"/>
              </a:rPr>
              <a:t>ROUTER</a:t>
            </a:r>
            <a:endParaRPr b="0" i="0" sz="2000" u="none" cap="none" strike="noStrike">
              <a:latin typeface="Arial"/>
              <a:ea typeface="Arial"/>
              <a:cs typeface="Arial"/>
              <a:sym typeface="Arial"/>
            </a:endParaRPr>
          </a:p>
        </p:txBody>
      </p:sp>
      <p:sp>
        <p:nvSpPr>
          <p:cNvPr id="871" name="Google Shape;871;p16"/>
          <p:cNvSpPr/>
          <p:nvPr/>
        </p:nvSpPr>
        <p:spPr>
          <a:xfrm>
            <a:off x="6752188" y="2594900"/>
            <a:ext cx="2194200" cy="658200"/>
          </a:xfrm>
          <a:prstGeom prst="rect">
            <a:avLst/>
          </a:prstGeom>
          <a:noFill/>
          <a:ln>
            <a:noFill/>
          </a:ln>
        </p:spPr>
        <p:txBody>
          <a:bodyPr anchorCtr="0" anchor="t" bIns="45000" lIns="36700" spcFirstLastPara="1" rIns="36700" wrap="square" tIns="45000">
            <a:spAutoFit/>
          </a:bodyPr>
          <a:lstStyle/>
          <a:p>
            <a:pPr indent="-336550" lvl="0" marL="457200" marR="0" rtl="0" algn="l">
              <a:lnSpc>
                <a:spcPct val="100000"/>
              </a:lnSpc>
              <a:spcBef>
                <a:spcPts val="0"/>
              </a:spcBef>
              <a:spcAft>
                <a:spcPts val="0"/>
              </a:spcAft>
              <a:buClr>
                <a:srgbClr val="26303A"/>
              </a:buClr>
              <a:buSzPts val="1700"/>
              <a:buFont typeface="Arial"/>
              <a:buChar char="●"/>
            </a:pPr>
            <a:r>
              <a:rPr lang="en-US" sz="1700">
                <a:solidFill>
                  <a:srgbClr val="26303A"/>
                </a:solidFill>
              </a:rPr>
              <a:t>Conexión WAN</a:t>
            </a:r>
            <a:endParaRPr sz="1700">
              <a:solidFill>
                <a:srgbClr val="26303A"/>
              </a:solidFill>
            </a:endParaRPr>
          </a:p>
          <a:p>
            <a:pPr indent="-336550" lvl="0" marL="457200" marR="0" rtl="0" algn="l">
              <a:lnSpc>
                <a:spcPct val="100000"/>
              </a:lnSpc>
              <a:spcBef>
                <a:spcPts val="0"/>
              </a:spcBef>
              <a:spcAft>
                <a:spcPts val="0"/>
              </a:spcAft>
              <a:buClr>
                <a:srgbClr val="26303A"/>
              </a:buClr>
              <a:buSzPts val="1700"/>
              <a:buChar char="●"/>
            </a:pPr>
            <a:r>
              <a:rPr lang="en-US" sz="1700">
                <a:solidFill>
                  <a:srgbClr val="26303A"/>
                </a:solidFill>
              </a:rPr>
              <a:t>Fibra óptica</a:t>
            </a:r>
            <a:endParaRPr sz="1700">
              <a:solidFill>
                <a:srgbClr val="26303A"/>
              </a:solidFill>
            </a:endParaRPr>
          </a:p>
          <a:p>
            <a:pPr indent="0" lvl="0" marL="457200" marR="0" rtl="0" algn="l">
              <a:lnSpc>
                <a:spcPct val="100000"/>
              </a:lnSpc>
              <a:spcBef>
                <a:spcPts val="0"/>
              </a:spcBef>
              <a:spcAft>
                <a:spcPts val="0"/>
              </a:spcAft>
              <a:buNone/>
            </a:pPr>
            <a:r>
              <a:t/>
            </a:r>
            <a:endParaRPr sz="1700">
              <a:solidFill>
                <a:srgbClr val="26303A"/>
              </a:solidFill>
            </a:endParaRPr>
          </a:p>
        </p:txBody>
      </p:sp>
      <p:sp>
        <p:nvSpPr>
          <p:cNvPr id="872" name="Google Shape;872;p16"/>
          <p:cNvSpPr/>
          <p:nvPr/>
        </p:nvSpPr>
        <p:spPr>
          <a:xfrm>
            <a:off x="9511630" y="2055495"/>
            <a:ext cx="2377200" cy="1234200"/>
          </a:xfrm>
          <a:prstGeom prst="roundRect">
            <a:avLst>
              <a:gd fmla="val 16667" name="adj"/>
            </a:avLst>
          </a:prstGeom>
          <a:solidFill>
            <a:srgbClr val="EBF5EB"/>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16"/>
          <p:cNvSpPr/>
          <p:nvPr/>
        </p:nvSpPr>
        <p:spPr>
          <a:xfrm>
            <a:off x="9603070" y="2137935"/>
            <a:ext cx="2194200" cy="395400"/>
          </a:xfrm>
          <a:prstGeom prst="rect">
            <a:avLst/>
          </a:prstGeom>
          <a:noFill/>
          <a:ln>
            <a:noFill/>
          </a:ln>
        </p:spPr>
        <p:txBody>
          <a:bodyPr anchorCtr="0" anchor="t" bIns="45000" lIns="36700" spcFirstLastPara="1" rIns="36700" wrap="square" tIns="45000">
            <a:spAutoFit/>
          </a:bodyPr>
          <a:lstStyle/>
          <a:p>
            <a:pPr indent="0" lvl="0" marL="0" marR="0" rtl="0" algn="ctr">
              <a:lnSpc>
                <a:spcPct val="100000"/>
              </a:lnSpc>
              <a:spcBef>
                <a:spcPts val="0"/>
              </a:spcBef>
              <a:spcAft>
                <a:spcPts val="0"/>
              </a:spcAft>
              <a:buNone/>
            </a:pPr>
            <a:r>
              <a:rPr b="1" i="0" lang="en-US" sz="2000" u="none" cap="none" strike="noStrike">
                <a:solidFill>
                  <a:srgbClr val="12496F"/>
                </a:solidFill>
                <a:latin typeface="Arial"/>
                <a:ea typeface="Arial"/>
                <a:cs typeface="Arial"/>
                <a:sym typeface="Arial"/>
              </a:rPr>
              <a:t>INTERNET</a:t>
            </a:r>
            <a:endParaRPr b="0" i="0" sz="2000" u="none" cap="none" strike="noStrike">
              <a:latin typeface="Arial"/>
              <a:ea typeface="Arial"/>
              <a:cs typeface="Arial"/>
              <a:sym typeface="Arial"/>
            </a:endParaRPr>
          </a:p>
        </p:txBody>
      </p:sp>
      <p:sp>
        <p:nvSpPr>
          <p:cNvPr id="874" name="Google Shape;874;p16"/>
          <p:cNvSpPr/>
          <p:nvPr/>
        </p:nvSpPr>
        <p:spPr>
          <a:xfrm>
            <a:off x="9621430" y="2585775"/>
            <a:ext cx="2157600" cy="349500"/>
          </a:xfrm>
          <a:prstGeom prst="rect">
            <a:avLst/>
          </a:prstGeom>
          <a:noFill/>
          <a:ln>
            <a:noFill/>
          </a:ln>
        </p:spPr>
        <p:txBody>
          <a:bodyPr anchorCtr="0" anchor="t" bIns="45000" lIns="36700" spcFirstLastPara="1" rIns="36700" wrap="square" tIns="45000">
            <a:spAutoFit/>
          </a:bodyPr>
          <a:lstStyle/>
          <a:p>
            <a:pPr indent="-336550" lvl="0" marL="457200" marR="0" rtl="0" algn="l">
              <a:lnSpc>
                <a:spcPct val="100000"/>
              </a:lnSpc>
              <a:spcBef>
                <a:spcPts val="0"/>
              </a:spcBef>
              <a:spcAft>
                <a:spcPts val="0"/>
              </a:spcAft>
              <a:buClr>
                <a:srgbClr val="26303A"/>
              </a:buClr>
              <a:buSzPts val="1700"/>
              <a:buFont typeface="Arial"/>
              <a:buChar char="●"/>
            </a:pPr>
            <a:r>
              <a:rPr b="0" i="0" lang="en-US" sz="1700" u="none" cap="none" strike="noStrike">
                <a:solidFill>
                  <a:srgbClr val="26303A"/>
                </a:solidFill>
                <a:latin typeface="Arial"/>
                <a:ea typeface="Arial"/>
                <a:cs typeface="Arial"/>
                <a:sym typeface="Arial"/>
              </a:rPr>
              <a:t>Red </a:t>
            </a:r>
            <a:r>
              <a:rPr lang="en-US" sz="1700">
                <a:solidFill>
                  <a:srgbClr val="26303A"/>
                </a:solidFill>
              </a:rPr>
              <a:t>exterior</a:t>
            </a:r>
            <a:endParaRPr b="0" i="0" sz="1700" u="none" cap="none" strike="noStrike">
              <a:latin typeface="Arial"/>
              <a:ea typeface="Arial"/>
              <a:cs typeface="Arial"/>
              <a:sym typeface="Arial"/>
            </a:endParaRPr>
          </a:p>
        </p:txBody>
      </p:sp>
      <p:sp>
        <p:nvSpPr>
          <p:cNvPr id="875" name="Google Shape;875;p16"/>
          <p:cNvSpPr/>
          <p:nvPr/>
        </p:nvSpPr>
        <p:spPr>
          <a:xfrm>
            <a:off x="3506000" y="4048900"/>
            <a:ext cx="2834700" cy="1670100"/>
          </a:xfrm>
          <a:prstGeom prst="roundRect">
            <a:avLst>
              <a:gd fmla="val 16667" name="adj"/>
            </a:avLst>
          </a:prstGeom>
          <a:solidFill>
            <a:srgbClr val="EBF5EB"/>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16"/>
          <p:cNvSpPr/>
          <p:nvPr/>
        </p:nvSpPr>
        <p:spPr>
          <a:xfrm>
            <a:off x="3950300" y="4149615"/>
            <a:ext cx="1828500" cy="395400"/>
          </a:xfrm>
          <a:prstGeom prst="rect">
            <a:avLst/>
          </a:prstGeom>
          <a:noFill/>
          <a:ln>
            <a:noFill/>
          </a:ln>
        </p:spPr>
        <p:txBody>
          <a:bodyPr anchorCtr="0" anchor="t" bIns="45000" lIns="36700" spcFirstLastPara="1" rIns="36700" wrap="square" tIns="45000">
            <a:spAutoFit/>
          </a:bodyPr>
          <a:lstStyle/>
          <a:p>
            <a:pPr indent="0" lvl="0" marL="0" marR="0" rtl="0" algn="ctr">
              <a:lnSpc>
                <a:spcPct val="100000"/>
              </a:lnSpc>
              <a:spcBef>
                <a:spcPts val="0"/>
              </a:spcBef>
              <a:spcAft>
                <a:spcPts val="0"/>
              </a:spcAft>
              <a:buNone/>
            </a:pPr>
            <a:r>
              <a:rPr b="1" i="0" lang="en-US" sz="2000" u="none" cap="none" strike="noStrike">
                <a:solidFill>
                  <a:srgbClr val="12496F"/>
                </a:solidFill>
                <a:latin typeface="Arial"/>
                <a:ea typeface="Arial"/>
                <a:cs typeface="Arial"/>
                <a:sym typeface="Arial"/>
              </a:rPr>
              <a:t>AP Wi-Fi</a:t>
            </a:r>
            <a:endParaRPr b="0" i="0" sz="2000" u="none" cap="none" strike="noStrike">
              <a:latin typeface="Arial"/>
              <a:ea typeface="Arial"/>
              <a:cs typeface="Arial"/>
              <a:sym typeface="Arial"/>
            </a:endParaRPr>
          </a:p>
        </p:txBody>
      </p:sp>
      <p:sp>
        <p:nvSpPr>
          <p:cNvPr id="877" name="Google Shape;877;p16"/>
          <p:cNvSpPr/>
          <p:nvPr/>
        </p:nvSpPr>
        <p:spPr>
          <a:xfrm>
            <a:off x="3447500" y="4654263"/>
            <a:ext cx="2834700" cy="995700"/>
          </a:xfrm>
          <a:prstGeom prst="rect">
            <a:avLst/>
          </a:prstGeom>
          <a:noFill/>
          <a:ln>
            <a:noFill/>
          </a:ln>
        </p:spPr>
        <p:txBody>
          <a:bodyPr anchorCtr="0" anchor="t" bIns="45000" lIns="36700" spcFirstLastPara="1" rIns="36700" wrap="square" tIns="45000">
            <a:spAutoFit/>
          </a:bodyPr>
          <a:lstStyle/>
          <a:p>
            <a:pPr indent="-336550" lvl="0" marL="457200" marR="0" rtl="0" algn="l">
              <a:lnSpc>
                <a:spcPct val="100000"/>
              </a:lnSpc>
              <a:spcBef>
                <a:spcPts val="0"/>
              </a:spcBef>
              <a:spcAft>
                <a:spcPts val="0"/>
              </a:spcAft>
              <a:buClr>
                <a:srgbClr val="26303A"/>
              </a:buClr>
              <a:buSzPts val="1700"/>
              <a:buChar char="●"/>
            </a:pPr>
            <a:r>
              <a:rPr lang="en-US" sz="1700">
                <a:solidFill>
                  <a:srgbClr val="26303A"/>
                </a:solidFill>
              </a:rPr>
              <a:t>Punto de Acceso</a:t>
            </a:r>
            <a:endParaRPr sz="1700">
              <a:solidFill>
                <a:srgbClr val="26303A"/>
              </a:solidFill>
            </a:endParaRPr>
          </a:p>
          <a:p>
            <a:pPr indent="-336550" lvl="0" marL="457200" marR="0" rtl="0" algn="l">
              <a:lnSpc>
                <a:spcPct val="100000"/>
              </a:lnSpc>
              <a:spcBef>
                <a:spcPts val="0"/>
              </a:spcBef>
              <a:spcAft>
                <a:spcPts val="0"/>
              </a:spcAft>
              <a:buClr>
                <a:srgbClr val="26303A"/>
              </a:buClr>
              <a:buSzPts val="1700"/>
              <a:buChar char="●"/>
            </a:pPr>
            <a:r>
              <a:rPr lang="en-US" sz="1700">
                <a:solidFill>
                  <a:srgbClr val="26303A"/>
                </a:solidFill>
              </a:rPr>
              <a:t>Cobertura inalámbrica</a:t>
            </a:r>
            <a:endParaRPr sz="1700">
              <a:solidFill>
                <a:srgbClr val="26303A"/>
              </a:solidFill>
            </a:endParaRPr>
          </a:p>
          <a:p>
            <a:pPr indent="-336550" lvl="0" marL="457200" marR="0" rtl="0" algn="l">
              <a:lnSpc>
                <a:spcPct val="100000"/>
              </a:lnSpc>
              <a:spcBef>
                <a:spcPts val="0"/>
              </a:spcBef>
              <a:spcAft>
                <a:spcPts val="0"/>
              </a:spcAft>
              <a:buClr>
                <a:srgbClr val="26303A"/>
              </a:buClr>
              <a:buSzPts val="1700"/>
              <a:buChar char="●"/>
            </a:pPr>
            <a:r>
              <a:rPr lang="en-US" sz="1700">
                <a:solidFill>
                  <a:srgbClr val="26303A"/>
                </a:solidFill>
              </a:rPr>
              <a:t>Tablets</a:t>
            </a:r>
            <a:r>
              <a:rPr lang="en-US" sz="1700">
                <a:solidFill>
                  <a:srgbClr val="26303A"/>
                </a:solidFill>
              </a:rPr>
              <a:t>/móviles</a:t>
            </a:r>
            <a:endParaRPr sz="1700">
              <a:solidFill>
                <a:srgbClr val="26303A"/>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h3173d30833cc6355_37_0"/>
          <p:cNvSpPr/>
          <p:nvPr/>
        </p:nvSpPr>
        <p:spPr>
          <a:xfrm>
            <a:off x="0" y="0"/>
            <a:ext cx="12191400" cy="658200"/>
          </a:xfrm>
          <a:prstGeom prst="rect">
            <a:avLst/>
          </a:prstGeom>
          <a:solidFill>
            <a:srgbClr val="12496F"/>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h3173d30833cc6355_37_0"/>
          <p:cNvSpPr/>
          <p:nvPr/>
        </p:nvSpPr>
        <p:spPr>
          <a:xfrm>
            <a:off x="567000" y="82440"/>
            <a:ext cx="10972500" cy="4560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i="0" lang="en-US" sz="2400" u="none" cap="none" strike="noStrike">
                <a:solidFill>
                  <a:srgbClr val="FFFFFF"/>
                </a:solidFill>
                <a:latin typeface="Arial"/>
                <a:ea typeface="Arial"/>
                <a:cs typeface="Arial"/>
                <a:sym typeface="Arial"/>
              </a:rPr>
              <a:t>15 · Ejemplo: </a:t>
            </a:r>
            <a:r>
              <a:rPr b="1" lang="en-US" sz="2400">
                <a:solidFill>
                  <a:srgbClr val="FFFFFF"/>
                </a:solidFill>
              </a:rPr>
              <a:t>R</a:t>
            </a:r>
            <a:r>
              <a:rPr b="1" i="0" lang="en-US" sz="2400" u="none" cap="none" strike="noStrike">
                <a:solidFill>
                  <a:srgbClr val="FFFFFF"/>
                </a:solidFill>
                <a:latin typeface="Arial"/>
                <a:ea typeface="Arial"/>
                <a:cs typeface="Arial"/>
                <a:sym typeface="Arial"/>
              </a:rPr>
              <a:t>ed de un aula con Wi-Fi</a:t>
            </a:r>
            <a:r>
              <a:rPr b="1" lang="en-US" sz="2400">
                <a:solidFill>
                  <a:srgbClr val="FFFFFF"/>
                </a:solidFill>
              </a:rPr>
              <a:t>: </a:t>
            </a:r>
            <a:r>
              <a:rPr b="1" i="0" lang="en-US" sz="2400" u="none" cap="none" strike="noStrike">
                <a:solidFill>
                  <a:srgbClr val="FFFFFF"/>
                </a:solidFill>
                <a:latin typeface="Arial"/>
                <a:ea typeface="Arial"/>
                <a:cs typeface="Arial"/>
                <a:sym typeface="Arial"/>
              </a:rPr>
              <a:t>Andrés Mesa</a:t>
            </a:r>
            <a:endParaRPr b="0" i="0" sz="2400" u="none" cap="none" strike="noStrike">
              <a:latin typeface="Arial"/>
              <a:ea typeface="Arial"/>
              <a:cs typeface="Arial"/>
              <a:sym typeface="Arial"/>
            </a:endParaRPr>
          </a:p>
        </p:txBody>
      </p:sp>
      <p:pic>
        <p:nvPicPr>
          <p:cNvPr id="884" name="Google Shape;884;h3173d30833cc6355_37_0"/>
          <p:cNvPicPr preferRelativeResize="0"/>
          <p:nvPr/>
        </p:nvPicPr>
        <p:blipFill>
          <a:blip r:embed="rId3">
            <a:alphaModFix/>
          </a:blip>
          <a:stretch>
            <a:fillRect/>
          </a:stretch>
        </p:blipFill>
        <p:spPr>
          <a:xfrm>
            <a:off x="1162300" y="967700"/>
            <a:ext cx="9296151" cy="57556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sp>
        <p:nvSpPr>
          <p:cNvPr id="889" name="Google Shape;889;p17"/>
          <p:cNvSpPr/>
          <p:nvPr/>
        </p:nvSpPr>
        <p:spPr>
          <a:xfrm>
            <a:off x="0" y="0"/>
            <a:ext cx="12191400" cy="538500"/>
          </a:xfrm>
          <a:prstGeom prst="rect">
            <a:avLst/>
          </a:prstGeom>
          <a:solidFill>
            <a:srgbClr val="12496F"/>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17"/>
          <p:cNvSpPr/>
          <p:nvPr/>
        </p:nvSpPr>
        <p:spPr>
          <a:xfrm>
            <a:off x="567175" y="-26760"/>
            <a:ext cx="10972500" cy="4560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1" i="0" lang="en-US" sz="2400" u="none" cap="none" strike="noStrike">
                <a:solidFill>
                  <a:srgbClr val="FFFFFF"/>
                </a:solidFill>
                <a:latin typeface="Arial"/>
                <a:ea typeface="Arial"/>
                <a:cs typeface="Arial"/>
                <a:sym typeface="Arial"/>
              </a:rPr>
              <a:t>16 · Caso aplicado: elegir conexiones: </a:t>
            </a:r>
            <a:r>
              <a:rPr b="1" lang="en-US" sz="2400">
                <a:solidFill>
                  <a:srgbClr val="FFFFFF"/>
                </a:solidFill>
              </a:rPr>
              <a:t>Marcos Paez Cano</a:t>
            </a:r>
            <a:endParaRPr b="0" i="0" sz="2400" u="none" cap="none" strike="noStrike">
              <a:latin typeface="Arial"/>
              <a:ea typeface="Arial"/>
              <a:cs typeface="Arial"/>
              <a:sym typeface="Arial"/>
            </a:endParaRPr>
          </a:p>
        </p:txBody>
      </p:sp>
      <p:sp>
        <p:nvSpPr>
          <p:cNvPr id="891" name="Google Shape;891;p17"/>
          <p:cNvSpPr/>
          <p:nvPr/>
        </p:nvSpPr>
        <p:spPr>
          <a:xfrm>
            <a:off x="2547299" y="623776"/>
            <a:ext cx="7097400" cy="4296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0" i="0" lang="en-US" sz="2100" u="none" cap="none" strike="noStrike">
                <a:solidFill>
                  <a:srgbClr val="12496F"/>
                </a:solidFill>
                <a:latin typeface="Arial"/>
                <a:ea typeface="Arial"/>
                <a:cs typeface="Arial"/>
                <a:sym typeface="Arial"/>
              </a:rPr>
              <a:t>Un aula dispone de 24 PCs, una impresora de red y un AP.</a:t>
            </a:r>
            <a:endParaRPr b="0" i="0" sz="2100" u="none" cap="none" strike="noStrike">
              <a:latin typeface="Arial"/>
              <a:ea typeface="Arial"/>
              <a:cs typeface="Arial"/>
              <a:sym typeface="Arial"/>
            </a:endParaRPr>
          </a:p>
        </p:txBody>
      </p:sp>
      <p:sp>
        <p:nvSpPr>
          <p:cNvPr id="892" name="Google Shape;892;p17"/>
          <p:cNvSpPr/>
          <p:nvPr/>
        </p:nvSpPr>
        <p:spPr>
          <a:xfrm>
            <a:off x="118587" y="1138600"/>
            <a:ext cx="5879700" cy="2226600"/>
          </a:xfrm>
          <a:prstGeom prst="roundRect">
            <a:avLst>
              <a:gd fmla="val 16667" name="adj"/>
            </a:avLst>
          </a:prstGeom>
          <a:solidFill>
            <a:srgbClr val="E7F1F9"/>
          </a:solidFill>
          <a:ln>
            <a:noFill/>
          </a:ln>
          <a:effectLst>
            <a:outerShdw blurRad="43444" rotWithShape="0" dir="5400000" dist="25049">
              <a:srgbClr val="000000">
                <a:alpha val="34902"/>
              </a:srgbClr>
            </a:outerShdw>
          </a:effectLst>
        </p:spPr>
        <p:txBody>
          <a:bodyPr anchorCtr="0" anchor="ctr" bIns="99400" lIns="99400" spcFirstLastPara="1" rIns="99400" wrap="square" tIns="99400">
            <a:noAutofit/>
          </a:bodyPr>
          <a:lstStyle/>
          <a:p>
            <a:pPr indent="0" lvl="0" marL="0" rtl="0" algn="l">
              <a:spcBef>
                <a:spcPts val="0"/>
              </a:spcBef>
              <a:spcAft>
                <a:spcPts val="0"/>
              </a:spcAft>
              <a:buNone/>
            </a:pPr>
            <a:r>
              <a:t/>
            </a:r>
            <a:endParaRPr sz="1522"/>
          </a:p>
        </p:txBody>
      </p:sp>
      <p:sp>
        <p:nvSpPr>
          <p:cNvPr id="893" name="Google Shape;893;p17"/>
          <p:cNvSpPr/>
          <p:nvPr/>
        </p:nvSpPr>
        <p:spPr>
          <a:xfrm>
            <a:off x="287667" y="1247797"/>
            <a:ext cx="5542200" cy="429600"/>
          </a:xfrm>
          <a:prstGeom prst="rect">
            <a:avLst/>
          </a:prstGeom>
          <a:noFill/>
          <a:ln>
            <a:noFill/>
          </a:ln>
        </p:spPr>
        <p:txBody>
          <a:bodyPr anchorCtr="0" anchor="t" bIns="48925" lIns="39900" spcFirstLastPara="1" rIns="39900" wrap="square" tIns="48925">
            <a:spAutoFit/>
          </a:bodyPr>
          <a:lstStyle/>
          <a:p>
            <a:pPr indent="0" lvl="0" marL="0" marR="0" rtl="0" algn="l">
              <a:lnSpc>
                <a:spcPct val="100000"/>
              </a:lnSpc>
              <a:spcBef>
                <a:spcPts val="0"/>
              </a:spcBef>
              <a:spcAft>
                <a:spcPts val="0"/>
              </a:spcAft>
              <a:buNone/>
            </a:pPr>
            <a:r>
              <a:rPr b="1" i="0" lang="en-US" sz="2174" u="none" cap="none" strike="noStrike">
                <a:solidFill>
                  <a:srgbClr val="12496F"/>
                </a:solidFill>
                <a:latin typeface="Arial"/>
                <a:ea typeface="Arial"/>
                <a:cs typeface="Arial"/>
                <a:sym typeface="Arial"/>
              </a:rPr>
              <a:t>Puertos</a:t>
            </a:r>
            <a:endParaRPr b="0" i="0" sz="2174" u="none" cap="none" strike="noStrike">
              <a:latin typeface="Arial"/>
              <a:ea typeface="Arial"/>
              <a:cs typeface="Arial"/>
              <a:sym typeface="Arial"/>
            </a:endParaRPr>
          </a:p>
        </p:txBody>
      </p:sp>
      <p:sp>
        <p:nvSpPr>
          <p:cNvPr id="894" name="Google Shape;894;p17"/>
          <p:cNvSpPr/>
          <p:nvPr/>
        </p:nvSpPr>
        <p:spPr>
          <a:xfrm>
            <a:off x="148346" y="1627721"/>
            <a:ext cx="5542200" cy="1786800"/>
          </a:xfrm>
          <a:prstGeom prst="rect">
            <a:avLst/>
          </a:prstGeom>
          <a:noFill/>
          <a:ln>
            <a:noFill/>
          </a:ln>
        </p:spPr>
        <p:txBody>
          <a:bodyPr anchorCtr="0" anchor="t" bIns="48925" lIns="39900" spcFirstLastPara="1" rIns="39900" wrap="square" tIns="48925">
            <a:spAutoFit/>
          </a:bodyPr>
          <a:lstStyle/>
          <a:p>
            <a:pPr indent="-332155" lvl="0" marL="457200" marR="0" rtl="0" algn="l">
              <a:lnSpc>
                <a:spcPct val="100000"/>
              </a:lnSpc>
              <a:spcBef>
                <a:spcPts val="0"/>
              </a:spcBef>
              <a:spcAft>
                <a:spcPts val="0"/>
              </a:spcAft>
              <a:buSzPts val="1631"/>
              <a:buChar char="●"/>
            </a:pPr>
            <a:r>
              <a:rPr lang="en-US" sz="1631"/>
              <a:t>24 PCs + 1 impresora + 1 router + 1 AP = 27 conexiones cableadas. </a:t>
            </a:r>
            <a:endParaRPr sz="1631"/>
          </a:p>
          <a:p>
            <a:pPr indent="-332155" lvl="0" marL="457200" marR="0" rtl="0" algn="l">
              <a:lnSpc>
                <a:spcPct val="100000"/>
              </a:lnSpc>
              <a:spcBef>
                <a:spcPts val="0"/>
              </a:spcBef>
              <a:spcAft>
                <a:spcPts val="0"/>
              </a:spcAft>
              <a:buSzPts val="1631"/>
              <a:buChar char="●"/>
            </a:pPr>
            <a:r>
              <a:rPr lang="en-US" sz="1631"/>
              <a:t>Cada equipo usa un puerto del switch (la «toma» donde se enchufa el cable).</a:t>
            </a:r>
            <a:endParaRPr sz="1631"/>
          </a:p>
          <a:p>
            <a:pPr indent="-332155" lvl="0" marL="457200" marR="0" rtl="0" algn="l">
              <a:lnSpc>
                <a:spcPct val="100000"/>
              </a:lnSpc>
              <a:spcBef>
                <a:spcPts val="0"/>
              </a:spcBef>
              <a:spcAft>
                <a:spcPts val="0"/>
              </a:spcAft>
              <a:buSzPts val="1631"/>
              <a:buChar char="●"/>
            </a:pPr>
            <a:r>
              <a:rPr lang="en-US" sz="1631"/>
              <a:t>El router también cuenta: es la salida hacia Internet.</a:t>
            </a:r>
            <a:endParaRPr sz="1631"/>
          </a:p>
        </p:txBody>
      </p:sp>
      <p:sp>
        <p:nvSpPr>
          <p:cNvPr id="895" name="Google Shape;895;p17"/>
          <p:cNvSpPr/>
          <p:nvPr/>
        </p:nvSpPr>
        <p:spPr>
          <a:xfrm>
            <a:off x="6217600" y="1138600"/>
            <a:ext cx="5879700" cy="2226600"/>
          </a:xfrm>
          <a:prstGeom prst="roundRect">
            <a:avLst>
              <a:gd fmla="val 16667" name="adj"/>
            </a:avLst>
          </a:prstGeom>
          <a:solidFill>
            <a:srgbClr val="EBF5EB"/>
          </a:solidFill>
          <a:ln>
            <a:noFill/>
          </a:ln>
          <a:effectLst>
            <a:outerShdw blurRad="43444" rotWithShape="0" dir="5400000" dist="25049">
              <a:srgbClr val="000000">
                <a:alpha val="34902"/>
              </a:srgbClr>
            </a:outerShdw>
          </a:effectLst>
        </p:spPr>
        <p:txBody>
          <a:bodyPr anchorCtr="0" anchor="ctr" bIns="99400" lIns="99400" spcFirstLastPara="1" rIns="99400" wrap="square" tIns="99400">
            <a:noAutofit/>
          </a:bodyPr>
          <a:lstStyle/>
          <a:p>
            <a:pPr indent="0" lvl="0" marL="0" rtl="0" algn="l">
              <a:spcBef>
                <a:spcPts val="0"/>
              </a:spcBef>
              <a:spcAft>
                <a:spcPts val="0"/>
              </a:spcAft>
              <a:buNone/>
            </a:pPr>
            <a:r>
              <a:t/>
            </a:r>
            <a:endParaRPr sz="1522"/>
          </a:p>
        </p:txBody>
      </p:sp>
      <p:sp>
        <p:nvSpPr>
          <p:cNvPr id="896" name="Google Shape;896;p17"/>
          <p:cNvSpPr/>
          <p:nvPr/>
        </p:nvSpPr>
        <p:spPr>
          <a:xfrm>
            <a:off x="6386680" y="1247797"/>
            <a:ext cx="5542200" cy="429600"/>
          </a:xfrm>
          <a:prstGeom prst="rect">
            <a:avLst/>
          </a:prstGeom>
          <a:noFill/>
          <a:ln>
            <a:noFill/>
          </a:ln>
        </p:spPr>
        <p:txBody>
          <a:bodyPr anchorCtr="0" anchor="t" bIns="48925" lIns="39900" spcFirstLastPara="1" rIns="39900" wrap="square" tIns="48925">
            <a:spAutoFit/>
          </a:bodyPr>
          <a:lstStyle/>
          <a:p>
            <a:pPr indent="0" lvl="0" marL="0" marR="0" rtl="0" algn="l">
              <a:lnSpc>
                <a:spcPct val="100000"/>
              </a:lnSpc>
              <a:spcBef>
                <a:spcPts val="0"/>
              </a:spcBef>
              <a:spcAft>
                <a:spcPts val="0"/>
              </a:spcAft>
              <a:buNone/>
            </a:pPr>
            <a:r>
              <a:rPr b="1" i="0" lang="en-US" sz="2174" u="none" cap="none" strike="noStrike">
                <a:solidFill>
                  <a:srgbClr val="12496F"/>
                </a:solidFill>
                <a:latin typeface="Arial"/>
                <a:ea typeface="Arial"/>
                <a:cs typeface="Arial"/>
                <a:sym typeface="Arial"/>
              </a:rPr>
              <a:t>Switch</a:t>
            </a:r>
            <a:endParaRPr b="0" i="0" sz="2174" u="none" cap="none" strike="noStrike">
              <a:latin typeface="Arial"/>
              <a:ea typeface="Arial"/>
              <a:cs typeface="Arial"/>
              <a:sym typeface="Arial"/>
            </a:endParaRPr>
          </a:p>
        </p:txBody>
      </p:sp>
      <p:sp>
        <p:nvSpPr>
          <p:cNvPr id="897" name="Google Shape;897;p17"/>
          <p:cNvSpPr/>
          <p:nvPr/>
        </p:nvSpPr>
        <p:spPr>
          <a:xfrm>
            <a:off x="6137700" y="1598700"/>
            <a:ext cx="5879700" cy="1509600"/>
          </a:xfrm>
          <a:prstGeom prst="rect">
            <a:avLst/>
          </a:prstGeom>
          <a:noFill/>
          <a:ln>
            <a:noFill/>
          </a:ln>
        </p:spPr>
        <p:txBody>
          <a:bodyPr anchorCtr="0" anchor="t" bIns="48925" lIns="39900" spcFirstLastPara="1" rIns="39900" wrap="square" tIns="48925">
            <a:spAutoFit/>
          </a:bodyPr>
          <a:lstStyle/>
          <a:p>
            <a:pPr indent="-332155" lvl="0" marL="457200" marR="0" rtl="0" algn="l">
              <a:lnSpc>
                <a:spcPct val="100000"/>
              </a:lnSpc>
              <a:spcBef>
                <a:spcPts val="0"/>
              </a:spcBef>
              <a:spcAft>
                <a:spcPts val="0"/>
              </a:spcAft>
              <a:buClr>
                <a:srgbClr val="26303A"/>
              </a:buClr>
              <a:buSzPts val="1631"/>
              <a:buChar char="●"/>
            </a:pPr>
            <a:r>
              <a:rPr lang="en-US" sz="1631">
                <a:solidFill>
                  <a:srgbClr val="26303A"/>
                </a:solidFill>
              </a:rPr>
              <a:t>No basta uno de 24: hacen falta 27 puertos y faltarían 3.</a:t>
            </a:r>
            <a:endParaRPr sz="1631">
              <a:solidFill>
                <a:srgbClr val="26303A"/>
              </a:solidFill>
            </a:endParaRPr>
          </a:p>
          <a:p>
            <a:pPr indent="-332155" lvl="0" marL="457200" marR="0" rtl="0" algn="l">
              <a:lnSpc>
                <a:spcPct val="100000"/>
              </a:lnSpc>
              <a:spcBef>
                <a:spcPts val="0"/>
              </a:spcBef>
              <a:spcAft>
                <a:spcPts val="0"/>
              </a:spcAft>
              <a:buClr>
                <a:srgbClr val="26303A"/>
              </a:buClr>
              <a:buSzPts val="1631"/>
              <a:buChar char="●"/>
            </a:pPr>
            <a:r>
              <a:rPr lang="en-US" sz="1631">
                <a:solidFill>
                  <a:srgbClr val="26303A"/>
                </a:solidFill>
              </a:rPr>
              <a:t>Mejor uno de 48 puertos (sobran 21 por si acaso) o dos de 24 unidos entre sí (esa unión gasta un puerto en cada uno).</a:t>
            </a:r>
            <a:endParaRPr sz="1631">
              <a:solidFill>
                <a:srgbClr val="26303A"/>
              </a:solidFill>
            </a:endParaRPr>
          </a:p>
          <a:p>
            <a:pPr indent="-332155" lvl="0" marL="457200" marR="0" rtl="0" algn="l">
              <a:lnSpc>
                <a:spcPct val="100000"/>
              </a:lnSpc>
              <a:spcBef>
                <a:spcPts val="0"/>
              </a:spcBef>
              <a:spcAft>
                <a:spcPts val="0"/>
              </a:spcAft>
              <a:buClr>
                <a:srgbClr val="26303A"/>
              </a:buClr>
              <a:buSzPts val="1631"/>
              <a:buChar char="●"/>
            </a:pPr>
            <a:r>
              <a:rPr lang="en-US" sz="1631">
                <a:solidFill>
                  <a:srgbClr val="26303A"/>
                </a:solidFill>
              </a:rPr>
              <a:t>El switch conecta entre sí todos los equipos de la red local. </a:t>
            </a:r>
            <a:endParaRPr sz="1631">
              <a:solidFill>
                <a:srgbClr val="26303A"/>
              </a:solidFill>
            </a:endParaRPr>
          </a:p>
        </p:txBody>
      </p:sp>
      <p:pic>
        <p:nvPicPr>
          <p:cNvPr id="898" name="Google Shape;898;p17"/>
          <p:cNvPicPr preferRelativeResize="0"/>
          <p:nvPr/>
        </p:nvPicPr>
        <p:blipFill>
          <a:blip r:embed="rId3">
            <a:alphaModFix/>
          </a:blip>
          <a:stretch>
            <a:fillRect/>
          </a:stretch>
        </p:blipFill>
        <p:spPr>
          <a:xfrm>
            <a:off x="-12" y="3450421"/>
            <a:ext cx="11772923" cy="313868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sp>
        <p:nvSpPr>
          <p:cNvPr id="903" name="Google Shape;903;h3173d30833cc6355_3_3"/>
          <p:cNvSpPr/>
          <p:nvPr/>
        </p:nvSpPr>
        <p:spPr>
          <a:xfrm>
            <a:off x="0" y="0"/>
            <a:ext cx="12191400" cy="538500"/>
          </a:xfrm>
          <a:prstGeom prst="rect">
            <a:avLst/>
          </a:prstGeom>
          <a:solidFill>
            <a:srgbClr val="12496F"/>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h3173d30833cc6355_3_3"/>
          <p:cNvSpPr/>
          <p:nvPr/>
        </p:nvSpPr>
        <p:spPr>
          <a:xfrm>
            <a:off x="567175" y="-26760"/>
            <a:ext cx="10972500" cy="4560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i="0" lang="en-US" sz="2400" u="none" cap="none" strike="noStrike">
                <a:solidFill>
                  <a:srgbClr val="FFFFFF"/>
                </a:solidFill>
                <a:latin typeface="Arial"/>
                <a:ea typeface="Arial"/>
                <a:cs typeface="Arial"/>
                <a:sym typeface="Arial"/>
              </a:rPr>
              <a:t>16 · Caso aplicado: elegir conexiones: </a:t>
            </a:r>
            <a:r>
              <a:rPr b="1" lang="en-US" sz="2400">
                <a:solidFill>
                  <a:srgbClr val="FFFFFF"/>
                </a:solidFill>
              </a:rPr>
              <a:t>Marcos Paez Cano (Parte 2)</a:t>
            </a:r>
            <a:endParaRPr b="0" i="0" sz="2400" u="none" cap="none" strike="noStrike">
              <a:latin typeface="Arial"/>
              <a:ea typeface="Arial"/>
              <a:cs typeface="Arial"/>
              <a:sym typeface="Arial"/>
            </a:endParaRPr>
          </a:p>
        </p:txBody>
      </p:sp>
      <p:sp>
        <p:nvSpPr>
          <p:cNvPr id="905" name="Google Shape;905;h3173d30833cc6355_3_3"/>
          <p:cNvSpPr/>
          <p:nvPr/>
        </p:nvSpPr>
        <p:spPr>
          <a:xfrm>
            <a:off x="2547299" y="623776"/>
            <a:ext cx="7097400" cy="4296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0" i="0" lang="en-US" sz="2100" u="none" cap="none" strike="noStrike">
                <a:solidFill>
                  <a:srgbClr val="12496F"/>
                </a:solidFill>
                <a:latin typeface="Arial"/>
                <a:ea typeface="Arial"/>
                <a:cs typeface="Arial"/>
                <a:sym typeface="Arial"/>
              </a:rPr>
              <a:t>Un aula dispone de 24 PCs, una impresora de red y un AP.</a:t>
            </a:r>
            <a:endParaRPr b="0" i="0" sz="2100" u="none" cap="none" strike="noStrike">
              <a:latin typeface="Arial"/>
              <a:ea typeface="Arial"/>
              <a:cs typeface="Arial"/>
              <a:sym typeface="Arial"/>
            </a:endParaRPr>
          </a:p>
        </p:txBody>
      </p:sp>
      <p:sp>
        <p:nvSpPr>
          <p:cNvPr id="906" name="Google Shape;906;h3173d30833cc6355_3_3"/>
          <p:cNvSpPr/>
          <p:nvPr/>
        </p:nvSpPr>
        <p:spPr>
          <a:xfrm>
            <a:off x="64049" y="1053384"/>
            <a:ext cx="5879700" cy="2226600"/>
          </a:xfrm>
          <a:prstGeom prst="roundRect">
            <a:avLst>
              <a:gd fmla="val 16667" name="adj"/>
            </a:avLst>
          </a:prstGeom>
          <a:solidFill>
            <a:srgbClr val="FFF2E0"/>
          </a:solidFill>
          <a:ln>
            <a:noFill/>
          </a:ln>
          <a:effectLst>
            <a:outerShdw blurRad="43444" rotWithShape="0" dir="5400000" dist="25049">
              <a:srgbClr val="000000">
                <a:alpha val="34900"/>
              </a:srgbClr>
            </a:outerShdw>
          </a:effectLst>
        </p:spPr>
        <p:txBody>
          <a:bodyPr anchorCtr="0" anchor="ctr" bIns="99400" lIns="99400" spcFirstLastPara="1" rIns="99400" wrap="square" tIns="99400">
            <a:noAutofit/>
          </a:bodyPr>
          <a:lstStyle/>
          <a:p>
            <a:pPr indent="0" lvl="0" marL="0" rtl="0" algn="l">
              <a:spcBef>
                <a:spcPts val="0"/>
              </a:spcBef>
              <a:spcAft>
                <a:spcPts val="0"/>
              </a:spcAft>
              <a:buNone/>
            </a:pPr>
            <a:r>
              <a:t/>
            </a:r>
            <a:endParaRPr sz="1522"/>
          </a:p>
        </p:txBody>
      </p:sp>
      <p:sp>
        <p:nvSpPr>
          <p:cNvPr id="907" name="Google Shape;907;h3173d30833cc6355_3_3"/>
          <p:cNvSpPr/>
          <p:nvPr/>
        </p:nvSpPr>
        <p:spPr>
          <a:xfrm>
            <a:off x="233129" y="1162581"/>
            <a:ext cx="5542200" cy="429600"/>
          </a:xfrm>
          <a:prstGeom prst="rect">
            <a:avLst/>
          </a:prstGeom>
          <a:noFill/>
          <a:ln>
            <a:noFill/>
          </a:ln>
        </p:spPr>
        <p:txBody>
          <a:bodyPr anchorCtr="0" anchor="t" bIns="48925" lIns="39900" spcFirstLastPara="1" rIns="39900" wrap="square" tIns="48925">
            <a:noAutofit/>
          </a:bodyPr>
          <a:lstStyle/>
          <a:p>
            <a:pPr indent="0" lvl="0" marL="0" marR="0" rtl="0" algn="l">
              <a:lnSpc>
                <a:spcPct val="100000"/>
              </a:lnSpc>
              <a:spcBef>
                <a:spcPts val="0"/>
              </a:spcBef>
              <a:spcAft>
                <a:spcPts val="0"/>
              </a:spcAft>
              <a:buNone/>
            </a:pPr>
            <a:r>
              <a:rPr b="1" i="0" lang="en-US" sz="2174" u="none" cap="none" strike="noStrike">
                <a:solidFill>
                  <a:srgbClr val="12496F"/>
                </a:solidFill>
                <a:latin typeface="Arial"/>
                <a:ea typeface="Arial"/>
                <a:cs typeface="Arial"/>
                <a:sym typeface="Arial"/>
              </a:rPr>
              <a:t>Cableado</a:t>
            </a:r>
            <a:endParaRPr b="0" i="0" sz="2174" u="none" cap="none" strike="noStrike">
              <a:latin typeface="Arial"/>
              <a:ea typeface="Arial"/>
              <a:cs typeface="Arial"/>
              <a:sym typeface="Arial"/>
            </a:endParaRPr>
          </a:p>
        </p:txBody>
      </p:sp>
      <p:sp>
        <p:nvSpPr>
          <p:cNvPr id="908" name="Google Shape;908;h3173d30833cc6355_3_3"/>
          <p:cNvSpPr/>
          <p:nvPr/>
        </p:nvSpPr>
        <p:spPr>
          <a:xfrm>
            <a:off x="193197" y="1497767"/>
            <a:ext cx="5581800" cy="1604100"/>
          </a:xfrm>
          <a:prstGeom prst="rect">
            <a:avLst/>
          </a:prstGeom>
          <a:noFill/>
          <a:ln>
            <a:noFill/>
          </a:ln>
        </p:spPr>
        <p:txBody>
          <a:bodyPr anchorCtr="0" anchor="t" bIns="48925" lIns="39900" spcFirstLastPara="1" rIns="39900" wrap="square" tIns="48925">
            <a:noAutofit/>
          </a:bodyPr>
          <a:lstStyle/>
          <a:p>
            <a:pPr indent="-332155" lvl="0" marL="457200" marR="0" rtl="0" algn="l">
              <a:lnSpc>
                <a:spcPct val="100000"/>
              </a:lnSpc>
              <a:spcBef>
                <a:spcPts val="0"/>
              </a:spcBef>
              <a:spcAft>
                <a:spcPts val="0"/>
              </a:spcAft>
              <a:buClr>
                <a:srgbClr val="26303A"/>
              </a:buClr>
              <a:buSzPts val="1631"/>
              <a:buChar char="●"/>
            </a:pPr>
            <a:r>
              <a:rPr lang="en-US" sz="1631">
                <a:solidFill>
                  <a:srgbClr val="26303A"/>
                </a:solidFill>
              </a:rPr>
              <a:t>PC ↔ switch: cable de par trenzado Cat 6 o 6e con conector RJ-45 (hasta 100 m). Es barato y llega a 1 Gb/s.</a:t>
            </a:r>
            <a:endParaRPr sz="1631">
              <a:solidFill>
                <a:srgbClr val="26303A"/>
              </a:solidFill>
            </a:endParaRPr>
          </a:p>
          <a:p>
            <a:pPr indent="-332155" lvl="0" marL="457200" marR="0" rtl="0" algn="l">
              <a:lnSpc>
                <a:spcPct val="100000"/>
              </a:lnSpc>
              <a:spcBef>
                <a:spcPts val="0"/>
              </a:spcBef>
              <a:spcAft>
                <a:spcPts val="0"/>
              </a:spcAft>
              <a:buClr>
                <a:srgbClr val="26303A"/>
              </a:buClr>
              <a:buSzPts val="1631"/>
              <a:buChar char="●"/>
            </a:pPr>
            <a:r>
              <a:rPr lang="en-US" sz="1631">
                <a:solidFill>
                  <a:srgbClr val="26303A"/>
                </a:solidFill>
              </a:rPr>
              <a:t>Entre armarios lejanos: fibra óptica con módulos </a:t>
            </a:r>
            <a:endParaRPr sz="1631">
              <a:solidFill>
                <a:srgbClr val="26303A"/>
              </a:solidFill>
            </a:endParaRPr>
          </a:p>
          <a:p>
            <a:pPr indent="-332155" lvl="0" marL="457200" marR="0" rtl="0" algn="l">
              <a:lnSpc>
                <a:spcPct val="100000"/>
              </a:lnSpc>
              <a:spcBef>
                <a:spcPts val="0"/>
              </a:spcBef>
              <a:spcAft>
                <a:spcPts val="0"/>
              </a:spcAft>
              <a:buClr>
                <a:srgbClr val="26303A"/>
              </a:buClr>
              <a:buSzPts val="1631"/>
              <a:buChar char="●"/>
            </a:pPr>
            <a:r>
              <a:rPr lang="en-US" sz="1631">
                <a:solidFill>
                  <a:srgbClr val="26303A"/>
                </a:solidFill>
              </a:rPr>
              <a:t>SFP/SFP+. Pasa de los 100 m del cobre y no sufre interferencias.</a:t>
            </a:r>
            <a:endParaRPr sz="1631">
              <a:solidFill>
                <a:srgbClr val="26303A"/>
              </a:solidFill>
            </a:endParaRPr>
          </a:p>
        </p:txBody>
      </p:sp>
      <p:sp>
        <p:nvSpPr>
          <p:cNvPr id="909" name="Google Shape;909;h3173d30833cc6355_3_3"/>
          <p:cNvSpPr/>
          <p:nvPr/>
        </p:nvSpPr>
        <p:spPr>
          <a:xfrm>
            <a:off x="6163062" y="1053384"/>
            <a:ext cx="5879700" cy="2226600"/>
          </a:xfrm>
          <a:prstGeom prst="roundRect">
            <a:avLst>
              <a:gd fmla="val 16667" name="adj"/>
            </a:avLst>
          </a:prstGeom>
          <a:solidFill>
            <a:srgbClr val="F3ECF9"/>
          </a:solidFill>
          <a:ln>
            <a:noFill/>
          </a:ln>
          <a:effectLst>
            <a:outerShdw blurRad="43444" rotWithShape="0" dir="5400000" dist="25049">
              <a:srgbClr val="000000">
                <a:alpha val="34900"/>
              </a:srgbClr>
            </a:outerShdw>
          </a:effectLst>
        </p:spPr>
        <p:txBody>
          <a:bodyPr anchorCtr="0" anchor="ctr" bIns="99400" lIns="99400" spcFirstLastPara="1" rIns="99400" wrap="square" tIns="99400">
            <a:noAutofit/>
          </a:bodyPr>
          <a:lstStyle/>
          <a:p>
            <a:pPr indent="0" lvl="0" marL="0" rtl="0" algn="l">
              <a:spcBef>
                <a:spcPts val="0"/>
              </a:spcBef>
              <a:spcAft>
                <a:spcPts val="0"/>
              </a:spcAft>
              <a:buNone/>
            </a:pPr>
            <a:r>
              <a:t/>
            </a:r>
            <a:endParaRPr sz="1522"/>
          </a:p>
        </p:txBody>
      </p:sp>
      <p:sp>
        <p:nvSpPr>
          <p:cNvPr id="910" name="Google Shape;910;h3173d30833cc6355_3_3"/>
          <p:cNvSpPr/>
          <p:nvPr/>
        </p:nvSpPr>
        <p:spPr>
          <a:xfrm>
            <a:off x="6332142" y="1162581"/>
            <a:ext cx="5542200" cy="429600"/>
          </a:xfrm>
          <a:prstGeom prst="rect">
            <a:avLst/>
          </a:prstGeom>
          <a:noFill/>
          <a:ln>
            <a:noFill/>
          </a:ln>
        </p:spPr>
        <p:txBody>
          <a:bodyPr anchorCtr="0" anchor="t" bIns="48925" lIns="39900" spcFirstLastPara="1" rIns="39900" wrap="square" tIns="48925">
            <a:noAutofit/>
          </a:bodyPr>
          <a:lstStyle/>
          <a:p>
            <a:pPr indent="0" lvl="0" marL="0" marR="0" rtl="0" algn="l">
              <a:lnSpc>
                <a:spcPct val="100000"/>
              </a:lnSpc>
              <a:spcBef>
                <a:spcPts val="0"/>
              </a:spcBef>
              <a:spcAft>
                <a:spcPts val="0"/>
              </a:spcAft>
              <a:buNone/>
            </a:pPr>
            <a:r>
              <a:rPr b="1" i="0" lang="en-US" sz="2174" u="none" cap="none" strike="noStrike">
                <a:solidFill>
                  <a:srgbClr val="12496F"/>
                </a:solidFill>
                <a:latin typeface="Arial"/>
                <a:ea typeface="Arial"/>
                <a:cs typeface="Arial"/>
                <a:sym typeface="Arial"/>
              </a:rPr>
              <a:t>Wi-Fi</a:t>
            </a:r>
            <a:endParaRPr b="0" i="0" sz="2174" u="none" cap="none" strike="noStrike">
              <a:latin typeface="Arial"/>
              <a:ea typeface="Arial"/>
              <a:cs typeface="Arial"/>
              <a:sym typeface="Arial"/>
            </a:endParaRPr>
          </a:p>
        </p:txBody>
      </p:sp>
      <p:sp>
        <p:nvSpPr>
          <p:cNvPr id="911" name="Google Shape;911;h3173d30833cc6355_3_3"/>
          <p:cNvSpPr/>
          <p:nvPr/>
        </p:nvSpPr>
        <p:spPr>
          <a:xfrm>
            <a:off x="6083163" y="1474225"/>
            <a:ext cx="5879700" cy="1786800"/>
          </a:xfrm>
          <a:prstGeom prst="rect">
            <a:avLst/>
          </a:prstGeom>
          <a:noFill/>
          <a:ln>
            <a:noFill/>
          </a:ln>
        </p:spPr>
        <p:txBody>
          <a:bodyPr anchorCtr="0" anchor="t" bIns="48925" lIns="39900" spcFirstLastPara="1" rIns="39900" wrap="square" tIns="48925">
            <a:noAutofit/>
          </a:bodyPr>
          <a:lstStyle/>
          <a:p>
            <a:pPr indent="-332155" lvl="0" marL="457200" marR="0" rtl="0" algn="l">
              <a:lnSpc>
                <a:spcPct val="100000"/>
              </a:lnSpc>
              <a:spcBef>
                <a:spcPts val="0"/>
              </a:spcBef>
              <a:spcAft>
                <a:spcPts val="0"/>
              </a:spcAft>
              <a:buClr>
                <a:srgbClr val="26303A"/>
              </a:buClr>
              <a:buSzPts val="1631"/>
              <a:buChar char="●"/>
            </a:pPr>
            <a:r>
              <a:rPr lang="en-US" sz="1631">
                <a:solidFill>
                  <a:srgbClr val="26303A"/>
                </a:solidFill>
              </a:rPr>
              <a:t>El AP (punto de acceso) conecta móviles y otros dispositivos inalámbricamente, se enlaza al switch por cable.</a:t>
            </a:r>
            <a:endParaRPr sz="1631">
              <a:solidFill>
                <a:srgbClr val="26303A"/>
              </a:solidFill>
            </a:endParaRPr>
          </a:p>
          <a:p>
            <a:pPr indent="-332155" lvl="0" marL="457200" marR="0" rtl="0" algn="l">
              <a:lnSpc>
                <a:spcPct val="100000"/>
              </a:lnSpc>
              <a:spcBef>
                <a:spcPts val="0"/>
              </a:spcBef>
              <a:spcAft>
                <a:spcPts val="0"/>
              </a:spcAft>
              <a:buClr>
                <a:srgbClr val="26303A"/>
              </a:buClr>
              <a:buSzPts val="1631"/>
              <a:buChar char="●"/>
            </a:pPr>
            <a:r>
              <a:rPr lang="en-US" sz="1631">
                <a:solidFill>
                  <a:srgbClr val="26303A"/>
                </a:solidFill>
              </a:rPr>
              <a:t>Sí conviene PoE: un solo cable lleva datos y corriente, sin enchufe junto al AP. Hace falta un switch PoE compatible (o un inyector PoE) con potencia suficiente.</a:t>
            </a:r>
            <a:endParaRPr sz="1631">
              <a:solidFill>
                <a:srgbClr val="26303A"/>
              </a:solidFill>
            </a:endParaRPr>
          </a:p>
        </p:txBody>
      </p:sp>
      <p:sp>
        <p:nvSpPr>
          <p:cNvPr id="912" name="Google Shape;912;h3173d30833cc6355_3_3"/>
          <p:cNvSpPr/>
          <p:nvPr/>
        </p:nvSpPr>
        <p:spPr>
          <a:xfrm>
            <a:off x="148338" y="5950313"/>
            <a:ext cx="11810100" cy="638100"/>
          </a:xfrm>
          <a:prstGeom prst="roundRect">
            <a:avLst>
              <a:gd fmla="val 16667" name="adj"/>
            </a:avLst>
          </a:prstGeom>
          <a:solidFill>
            <a:srgbClr val="93C47D"/>
          </a:solidFill>
          <a:ln>
            <a:noFill/>
          </a:ln>
          <a:effectLst>
            <a:outerShdw blurRad="43444" rotWithShape="0" dir="5400000" dist="25049">
              <a:srgbClr val="000000">
                <a:alpha val="34900"/>
              </a:srgbClr>
            </a:outerShdw>
          </a:effectLst>
        </p:spPr>
        <p:txBody>
          <a:bodyPr anchorCtr="0" anchor="ctr" bIns="99400" lIns="99400" spcFirstLastPara="1" rIns="99400" wrap="square" tIns="99400">
            <a:noAutofit/>
          </a:bodyPr>
          <a:lstStyle/>
          <a:p>
            <a:pPr indent="0" lvl="0" marL="0" rtl="0" algn="l">
              <a:spcBef>
                <a:spcPts val="0"/>
              </a:spcBef>
              <a:spcAft>
                <a:spcPts val="0"/>
              </a:spcAft>
              <a:buNone/>
            </a:pPr>
            <a:r>
              <a:t/>
            </a:r>
            <a:endParaRPr sz="1522"/>
          </a:p>
        </p:txBody>
      </p:sp>
      <p:sp>
        <p:nvSpPr>
          <p:cNvPr id="913" name="Google Shape;913;h3173d30833cc6355_3_3"/>
          <p:cNvSpPr/>
          <p:nvPr/>
        </p:nvSpPr>
        <p:spPr>
          <a:xfrm>
            <a:off x="234800" y="5950325"/>
            <a:ext cx="11723700" cy="638100"/>
          </a:xfrm>
          <a:prstGeom prst="rect">
            <a:avLst/>
          </a:prstGeom>
          <a:noFill/>
          <a:ln>
            <a:noFill/>
          </a:ln>
        </p:spPr>
        <p:txBody>
          <a:bodyPr anchorCtr="0" anchor="t" bIns="48925" lIns="39900" spcFirstLastPara="1" rIns="39900" wrap="square" tIns="48925">
            <a:noAutofit/>
          </a:bodyPr>
          <a:lstStyle/>
          <a:p>
            <a:pPr indent="0" lvl="0" marL="0" marR="0" rtl="0" algn="l">
              <a:lnSpc>
                <a:spcPct val="100000"/>
              </a:lnSpc>
              <a:spcBef>
                <a:spcPts val="0"/>
              </a:spcBef>
              <a:spcAft>
                <a:spcPts val="0"/>
              </a:spcAft>
              <a:buNone/>
            </a:pPr>
            <a:r>
              <a:rPr lang="en-US" sz="1740">
                <a:solidFill>
                  <a:srgbClr val="12496F"/>
                </a:solidFill>
              </a:rPr>
              <a:t>PoE: electricidad por el cable de red (un solo cable lleva datos y corriente). AP: el equipo que da Wi-Fi a tabletas y móviles. RJ-45: el conector del cable de red. SFP/SFP+: ranura del switch donde se pone un módulo para fibra óptica.</a:t>
            </a:r>
            <a:endParaRPr b="0" i="0" sz="1740" u="none" cap="none" strike="noStrike">
              <a:latin typeface="Arial"/>
              <a:ea typeface="Arial"/>
              <a:cs typeface="Arial"/>
              <a:sym typeface="Arial"/>
            </a:endParaRPr>
          </a:p>
        </p:txBody>
      </p:sp>
      <p:pic>
        <p:nvPicPr>
          <p:cNvPr id="914" name="Google Shape;914;h3173d30833cc6355_3_3"/>
          <p:cNvPicPr preferRelativeResize="0"/>
          <p:nvPr/>
        </p:nvPicPr>
        <p:blipFill>
          <a:blip r:embed="rId3">
            <a:alphaModFix/>
          </a:blip>
          <a:stretch>
            <a:fillRect/>
          </a:stretch>
        </p:blipFill>
        <p:spPr>
          <a:xfrm>
            <a:off x="152400" y="3432384"/>
            <a:ext cx="11589960" cy="236552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sp>
        <p:nvSpPr>
          <p:cNvPr id="919" name="Google Shape;919;h3173d30833cc6355_26_33"/>
          <p:cNvSpPr/>
          <p:nvPr/>
        </p:nvSpPr>
        <p:spPr>
          <a:xfrm>
            <a:off x="51825" y="34975"/>
            <a:ext cx="12191400" cy="658200"/>
          </a:xfrm>
          <a:prstGeom prst="rect">
            <a:avLst/>
          </a:prstGeom>
          <a:solidFill>
            <a:srgbClr val="12496F"/>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h3173d30833cc6355_26_33"/>
          <p:cNvSpPr/>
          <p:nvPr/>
        </p:nvSpPr>
        <p:spPr>
          <a:xfrm>
            <a:off x="249150" y="101103"/>
            <a:ext cx="10972500" cy="4560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lang="en-US" sz="2400">
                <a:solidFill>
                  <a:srgbClr val="FFFFFF"/>
                </a:solidFill>
              </a:rPr>
              <a:t>ZZ</a:t>
            </a:r>
            <a:r>
              <a:rPr b="1" i="0" lang="en-US" sz="2400" u="none" cap="none" strike="noStrike">
                <a:solidFill>
                  <a:srgbClr val="FFFFFF"/>
                </a:solidFill>
                <a:latin typeface="Arial"/>
                <a:ea typeface="Arial"/>
                <a:cs typeface="Arial"/>
                <a:sym typeface="Arial"/>
              </a:rPr>
              <a:t>· </a:t>
            </a:r>
            <a:r>
              <a:rPr b="1" lang="en-US" sz="2400">
                <a:solidFill>
                  <a:srgbClr val="FFFFFF"/>
                </a:solidFill>
              </a:rPr>
              <a:t>Alimentación PoE: Daniel Piedra</a:t>
            </a:r>
            <a:endParaRPr b="0" i="0" sz="2400" u="none" cap="none" strike="noStrike">
              <a:latin typeface="Arial"/>
              <a:ea typeface="Arial"/>
              <a:cs typeface="Arial"/>
              <a:sym typeface="Arial"/>
            </a:endParaRPr>
          </a:p>
        </p:txBody>
      </p:sp>
      <p:sp>
        <p:nvSpPr>
          <p:cNvPr id="921" name="Google Shape;921;h3173d30833cc6355_26_33"/>
          <p:cNvSpPr/>
          <p:nvPr/>
        </p:nvSpPr>
        <p:spPr>
          <a:xfrm>
            <a:off x="331025" y="802600"/>
            <a:ext cx="11476800" cy="1530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2" name="Google Shape;922;h3173d30833cc6355_26_33"/>
          <p:cNvSpPr txBox="1"/>
          <p:nvPr/>
        </p:nvSpPr>
        <p:spPr>
          <a:xfrm>
            <a:off x="596475" y="838075"/>
            <a:ext cx="11102100" cy="138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US" sz="1600">
                <a:solidFill>
                  <a:schemeClr val="dk1"/>
                </a:solidFill>
              </a:rPr>
              <a:t>¿QUÉ ES PoE?</a:t>
            </a:r>
            <a:endParaRPr b="1"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PoE (</a:t>
            </a:r>
            <a:r>
              <a:rPr i="1" lang="en-US">
                <a:solidFill>
                  <a:schemeClr val="dk1"/>
                </a:solidFill>
              </a:rPr>
              <a:t>Power over Ethernet</a:t>
            </a:r>
            <a:r>
              <a:rPr lang="en-US">
                <a:solidFill>
                  <a:schemeClr val="dk1"/>
                </a:solidFill>
              </a:rPr>
              <a:t>) es una tecnología que permite transmitir datos y alimentación eléctrica a través de un mismo cable Ethernet.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Gracias a esta tecnología, dispositivos como cámaras IP, puntos de acceso Wi-Fi y teléfonos VoIP pueden funcionar sin necesidad de una fuente de alimentación independiente.</a:t>
            </a:r>
            <a:endParaRPr>
              <a:solidFill>
                <a:schemeClr val="dk1"/>
              </a:solidFill>
            </a:endParaRPr>
          </a:p>
          <a:p>
            <a:pPr indent="0" lvl="0" marL="0" rtl="0" algn="l">
              <a:spcBef>
                <a:spcPts val="1200"/>
              </a:spcBef>
              <a:spcAft>
                <a:spcPts val="0"/>
              </a:spcAft>
              <a:buNone/>
            </a:pPr>
            <a:r>
              <a:t/>
            </a:r>
            <a:endParaRPr sz="1800"/>
          </a:p>
        </p:txBody>
      </p:sp>
      <p:sp>
        <p:nvSpPr>
          <p:cNvPr id="923" name="Google Shape;923;h3173d30833cc6355_26_33"/>
          <p:cNvSpPr/>
          <p:nvPr/>
        </p:nvSpPr>
        <p:spPr>
          <a:xfrm>
            <a:off x="249150" y="2477300"/>
            <a:ext cx="3642000" cy="2525700"/>
          </a:xfrm>
          <a:prstGeom prst="roundRect">
            <a:avLst>
              <a:gd fmla="val 16667" name="adj"/>
            </a:avLst>
          </a:prstGeom>
          <a:solidFill>
            <a:srgbClr val="12496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4" name="Google Shape;924;h3173d30833cc6355_26_33"/>
          <p:cNvSpPr txBox="1"/>
          <p:nvPr/>
        </p:nvSpPr>
        <p:spPr>
          <a:xfrm>
            <a:off x="643325" y="2578400"/>
            <a:ext cx="2997900" cy="22527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US" sz="1900">
                <a:solidFill>
                  <a:schemeClr val="lt1"/>
                </a:solidFill>
              </a:rPr>
              <a:t>VENTAJAS DE PoE</a:t>
            </a:r>
            <a:endParaRPr b="1" sz="1800">
              <a:solidFill>
                <a:schemeClr val="lt1"/>
              </a:solidFill>
            </a:endParaRPr>
          </a:p>
          <a:p>
            <a:pPr indent="-330200" lvl="0" marL="457200" rtl="0" algn="l">
              <a:lnSpc>
                <a:spcPct val="115000"/>
              </a:lnSpc>
              <a:spcBef>
                <a:spcPts val="1200"/>
              </a:spcBef>
              <a:spcAft>
                <a:spcPts val="0"/>
              </a:spcAft>
              <a:buClr>
                <a:schemeClr val="lt1"/>
              </a:buClr>
              <a:buSzPts val="1600"/>
              <a:buChar char="●"/>
            </a:pPr>
            <a:r>
              <a:rPr lang="en-US" sz="1600">
                <a:solidFill>
                  <a:schemeClr val="lt1"/>
                </a:solidFill>
              </a:rPr>
              <a:t>Reduce cables y enchufes.</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lang="en-US" sz="1600">
                <a:solidFill>
                  <a:schemeClr val="lt1"/>
                </a:solidFill>
              </a:rPr>
              <a:t>Ahorra costes de instalación.</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lang="en-US" sz="1600">
                <a:solidFill>
                  <a:schemeClr val="lt1"/>
                </a:solidFill>
              </a:rPr>
              <a:t>Facilita la instalación de dispositivos.</a:t>
            </a:r>
            <a:endParaRPr sz="1600">
              <a:solidFill>
                <a:schemeClr val="lt1"/>
              </a:solidFill>
            </a:endParaRPr>
          </a:p>
          <a:p>
            <a:pPr indent="0" lvl="0" marL="0" rtl="0" algn="l">
              <a:spcBef>
                <a:spcPts val="1200"/>
              </a:spcBef>
              <a:spcAft>
                <a:spcPts val="0"/>
              </a:spcAft>
              <a:buNone/>
            </a:pPr>
            <a:r>
              <a:t/>
            </a:r>
            <a:endParaRPr b="1" sz="1300">
              <a:solidFill>
                <a:schemeClr val="lt1"/>
              </a:solidFill>
            </a:endParaRPr>
          </a:p>
        </p:txBody>
      </p:sp>
      <p:sp>
        <p:nvSpPr>
          <p:cNvPr id="925" name="Google Shape;925;h3173d30833cc6355_26_33"/>
          <p:cNvSpPr txBox="1"/>
          <p:nvPr/>
        </p:nvSpPr>
        <p:spPr>
          <a:xfrm>
            <a:off x="4390875" y="2770050"/>
            <a:ext cx="6830700" cy="45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sz="1800">
                <a:solidFill>
                  <a:schemeClr val="dk1"/>
                </a:solidFill>
              </a:rPr>
              <a:t>Router → Switch PoE → Cámara IP</a:t>
            </a:r>
            <a:endParaRPr b="1"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rPr>
              <a:t>También es compatible con puntos de acceso Wi-Fi y teléfonos IP.</a:t>
            </a:r>
            <a:endParaRPr sz="1200">
              <a:solidFill>
                <a:schemeClr val="dk1"/>
              </a:solidFill>
            </a:endParaRPr>
          </a:p>
          <a:p>
            <a:pPr indent="0" lvl="0" marL="0" rtl="0" algn="l">
              <a:spcBef>
                <a:spcPts val="1200"/>
              </a:spcBef>
              <a:spcAft>
                <a:spcPts val="0"/>
              </a:spcAft>
              <a:buNone/>
            </a:pPr>
            <a:r>
              <a:t/>
            </a:r>
            <a:endParaRPr sz="2500"/>
          </a:p>
        </p:txBody>
      </p:sp>
      <p:pic>
        <p:nvPicPr>
          <p:cNvPr id="926" name="Google Shape;926;h3173d30833cc6355_26_33"/>
          <p:cNvPicPr preferRelativeResize="0"/>
          <p:nvPr/>
        </p:nvPicPr>
        <p:blipFill>
          <a:blip r:embed="rId3">
            <a:alphaModFix/>
          </a:blip>
          <a:stretch>
            <a:fillRect/>
          </a:stretch>
        </p:blipFill>
        <p:spPr>
          <a:xfrm>
            <a:off x="4418200" y="3772625"/>
            <a:ext cx="4729351" cy="1530300"/>
          </a:xfrm>
          <a:prstGeom prst="rect">
            <a:avLst/>
          </a:prstGeom>
          <a:noFill/>
          <a:ln>
            <a:noFill/>
          </a:ln>
        </p:spPr>
      </p:pic>
      <p:sp>
        <p:nvSpPr>
          <p:cNvPr id="927" name="Google Shape;927;h3173d30833cc6355_26_33"/>
          <p:cNvSpPr txBox="1"/>
          <p:nvPr/>
        </p:nvSpPr>
        <p:spPr>
          <a:xfrm>
            <a:off x="9621900" y="2975000"/>
            <a:ext cx="1920600" cy="1530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sz="1800"/>
          </a:p>
        </p:txBody>
      </p:sp>
      <p:sp>
        <p:nvSpPr>
          <p:cNvPr id="928" name="Google Shape;928;h3173d30833cc6355_26_33"/>
          <p:cNvSpPr/>
          <p:nvPr/>
        </p:nvSpPr>
        <p:spPr>
          <a:xfrm>
            <a:off x="9387600" y="2676375"/>
            <a:ext cx="2420100" cy="2154600"/>
          </a:xfrm>
          <a:prstGeom prst="roundRect">
            <a:avLst>
              <a:gd fmla="val 16667" name="adj"/>
            </a:avLst>
          </a:prstGeom>
          <a:solidFill>
            <a:srgbClr val="12496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US" sz="1300">
                <a:solidFill>
                  <a:schemeClr val="lt1"/>
                </a:solidFill>
              </a:rPr>
              <a:t>E</a:t>
            </a:r>
            <a:r>
              <a:rPr b="1" lang="en-US">
                <a:solidFill>
                  <a:schemeClr val="lt1"/>
                </a:solidFill>
              </a:rPr>
              <a:t>stándares PoE</a:t>
            </a:r>
            <a:endParaRPr b="1">
              <a:solidFill>
                <a:schemeClr val="lt1"/>
              </a:solidFill>
            </a:endParaRPr>
          </a:p>
          <a:p>
            <a:pPr indent="-304800" lvl="0" marL="457200" rtl="0" algn="l">
              <a:lnSpc>
                <a:spcPct val="115000"/>
              </a:lnSpc>
              <a:spcBef>
                <a:spcPts val="1200"/>
              </a:spcBef>
              <a:spcAft>
                <a:spcPts val="0"/>
              </a:spcAft>
              <a:buClr>
                <a:schemeClr val="lt1"/>
              </a:buClr>
              <a:buSzPts val="1200"/>
              <a:buChar char="●"/>
            </a:pPr>
            <a:r>
              <a:rPr b="1" lang="en-US" sz="1200">
                <a:solidFill>
                  <a:schemeClr val="lt1"/>
                </a:solidFill>
              </a:rPr>
              <a:t>802.3af:</a:t>
            </a:r>
            <a:r>
              <a:rPr lang="en-US" sz="1200">
                <a:solidFill>
                  <a:schemeClr val="lt1"/>
                </a:solidFill>
              </a:rPr>
              <a:t> hasta 15,4 W.</a:t>
            </a:r>
            <a:endParaRPr sz="1200">
              <a:solidFill>
                <a:schemeClr val="lt1"/>
              </a:solidFill>
            </a:endParaRPr>
          </a:p>
          <a:p>
            <a:pPr indent="-304800" lvl="0" marL="457200" rtl="0" algn="l">
              <a:lnSpc>
                <a:spcPct val="115000"/>
              </a:lnSpc>
              <a:spcBef>
                <a:spcPts val="0"/>
              </a:spcBef>
              <a:spcAft>
                <a:spcPts val="0"/>
              </a:spcAft>
              <a:buClr>
                <a:schemeClr val="lt1"/>
              </a:buClr>
              <a:buSzPts val="1200"/>
              <a:buChar char="●"/>
            </a:pPr>
            <a:r>
              <a:rPr b="1" lang="en-US" sz="1200">
                <a:solidFill>
                  <a:schemeClr val="lt1"/>
                </a:solidFill>
              </a:rPr>
              <a:t>802.3at:</a:t>
            </a:r>
            <a:r>
              <a:rPr lang="en-US" sz="1200">
                <a:solidFill>
                  <a:schemeClr val="lt1"/>
                </a:solidFill>
              </a:rPr>
              <a:t> hasta 30 W.</a:t>
            </a:r>
            <a:endParaRPr sz="1200">
              <a:solidFill>
                <a:schemeClr val="lt1"/>
              </a:solidFill>
            </a:endParaRPr>
          </a:p>
          <a:p>
            <a:pPr indent="-304800" lvl="0" marL="457200" rtl="0" algn="l">
              <a:lnSpc>
                <a:spcPct val="115000"/>
              </a:lnSpc>
              <a:spcBef>
                <a:spcPts val="0"/>
              </a:spcBef>
              <a:spcAft>
                <a:spcPts val="0"/>
              </a:spcAft>
              <a:buClr>
                <a:schemeClr val="lt1"/>
              </a:buClr>
              <a:buSzPts val="1200"/>
              <a:buChar char="●"/>
            </a:pPr>
            <a:r>
              <a:rPr b="1" lang="en-US" sz="1200">
                <a:solidFill>
                  <a:schemeClr val="lt1"/>
                </a:solidFill>
              </a:rPr>
              <a:t>802.3bt:</a:t>
            </a:r>
            <a:r>
              <a:rPr lang="en-US" sz="1200">
                <a:solidFill>
                  <a:schemeClr val="lt1"/>
                </a:solidFill>
              </a:rPr>
              <a:t> hasta 60–90 W, según el tipo.</a:t>
            </a:r>
            <a:endParaRPr sz="1200">
              <a:solidFill>
                <a:schemeClr val="lt1"/>
              </a:solidFill>
            </a:endParaRPr>
          </a:p>
          <a:p>
            <a:pPr indent="0" lvl="0" marL="0" rtl="0" algn="ctr">
              <a:spcBef>
                <a:spcPts val="1200"/>
              </a:spcBef>
              <a:spcAft>
                <a:spcPts val="0"/>
              </a:spcAft>
              <a:buNone/>
            </a:pPr>
            <a:r>
              <a:t/>
            </a:r>
            <a:endParaRPr/>
          </a:p>
        </p:txBody>
      </p:sp>
      <p:sp>
        <p:nvSpPr>
          <p:cNvPr id="929" name="Google Shape;929;h3173d30833cc6355_26_33"/>
          <p:cNvSpPr/>
          <p:nvPr/>
        </p:nvSpPr>
        <p:spPr>
          <a:xfrm>
            <a:off x="331025" y="5518250"/>
            <a:ext cx="4856100" cy="1249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lnSpc>
                <a:spcPct val="115000"/>
              </a:lnSpc>
              <a:spcBef>
                <a:spcPts val="1200"/>
              </a:spcBef>
              <a:spcAft>
                <a:spcPts val="0"/>
              </a:spcAft>
              <a:buNone/>
            </a:pPr>
            <a:r>
              <a:t/>
            </a:r>
            <a:endParaRPr sz="1100">
              <a:solidFill>
                <a:schemeClr val="dk1"/>
              </a:solidFill>
            </a:endParaRPr>
          </a:p>
          <a:p>
            <a:pPr indent="0" lvl="0" marL="0" rtl="0" algn="ctr">
              <a:spcBef>
                <a:spcPts val="1200"/>
              </a:spcBef>
              <a:spcAft>
                <a:spcPts val="0"/>
              </a:spcAft>
              <a:buNone/>
            </a:pPr>
            <a:r>
              <a:t/>
            </a:r>
            <a:endParaRPr/>
          </a:p>
        </p:txBody>
      </p:sp>
      <p:sp>
        <p:nvSpPr>
          <p:cNvPr id="930" name="Google Shape;930;h3173d30833cc6355_26_33"/>
          <p:cNvSpPr txBox="1"/>
          <p:nvPr/>
        </p:nvSpPr>
        <p:spPr>
          <a:xfrm>
            <a:off x="471550" y="5674400"/>
            <a:ext cx="7604400" cy="936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US" sz="1500">
                <a:solidFill>
                  <a:schemeClr val="dk1"/>
                </a:solidFill>
              </a:rPr>
              <a:t>Switch PoE vs. inyector PoE</a:t>
            </a:r>
            <a:endParaRPr b="1" sz="1500">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US" sz="1300">
                <a:solidFill>
                  <a:schemeClr val="dk1"/>
                </a:solidFill>
              </a:rPr>
              <a:t>Switch PoE:</a:t>
            </a:r>
            <a:r>
              <a:rPr lang="en-US" sz="1300">
                <a:solidFill>
                  <a:schemeClr val="dk1"/>
                </a:solidFill>
              </a:rPr>
              <a:t> alimenta varios dispositivos.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US" sz="1300">
                <a:solidFill>
                  <a:schemeClr val="dk1"/>
                </a:solidFill>
              </a:rPr>
              <a:t>Inyector PoE:</a:t>
            </a:r>
            <a:r>
              <a:rPr lang="en-US" sz="1300">
                <a:solidFill>
                  <a:schemeClr val="dk1"/>
                </a:solidFill>
              </a:rPr>
              <a:t> añade alimentación a un dispositivo.</a:t>
            </a:r>
            <a:endParaRPr sz="1300">
              <a:solidFill>
                <a:schemeClr val="dk1"/>
              </a:solidFill>
            </a:endParaRPr>
          </a:p>
          <a:p>
            <a:pPr indent="0" lvl="0" marL="0" rtl="0" algn="l">
              <a:spcBef>
                <a:spcPts val="1200"/>
              </a:spcBef>
              <a:spcAft>
                <a:spcPts val="0"/>
              </a:spcAft>
              <a:buNone/>
            </a:pPr>
            <a:r>
              <a:t/>
            </a:r>
            <a:endParaRPr sz="1800"/>
          </a:p>
        </p:txBody>
      </p:sp>
      <p:pic>
        <p:nvPicPr>
          <p:cNvPr id="931" name="Google Shape;931;h3173d30833cc6355_26_33"/>
          <p:cNvPicPr preferRelativeResize="0"/>
          <p:nvPr/>
        </p:nvPicPr>
        <p:blipFill>
          <a:blip r:embed="rId4">
            <a:alphaModFix/>
          </a:blip>
          <a:stretch>
            <a:fillRect/>
          </a:stretch>
        </p:blipFill>
        <p:spPr>
          <a:xfrm>
            <a:off x="5749450" y="5337900"/>
            <a:ext cx="2583348" cy="1385400"/>
          </a:xfrm>
          <a:prstGeom prst="rect">
            <a:avLst/>
          </a:prstGeom>
          <a:noFill/>
          <a:ln>
            <a:noFill/>
          </a:ln>
        </p:spPr>
      </p:pic>
      <p:sp>
        <p:nvSpPr>
          <p:cNvPr id="932" name="Google Shape;932;h3173d30833cc6355_26_33"/>
          <p:cNvSpPr/>
          <p:nvPr/>
        </p:nvSpPr>
        <p:spPr>
          <a:xfrm>
            <a:off x="8622475" y="5302925"/>
            <a:ext cx="3185400" cy="1530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t/>
            </a:r>
            <a:endParaRPr/>
          </a:p>
          <a:p>
            <a:pPr indent="0" lvl="0" marL="0" rtl="0" algn="ctr">
              <a:spcBef>
                <a:spcPts val="1200"/>
              </a:spcBef>
              <a:spcAft>
                <a:spcPts val="0"/>
              </a:spcAft>
              <a:buNone/>
            </a:pPr>
            <a:r>
              <a:t/>
            </a:r>
            <a:endParaRPr/>
          </a:p>
        </p:txBody>
      </p:sp>
      <p:sp>
        <p:nvSpPr>
          <p:cNvPr id="933" name="Google Shape;933;h3173d30833cc6355_26_33"/>
          <p:cNvSpPr txBox="1"/>
          <p:nvPr/>
        </p:nvSpPr>
        <p:spPr>
          <a:xfrm>
            <a:off x="8782075" y="5337950"/>
            <a:ext cx="2866200" cy="1249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1200"/>
              <a:t>La tecnología PoE simplifica las instalaciones al transmitir datos y electricidad por un solo cable. Además, reduce costes y facilita la conexión de cámaras IP, puntos de acceso Wi-Fi y teléfonos IP.</a:t>
            </a:r>
            <a:endParaRPr sz="1200"/>
          </a:p>
          <a:p>
            <a:pPr indent="0" lvl="0" marL="0" rtl="0" algn="l">
              <a:spcBef>
                <a:spcPts val="1200"/>
              </a:spcBef>
              <a:spcAft>
                <a:spcPts val="0"/>
              </a:spcAft>
              <a:buNone/>
            </a:pPr>
            <a:r>
              <a:t/>
            </a:r>
            <a:endParaRPr sz="12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18"/>
          <p:cNvSpPr/>
          <p:nvPr/>
        </p:nvSpPr>
        <p:spPr>
          <a:xfrm>
            <a:off x="0" y="0"/>
            <a:ext cx="12191400" cy="658200"/>
          </a:xfrm>
          <a:prstGeom prst="rect">
            <a:avLst/>
          </a:prstGeom>
          <a:solidFill>
            <a:srgbClr val="12496F"/>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18"/>
          <p:cNvSpPr/>
          <p:nvPr/>
        </p:nvSpPr>
        <p:spPr>
          <a:xfrm>
            <a:off x="567000" y="82440"/>
            <a:ext cx="10972500" cy="4560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1" i="0" lang="en-US" sz="2400" u="none" cap="none" strike="noStrike">
                <a:solidFill>
                  <a:srgbClr val="FFFFFF"/>
                </a:solidFill>
                <a:latin typeface="Arial"/>
                <a:ea typeface="Arial"/>
                <a:cs typeface="Arial"/>
                <a:sym typeface="Arial"/>
              </a:rPr>
              <a:t>17 · Diagnóstico por capas: Ismael Portill</a:t>
            </a:r>
            <a:r>
              <a:rPr b="1" lang="en-US" sz="2400">
                <a:solidFill>
                  <a:srgbClr val="FFFFFF"/>
                </a:solidFill>
              </a:rPr>
              <a:t>o Parte 1</a:t>
            </a:r>
            <a:endParaRPr b="0" i="0" sz="2400" u="none" cap="none" strike="noStrike">
              <a:latin typeface="Arial"/>
              <a:ea typeface="Arial"/>
              <a:cs typeface="Arial"/>
              <a:sym typeface="Arial"/>
            </a:endParaRPr>
          </a:p>
        </p:txBody>
      </p:sp>
      <p:sp>
        <p:nvSpPr>
          <p:cNvPr id="940" name="Google Shape;940;p18"/>
          <p:cNvSpPr/>
          <p:nvPr/>
        </p:nvSpPr>
        <p:spPr>
          <a:xfrm>
            <a:off x="567000" y="1016812"/>
            <a:ext cx="5323800" cy="1938900"/>
          </a:xfrm>
          <a:prstGeom prst="roundRect">
            <a:avLst>
              <a:gd fmla="val 16667" name="adj"/>
            </a:avLst>
          </a:prstGeom>
          <a:solidFill>
            <a:srgbClr val="E7F1F9"/>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18"/>
          <p:cNvSpPr/>
          <p:nvPr/>
        </p:nvSpPr>
        <p:spPr>
          <a:xfrm>
            <a:off x="680105" y="1133330"/>
            <a:ext cx="5097600" cy="3954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1" i="0" lang="en-US" sz="2000" u="none" cap="none" strike="noStrike">
                <a:solidFill>
                  <a:srgbClr val="12496F"/>
                </a:solidFill>
                <a:latin typeface="Arial"/>
                <a:ea typeface="Arial"/>
                <a:cs typeface="Arial"/>
                <a:sym typeface="Arial"/>
              </a:rPr>
              <a:t>Física</a:t>
            </a:r>
            <a:endParaRPr b="0" i="0" sz="2000" u="none" cap="none" strike="noStrike">
              <a:latin typeface="Arial"/>
              <a:ea typeface="Arial"/>
              <a:cs typeface="Arial"/>
              <a:sym typeface="Arial"/>
            </a:endParaRPr>
          </a:p>
        </p:txBody>
      </p:sp>
      <p:sp>
        <p:nvSpPr>
          <p:cNvPr id="942" name="Google Shape;942;p18"/>
          <p:cNvSpPr/>
          <p:nvPr/>
        </p:nvSpPr>
        <p:spPr>
          <a:xfrm>
            <a:off x="680100" y="1579638"/>
            <a:ext cx="5097600" cy="1176900"/>
          </a:xfrm>
          <a:prstGeom prst="rect">
            <a:avLst/>
          </a:prstGeom>
          <a:noFill/>
          <a:ln>
            <a:noFill/>
          </a:ln>
        </p:spPr>
        <p:txBody>
          <a:bodyPr anchorCtr="0" anchor="t" bIns="45000" lIns="36700" spcFirstLastPara="1" rIns="36700" wrap="square" tIns="45000">
            <a:spAutoFit/>
          </a:bodyPr>
          <a:lstStyle/>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Comprobar que el cable no esté dañado, doblado o mal crimpado.</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LED del puerto: verde fijo = enlace activo; apagado = sin enlace; naranja o parpadeo rápido = posible error o negociación a baja velocidad.</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Verificar alimentación del switch/AP.</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Revisar conectores, rosetas y latiguillos; probar otro puerto.</a:t>
            </a:r>
            <a:endParaRPr b="1" sz="1100">
              <a:solidFill>
                <a:schemeClr val="dk1"/>
              </a:solidFill>
            </a:endParaRPr>
          </a:p>
          <a:p>
            <a:pPr indent="0" lvl="0" marL="0" marR="0" rtl="0" algn="l">
              <a:lnSpc>
                <a:spcPct val="100000"/>
              </a:lnSpc>
              <a:spcBef>
                <a:spcPts val="1200"/>
              </a:spcBef>
              <a:spcAft>
                <a:spcPts val="0"/>
              </a:spcAft>
              <a:buNone/>
            </a:pPr>
            <a:r>
              <a:t/>
            </a:r>
            <a:endParaRPr sz="2000">
              <a:solidFill>
                <a:srgbClr val="26303A"/>
              </a:solidFill>
            </a:endParaRPr>
          </a:p>
        </p:txBody>
      </p:sp>
      <p:sp>
        <p:nvSpPr>
          <p:cNvPr id="943" name="Google Shape;943;p18"/>
          <p:cNvSpPr/>
          <p:nvPr/>
        </p:nvSpPr>
        <p:spPr>
          <a:xfrm>
            <a:off x="6183250" y="4312800"/>
            <a:ext cx="5366100" cy="1993500"/>
          </a:xfrm>
          <a:prstGeom prst="roundRect">
            <a:avLst>
              <a:gd fmla="val 16667" name="adj"/>
            </a:avLst>
          </a:prstGeom>
          <a:solidFill>
            <a:srgbClr val="EBF5EB"/>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18"/>
          <p:cNvSpPr/>
          <p:nvPr/>
        </p:nvSpPr>
        <p:spPr>
          <a:xfrm>
            <a:off x="6362710" y="4510493"/>
            <a:ext cx="5097600" cy="3954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1" i="0" lang="en-US" sz="2000" u="none" cap="none" strike="noStrike">
                <a:solidFill>
                  <a:srgbClr val="12496F"/>
                </a:solidFill>
                <a:latin typeface="Arial"/>
                <a:ea typeface="Arial"/>
                <a:cs typeface="Arial"/>
                <a:sym typeface="Arial"/>
              </a:rPr>
              <a:t>Enlace</a:t>
            </a:r>
            <a:endParaRPr b="0" i="0" sz="2000" u="none" cap="none" strike="noStrike">
              <a:latin typeface="Arial"/>
              <a:ea typeface="Arial"/>
              <a:cs typeface="Arial"/>
              <a:sym typeface="Arial"/>
            </a:endParaRPr>
          </a:p>
        </p:txBody>
      </p:sp>
      <p:sp>
        <p:nvSpPr>
          <p:cNvPr id="945" name="Google Shape;945;p18"/>
          <p:cNvSpPr/>
          <p:nvPr/>
        </p:nvSpPr>
        <p:spPr>
          <a:xfrm>
            <a:off x="6249610" y="4959450"/>
            <a:ext cx="5097600" cy="700200"/>
          </a:xfrm>
          <a:prstGeom prst="rect">
            <a:avLst/>
          </a:prstGeom>
          <a:noFill/>
          <a:ln>
            <a:noFill/>
          </a:ln>
        </p:spPr>
        <p:txBody>
          <a:bodyPr anchorCtr="0" anchor="t" bIns="45000" lIns="36700" spcFirstLastPara="1" rIns="36700" wrap="square" tIns="45000">
            <a:spAutoFit/>
          </a:bodyPr>
          <a:lstStyle/>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Confirmar que la NIC está habilitada y reconocida.</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Revisar velocidad y dúplex negociados, un desajuste causa lentitud y pérdida de paquetes.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En switch: estado del puerto (up/down), errores CRC, colisiones y VLAN asignada.</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En Wi-Fi: SSID correcto, señal (RSSI) y asociación al AP.</a:t>
            </a:r>
            <a:endParaRPr sz="1100">
              <a:solidFill>
                <a:schemeClr val="dk1"/>
              </a:solidFill>
            </a:endParaRPr>
          </a:p>
          <a:p>
            <a:pPr indent="0" lvl="0" marL="0" marR="0" rtl="0" algn="l">
              <a:lnSpc>
                <a:spcPct val="100000"/>
              </a:lnSpc>
              <a:spcBef>
                <a:spcPts val="1200"/>
              </a:spcBef>
              <a:spcAft>
                <a:spcPts val="0"/>
              </a:spcAft>
              <a:buNone/>
            </a:pPr>
            <a:r>
              <a:t/>
            </a:r>
            <a:endParaRPr sz="2000">
              <a:solidFill>
                <a:srgbClr val="26303A"/>
              </a:solidFill>
            </a:endParaRPr>
          </a:p>
        </p:txBody>
      </p:sp>
      <p:sp>
        <p:nvSpPr>
          <p:cNvPr id="946" name="Google Shape;946;p18"/>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947" name="Google Shape;947;p18"/>
          <p:cNvPicPr preferRelativeResize="0"/>
          <p:nvPr/>
        </p:nvPicPr>
        <p:blipFill>
          <a:blip r:embed="rId3">
            <a:alphaModFix/>
          </a:blip>
          <a:stretch>
            <a:fillRect/>
          </a:stretch>
        </p:blipFill>
        <p:spPr>
          <a:xfrm>
            <a:off x="6810825" y="1016798"/>
            <a:ext cx="4348600" cy="2514050"/>
          </a:xfrm>
          <a:prstGeom prst="rect">
            <a:avLst/>
          </a:prstGeom>
          <a:noFill/>
          <a:ln>
            <a:noFill/>
          </a:ln>
        </p:spPr>
      </p:pic>
      <p:pic>
        <p:nvPicPr>
          <p:cNvPr id="948" name="Google Shape;948;p18"/>
          <p:cNvPicPr preferRelativeResize="0"/>
          <p:nvPr/>
        </p:nvPicPr>
        <p:blipFill>
          <a:blip r:embed="rId4">
            <a:alphaModFix/>
          </a:blip>
          <a:stretch>
            <a:fillRect/>
          </a:stretch>
        </p:blipFill>
        <p:spPr>
          <a:xfrm>
            <a:off x="992675" y="3797750"/>
            <a:ext cx="4440924" cy="26081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sp>
        <p:nvSpPr>
          <p:cNvPr id="953" name="Google Shape;953;h3173d30833cc6355_13_57"/>
          <p:cNvSpPr/>
          <p:nvPr/>
        </p:nvSpPr>
        <p:spPr>
          <a:xfrm>
            <a:off x="0" y="0"/>
            <a:ext cx="12191400" cy="658200"/>
          </a:xfrm>
          <a:prstGeom prst="rect">
            <a:avLst/>
          </a:prstGeom>
          <a:solidFill>
            <a:srgbClr val="12496F"/>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h3173d30833cc6355_13_57"/>
          <p:cNvSpPr/>
          <p:nvPr/>
        </p:nvSpPr>
        <p:spPr>
          <a:xfrm>
            <a:off x="567000" y="82440"/>
            <a:ext cx="10972500" cy="4560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i="0" lang="en-US" sz="2400" u="none" cap="none" strike="noStrike">
                <a:solidFill>
                  <a:srgbClr val="FFFFFF"/>
                </a:solidFill>
                <a:latin typeface="Arial"/>
                <a:ea typeface="Arial"/>
                <a:cs typeface="Arial"/>
                <a:sym typeface="Arial"/>
              </a:rPr>
              <a:t>17 · Diagnóstico por capas: Ismael Portill</a:t>
            </a:r>
            <a:r>
              <a:rPr b="1" lang="en-US" sz="2400">
                <a:solidFill>
                  <a:srgbClr val="FFFFFF"/>
                </a:solidFill>
              </a:rPr>
              <a:t>o Parte 2 </a:t>
            </a:r>
            <a:endParaRPr b="0" i="0" sz="2400" u="none" cap="none" strike="noStrike">
              <a:latin typeface="Arial"/>
              <a:ea typeface="Arial"/>
              <a:cs typeface="Arial"/>
              <a:sym typeface="Arial"/>
            </a:endParaRPr>
          </a:p>
        </p:txBody>
      </p:sp>
      <p:sp>
        <p:nvSpPr>
          <p:cNvPr id="955" name="Google Shape;955;h3173d30833cc6355_13_57"/>
          <p:cNvSpPr/>
          <p:nvPr/>
        </p:nvSpPr>
        <p:spPr>
          <a:xfrm>
            <a:off x="305500" y="1026075"/>
            <a:ext cx="5323800" cy="1938900"/>
          </a:xfrm>
          <a:prstGeom prst="roundRect">
            <a:avLst>
              <a:gd fmla="val 16667" name="adj"/>
            </a:avLst>
          </a:prstGeom>
          <a:solidFill>
            <a:srgbClr val="FFF2E0"/>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h3173d30833cc6355_13_57"/>
          <p:cNvSpPr/>
          <p:nvPr/>
        </p:nvSpPr>
        <p:spPr>
          <a:xfrm>
            <a:off x="461305" y="1195600"/>
            <a:ext cx="5097600" cy="3954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i="0" lang="en-US" sz="2000" u="none" cap="none" strike="noStrike">
                <a:solidFill>
                  <a:srgbClr val="12496F"/>
                </a:solidFill>
                <a:latin typeface="Arial"/>
                <a:ea typeface="Arial"/>
                <a:cs typeface="Arial"/>
                <a:sym typeface="Arial"/>
              </a:rPr>
              <a:t>Configuración</a:t>
            </a:r>
            <a:endParaRPr b="0" i="0" sz="2000" u="none" cap="none" strike="noStrike">
              <a:latin typeface="Arial"/>
              <a:ea typeface="Arial"/>
              <a:cs typeface="Arial"/>
              <a:sym typeface="Arial"/>
            </a:endParaRPr>
          </a:p>
        </p:txBody>
      </p:sp>
      <p:sp>
        <p:nvSpPr>
          <p:cNvPr id="957" name="Google Shape;957;h3173d30833cc6355_13_57"/>
          <p:cNvSpPr/>
          <p:nvPr/>
        </p:nvSpPr>
        <p:spPr>
          <a:xfrm>
            <a:off x="461305" y="1553695"/>
            <a:ext cx="5097600" cy="700200"/>
          </a:xfrm>
          <a:prstGeom prst="rect">
            <a:avLst/>
          </a:prstGeom>
          <a:noFill/>
          <a:ln>
            <a:noFill/>
          </a:ln>
        </p:spPr>
        <p:txBody>
          <a:bodyPr anchorCtr="0" anchor="t" bIns="45000" lIns="36700" spcFirstLastPara="1" rIns="36700" wrap="square" tIns="45000">
            <a:noAutofit/>
          </a:bodyPr>
          <a:lstStyle/>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IP:</a:t>
            </a:r>
            <a:r>
              <a:rPr lang="en-US" sz="1100">
                <a:solidFill>
                  <a:schemeClr val="dk1"/>
                </a:solidFill>
              </a:rPr>
              <a:t> debe pertenecer a la red local y no estar duplicada. </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Máscara:</a:t>
            </a:r>
            <a:r>
              <a:rPr lang="en-US" sz="1100">
                <a:solidFill>
                  <a:schemeClr val="dk1"/>
                </a:solidFill>
              </a:rPr>
              <a:t> debe coincidir con la de la red (por ejemplo 255.255.255.0). Una máscara errónea impide comunicar con equipos de la misma red.</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Puerta de enlace:</a:t>
            </a:r>
            <a:r>
              <a:rPr lang="en-US" sz="1100">
                <a:solidFill>
                  <a:schemeClr val="dk1"/>
                </a:solidFill>
              </a:rPr>
              <a:t> debe estar en el mismo rango que la IP. Si falla, hay comunicación local pero no salida a otras redes ni a Internet.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DNS:</a:t>
            </a:r>
            <a:r>
              <a:rPr lang="en-US" sz="1100">
                <a:solidFill>
                  <a:schemeClr val="dk1"/>
                </a:solidFill>
              </a:rPr>
              <a:t> si funciona </a:t>
            </a:r>
            <a:r>
              <a:rPr lang="en-US" sz="1100">
                <a:solidFill>
                  <a:srgbClr val="188038"/>
                </a:solidFill>
                <a:latin typeface="Roboto Mono"/>
                <a:ea typeface="Roboto Mono"/>
                <a:cs typeface="Roboto Mono"/>
                <a:sym typeface="Roboto Mono"/>
              </a:rPr>
              <a:t>ping 8.8.8.8</a:t>
            </a:r>
            <a:r>
              <a:rPr lang="en-US" sz="1100">
                <a:solidFill>
                  <a:schemeClr val="dk1"/>
                </a:solidFill>
              </a:rPr>
              <a:t> pero no </a:t>
            </a:r>
            <a:r>
              <a:rPr lang="en-US" sz="1100">
                <a:solidFill>
                  <a:srgbClr val="188038"/>
                </a:solidFill>
                <a:latin typeface="Roboto Mono"/>
                <a:ea typeface="Roboto Mono"/>
                <a:cs typeface="Roboto Mono"/>
                <a:sym typeface="Roboto Mono"/>
              </a:rPr>
              <a:t>ping google.com</a:t>
            </a:r>
            <a:r>
              <a:rPr lang="en-US" sz="1100">
                <a:solidFill>
                  <a:schemeClr val="dk1"/>
                </a:solidFill>
              </a:rPr>
              <a:t>, el problema es el DNS.</a:t>
            </a:r>
            <a:endParaRPr sz="1100">
              <a:solidFill>
                <a:schemeClr val="dk1"/>
              </a:solidFill>
            </a:endParaRPr>
          </a:p>
          <a:p>
            <a:pPr indent="0" lvl="0" marL="0" marR="0" rtl="0" algn="l">
              <a:lnSpc>
                <a:spcPct val="100000"/>
              </a:lnSpc>
              <a:spcBef>
                <a:spcPts val="1200"/>
              </a:spcBef>
              <a:spcAft>
                <a:spcPts val="0"/>
              </a:spcAft>
              <a:buNone/>
            </a:pPr>
            <a:r>
              <a:t/>
            </a:r>
            <a:endParaRPr sz="2000">
              <a:solidFill>
                <a:srgbClr val="26303A"/>
              </a:solidFill>
            </a:endParaRPr>
          </a:p>
        </p:txBody>
      </p:sp>
      <p:sp>
        <p:nvSpPr>
          <p:cNvPr id="958" name="Google Shape;958;h3173d30833cc6355_13_57"/>
          <p:cNvSpPr/>
          <p:nvPr/>
        </p:nvSpPr>
        <p:spPr>
          <a:xfrm>
            <a:off x="6501475" y="4276850"/>
            <a:ext cx="5323800" cy="1993500"/>
          </a:xfrm>
          <a:prstGeom prst="roundRect">
            <a:avLst>
              <a:gd fmla="val 16667" name="adj"/>
            </a:avLst>
          </a:prstGeom>
          <a:solidFill>
            <a:srgbClr val="F3ECF9"/>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h3173d30833cc6355_13_57"/>
          <p:cNvSpPr/>
          <p:nvPr/>
        </p:nvSpPr>
        <p:spPr>
          <a:xfrm>
            <a:off x="6614585" y="4276850"/>
            <a:ext cx="5097600" cy="3954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i="0" lang="en-US" sz="2000" u="none" cap="none" strike="noStrike">
                <a:solidFill>
                  <a:srgbClr val="12496F"/>
                </a:solidFill>
                <a:latin typeface="Arial"/>
                <a:ea typeface="Arial"/>
                <a:cs typeface="Arial"/>
                <a:sym typeface="Arial"/>
              </a:rPr>
              <a:t>Contraste</a:t>
            </a:r>
            <a:endParaRPr b="0" i="0" sz="2000" u="none" cap="none" strike="noStrike">
              <a:latin typeface="Arial"/>
              <a:ea typeface="Arial"/>
              <a:cs typeface="Arial"/>
              <a:sym typeface="Arial"/>
            </a:endParaRPr>
          </a:p>
        </p:txBody>
      </p:sp>
      <p:sp>
        <p:nvSpPr>
          <p:cNvPr id="960" name="Google Shape;960;h3173d30833cc6355_13_57"/>
          <p:cNvSpPr/>
          <p:nvPr/>
        </p:nvSpPr>
        <p:spPr>
          <a:xfrm>
            <a:off x="6537960" y="4770720"/>
            <a:ext cx="5097600" cy="700200"/>
          </a:xfrm>
          <a:prstGeom prst="rect">
            <a:avLst/>
          </a:prstGeom>
          <a:noFill/>
          <a:ln>
            <a:noFill/>
          </a:ln>
        </p:spPr>
        <p:txBody>
          <a:bodyPr anchorCtr="0" anchor="t" bIns="45000" lIns="36700" spcFirstLastPara="1" rIns="36700" wrap="square" tIns="45000">
            <a:noAutofit/>
          </a:bodyPr>
          <a:lstStyle/>
          <a:p>
            <a:pPr indent="-298450" lvl="0" marL="457200" rtl="0" algn="l">
              <a:lnSpc>
                <a:spcPct val="115000"/>
              </a:lnSpc>
              <a:spcBef>
                <a:spcPts val="1200"/>
              </a:spcBef>
              <a:spcAft>
                <a:spcPts val="0"/>
              </a:spcAft>
              <a:buClr>
                <a:srgbClr val="26303A"/>
              </a:buClr>
              <a:buSzPts val="1100"/>
              <a:buChar char="●"/>
            </a:pPr>
            <a:r>
              <a:rPr lang="en-US" sz="1100">
                <a:solidFill>
                  <a:srgbClr val="26303A"/>
                </a:solidFill>
              </a:rPr>
              <a:t>Cambiar un único elemento cada vez para aislar la causa.</a:t>
            </a:r>
            <a:endParaRPr sz="1100">
              <a:solidFill>
                <a:srgbClr val="26303A"/>
              </a:solidFill>
            </a:endParaRPr>
          </a:p>
          <a:p>
            <a:pPr indent="-298450" lvl="0" marL="457200" rtl="0" algn="l">
              <a:lnSpc>
                <a:spcPct val="115000"/>
              </a:lnSpc>
              <a:spcBef>
                <a:spcPts val="0"/>
              </a:spcBef>
              <a:spcAft>
                <a:spcPts val="0"/>
              </a:spcAft>
              <a:buClr>
                <a:srgbClr val="26303A"/>
              </a:buClr>
              <a:buSzPts val="1100"/>
              <a:buChar char="●"/>
            </a:pPr>
            <a:r>
              <a:rPr lang="en-US" sz="1100">
                <a:solidFill>
                  <a:srgbClr val="26303A"/>
                </a:solidFill>
              </a:rPr>
              <a:t>Probar el mismo equipo en otro puerto, o otro equipo en el mismo puerto y cable.</a:t>
            </a:r>
            <a:endParaRPr sz="1100">
              <a:solidFill>
                <a:srgbClr val="26303A"/>
              </a:solidFill>
            </a:endParaRPr>
          </a:p>
          <a:p>
            <a:pPr indent="-298450" lvl="0" marL="457200" rtl="0" algn="l">
              <a:lnSpc>
                <a:spcPct val="115000"/>
              </a:lnSpc>
              <a:spcBef>
                <a:spcPts val="0"/>
              </a:spcBef>
              <a:spcAft>
                <a:spcPts val="0"/>
              </a:spcAft>
              <a:buClr>
                <a:srgbClr val="26303A"/>
              </a:buClr>
              <a:buSzPts val="1100"/>
              <a:buChar char="●"/>
            </a:pPr>
            <a:r>
              <a:rPr lang="en-US" sz="1100">
                <a:solidFill>
                  <a:srgbClr val="26303A"/>
                </a:solidFill>
              </a:rPr>
              <a:t>notar el resultado de cada prueba como evidencia.</a:t>
            </a:r>
            <a:endParaRPr sz="1100">
              <a:solidFill>
                <a:srgbClr val="26303A"/>
              </a:solidFill>
            </a:endParaRPr>
          </a:p>
          <a:p>
            <a:pPr indent="-298450" lvl="0" marL="457200" rtl="0" algn="l">
              <a:lnSpc>
                <a:spcPct val="115000"/>
              </a:lnSpc>
              <a:spcBef>
                <a:spcPts val="0"/>
              </a:spcBef>
              <a:spcAft>
                <a:spcPts val="0"/>
              </a:spcAft>
              <a:buClr>
                <a:srgbClr val="26303A"/>
              </a:buClr>
              <a:buSzPts val="1100"/>
              <a:buChar char="●"/>
            </a:pPr>
            <a:r>
              <a:rPr lang="en-US" sz="1100">
                <a:solidFill>
                  <a:srgbClr val="26303A"/>
                </a:solidFill>
              </a:rPr>
              <a:t>Si el fallo se desplaza con el elemento cambiado, ese elemento es el culpable.</a:t>
            </a:r>
            <a:endParaRPr sz="1100">
              <a:solidFill>
                <a:srgbClr val="26303A"/>
              </a:solidFill>
            </a:endParaRPr>
          </a:p>
          <a:p>
            <a:pPr indent="0" lvl="0" marL="0" marR="0" rtl="0" algn="l">
              <a:lnSpc>
                <a:spcPct val="100000"/>
              </a:lnSpc>
              <a:spcBef>
                <a:spcPts val="1200"/>
              </a:spcBef>
              <a:spcAft>
                <a:spcPts val="0"/>
              </a:spcAft>
              <a:buNone/>
            </a:pPr>
            <a:r>
              <a:t/>
            </a:r>
            <a:endParaRPr sz="2000">
              <a:solidFill>
                <a:srgbClr val="26303A"/>
              </a:solidFill>
            </a:endParaRPr>
          </a:p>
        </p:txBody>
      </p:sp>
      <p:sp>
        <p:nvSpPr>
          <p:cNvPr id="961" name="Google Shape;961;h3173d30833cc6355_13_57"/>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962" name="Google Shape;962;h3173d30833cc6355_13_57"/>
          <p:cNvPicPr preferRelativeResize="0"/>
          <p:nvPr/>
        </p:nvPicPr>
        <p:blipFill>
          <a:blip r:embed="rId3">
            <a:alphaModFix/>
          </a:blip>
          <a:stretch>
            <a:fillRect/>
          </a:stretch>
        </p:blipFill>
        <p:spPr>
          <a:xfrm>
            <a:off x="6785288" y="1026075"/>
            <a:ext cx="4280875" cy="2462350"/>
          </a:xfrm>
          <a:prstGeom prst="rect">
            <a:avLst/>
          </a:prstGeom>
          <a:noFill/>
          <a:ln>
            <a:noFill/>
          </a:ln>
        </p:spPr>
      </p:pic>
      <p:pic>
        <p:nvPicPr>
          <p:cNvPr id="963" name="Google Shape;963;h3173d30833cc6355_13_57"/>
          <p:cNvPicPr preferRelativeResize="0"/>
          <p:nvPr/>
        </p:nvPicPr>
        <p:blipFill>
          <a:blip r:embed="rId4">
            <a:alphaModFix/>
          </a:blip>
          <a:stretch>
            <a:fillRect/>
          </a:stretch>
        </p:blipFill>
        <p:spPr>
          <a:xfrm>
            <a:off x="758913" y="3827200"/>
            <a:ext cx="4416972" cy="25872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h3173d30833cc6355_13_101"/>
          <p:cNvSpPr/>
          <p:nvPr/>
        </p:nvSpPr>
        <p:spPr>
          <a:xfrm>
            <a:off x="0" y="0"/>
            <a:ext cx="12191400" cy="658200"/>
          </a:xfrm>
          <a:prstGeom prst="rect">
            <a:avLst/>
          </a:prstGeom>
          <a:solidFill>
            <a:srgbClr val="12496F"/>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h3173d30833cc6355_13_101"/>
          <p:cNvSpPr/>
          <p:nvPr/>
        </p:nvSpPr>
        <p:spPr>
          <a:xfrm>
            <a:off x="550025" y="101090"/>
            <a:ext cx="10972500" cy="4560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i="0" lang="en-US" sz="2400" u="none" cap="none" strike="noStrike">
                <a:solidFill>
                  <a:srgbClr val="FFFFFF"/>
                </a:solidFill>
                <a:latin typeface="Arial"/>
                <a:ea typeface="Arial"/>
                <a:cs typeface="Arial"/>
                <a:sym typeface="Arial"/>
              </a:rPr>
              <a:t>17 · Diagnóstico por capas: Ismael Portill</a:t>
            </a:r>
            <a:r>
              <a:rPr b="1" lang="en-US" sz="2400">
                <a:solidFill>
                  <a:srgbClr val="FFFFFF"/>
                </a:solidFill>
              </a:rPr>
              <a:t>o Ejemplo </a:t>
            </a:r>
            <a:endParaRPr b="0" i="0" sz="2400" u="none" cap="none" strike="noStrike">
              <a:latin typeface="Arial"/>
              <a:ea typeface="Arial"/>
              <a:cs typeface="Arial"/>
              <a:sym typeface="Arial"/>
            </a:endParaRPr>
          </a:p>
        </p:txBody>
      </p:sp>
      <p:sp>
        <p:nvSpPr>
          <p:cNvPr id="970" name="Google Shape;970;h3173d30833cc6355_13_101"/>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971" name="Google Shape;971;h3173d30833cc6355_13_101"/>
          <p:cNvSpPr/>
          <p:nvPr/>
        </p:nvSpPr>
        <p:spPr>
          <a:xfrm>
            <a:off x="1134575" y="1307100"/>
            <a:ext cx="9738000" cy="4608900"/>
          </a:xfrm>
          <a:prstGeom prst="roundRect">
            <a:avLst>
              <a:gd fmla="val 16667" name="adj"/>
            </a:avLst>
          </a:prstGeom>
          <a:solidFill>
            <a:srgbClr val="FFF2E0"/>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US" sz="1700">
                <a:solidFill>
                  <a:schemeClr val="dk1"/>
                </a:solidFill>
              </a:rPr>
              <a:t>Ejemplo: «Los 12 PCs del aula 2.04 no tienen red»</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El aula de al lado funciona. En lugar de cambiar el switch, se diagnostica por capas: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Física.</a:t>
            </a:r>
            <a:r>
              <a:rPr lang="en-US" sz="1100">
                <a:solidFill>
                  <a:schemeClr val="dk1"/>
                </a:solidFill>
              </a:rPr>
              <a:t> El LED del puerto de subida del switch está apagado y el latiguillo está medio suelto. Se reconecta.</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Enlace.</a:t>
            </a:r>
            <a:r>
              <a:rPr lang="en-US" sz="1100">
                <a:solidFill>
                  <a:schemeClr val="dk1"/>
                </a:solidFill>
              </a:rPr>
              <a:t> En un PC, </a:t>
            </a:r>
            <a:r>
              <a:rPr lang="en-US" sz="1100">
                <a:solidFill>
                  <a:srgbClr val="188038"/>
                </a:solidFill>
                <a:latin typeface="Roboto Mono"/>
                <a:ea typeface="Roboto Mono"/>
                <a:cs typeface="Roboto Mono"/>
                <a:sym typeface="Roboto Mono"/>
              </a:rPr>
              <a:t>ipconfig</a:t>
            </a:r>
            <a:r>
              <a:rPr lang="en-US" sz="1100">
                <a:solidFill>
                  <a:schemeClr val="dk1"/>
                </a:solidFill>
              </a:rPr>
              <a:t> muestra la NIC conectada y la negociación a 1 Gbps. El enlace está bien.</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Configuración.</a:t>
            </a:r>
            <a:r>
              <a:rPr lang="en-US" sz="1100">
                <a:solidFill>
                  <a:schemeClr val="dk1"/>
                </a:solidFill>
              </a:rPr>
              <a:t> Un PC tiene IP 169.254.x.x (sin DHCP). Se revisa la VLAN del puerto de subida y </a:t>
            </a:r>
            <a:r>
              <a:rPr lang="en-US" sz="1100">
                <a:solidFill>
                  <a:srgbClr val="188038"/>
                </a:solidFill>
                <a:latin typeface="Roboto Mono"/>
                <a:ea typeface="Roboto Mono"/>
                <a:cs typeface="Roboto Mono"/>
                <a:sym typeface="Roboto Mono"/>
              </a:rPr>
              <a:t>ipconfig /renew</a:t>
            </a:r>
            <a:r>
              <a:rPr lang="en-US" sz="1100">
                <a:solidFill>
                  <a:schemeClr val="dk1"/>
                </a:solidFill>
              </a:rPr>
              <a:t> le da la IP correcta. Se valida con </a:t>
            </a:r>
            <a:r>
              <a:rPr lang="en-US" sz="1100">
                <a:solidFill>
                  <a:srgbClr val="188038"/>
                </a:solidFill>
                <a:latin typeface="Roboto Mono"/>
                <a:ea typeface="Roboto Mono"/>
                <a:cs typeface="Roboto Mono"/>
                <a:sym typeface="Roboto Mono"/>
              </a:rPr>
              <a:t>ping</a:t>
            </a:r>
            <a:r>
              <a:rPr lang="en-US" sz="1100">
                <a:solidFill>
                  <a:schemeClr val="dk1"/>
                </a:solidFill>
              </a:rPr>
              <a:t> a la puerta de enlace, a 8.8.8.8 y a un nombre (DNS).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Contraste.</a:t>
            </a:r>
            <a:r>
              <a:rPr lang="en-US" sz="1100">
                <a:solidFill>
                  <a:schemeClr val="dk1"/>
                </a:solidFill>
              </a:rPr>
              <a:t> Solo el PC-07 sigue sin red. Se cambia una variable cada vez: otro puerto (sigue mal), otro cable (sigue mal), un portátil en ese mismo puerto y cable (funciona). El fallo está en el PC-07, y se reinstala el controlador de su NIC.</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Conclusión:</a:t>
            </a:r>
            <a:r>
              <a:rPr lang="en-US" sz="1100">
                <a:solidFill>
                  <a:schemeClr val="dk1"/>
                </a:solidFill>
              </a:rPr>
              <a:t> se resolvió con un cable y un controlador, sin comprar ningún switch. Primero evidencias, después decisiones.</a:t>
            </a:r>
            <a:endParaRPr sz="1100">
              <a:solidFill>
                <a:schemeClr val="dk1"/>
              </a:solidFill>
            </a:endParaRPr>
          </a:p>
          <a:p>
            <a:pPr indent="0" lvl="0" marL="0" rtl="0" algn="l">
              <a:spcBef>
                <a:spcPts val="1200"/>
              </a:spcBef>
              <a:spcAft>
                <a:spcPts val="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sp>
        <p:nvSpPr>
          <p:cNvPr id="976" name="Google Shape;976;p19"/>
          <p:cNvSpPr/>
          <p:nvPr/>
        </p:nvSpPr>
        <p:spPr>
          <a:xfrm>
            <a:off x="0" y="0"/>
            <a:ext cx="12191400" cy="658080"/>
          </a:xfrm>
          <a:prstGeom prst="rect">
            <a:avLst/>
          </a:prstGeom>
          <a:solidFill>
            <a:srgbClr val="12496F"/>
          </a:solidFill>
          <a:ln>
            <a:noFill/>
          </a:ln>
          <a:effectLst>
            <a:outerShdw blurRad="39960" rotWithShape="0" dir="5400000" dist="2304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19"/>
          <p:cNvSpPr/>
          <p:nvPr/>
        </p:nvSpPr>
        <p:spPr>
          <a:xfrm>
            <a:off x="567000" y="82440"/>
            <a:ext cx="10972440" cy="45612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1" i="0" lang="en-US" sz="2400" u="none" cap="none" strike="noStrike">
                <a:solidFill>
                  <a:srgbClr val="FFFFFF"/>
                </a:solidFill>
                <a:latin typeface="Arial"/>
                <a:ea typeface="Arial"/>
                <a:cs typeface="Arial"/>
                <a:sym typeface="Arial"/>
              </a:rPr>
              <a:t>18 · Errores frecuentes que debes evitar Rodrigo </a:t>
            </a:r>
            <a:r>
              <a:rPr b="1" lang="en-US" sz="2400">
                <a:solidFill>
                  <a:srgbClr val="FFFFFF"/>
                </a:solidFill>
              </a:rPr>
              <a:t>Ruiz</a:t>
            </a:r>
            <a:r>
              <a:rPr b="1" i="0" lang="en-US" sz="2400" u="none" cap="none" strike="noStrike">
                <a:solidFill>
                  <a:srgbClr val="FFFFFF"/>
                </a:solidFill>
                <a:latin typeface="Arial"/>
                <a:ea typeface="Arial"/>
                <a:cs typeface="Arial"/>
                <a:sym typeface="Arial"/>
              </a:rPr>
              <a:t> </a:t>
            </a:r>
            <a:endParaRPr b="0" i="0" sz="2400" u="none" cap="none" strike="noStrike">
              <a:latin typeface="Arial"/>
              <a:ea typeface="Arial"/>
              <a:cs typeface="Arial"/>
              <a:sym typeface="Arial"/>
            </a:endParaRPr>
          </a:p>
        </p:txBody>
      </p:sp>
      <p:sp>
        <p:nvSpPr>
          <p:cNvPr id="978" name="Google Shape;978;p19"/>
          <p:cNvSpPr/>
          <p:nvPr/>
        </p:nvSpPr>
        <p:spPr>
          <a:xfrm>
            <a:off x="713152" y="813950"/>
            <a:ext cx="8694300" cy="440700"/>
          </a:xfrm>
          <a:prstGeom prst="rect">
            <a:avLst/>
          </a:prstGeom>
          <a:noFill/>
          <a:ln>
            <a:noFill/>
          </a:ln>
        </p:spPr>
        <p:txBody>
          <a:bodyPr anchorCtr="0" anchor="t" bIns="45000" lIns="36700" spcFirstLastPara="1" rIns="36700" wrap="square" tIns="45000">
            <a:spAutoFit/>
          </a:bodyPr>
          <a:lstStyle/>
          <a:p>
            <a:pPr indent="0" lvl="0" marL="0" marR="0" rtl="0" algn="l">
              <a:lnSpc>
                <a:spcPct val="100000"/>
              </a:lnSpc>
              <a:spcBef>
                <a:spcPts val="0"/>
              </a:spcBef>
              <a:spcAft>
                <a:spcPts val="0"/>
              </a:spcAft>
              <a:buNone/>
            </a:pPr>
            <a:r>
              <a:rPr b="0" i="0" lang="en-US" sz="2300" u="none" cap="none" strike="noStrike">
                <a:solidFill>
                  <a:srgbClr val="12496F"/>
                </a:solidFill>
                <a:latin typeface="Arial"/>
                <a:ea typeface="Arial"/>
                <a:cs typeface="Arial"/>
                <a:sym typeface="Arial"/>
              </a:rPr>
              <a:t>Distinguir funciones y conceptos ayuda a justificar una instalación.</a:t>
            </a:r>
            <a:endParaRPr b="0" i="0" sz="2300" u="none" cap="none" strike="noStrike">
              <a:latin typeface="Arial"/>
              <a:ea typeface="Arial"/>
              <a:cs typeface="Arial"/>
              <a:sym typeface="Arial"/>
            </a:endParaRPr>
          </a:p>
        </p:txBody>
      </p:sp>
      <p:sp>
        <p:nvSpPr>
          <p:cNvPr id="979" name="Google Shape;979;p19"/>
          <p:cNvSpPr/>
          <p:nvPr/>
        </p:nvSpPr>
        <p:spPr>
          <a:xfrm>
            <a:off x="594360" y="1480000"/>
            <a:ext cx="5408400" cy="2400000"/>
          </a:xfrm>
          <a:prstGeom prst="roundRect">
            <a:avLst>
              <a:gd fmla="val 16667" name="adj"/>
            </a:avLst>
          </a:prstGeom>
          <a:solidFill>
            <a:srgbClr val="E7F1F9"/>
          </a:solidFill>
          <a:ln>
            <a:noFill/>
          </a:ln>
          <a:effectLst>
            <a:outerShdw blurRad="39960" rotWithShape="0" dir="5400000" dist="23040">
              <a:srgbClr val="000000">
                <a:alpha val="34900"/>
              </a:srgbClr>
            </a:outerShdw>
          </a:effectLst>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0" name="Google Shape;980;p19"/>
          <p:cNvSpPr/>
          <p:nvPr/>
        </p:nvSpPr>
        <p:spPr>
          <a:xfrm>
            <a:off x="749880" y="1590000"/>
            <a:ext cx="759900" cy="270000"/>
          </a:xfrm>
          <a:prstGeom prst="roundRect">
            <a:avLst>
              <a:gd fmla="val 30000" name="adj"/>
            </a:avLst>
          </a:prstGeom>
          <a:solidFill>
            <a:srgbClr val="B3261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ERROR</a:t>
            </a:r>
            <a:endParaRPr/>
          </a:p>
        </p:txBody>
      </p:sp>
      <p:sp>
        <p:nvSpPr>
          <p:cNvPr id="981" name="Google Shape;981;p19"/>
          <p:cNvSpPr txBox="1"/>
          <p:nvPr/>
        </p:nvSpPr>
        <p:spPr>
          <a:xfrm>
            <a:off x="1579880" y="1535000"/>
            <a:ext cx="4267200" cy="380100"/>
          </a:xfrm>
          <a:prstGeom prst="rect">
            <a:avLst/>
          </a:prstGeom>
          <a:noFill/>
          <a:ln>
            <a:noFill/>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2496F"/>
                </a:solidFill>
                <a:latin typeface="Arial"/>
                <a:ea typeface="Arial"/>
                <a:cs typeface="Arial"/>
                <a:sym typeface="Arial"/>
              </a:rPr>
              <a:t>«Wi-Fi es Internet»</a:t>
            </a:r>
            <a:endParaRPr/>
          </a:p>
        </p:txBody>
      </p:sp>
      <p:sp>
        <p:nvSpPr>
          <p:cNvPr id="982" name="Google Shape;982;p19"/>
          <p:cNvSpPr/>
          <p:nvPr/>
        </p:nvSpPr>
        <p:spPr>
          <a:xfrm>
            <a:off x="749880" y="2040000"/>
            <a:ext cx="2600100" cy="1149900"/>
          </a:xfrm>
          <a:prstGeom prst="roundRect">
            <a:avLst>
              <a:gd fmla="val 12000" name="adj"/>
            </a:avLst>
          </a:prstGeom>
          <a:solidFill>
            <a:srgbClr val="FFFFFF">
              <a:alpha val="65100"/>
            </a:srgbClr>
          </a:solidFill>
          <a:ln>
            <a:noFill/>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3" name="Google Shape;983;p19"/>
          <p:cNvSpPr txBox="1"/>
          <p:nvPr/>
        </p:nvSpPr>
        <p:spPr>
          <a:xfrm>
            <a:off x="819880" y="2060000"/>
            <a:ext cx="1500000" cy="230100"/>
          </a:xfrm>
          <a:prstGeom prst="rect">
            <a:avLst/>
          </a:prstGeom>
          <a:noFill/>
          <a:ln>
            <a:noFill/>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2496F"/>
                </a:solidFill>
                <a:latin typeface="Arial"/>
                <a:ea typeface="Arial"/>
                <a:cs typeface="Arial"/>
                <a:sym typeface="Arial"/>
              </a:rPr>
              <a:t>RED LOCAL</a:t>
            </a:r>
            <a:endParaRPr/>
          </a:p>
        </p:txBody>
      </p:sp>
      <p:sp>
        <p:nvSpPr>
          <p:cNvPr id="984" name="Google Shape;984;p19"/>
          <p:cNvSpPr/>
          <p:nvPr/>
        </p:nvSpPr>
        <p:spPr>
          <a:xfrm>
            <a:off x="899880" y="2350000"/>
            <a:ext cx="360000" cy="600000"/>
          </a:xfrm>
          <a:prstGeom prst="roundRect">
            <a:avLst>
              <a:gd fmla="val 20000" name="adj"/>
            </a:avLst>
          </a:prstGeom>
          <a:solidFill>
            <a:srgbClr val="12496F"/>
          </a:solidFill>
          <a:ln>
            <a:noFill/>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p19"/>
          <p:cNvSpPr txBox="1"/>
          <p:nvPr/>
        </p:nvSpPr>
        <p:spPr>
          <a:xfrm>
            <a:off x="749880" y="2960000"/>
            <a:ext cx="660000" cy="219900"/>
          </a:xfrm>
          <a:prstGeom prst="rect">
            <a:avLst/>
          </a:prstGeom>
          <a:no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26303A"/>
                </a:solidFill>
                <a:latin typeface="Arial"/>
                <a:ea typeface="Arial"/>
                <a:cs typeface="Arial"/>
                <a:sym typeface="Arial"/>
              </a:rPr>
              <a:t>Móvil</a:t>
            </a:r>
            <a:endParaRPr/>
          </a:p>
        </p:txBody>
      </p:sp>
      <p:cxnSp>
        <p:nvCxnSpPr>
          <p:cNvPr id="986" name="Google Shape;986;p19"/>
          <p:cNvCxnSpPr/>
          <p:nvPr/>
        </p:nvCxnSpPr>
        <p:spPr>
          <a:xfrm>
            <a:off x="1259880" y="2650000"/>
            <a:ext cx="1040100" cy="0"/>
          </a:xfrm>
          <a:prstGeom prst="straightConnector1">
            <a:avLst/>
          </a:prstGeom>
          <a:noFill/>
          <a:ln cap="flat" cmpd="sng" w="28575">
            <a:solidFill>
              <a:srgbClr val="12496F"/>
            </a:solidFill>
            <a:prstDash val="dash"/>
            <a:round/>
            <a:headEnd len="sm" w="sm" type="none"/>
            <a:tailEnd len="sm" w="sm" type="none"/>
          </a:ln>
        </p:spPr>
      </p:cxnSp>
      <p:sp>
        <p:nvSpPr>
          <p:cNvPr id="987" name="Google Shape;987;p19"/>
          <p:cNvSpPr txBox="1"/>
          <p:nvPr/>
        </p:nvSpPr>
        <p:spPr>
          <a:xfrm>
            <a:off x="1289880" y="2360000"/>
            <a:ext cx="999900" cy="240000"/>
          </a:xfrm>
          <a:prstGeom prst="rect">
            <a:avLst/>
          </a:prstGeom>
          <a:no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12496F"/>
                </a:solidFill>
                <a:latin typeface="Arial"/>
                <a:ea typeface="Arial"/>
                <a:cs typeface="Arial"/>
                <a:sym typeface="Arial"/>
              </a:rPr>
              <a:t>Wi-Fi</a:t>
            </a:r>
            <a:endParaRPr/>
          </a:p>
        </p:txBody>
      </p:sp>
      <p:sp>
        <p:nvSpPr>
          <p:cNvPr id="988" name="Google Shape;988;p19"/>
          <p:cNvSpPr/>
          <p:nvPr/>
        </p:nvSpPr>
        <p:spPr>
          <a:xfrm>
            <a:off x="2299880" y="2460000"/>
            <a:ext cx="800100" cy="380100"/>
          </a:xfrm>
          <a:prstGeom prst="rect">
            <a:avLst/>
          </a:prstGeom>
          <a:solidFill>
            <a:srgbClr val="12496F"/>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Arial"/>
                <a:ea typeface="Arial"/>
                <a:cs typeface="Arial"/>
                <a:sym typeface="Arial"/>
              </a:rPr>
              <a:t>Router</a:t>
            </a:r>
            <a:endParaRPr/>
          </a:p>
        </p:txBody>
      </p:sp>
      <p:cxnSp>
        <p:nvCxnSpPr>
          <p:cNvPr id="989" name="Google Shape;989;p19"/>
          <p:cNvCxnSpPr/>
          <p:nvPr/>
        </p:nvCxnSpPr>
        <p:spPr>
          <a:xfrm>
            <a:off x="3099880" y="2650000"/>
            <a:ext cx="1100100" cy="0"/>
          </a:xfrm>
          <a:prstGeom prst="straightConnector1">
            <a:avLst/>
          </a:prstGeom>
          <a:noFill/>
          <a:ln cap="flat" cmpd="sng" w="28575">
            <a:solidFill>
              <a:srgbClr val="12496F"/>
            </a:solidFill>
            <a:prstDash val="solid"/>
            <a:round/>
            <a:headEnd len="sm" w="sm" type="none"/>
            <a:tailEnd len="sm" w="sm" type="none"/>
          </a:ln>
        </p:spPr>
      </p:cxnSp>
      <p:sp>
        <p:nvSpPr>
          <p:cNvPr id="990" name="Google Shape;990;p19"/>
          <p:cNvSpPr/>
          <p:nvPr/>
        </p:nvSpPr>
        <p:spPr>
          <a:xfrm>
            <a:off x="4199880" y="2230000"/>
            <a:ext cx="1500012" cy="840024"/>
          </a:xfrm>
          <a:prstGeom prst="cloud">
            <a:avLst/>
          </a:prstGeom>
          <a:solidFill>
            <a:srgbClr val="FFFFFF"/>
          </a:solidFill>
          <a:ln cap="flat" cmpd="sng" w="15875">
            <a:solidFill>
              <a:srgbClr val="12496F"/>
            </a:solidFill>
            <a:prstDash val="solid"/>
            <a:round/>
            <a:headEnd len="sm" w="sm" type="none"/>
            <a:tailEnd len="sm" w="sm" type="none"/>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12496F"/>
                </a:solidFill>
                <a:latin typeface="Arial"/>
                <a:ea typeface="Arial"/>
                <a:cs typeface="Arial"/>
                <a:sym typeface="Arial"/>
              </a:rPr>
              <a:t>Internet</a:t>
            </a:r>
            <a:endParaRPr/>
          </a:p>
        </p:txBody>
      </p:sp>
      <p:sp>
        <p:nvSpPr>
          <p:cNvPr id="991" name="Google Shape;991;p19"/>
          <p:cNvSpPr txBox="1"/>
          <p:nvPr/>
        </p:nvSpPr>
        <p:spPr>
          <a:xfrm>
            <a:off x="749880" y="3280000"/>
            <a:ext cx="5097300" cy="579900"/>
          </a:xfrm>
          <a:prstGeom prst="rect">
            <a:avLst/>
          </a:prstGeom>
          <a:noFill/>
          <a:ln>
            <a:noFill/>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2E7D32"/>
                </a:solidFill>
                <a:latin typeface="Arial"/>
                <a:ea typeface="Arial"/>
                <a:cs typeface="Arial"/>
                <a:sym typeface="Arial"/>
              </a:rPr>
              <a:t>Realidad: </a:t>
            </a:r>
            <a:r>
              <a:rPr b="0" i="0" lang="en-US" sz="1600" u="none" cap="none" strike="noStrike">
                <a:solidFill>
                  <a:srgbClr val="26303A"/>
                </a:solidFill>
                <a:latin typeface="Arial"/>
                <a:ea typeface="Arial"/>
                <a:cs typeface="Arial"/>
                <a:sym typeface="Arial"/>
              </a:rPr>
              <a:t>Wi-Fi es solo el tramo inalámbrico; Internet está más allá del router. Es la re</a:t>
            </a:r>
            <a:r>
              <a:rPr b="0" i="0" lang="en-US" sz="1600" u="none" cap="none" strike="noStrike">
                <a:solidFill>
                  <a:srgbClr val="26303A"/>
                </a:solidFill>
                <a:latin typeface="Arial"/>
                <a:ea typeface="Arial"/>
                <a:cs typeface="Arial"/>
                <a:sym typeface="Arial"/>
              </a:rPr>
              <a:t>d de redes</a:t>
            </a:r>
            <a:endParaRPr/>
          </a:p>
        </p:txBody>
      </p:sp>
      <p:sp>
        <p:nvSpPr>
          <p:cNvPr id="992" name="Google Shape;992;p19"/>
          <p:cNvSpPr/>
          <p:nvPr/>
        </p:nvSpPr>
        <p:spPr>
          <a:xfrm>
            <a:off x="594360" y="4040000"/>
            <a:ext cx="5408400" cy="2400000"/>
          </a:xfrm>
          <a:prstGeom prst="roundRect">
            <a:avLst>
              <a:gd fmla="val 16667" name="adj"/>
            </a:avLst>
          </a:prstGeom>
          <a:solidFill>
            <a:srgbClr val="FFF2E0"/>
          </a:solidFill>
          <a:ln>
            <a:noFill/>
          </a:ln>
          <a:effectLst>
            <a:outerShdw blurRad="39960" rotWithShape="0" dir="5400000" dist="23040">
              <a:srgbClr val="000000">
                <a:alpha val="34900"/>
              </a:srgbClr>
            </a:outerShdw>
          </a:effectLst>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3" name="Google Shape;993;p19"/>
          <p:cNvSpPr/>
          <p:nvPr/>
        </p:nvSpPr>
        <p:spPr>
          <a:xfrm>
            <a:off x="749880" y="4150000"/>
            <a:ext cx="759900" cy="270000"/>
          </a:xfrm>
          <a:prstGeom prst="roundRect">
            <a:avLst>
              <a:gd fmla="val 30000" name="adj"/>
            </a:avLst>
          </a:prstGeom>
          <a:solidFill>
            <a:srgbClr val="B3261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ERROR</a:t>
            </a:r>
            <a:endParaRPr/>
          </a:p>
        </p:txBody>
      </p:sp>
      <p:sp>
        <p:nvSpPr>
          <p:cNvPr id="994" name="Google Shape;994;p19"/>
          <p:cNvSpPr txBox="1"/>
          <p:nvPr/>
        </p:nvSpPr>
        <p:spPr>
          <a:xfrm>
            <a:off x="1579880" y="4095000"/>
            <a:ext cx="4267200" cy="380100"/>
          </a:xfrm>
          <a:prstGeom prst="rect">
            <a:avLst/>
          </a:prstGeom>
          <a:noFill/>
          <a:ln>
            <a:noFill/>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2496F"/>
                </a:solidFill>
                <a:latin typeface="Arial"/>
                <a:ea typeface="Arial"/>
                <a:cs typeface="Arial"/>
                <a:sym typeface="Arial"/>
              </a:rPr>
              <a:t>«RJ-45 garantiza 10 Gb/s»</a:t>
            </a:r>
            <a:endParaRPr/>
          </a:p>
        </p:txBody>
      </p:sp>
      <p:sp>
        <p:nvSpPr>
          <p:cNvPr id="995" name="Google Shape;995;p19"/>
          <p:cNvSpPr txBox="1"/>
          <p:nvPr/>
        </p:nvSpPr>
        <p:spPr>
          <a:xfrm>
            <a:off x="2049880" y="4630000"/>
            <a:ext cx="2499900" cy="240000"/>
          </a:xfrm>
          <a:prstGeom prst="rect">
            <a:avLst/>
          </a:prstGeom>
          <a:no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C25E00"/>
                </a:solidFill>
                <a:latin typeface="Arial"/>
                <a:ea typeface="Arial"/>
                <a:cs typeface="Arial"/>
                <a:sym typeface="Arial"/>
              </a:rPr>
              <a:t>Cable</a:t>
            </a:r>
            <a:r>
              <a:rPr b="1" i="0" lang="en-US" sz="1200" u="none" cap="none" strike="noStrike">
                <a:solidFill>
                  <a:srgbClr val="C25E00"/>
                </a:solidFill>
                <a:latin typeface="Arial"/>
                <a:ea typeface="Arial"/>
                <a:cs typeface="Arial"/>
                <a:sym typeface="Arial"/>
              </a:rPr>
              <a:t> </a:t>
            </a:r>
            <a:r>
              <a:rPr b="1" i="0" lang="en-US" sz="1200" u="none" cap="none" strike="noStrike">
                <a:solidFill>
                  <a:srgbClr val="C25E00"/>
                </a:solidFill>
                <a:latin typeface="Arial"/>
                <a:ea typeface="Arial"/>
                <a:cs typeface="Arial"/>
                <a:sym typeface="Arial"/>
              </a:rPr>
              <a:t>(1 Gb/s)</a:t>
            </a:r>
            <a:endParaRPr/>
          </a:p>
        </p:txBody>
      </p:sp>
      <p:sp>
        <p:nvSpPr>
          <p:cNvPr id="996" name="Google Shape;996;p19"/>
          <p:cNvSpPr/>
          <p:nvPr/>
        </p:nvSpPr>
        <p:spPr>
          <a:xfrm>
            <a:off x="2049880" y="4940000"/>
            <a:ext cx="2499900" cy="80100"/>
          </a:xfrm>
          <a:prstGeom prst="rect">
            <a:avLst/>
          </a:prstGeom>
          <a:solidFill>
            <a:srgbClr val="C25E00"/>
          </a:solidFill>
          <a:ln>
            <a:noFill/>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7" name="Google Shape;997;p19"/>
          <p:cNvSpPr/>
          <p:nvPr/>
        </p:nvSpPr>
        <p:spPr>
          <a:xfrm>
            <a:off x="749880" y="4760000"/>
            <a:ext cx="1299900" cy="440100"/>
          </a:xfrm>
          <a:prstGeom prst="roundRect">
            <a:avLst>
              <a:gd fmla="val 18000" name="adj"/>
            </a:avLst>
          </a:prstGeom>
          <a:solidFill>
            <a:srgbClr val="12496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RJ-45</a:t>
            </a:r>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Arial"/>
                <a:ea typeface="Arial"/>
                <a:cs typeface="Arial"/>
                <a:sym typeface="Arial"/>
              </a:rPr>
              <a:t>10 Gb/s</a:t>
            </a:r>
            <a:endParaRPr/>
          </a:p>
        </p:txBody>
      </p:sp>
      <p:sp>
        <p:nvSpPr>
          <p:cNvPr id="998" name="Google Shape;998;p19"/>
          <p:cNvSpPr/>
          <p:nvPr/>
        </p:nvSpPr>
        <p:spPr>
          <a:xfrm>
            <a:off x="4549880" y="4760000"/>
            <a:ext cx="1299900" cy="440100"/>
          </a:xfrm>
          <a:prstGeom prst="roundRect">
            <a:avLst>
              <a:gd fmla="val 18000" name="adj"/>
            </a:avLst>
          </a:prstGeom>
          <a:solidFill>
            <a:srgbClr val="12496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 RJ-45</a:t>
            </a:r>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Arial"/>
                <a:ea typeface="Arial"/>
                <a:cs typeface="Arial"/>
                <a:sym typeface="Arial"/>
              </a:rPr>
              <a:t>10 Gb/s</a:t>
            </a:r>
            <a:endParaRPr/>
          </a:p>
        </p:txBody>
      </p:sp>
      <p:cxnSp>
        <p:nvCxnSpPr>
          <p:cNvPr id="999" name="Google Shape;999;p19"/>
          <p:cNvCxnSpPr/>
          <p:nvPr/>
        </p:nvCxnSpPr>
        <p:spPr>
          <a:xfrm>
            <a:off x="3299880" y="5040000"/>
            <a:ext cx="0" cy="309900"/>
          </a:xfrm>
          <a:prstGeom prst="straightConnector1">
            <a:avLst/>
          </a:prstGeom>
          <a:noFill/>
          <a:ln cap="flat" cmpd="sng" w="28575">
            <a:solidFill>
              <a:srgbClr val="B3261E"/>
            </a:solidFill>
            <a:prstDash val="solid"/>
            <a:round/>
            <a:headEnd len="sm" w="sm" type="none"/>
            <a:tailEnd len="med" w="med" type="triangle"/>
          </a:ln>
        </p:spPr>
      </p:cxnSp>
      <p:sp>
        <p:nvSpPr>
          <p:cNvPr id="1000" name="Google Shape;1000;p19"/>
          <p:cNvSpPr/>
          <p:nvPr/>
        </p:nvSpPr>
        <p:spPr>
          <a:xfrm>
            <a:off x="1649880" y="5360000"/>
            <a:ext cx="3300000" cy="360000"/>
          </a:xfrm>
          <a:prstGeom prst="roundRect">
            <a:avLst>
              <a:gd fmla="val 30000" name="adj"/>
            </a:avLst>
          </a:prstGeom>
          <a:solidFill>
            <a:srgbClr val="FDE7E4"/>
          </a:solidFill>
          <a:ln cap="flat" cmpd="sng" w="15875">
            <a:solidFill>
              <a:srgbClr val="B3261E"/>
            </a:solidFill>
            <a:prstDash val="solid"/>
            <a:round/>
            <a:headEnd len="sm" w="sm" type="none"/>
            <a:tailEnd len="sm" w="sm" type="none"/>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B3261E"/>
                </a:solidFill>
                <a:latin typeface="Arial"/>
                <a:ea typeface="Arial"/>
                <a:cs typeface="Arial"/>
                <a:sym typeface="Arial"/>
              </a:rPr>
              <a:t>Velocidad: 1 Gb/s</a:t>
            </a:r>
            <a:endParaRPr/>
          </a:p>
        </p:txBody>
      </p:sp>
      <p:sp>
        <p:nvSpPr>
          <p:cNvPr id="1001" name="Google Shape;1001;p19"/>
          <p:cNvSpPr txBox="1"/>
          <p:nvPr/>
        </p:nvSpPr>
        <p:spPr>
          <a:xfrm>
            <a:off x="749880" y="5840000"/>
            <a:ext cx="5097300" cy="579900"/>
          </a:xfrm>
          <a:prstGeom prst="rect">
            <a:avLst/>
          </a:prstGeom>
          <a:noFill/>
          <a:ln>
            <a:noFill/>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2E7D32"/>
                </a:solidFill>
                <a:latin typeface="Arial"/>
                <a:ea typeface="Arial"/>
                <a:cs typeface="Arial"/>
                <a:sym typeface="Arial"/>
              </a:rPr>
              <a:t>Realidad: </a:t>
            </a:r>
            <a:r>
              <a:rPr b="0" i="0" lang="en-US" sz="1600" u="none" cap="none" strike="noStrike">
                <a:solidFill>
                  <a:srgbClr val="26303A"/>
                </a:solidFill>
                <a:latin typeface="Arial"/>
                <a:ea typeface="Arial"/>
                <a:cs typeface="Arial"/>
                <a:sym typeface="Arial"/>
              </a:rPr>
              <a:t>La velocidad la marca el eslabón más lento, no el conector.</a:t>
            </a:r>
            <a:endParaRPr/>
          </a:p>
        </p:txBody>
      </p:sp>
      <p:sp>
        <p:nvSpPr>
          <p:cNvPr id="1002" name="Google Shape;1002;p19"/>
          <p:cNvSpPr/>
          <p:nvPr/>
        </p:nvSpPr>
        <p:spPr>
          <a:xfrm>
            <a:off x="6204240" y="1480000"/>
            <a:ext cx="5408400" cy="2400000"/>
          </a:xfrm>
          <a:prstGeom prst="roundRect">
            <a:avLst>
              <a:gd fmla="val 16667" name="adj"/>
            </a:avLst>
          </a:prstGeom>
          <a:solidFill>
            <a:srgbClr val="EBF5EB"/>
          </a:solidFill>
          <a:ln>
            <a:noFill/>
          </a:ln>
          <a:effectLst>
            <a:outerShdw blurRad="39960" rotWithShape="0" dir="5400000" dist="23040">
              <a:srgbClr val="000000">
                <a:alpha val="34900"/>
              </a:srgbClr>
            </a:outerShdw>
          </a:effectLst>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3" name="Google Shape;1003;p19"/>
          <p:cNvSpPr/>
          <p:nvPr/>
        </p:nvSpPr>
        <p:spPr>
          <a:xfrm>
            <a:off x="6359760" y="1590000"/>
            <a:ext cx="759900" cy="270000"/>
          </a:xfrm>
          <a:prstGeom prst="roundRect">
            <a:avLst>
              <a:gd fmla="val 30000" name="adj"/>
            </a:avLst>
          </a:prstGeom>
          <a:solidFill>
            <a:srgbClr val="B3261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ERROR</a:t>
            </a:r>
            <a:endParaRPr/>
          </a:p>
        </p:txBody>
      </p:sp>
      <p:sp>
        <p:nvSpPr>
          <p:cNvPr id="1004" name="Google Shape;1004;p19"/>
          <p:cNvSpPr txBox="1"/>
          <p:nvPr/>
        </p:nvSpPr>
        <p:spPr>
          <a:xfrm>
            <a:off x="7189760" y="1535000"/>
            <a:ext cx="4267200" cy="380100"/>
          </a:xfrm>
          <a:prstGeom prst="rect">
            <a:avLst/>
          </a:prstGeom>
          <a:noFill/>
          <a:ln>
            <a:noFill/>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2496F"/>
                </a:solidFill>
                <a:latin typeface="Arial"/>
                <a:ea typeface="Arial"/>
                <a:cs typeface="Arial"/>
                <a:sym typeface="Arial"/>
              </a:rPr>
              <a:t>«Switch = router»</a:t>
            </a:r>
            <a:endParaRPr/>
          </a:p>
        </p:txBody>
      </p:sp>
      <p:sp>
        <p:nvSpPr>
          <p:cNvPr id="1005" name="Google Shape;1005;p19"/>
          <p:cNvSpPr/>
          <p:nvPr/>
        </p:nvSpPr>
        <p:spPr>
          <a:xfrm>
            <a:off x="6859760" y="2080000"/>
            <a:ext cx="1200000" cy="300000"/>
          </a:xfrm>
          <a:prstGeom prst="rect">
            <a:avLst/>
          </a:prstGeom>
          <a:solidFill>
            <a:srgbClr val="12496F"/>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Arial"/>
                <a:ea typeface="Arial"/>
                <a:cs typeface="Arial"/>
                <a:sym typeface="Arial"/>
              </a:rPr>
              <a:t>Switch</a:t>
            </a:r>
            <a:endParaRPr/>
          </a:p>
        </p:txBody>
      </p:sp>
      <p:cxnSp>
        <p:nvCxnSpPr>
          <p:cNvPr id="1006" name="Google Shape;1006;p19"/>
          <p:cNvCxnSpPr/>
          <p:nvPr/>
        </p:nvCxnSpPr>
        <p:spPr>
          <a:xfrm flipH="1">
            <a:off x="6709760" y="2380000"/>
            <a:ext cx="750000" cy="240000"/>
          </a:xfrm>
          <a:prstGeom prst="straightConnector1">
            <a:avLst/>
          </a:prstGeom>
          <a:noFill/>
          <a:ln cap="flat" cmpd="sng" w="19050">
            <a:solidFill>
              <a:srgbClr val="12496F"/>
            </a:solidFill>
            <a:prstDash val="solid"/>
            <a:round/>
            <a:headEnd len="sm" w="sm" type="none"/>
            <a:tailEnd len="sm" w="sm" type="none"/>
          </a:ln>
        </p:spPr>
      </p:cxnSp>
      <p:sp>
        <p:nvSpPr>
          <p:cNvPr id="1007" name="Google Shape;1007;p19"/>
          <p:cNvSpPr/>
          <p:nvPr/>
        </p:nvSpPr>
        <p:spPr>
          <a:xfrm>
            <a:off x="6559760" y="2620000"/>
            <a:ext cx="300000" cy="240000"/>
          </a:xfrm>
          <a:prstGeom prst="rect">
            <a:avLst/>
          </a:prstGeom>
          <a:solidFill>
            <a:srgbClr val="FFFFFF"/>
          </a:solidFill>
          <a:ln cap="flat" cmpd="sng" w="15875">
            <a:solidFill>
              <a:srgbClr val="1249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26303A"/>
                </a:solidFill>
                <a:latin typeface="Arial"/>
                <a:ea typeface="Arial"/>
                <a:cs typeface="Arial"/>
                <a:sym typeface="Arial"/>
              </a:rPr>
              <a:t>PC</a:t>
            </a:r>
            <a:endParaRPr/>
          </a:p>
        </p:txBody>
      </p:sp>
      <p:cxnSp>
        <p:nvCxnSpPr>
          <p:cNvPr id="1008" name="Google Shape;1008;p19"/>
          <p:cNvCxnSpPr/>
          <p:nvPr/>
        </p:nvCxnSpPr>
        <p:spPr>
          <a:xfrm>
            <a:off x="7459760" y="2380000"/>
            <a:ext cx="0" cy="240000"/>
          </a:xfrm>
          <a:prstGeom prst="straightConnector1">
            <a:avLst/>
          </a:prstGeom>
          <a:noFill/>
          <a:ln cap="flat" cmpd="sng" w="19050">
            <a:solidFill>
              <a:srgbClr val="12496F"/>
            </a:solidFill>
            <a:prstDash val="solid"/>
            <a:round/>
            <a:headEnd len="sm" w="sm" type="none"/>
            <a:tailEnd len="sm" w="sm" type="none"/>
          </a:ln>
        </p:spPr>
      </p:cxnSp>
      <p:sp>
        <p:nvSpPr>
          <p:cNvPr id="1009" name="Google Shape;1009;p19"/>
          <p:cNvSpPr/>
          <p:nvPr/>
        </p:nvSpPr>
        <p:spPr>
          <a:xfrm>
            <a:off x="7309760" y="2620000"/>
            <a:ext cx="300000" cy="240000"/>
          </a:xfrm>
          <a:prstGeom prst="rect">
            <a:avLst/>
          </a:prstGeom>
          <a:solidFill>
            <a:srgbClr val="FFFFFF"/>
          </a:solidFill>
          <a:ln cap="flat" cmpd="sng" w="15875">
            <a:solidFill>
              <a:srgbClr val="1249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26303A"/>
                </a:solidFill>
                <a:latin typeface="Arial"/>
                <a:ea typeface="Arial"/>
                <a:cs typeface="Arial"/>
                <a:sym typeface="Arial"/>
              </a:rPr>
              <a:t>PC</a:t>
            </a:r>
            <a:endParaRPr/>
          </a:p>
        </p:txBody>
      </p:sp>
      <p:cxnSp>
        <p:nvCxnSpPr>
          <p:cNvPr id="1010" name="Google Shape;1010;p19"/>
          <p:cNvCxnSpPr/>
          <p:nvPr/>
        </p:nvCxnSpPr>
        <p:spPr>
          <a:xfrm>
            <a:off x="7459760" y="2380000"/>
            <a:ext cx="750000" cy="240000"/>
          </a:xfrm>
          <a:prstGeom prst="straightConnector1">
            <a:avLst/>
          </a:prstGeom>
          <a:noFill/>
          <a:ln cap="flat" cmpd="sng" w="19050">
            <a:solidFill>
              <a:srgbClr val="12496F"/>
            </a:solidFill>
            <a:prstDash val="solid"/>
            <a:round/>
            <a:headEnd len="sm" w="sm" type="none"/>
            <a:tailEnd len="sm" w="sm" type="none"/>
          </a:ln>
        </p:spPr>
      </p:cxnSp>
      <p:sp>
        <p:nvSpPr>
          <p:cNvPr id="1011" name="Google Shape;1011;p19"/>
          <p:cNvSpPr/>
          <p:nvPr/>
        </p:nvSpPr>
        <p:spPr>
          <a:xfrm>
            <a:off x="8059760" y="2620000"/>
            <a:ext cx="300000" cy="240000"/>
          </a:xfrm>
          <a:prstGeom prst="rect">
            <a:avLst/>
          </a:prstGeom>
          <a:solidFill>
            <a:srgbClr val="FFFFFF"/>
          </a:solidFill>
          <a:ln cap="flat" cmpd="sng" w="15875">
            <a:solidFill>
              <a:srgbClr val="1249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26303A"/>
                </a:solidFill>
                <a:latin typeface="Arial"/>
                <a:ea typeface="Arial"/>
                <a:cs typeface="Arial"/>
                <a:sym typeface="Arial"/>
              </a:rPr>
              <a:t>PC</a:t>
            </a:r>
            <a:endParaRPr/>
          </a:p>
        </p:txBody>
      </p:sp>
      <p:sp>
        <p:nvSpPr>
          <p:cNvPr id="1012" name="Google Shape;1012;p19"/>
          <p:cNvSpPr txBox="1"/>
          <p:nvPr/>
        </p:nvSpPr>
        <p:spPr>
          <a:xfrm>
            <a:off x="6359760" y="2960000"/>
            <a:ext cx="2300100" cy="240000"/>
          </a:xfrm>
          <a:prstGeom prst="rect">
            <a:avLst/>
          </a:prstGeom>
          <a:no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6303A"/>
                </a:solidFill>
                <a:latin typeface="Arial"/>
                <a:ea typeface="Arial"/>
                <a:cs typeface="Arial"/>
                <a:sym typeface="Arial"/>
              </a:rPr>
              <a:t>Switch: dentro de una LAN</a:t>
            </a:r>
            <a:endParaRPr/>
          </a:p>
        </p:txBody>
      </p:sp>
      <p:sp>
        <p:nvSpPr>
          <p:cNvPr id="1013" name="Google Shape;1013;p19"/>
          <p:cNvSpPr/>
          <p:nvPr/>
        </p:nvSpPr>
        <p:spPr>
          <a:xfrm>
            <a:off x="8959760" y="2120000"/>
            <a:ext cx="749952" cy="559980"/>
          </a:xfrm>
          <a:prstGeom prst="cloud">
            <a:avLst/>
          </a:prstGeom>
          <a:solidFill>
            <a:srgbClr val="FFFFFF"/>
          </a:solidFill>
          <a:ln cap="flat" cmpd="sng" w="15875">
            <a:solidFill>
              <a:srgbClr val="1249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12496F"/>
                </a:solidFill>
                <a:latin typeface="Arial"/>
                <a:ea typeface="Arial"/>
                <a:cs typeface="Arial"/>
                <a:sym typeface="Arial"/>
              </a:rPr>
              <a:t>Red A</a:t>
            </a:r>
            <a:endParaRPr/>
          </a:p>
        </p:txBody>
      </p:sp>
      <p:cxnSp>
        <p:nvCxnSpPr>
          <p:cNvPr id="1014" name="Google Shape;1014;p19"/>
          <p:cNvCxnSpPr/>
          <p:nvPr/>
        </p:nvCxnSpPr>
        <p:spPr>
          <a:xfrm>
            <a:off x="9709760" y="2400000"/>
            <a:ext cx="150000" cy="0"/>
          </a:xfrm>
          <a:prstGeom prst="straightConnector1">
            <a:avLst/>
          </a:prstGeom>
          <a:noFill/>
          <a:ln cap="flat" cmpd="sng" w="28575">
            <a:solidFill>
              <a:srgbClr val="12496F"/>
            </a:solidFill>
            <a:prstDash val="solid"/>
            <a:round/>
            <a:headEnd len="sm" w="sm" type="none"/>
            <a:tailEnd len="sm" w="sm" type="none"/>
          </a:ln>
        </p:spPr>
      </p:cxnSp>
      <p:sp>
        <p:nvSpPr>
          <p:cNvPr id="1015" name="Google Shape;1015;p19"/>
          <p:cNvSpPr/>
          <p:nvPr/>
        </p:nvSpPr>
        <p:spPr>
          <a:xfrm>
            <a:off x="9859760" y="2250000"/>
            <a:ext cx="699900" cy="300000"/>
          </a:xfrm>
          <a:prstGeom prst="rect">
            <a:avLst/>
          </a:prstGeom>
          <a:solidFill>
            <a:srgbClr val="12496F"/>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Arial"/>
                <a:ea typeface="Arial"/>
                <a:cs typeface="Arial"/>
                <a:sym typeface="Arial"/>
              </a:rPr>
              <a:t>Router</a:t>
            </a:r>
            <a:endParaRPr/>
          </a:p>
        </p:txBody>
      </p:sp>
      <p:cxnSp>
        <p:nvCxnSpPr>
          <p:cNvPr id="1016" name="Google Shape;1016;p19"/>
          <p:cNvCxnSpPr/>
          <p:nvPr/>
        </p:nvCxnSpPr>
        <p:spPr>
          <a:xfrm>
            <a:off x="10559760" y="2400000"/>
            <a:ext cx="150000" cy="0"/>
          </a:xfrm>
          <a:prstGeom prst="straightConnector1">
            <a:avLst/>
          </a:prstGeom>
          <a:noFill/>
          <a:ln cap="flat" cmpd="sng" w="28575">
            <a:solidFill>
              <a:srgbClr val="12496F"/>
            </a:solidFill>
            <a:prstDash val="solid"/>
            <a:round/>
            <a:headEnd len="sm" w="sm" type="none"/>
            <a:tailEnd len="sm" w="sm" type="none"/>
          </a:ln>
        </p:spPr>
      </p:cxnSp>
      <p:sp>
        <p:nvSpPr>
          <p:cNvPr id="1017" name="Google Shape;1017;p19"/>
          <p:cNvSpPr/>
          <p:nvPr/>
        </p:nvSpPr>
        <p:spPr>
          <a:xfrm>
            <a:off x="10709760" y="2120000"/>
            <a:ext cx="749952" cy="559980"/>
          </a:xfrm>
          <a:prstGeom prst="cloud">
            <a:avLst/>
          </a:prstGeom>
          <a:solidFill>
            <a:srgbClr val="FFFFFF"/>
          </a:solidFill>
          <a:ln cap="flat" cmpd="sng" w="15875">
            <a:solidFill>
              <a:srgbClr val="1249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12496F"/>
                </a:solidFill>
                <a:latin typeface="Arial"/>
                <a:ea typeface="Arial"/>
                <a:cs typeface="Arial"/>
                <a:sym typeface="Arial"/>
              </a:rPr>
              <a:t>Red B</a:t>
            </a:r>
            <a:endParaRPr/>
          </a:p>
        </p:txBody>
      </p:sp>
      <p:sp>
        <p:nvSpPr>
          <p:cNvPr id="1018" name="Google Shape;1018;p19"/>
          <p:cNvSpPr txBox="1"/>
          <p:nvPr/>
        </p:nvSpPr>
        <p:spPr>
          <a:xfrm>
            <a:off x="8909760" y="2960000"/>
            <a:ext cx="2550000" cy="240000"/>
          </a:xfrm>
          <a:prstGeom prst="rect">
            <a:avLst/>
          </a:prstGeom>
          <a:no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6303A"/>
                </a:solidFill>
                <a:latin typeface="Arial"/>
                <a:ea typeface="Arial"/>
                <a:cs typeface="Arial"/>
                <a:sym typeface="Arial"/>
              </a:rPr>
              <a:t>Router: entre redes distintas</a:t>
            </a:r>
            <a:endParaRPr/>
          </a:p>
        </p:txBody>
      </p:sp>
      <p:sp>
        <p:nvSpPr>
          <p:cNvPr id="1019" name="Google Shape;1019;p19"/>
          <p:cNvSpPr txBox="1"/>
          <p:nvPr/>
        </p:nvSpPr>
        <p:spPr>
          <a:xfrm>
            <a:off x="6359800" y="3277000"/>
            <a:ext cx="5097300" cy="456000"/>
          </a:xfrm>
          <a:prstGeom prst="rect">
            <a:avLst/>
          </a:prstGeom>
          <a:noFill/>
          <a:ln>
            <a:noFill/>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2E7D32"/>
                </a:solidFill>
                <a:latin typeface="Arial"/>
                <a:ea typeface="Arial"/>
                <a:cs typeface="Arial"/>
                <a:sym typeface="Arial"/>
              </a:rPr>
              <a:t>Realidad: </a:t>
            </a:r>
            <a:r>
              <a:rPr b="0" i="0" lang="en-US" sz="1600" u="none" cap="none" strike="noStrike">
                <a:solidFill>
                  <a:srgbClr val="26303A"/>
                </a:solidFill>
                <a:latin typeface="Arial"/>
                <a:ea typeface="Arial"/>
                <a:cs typeface="Arial"/>
                <a:sym typeface="Arial"/>
              </a:rPr>
              <a:t>El switch une equipos de una LAN un switch de capa 3 puede realizar encaminamiento ; el router une redes entre sí.</a:t>
            </a:r>
            <a:endParaRPr/>
          </a:p>
        </p:txBody>
      </p:sp>
      <p:sp>
        <p:nvSpPr>
          <p:cNvPr id="1020" name="Google Shape;1020;p19"/>
          <p:cNvSpPr/>
          <p:nvPr/>
        </p:nvSpPr>
        <p:spPr>
          <a:xfrm>
            <a:off x="6204240" y="4040000"/>
            <a:ext cx="5408400" cy="2400000"/>
          </a:xfrm>
          <a:prstGeom prst="roundRect">
            <a:avLst>
              <a:gd fmla="val 16667" name="adj"/>
            </a:avLst>
          </a:prstGeom>
          <a:solidFill>
            <a:srgbClr val="F3ECF9"/>
          </a:solidFill>
          <a:ln>
            <a:noFill/>
          </a:ln>
          <a:effectLst>
            <a:outerShdw blurRad="39960" rotWithShape="0" dir="5400000" dist="23040">
              <a:srgbClr val="000000">
                <a:alpha val="34900"/>
              </a:srgbClr>
            </a:outerShdw>
          </a:effectLst>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1" name="Google Shape;1021;p19"/>
          <p:cNvSpPr/>
          <p:nvPr/>
        </p:nvSpPr>
        <p:spPr>
          <a:xfrm>
            <a:off x="6359760" y="4150000"/>
            <a:ext cx="759900" cy="270000"/>
          </a:xfrm>
          <a:prstGeom prst="roundRect">
            <a:avLst>
              <a:gd fmla="val 30000" name="adj"/>
            </a:avLst>
          </a:prstGeom>
          <a:solidFill>
            <a:srgbClr val="B3261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ERROR</a:t>
            </a:r>
            <a:endParaRPr/>
          </a:p>
        </p:txBody>
      </p:sp>
      <p:sp>
        <p:nvSpPr>
          <p:cNvPr id="1022" name="Google Shape;1022;p19"/>
          <p:cNvSpPr txBox="1"/>
          <p:nvPr/>
        </p:nvSpPr>
        <p:spPr>
          <a:xfrm>
            <a:off x="7189760" y="4095000"/>
            <a:ext cx="4267200" cy="380100"/>
          </a:xfrm>
          <a:prstGeom prst="rect">
            <a:avLst/>
          </a:prstGeom>
          <a:noFill/>
          <a:ln>
            <a:noFill/>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2496F"/>
                </a:solidFill>
                <a:latin typeface="Arial"/>
                <a:ea typeface="Arial"/>
                <a:cs typeface="Arial"/>
                <a:sym typeface="Arial"/>
              </a:rPr>
              <a:t>«PoE siempre está disponible»</a:t>
            </a:r>
            <a:endParaRPr/>
          </a:p>
        </p:txBody>
      </p:sp>
      <p:sp>
        <p:nvSpPr>
          <p:cNvPr id="1023" name="Google Shape;1023;p19"/>
          <p:cNvSpPr/>
          <p:nvPr/>
        </p:nvSpPr>
        <p:spPr>
          <a:xfrm>
            <a:off x="6359760" y="4620000"/>
            <a:ext cx="1500000" cy="519900"/>
          </a:xfrm>
          <a:prstGeom prst="rect">
            <a:avLst/>
          </a:prstGeom>
          <a:solidFill>
            <a:srgbClr val="12496F"/>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Arial"/>
                <a:ea typeface="Arial"/>
                <a:cs typeface="Arial"/>
                <a:sym typeface="Arial"/>
              </a:rPr>
              <a:t>Switch PoE</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máx. 30 W</a:t>
            </a:r>
            <a:endParaRPr/>
          </a:p>
        </p:txBody>
      </p:sp>
      <p:sp>
        <p:nvSpPr>
          <p:cNvPr id="1024" name="Google Shape;1024;p19"/>
          <p:cNvSpPr/>
          <p:nvPr/>
        </p:nvSpPr>
        <p:spPr>
          <a:xfrm>
            <a:off x="9959760" y="4620000"/>
            <a:ext cx="1500000" cy="519900"/>
          </a:xfrm>
          <a:prstGeom prst="rect">
            <a:avLst/>
          </a:prstGeom>
          <a:solidFill>
            <a:srgbClr val="FFFFFF"/>
          </a:solidFill>
          <a:ln cap="flat" cmpd="sng" w="15875">
            <a:solidFill>
              <a:srgbClr val="12496F"/>
            </a:solidFill>
            <a:prstDash val="solid"/>
            <a:round/>
            <a:headEnd len="sm" w="sm" type="none"/>
            <a:tailEnd len="sm" w="sm" type="none"/>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12496F"/>
                </a:solidFill>
                <a:latin typeface="Arial"/>
                <a:ea typeface="Arial"/>
                <a:cs typeface="Arial"/>
                <a:sym typeface="Arial"/>
              </a:rPr>
              <a:t>Cámara </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26303A"/>
                </a:solidFill>
                <a:latin typeface="Arial"/>
                <a:ea typeface="Arial"/>
                <a:cs typeface="Arial"/>
                <a:sym typeface="Arial"/>
              </a:rPr>
              <a:t>pide 36 W</a:t>
            </a:r>
            <a:endParaRPr/>
          </a:p>
        </p:txBody>
      </p:sp>
      <p:cxnSp>
        <p:nvCxnSpPr>
          <p:cNvPr id="1025" name="Google Shape;1025;p19"/>
          <p:cNvCxnSpPr/>
          <p:nvPr/>
        </p:nvCxnSpPr>
        <p:spPr>
          <a:xfrm>
            <a:off x="7859760" y="4880000"/>
            <a:ext cx="2100000" cy="0"/>
          </a:xfrm>
          <a:prstGeom prst="straightConnector1">
            <a:avLst/>
          </a:prstGeom>
          <a:noFill/>
          <a:ln cap="flat" cmpd="sng" w="28575">
            <a:solidFill>
              <a:srgbClr val="12496F"/>
            </a:solidFill>
            <a:prstDash val="solid"/>
            <a:round/>
            <a:headEnd len="sm" w="sm" type="none"/>
            <a:tailEnd len="med" w="med" type="triangle"/>
          </a:ln>
        </p:spPr>
      </p:cxnSp>
      <p:sp>
        <p:nvSpPr>
          <p:cNvPr id="1026" name="Google Shape;1026;p19"/>
          <p:cNvSpPr txBox="1"/>
          <p:nvPr/>
        </p:nvSpPr>
        <p:spPr>
          <a:xfrm>
            <a:off x="7859760" y="4620000"/>
            <a:ext cx="2100000" cy="240000"/>
          </a:xfrm>
          <a:prstGeom prst="rect">
            <a:avLst/>
          </a:prstGeom>
          <a:no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12496F"/>
                </a:solidFill>
                <a:latin typeface="Arial"/>
                <a:ea typeface="Arial"/>
                <a:cs typeface="Arial"/>
                <a:sym typeface="Arial"/>
              </a:rPr>
              <a:t>Datos + energía (PoE)</a:t>
            </a:r>
            <a:endParaRPr/>
          </a:p>
        </p:txBody>
      </p:sp>
      <p:sp>
        <p:nvSpPr>
          <p:cNvPr id="1027" name="Google Shape;1027;p19"/>
          <p:cNvSpPr txBox="1"/>
          <p:nvPr/>
        </p:nvSpPr>
        <p:spPr>
          <a:xfrm>
            <a:off x="7859760" y="4910000"/>
            <a:ext cx="2100000" cy="240000"/>
          </a:xfrm>
          <a:prstGeom prst="rect">
            <a:avLst/>
          </a:prstGeom>
          <a:no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B3261E"/>
                </a:solidFill>
                <a:latin typeface="Arial"/>
                <a:ea typeface="Arial"/>
                <a:cs typeface="Arial"/>
                <a:sym typeface="Arial"/>
              </a:rPr>
              <a:t>¡No </a:t>
            </a:r>
            <a:r>
              <a:rPr b="1" lang="en-US" sz="1200">
                <a:solidFill>
                  <a:srgbClr val="B3261E"/>
                </a:solidFill>
              </a:rPr>
              <a:t>da</a:t>
            </a:r>
            <a:r>
              <a:rPr b="1" i="0" lang="en-US" sz="1200" u="none" cap="none" strike="noStrike">
                <a:solidFill>
                  <a:srgbClr val="B3261E"/>
                </a:solidFill>
                <a:latin typeface="Arial"/>
                <a:ea typeface="Arial"/>
                <a:cs typeface="Arial"/>
                <a:sym typeface="Arial"/>
              </a:rPr>
              <a:t>!</a:t>
            </a:r>
            <a:endParaRPr/>
          </a:p>
        </p:txBody>
      </p:sp>
      <p:sp>
        <p:nvSpPr>
          <p:cNvPr id="1028" name="Google Shape;1028;p19"/>
          <p:cNvSpPr txBox="1"/>
          <p:nvPr/>
        </p:nvSpPr>
        <p:spPr>
          <a:xfrm>
            <a:off x="6442160" y="5436075"/>
            <a:ext cx="5097300" cy="579900"/>
          </a:xfrm>
          <a:prstGeom prst="rect">
            <a:avLst/>
          </a:prstGeom>
          <a:noFill/>
          <a:ln>
            <a:noFill/>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2E7D32"/>
                </a:solidFill>
                <a:latin typeface="Arial"/>
                <a:ea typeface="Arial"/>
                <a:cs typeface="Arial"/>
                <a:sym typeface="Arial"/>
              </a:rPr>
              <a:t>Realidad: </a:t>
            </a:r>
            <a:r>
              <a:rPr b="0" i="0" lang="en-US" sz="1600" u="none" cap="none" strike="noStrike">
                <a:solidFill>
                  <a:srgbClr val="26303A"/>
                </a:solidFill>
                <a:latin typeface="Arial"/>
                <a:ea typeface="Arial"/>
                <a:cs typeface="Arial"/>
                <a:sym typeface="Arial"/>
              </a:rPr>
              <a:t>Solo funciona si el puerto da potencia suficiente al equipo.</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h3173d30833cc6355_6_29"/>
          <p:cNvSpPr/>
          <p:nvPr/>
        </p:nvSpPr>
        <p:spPr>
          <a:xfrm>
            <a:off x="0" y="0"/>
            <a:ext cx="12191400" cy="658200"/>
          </a:xfrm>
          <a:prstGeom prst="rect">
            <a:avLst/>
          </a:prstGeom>
          <a:solidFill>
            <a:srgbClr val="12496F"/>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h3173d30833cc6355_6_29"/>
          <p:cNvSpPr/>
          <p:nvPr/>
        </p:nvSpPr>
        <p:spPr>
          <a:xfrm>
            <a:off x="530225" y="101028"/>
            <a:ext cx="10972500" cy="4560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i="0" lang="en-US" sz="2400" u="none" cap="none" strike="noStrike">
                <a:solidFill>
                  <a:srgbClr val="FFFFFF"/>
                </a:solidFill>
                <a:latin typeface="Arial"/>
                <a:ea typeface="Arial"/>
                <a:cs typeface="Arial"/>
                <a:sym typeface="Arial"/>
              </a:rPr>
              <a:t>19 · Síntesis y preparación de la práctica </a:t>
            </a:r>
            <a:r>
              <a:rPr b="1" lang="en-US" sz="2400">
                <a:solidFill>
                  <a:srgbClr val="FFFFFF"/>
                </a:solidFill>
              </a:rPr>
              <a:t>Juan Ramón Ventaja </a:t>
            </a:r>
            <a:endParaRPr b="0" i="0" sz="2400" u="none" cap="none" strike="noStrike">
              <a:latin typeface="Arial"/>
              <a:ea typeface="Arial"/>
              <a:cs typeface="Arial"/>
              <a:sym typeface="Arial"/>
            </a:endParaRPr>
          </a:p>
        </p:txBody>
      </p:sp>
      <p:sp>
        <p:nvSpPr>
          <p:cNvPr id="1035" name="Google Shape;1035;h3173d30833cc6355_6_29"/>
          <p:cNvSpPr/>
          <p:nvPr/>
        </p:nvSpPr>
        <p:spPr>
          <a:xfrm>
            <a:off x="713160" y="813960"/>
            <a:ext cx="10789500" cy="4407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0" i="0" lang="en-US" sz="2300" u="none" cap="none" strike="noStrike">
                <a:solidFill>
                  <a:srgbClr val="12496F"/>
                </a:solidFill>
                <a:latin typeface="Arial"/>
                <a:ea typeface="Arial"/>
                <a:cs typeface="Arial"/>
                <a:sym typeface="Arial"/>
              </a:rPr>
              <a:t>La actividad integrará Redes 1/4 y Redes 2/4.</a:t>
            </a:r>
            <a:endParaRPr b="0" i="0" sz="2300" u="none" cap="none" strike="noStrike">
              <a:latin typeface="Arial"/>
              <a:ea typeface="Arial"/>
              <a:cs typeface="Arial"/>
              <a:sym typeface="Arial"/>
            </a:endParaRPr>
          </a:p>
        </p:txBody>
      </p:sp>
      <p:sp>
        <p:nvSpPr>
          <p:cNvPr id="1036" name="Google Shape;1036;h3173d30833cc6355_6_29"/>
          <p:cNvSpPr/>
          <p:nvPr/>
        </p:nvSpPr>
        <p:spPr>
          <a:xfrm>
            <a:off x="530235" y="1691640"/>
            <a:ext cx="5408400" cy="2048100"/>
          </a:xfrm>
          <a:prstGeom prst="roundRect">
            <a:avLst>
              <a:gd fmla="val 16667" name="adj"/>
            </a:avLst>
          </a:prstGeom>
          <a:solidFill>
            <a:schemeClr val="lt1"/>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lnSpc>
                <a:spcPct val="115000"/>
              </a:lnSpc>
              <a:spcBef>
                <a:spcPts val="0"/>
              </a:spcBef>
              <a:spcAft>
                <a:spcPts val="500"/>
              </a:spcAft>
              <a:buNone/>
            </a:pPr>
            <a:r>
              <a:t/>
            </a:r>
            <a:endParaRPr b="1" sz="1300">
              <a:solidFill>
                <a:schemeClr val="lt1"/>
              </a:solidFill>
            </a:endParaRPr>
          </a:p>
        </p:txBody>
      </p:sp>
      <p:sp>
        <p:nvSpPr>
          <p:cNvPr id="1037" name="Google Shape;1037;h3173d30833cc6355_6_29"/>
          <p:cNvSpPr/>
          <p:nvPr/>
        </p:nvSpPr>
        <p:spPr>
          <a:xfrm>
            <a:off x="946925" y="1734225"/>
            <a:ext cx="2186400" cy="3546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lang="en-US" sz="1300">
                <a:solidFill>
                  <a:srgbClr val="0284C7"/>
                </a:solidFill>
                <a:highlight>
                  <a:srgbClr val="E0F2FE"/>
                </a:highlight>
                <a:latin typeface="Courier New"/>
                <a:ea typeface="Courier New"/>
                <a:cs typeface="Courier New"/>
                <a:sym typeface="Courier New"/>
              </a:rPr>
              <a:t>01. IDENTIFICAR</a:t>
            </a:r>
            <a:r>
              <a:rPr lang="en-US" sz="1500">
                <a:solidFill>
                  <a:schemeClr val="dk1"/>
                </a:solidFill>
              </a:rPr>
              <a:t> </a:t>
            </a:r>
            <a:endParaRPr b="0" i="0" sz="2400" u="none" cap="none" strike="noStrike">
              <a:latin typeface="Arial"/>
              <a:ea typeface="Arial"/>
              <a:cs typeface="Arial"/>
              <a:sym typeface="Arial"/>
            </a:endParaRPr>
          </a:p>
        </p:txBody>
      </p:sp>
      <p:sp>
        <p:nvSpPr>
          <p:cNvPr id="1038" name="Google Shape;1038;h3173d30833cc6355_6_29"/>
          <p:cNvSpPr/>
          <p:nvPr/>
        </p:nvSpPr>
        <p:spPr>
          <a:xfrm>
            <a:off x="594475" y="2476266"/>
            <a:ext cx="5097600" cy="901500"/>
          </a:xfrm>
          <a:prstGeom prst="rect">
            <a:avLst/>
          </a:prstGeom>
          <a:noFill/>
          <a:ln>
            <a:noFill/>
          </a:ln>
        </p:spPr>
        <p:txBody>
          <a:bodyPr anchorCtr="0" anchor="t" bIns="45000" lIns="36700" spcFirstLastPara="1" rIns="36700" wrap="square" tIns="45000">
            <a:noAutofit/>
          </a:bodyPr>
          <a:lstStyle/>
          <a:p>
            <a:pPr indent="0" lvl="0" marL="0" rtl="0" algn="l">
              <a:spcBef>
                <a:spcPts val="0"/>
              </a:spcBef>
              <a:spcAft>
                <a:spcPts val="0"/>
              </a:spcAft>
              <a:buClr>
                <a:schemeClr val="dk1"/>
              </a:buClr>
              <a:buFont typeface="Arial"/>
              <a:buNone/>
            </a:pPr>
            <a:r>
              <a:rPr b="1" i="1" lang="en-US">
                <a:solidFill>
                  <a:srgbClr val="475569"/>
                </a:solidFill>
                <a:highlight>
                  <a:srgbClr val="FFFFFF"/>
                </a:highlight>
              </a:rPr>
              <a:t>Clasificación de tipo de red, topología física/lógica, medios y función clave</a:t>
            </a:r>
            <a:endParaRPr b="1" i="1">
              <a:solidFill>
                <a:srgbClr val="26303A"/>
              </a:solidFill>
            </a:endParaRPr>
          </a:p>
          <a:p>
            <a:pPr indent="0" lvl="0" marL="0" marR="0" rtl="0" algn="l">
              <a:lnSpc>
                <a:spcPct val="100000"/>
              </a:lnSpc>
              <a:spcBef>
                <a:spcPts val="0"/>
              </a:spcBef>
              <a:spcAft>
                <a:spcPts val="0"/>
              </a:spcAft>
              <a:buNone/>
            </a:pPr>
            <a:r>
              <a:t/>
            </a:r>
            <a:endParaRPr b="1" i="1" sz="2000">
              <a:solidFill>
                <a:srgbClr val="26303A"/>
              </a:solidFill>
            </a:endParaRPr>
          </a:p>
          <a:p>
            <a:pPr indent="0" lvl="0" marL="0" marR="0" rtl="0" algn="l">
              <a:lnSpc>
                <a:spcPct val="100000"/>
              </a:lnSpc>
              <a:spcBef>
                <a:spcPts val="0"/>
              </a:spcBef>
              <a:spcAft>
                <a:spcPts val="0"/>
              </a:spcAft>
              <a:buNone/>
            </a:pPr>
            <a:r>
              <a:t/>
            </a:r>
            <a:endParaRPr sz="2000">
              <a:solidFill>
                <a:srgbClr val="26303A"/>
              </a:solidFill>
            </a:endParaRPr>
          </a:p>
        </p:txBody>
      </p:sp>
      <p:sp>
        <p:nvSpPr>
          <p:cNvPr id="1039" name="Google Shape;1039;h3173d30833cc6355_6_29"/>
          <p:cNvSpPr/>
          <p:nvPr/>
        </p:nvSpPr>
        <p:spPr>
          <a:xfrm>
            <a:off x="6204240" y="1691640"/>
            <a:ext cx="5408400" cy="2048100"/>
          </a:xfrm>
          <a:prstGeom prst="roundRect">
            <a:avLst>
              <a:gd fmla="val 16667" name="adj"/>
            </a:avLst>
          </a:prstGeom>
          <a:solidFill>
            <a:schemeClr val="lt1"/>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h3173d30833cc6355_6_29"/>
          <p:cNvSpPr/>
          <p:nvPr/>
        </p:nvSpPr>
        <p:spPr>
          <a:xfrm>
            <a:off x="6359750" y="1746775"/>
            <a:ext cx="2439300" cy="3546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lang="en-US" sz="1300">
                <a:solidFill>
                  <a:srgbClr val="0D9488"/>
                </a:solidFill>
                <a:highlight>
                  <a:srgbClr val="CCFBF1"/>
                </a:highlight>
                <a:latin typeface="Courier New"/>
                <a:ea typeface="Courier New"/>
                <a:cs typeface="Courier New"/>
                <a:sym typeface="Courier New"/>
              </a:rPr>
              <a:t>02. JUSTIFICAR</a:t>
            </a:r>
            <a:r>
              <a:rPr lang="en-US" sz="1300">
                <a:solidFill>
                  <a:schemeClr val="dk1"/>
                </a:solidFill>
              </a:rPr>
              <a:t> </a:t>
            </a:r>
            <a:endParaRPr b="0" i="0" sz="1300" u="none" cap="none" strike="noStrike">
              <a:latin typeface="Arial"/>
              <a:ea typeface="Arial"/>
              <a:cs typeface="Arial"/>
              <a:sym typeface="Arial"/>
            </a:endParaRPr>
          </a:p>
        </p:txBody>
      </p:sp>
      <p:sp>
        <p:nvSpPr>
          <p:cNvPr id="1041" name="Google Shape;1041;h3173d30833cc6355_6_29"/>
          <p:cNvSpPr/>
          <p:nvPr/>
        </p:nvSpPr>
        <p:spPr>
          <a:xfrm>
            <a:off x="6359760" y="2486900"/>
            <a:ext cx="5097600" cy="7002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i="1" lang="en-US">
                <a:solidFill>
                  <a:srgbClr val="475569"/>
                </a:solidFill>
                <a:highlight>
                  <a:srgbClr val="FFFFFF"/>
                </a:highlight>
              </a:rPr>
              <a:t>Criterios de elección para Switch, Router, AP y conexiones según requisitos del proyecto.</a:t>
            </a:r>
            <a:r>
              <a:rPr b="1" i="1" lang="en-US">
                <a:solidFill>
                  <a:schemeClr val="dk1"/>
                </a:solidFill>
              </a:rPr>
              <a:t> </a:t>
            </a:r>
            <a:endParaRPr b="1" i="1" u="none" cap="none" strike="noStrike"/>
          </a:p>
        </p:txBody>
      </p:sp>
      <p:sp>
        <p:nvSpPr>
          <p:cNvPr id="1042" name="Google Shape;1042;h3173d30833cc6355_6_29"/>
          <p:cNvSpPr/>
          <p:nvPr/>
        </p:nvSpPr>
        <p:spPr>
          <a:xfrm>
            <a:off x="594485" y="4498935"/>
            <a:ext cx="5408400" cy="2048100"/>
          </a:xfrm>
          <a:prstGeom prst="roundRect">
            <a:avLst>
              <a:gd fmla="val 16667" name="adj"/>
            </a:avLst>
          </a:prstGeom>
          <a:solidFill>
            <a:schemeClr val="lt1"/>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lnSpc>
                <a:spcPct val="115000"/>
              </a:lnSpc>
              <a:spcBef>
                <a:spcPts val="0"/>
              </a:spcBef>
              <a:spcAft>
                <a:spcPts val="500"/>
              </a:spcAft>
              <a:buClr>
                <a:schemeClr val="dk1"/>
              </a:buClr>
              <a:buSzPts val="1100"/>
              <a:buFont typeface="Arial"/>
              <a:buNone/>
            </a:pPr>
            <a:r>
              <a:rPr b="1" lang="en-US" sz="1300">
                <a:solidFill>
                  <a:srgbClr val="0F172A"/>
                </a:solidFill>
              </a:rPr>
              <a:t>Análisis de Componentes</a:t>
            </a:r>
            <a:endParaRPr b="1" sz="1300">
              <a:solidFill>
                <a:srgbClr val="0F172A"/>
              </a:solidFill>
            </a:endParaRPr>
          </a:p>
        </p:txBody>
      </p:sp>
      <p:sp>
        <p:nvSpPr>
          <p:cNvPr id="1043" name="Google Shape;1043;h3173d30833cc6355_6_29"/>
          <p:cNvSpPr/>
          <p:nvPr/>
        </p:nvSpPr>
        <p:spPr>
          <a:xfrm>
            <a:off x="750005" y="4599375"/>
            <a:ext cx="5097600" cy="3954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lang="en-US">
                <a:solidFill>
                  <a:srgbClr val="D97706"/>
                </a:solidFill>
                <a:highlight>
                  <a:srgbClr val="FEF3C7"/>
                </a:highlight>
                <a:latin typeface="Courier New"/>
                <a:ea typeface="Courier New"/>
                <a:cs typeface="Courier New"/>
                <a:sym typeface="Courier New"/>
              </a:rPr>
              <a:t>3. REPRESENTAR</a:t>
            </a:r>
            <a:r>
              <a:rPr lang="en-US">
                <a:solidFill>
                  <a:schemeClr val="dk1"/>
                </a:solidFill>
              </a:rPr>
              <a:t> </a:t>
            </a:r>
            <a:endParaRPr b="0" i="0" u="none" cap="none" strike="noStrike">
              <a:latin typeface="Arial"/>
              <a:ea typeface="Arial"/>
              <a:cs typeface="Arial"/>
              <a:sym typeface="Arial"/>
            </a:endParaRPr>
          </a:p>
        </p:txBody>
      </p:sp>
      <p:sp>
        <p:nvSpPr>
          <p:cNvPr id="1044" name="Google Shape;1044;h3173d30833cc6355_6_29"/>
          <p:cNvSpPr/>
          <p:nvPr/>
        </p:nvSpPr>
        <p:spPr>
          <a:xfrm>
            <a:off x="749880" y="5366020"/>
            <a:ext cx="5097600" cy="7002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i="1" lang="en-US">
                <a:solidFill>
                  <a:srgbClr val="475569"/>
                </a:solidFill>
                <a:highlight>
                  <a:srgbClr val="FFFFFF"/>
                </a:highlight>
              </a:rPr>
              <a:t>Diseño gráfico con mapa de puertos, conexiones activas y dispositivos en la red.</a:t>
            </a:r>
            <a:r>
              <a:rPr b="1" i="1" lang="en-US">
                <a:solidFill>
                  <a:schemeClr val="dk1"/>
                </a:solidFill>
              </a:rPr>
              <a:t> </a:t>
            </a:r>
            <a:endParaRPr b="1" i="1" u="none" cap="none" strike="noStrike"/>
          </a:p>
        </p:txBody>
      </p:sp>
      <p:sp>
        <p:nvSpPr>
          <p:cNvPr id="1045" name="Google Shape;1045;h3173d30833cc6355_6_29"/>
          <p:cNvSpPr/>
          <p:nvPr/>
        </p:nvSpPr>
        <p:spPr>
          <a:xfrm>
            <a:off x="6204340" y="4419360"/>
            <a:ext cx="5408400" cy="2048100"/>
          </a:xfrm>
          <a:prstGeom prst="roundRect">
            <a:avLst>
              <a:gd fmla="val 16667" name="adj"/>
            </a:avLst>
          </a:prstGeom>
          <a:solidFill>
            <a:schemeClr val="lt1"/>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h3173d30833cc6355_6_29"/>
          <p:cNvSpPr/>
          <p:nvPr/>
        </p:nvSpPr>
        <p:spPr>
          <a:xfrm>
            <a:off x="6359760" y="4614000"/>
            <a:ext cx="5097600" cy="3954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lang="en-US">
                <a:solidFill>
                  <a:srgbClr val="4F46E5"/>
                </a:solidFill>
                <a:highlight>
                  <a:srgbClr val="E0E7FF"/>
                </a:highlight>
                <a:latin typeface="Courier New"/>
                <a:ea typeface="Courier New"/>
                <a:cs typeface="Courier New"/>
                <a:sym typeface="Courier New"/>
              </a:rPr>
              <a:t>4. DIAGNOSTICAR</a:t>
            </a:r>
            <a:r>
              <a:rPr lang="en-US">
                <a:solidFill>
                  <a:schemeClr val="dk1"/>
                </a:solidFill>
              </a:rPr>
              <a:t> </a:t>
            </a:r>
            <a:endParaRPr b="0" i="0" u="none" cap="none" strike="noStrike">
              <a:latin typeface="Arial"/>
              <a:ea typeface="Arial"/>
              <a:cs typeface="Arial"/>
              <a:sym typeface="Arial"/>
            </a:endParaRPr>
          </a:p>
        </p:txBody>
      </p:sp>
      <p:sp>
        <p:nvSpPr>
          <p:cNvPr id="1047" name="Google Shape;1047;h3173d30833cc6355_6_29"/>
          <p:cNvSpPr/>
          <p:nvPr/>
        </p:nvSpPr>
        <p:spPr>
          <a:xfrm>
            <a:off x="6359760" y="5366020"/>
            <a:ext cx="5097600" cy="7002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i="1" lang="en-US">
                <a:solidFill>
                  <a:srgbClr val="475569"/>
                </a:solidFill>
                <a:highlight>
                  <a:srgbClr val="FFFFFF"/>
                </a:highlight>
              </a:rPr>
              <a:t>Formulación de verificaciones de fallos, trazabilidad y comprobación de conectividad.</a:t>
            </a:r>
            <a:r>
              <a:rPr b="1" i="1" lang="en-US">
                <a:solidFill>
                  <a:schemeClr val="dk1"/>
                </a:solidFill>
              </a:rPr>
              <a:t> </a:t>
            </a:r>
            <a:endParaRPr b="1" i="1" u="none" cap="none" strike="noStrike"/>
          </a:p>
        </p:txBody>
      </p:sp>
      <p:sp>
        <p:nvSpPr>
          <p:cNvPr id="1048" name="Google Shape;1048;h3173d30833cc6355_6_29"/>
          <p:cNvSpPr/>
          <p:nvPr/>
        </p:nvSpPr>
        <p:spPr>
          <a:xfrm>
            <a:off x="818975" y="2088825"/>
            <a:ext cx="2501700" cy="305700"/>
          </a:xfrm>
          <a:prstGeom prst="rect">
            <a:avLst/>
          </a:prstGeom>
          <a:noFill/>
          <a:ln>
            <a:noFill/>
          </a:ln>
        </p:spPr>
        <p:txBody>
          <a:bodyPr anchorCtr="0" anchor="t" bIns="45000" lIns="36700" spcFirstLastPara="1" rIns="36700" wrap="square" tIns="45000">
            <a:noAutofit/>
          </a:bodyPr>
          <a:lstStyle/>
          <a:p>
            <a:pPr indent="0" lvl="0" marL="0" rtl="0" algn="l">
              <a:lnSpc>
                <a:spcPct val="115000"/>
              </a:lnSpc>
              <a:spcBef>
                <a:spcPts val="0"/>
              </a:spcBef>
              <a:spcAft>
                <a:spcPts val="0"/>
              </a:spcAft>
              <a:buClr>
                <a:schemeClr val="dk1"/>
              </a:buClr>
              <a:buSzPts val="1100"/>
              <a:buFont typeface="Arial"/>
              <a:buNone/>
            </a:pPr>
            <a:r>
              <a:rPr b="1" lang="en-US" sz="1300">
                <a:solidFill>
                  <a:srgbClr val="0F172A"/>
                </a:solidFill>
              </a:rPr>
              <a:t>Análisis de Componentes</a:t>
            </a:r>
            <a:endParaRPr b="1" sz="1300">
              <a:solidFill>
                <a:srgbClr val="0F172A"/>
              </a:solidFill>
            </a:endParaRPr>
          </a:p>
          <a:p>
            <a:pPr indent="0" lvl="0" marL="0" marR="0" rtl="0" algn="l">
              <a:lnSpc>
                <a:spcPct val="100000"/>
              </a:lnSpc>
              <a:spcBef>
                <a:spcPts val="500"/>
              </a:spcBef>
              <a:spcAft>
                <a:spcPts val="0"/>
              </a:spcAft>
              <a:buNone/>
            </a:pPr>
            <a:r>
              <a:t/>
            </a:r>
            <a:endParaRPr sz="2000">
              <a:solidFill>
                <a:srgbClr val="26303A"/>
              </a:solidFill>
            </a:endParaRPr>
          </a:p>
          <a:p>
            <a:pPr indent="0" lvl="0" marL="0" marR="0" rtl="0" algn="l">
              <a:lnSpc>
                <a:spcPct val="100000"/>
              </a:lnSpc>
              <a:spcBef>
                <a:spcPts val="0"/>
              </a:spcBef>
              <a:spcAft>
                <a:spcPts val="0"/>
              </a:spcAft>
              <a:buNone/>
            </a:pPr>
            <a:r>
              <a:t/>
            </a:r>
            <a:endParaRPr sz="2600">
              <a:solidFill>
                <a:srgbClr val="26303A"/>
              </a:solidFill>
            </a:endParaRPr>
          </a:p>
          <a:p>
            <a:pPr indent="0" lvl="0" marL="0" marR="0" rtl="0" algn="l">
              <a:lnSpc>
                <a:spcPct val="100000"/>
              </a:lnSpc>
              <a:spcBef>
                <a:spcPts val="0"/>
              </a:spcBef>
              <a:spcAft>
                <a:spcPts val="0"/>
              </a:spcAft>
              <a:buNone/>
            </a:pPr>
            <a:r>
              <a:t/>
            </a:r>
            <a:endParaRPr sz="2000">
              <a:solidFill>
                <a:srgbClr val="26303A"/>
              </a:solidFill>
            </a:endParaRPr>
          </a:p>
        </p:txBody>
      </p:sp>
      <p:sp>
        <p:nvSpPr>
          <p:cNvPr id="1049" name="Google Shape;1049;h3173d30833cc6355_6_29"/>
          <p:cNvSpPr txBox="1"/>
          <p:nvPr/>
        </p:nvSpPr>
        <p:spPr>
          <a:xfrm>
            <a:off x="6301450" y="2049225"/>
            <a:ext cx="3000000" cy="67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300">
                <a:solidFill>
                  <a:srgbClr val="0F172A"/>
                </a:solidFill>
              </a:rPr>
              <a:t>Selección del Hardware</a:t>
            </a:r>
            <a:endParaRPr b="1" sz="1300">
              <a:solidFill>
                <a:srgbClr val="0F172A"/>
              </a:solidFill>
            </a:endParaRPr>
          </a:p>
          <a:p>
            <a:pPr indent="0" lvl="0" marL="0" rtl="0" algn="l">
              <a:lnSpc>
                <a:spcPct val="115000"/>
              </a:lnSpc>
              <a:spcBef>
                <a:spcPts val="500"/>
              </a:spcBef>
              <a:spcAft>
                <a:spcPts val="500"/>
              </a:spcAft>
              <a:buNone/>
            </a:pPr>
            <a:r>
              <a:t/>
            </a:r>
            <a:endParaRPr b="1" sz="1300">
              <a:solidFill>
                <a:srgbClr val="0F172A"/>
              </a:solidFill>
            </a:endParaRPr>
          </a:p>
        </p:txBody>
      </p:sp>
      <p:sp>
        <p:nvSpPr>
          <p:cNvPr id="1050" name="Google Shape;1050;h3173d30833cc6355_6_29"/>
          <p:cNvSpPr txBox="1"/>
          <p:nvPr/>
        </p:nvSpPr>
        <p:spPr>
          <a:xfrm>
            <a:off x="749875" y="4874375"/>
            <a:ext cx="2698500" cy="67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300">
                <a:solidFill>
                  <a:srgbClr val="0F172A"/>
                </a:solidFill>
              </a:rPr>
              <a:t>Esquema del Aula</a:t>
            </a:r>
            <a:endParaRPr b="1" sz="1300">
              <a:solidFill>
                <a:srgbClr val="0F172A"/>
              </a:solidFill>
            </a:endParaRPr>
          </a:p>
          <a:p>
            <a:pPr indent="0" lvl="0" marL="0" rtl="0" algn="l">
              <a:lnSpc>
                <a:spcPct val="115000"/>
              </a:lnSpc>
              <a:spcBef>
                <a:spcPts val="500"/>
              </a:spcBef>
              <a:spcAft>
                <a:spcPts val="500"/>
              </a:spcAft>
              <a:buClr>
                <a:schemeClr val="dk1"/>
              </a:buClr>
              <a:buSzPts val="1100"/>
              <a:buFont typeface="Arial"/>
              <a:buNone/>
            </a:pPr>
            <a:r>
              <a:t/>
            </a:r>
            <a:endParaRPr b="1" sz="1300">
              <a:solidFill>
                <a:srgbClr val="0F172A"/>
              </a:solidFill>
            </a:endParaRPr>
          </a:p>
        </p:txBody>
      </p:sp>
      <p:sp>
        <p:nvSpPr>
          <p:cNvPr id="1051" name="Google Shape;1051;h3173d30833cc6355_6_29"/>
          <p:cNvSpPr txBox="1"/>
          <p:nvPr/>
        </p:nvSpPr>
        <p:spPr>
          <a:xfrm>
            <a:off x="6204350" y="4874375"/>
            <a:ext cx="3000000" cy="67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300">
                <a:solidFill>
                  <a:srgbClr val="0F172A"/>
                </a:solidFill>
              </a:rPr>
              <a:t>Protocolo de Pruebas</a:t>
            </a:r>
            <a:endParaRPr b="1" sz="1300">
              <a:solidFill>
                <a:srgbClr val="0F172A"/>
              </a:solidFill>
            </a:endParaRPr>
          </a:p>
          <a:p>
            <a:pPr indent="0" lvl="0" marL="0" rtl="0" algn="l">
              <a:lnSpc>
                <a:spcPct val="115000"/>
              </a:lnSpc>
              <a:spcBef>
                <a:spcPts val="500"/>
              </a:spcBef>
              <a:spcAft>
                <a:spcPts val="500"/>
              </a:spcAft>
              <a:buNone/>
            </a:pPr>
            <a:r>
              <a:t/>
            </a:r>
            <a:endParaRPr b="1" sz="1300">
              <a:solidFill>
                <a:srgbClr val="0F172A"/>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h3173d30833cc6355_6_77"/>
          <p:cNvSpPr/>
          <p:nvPr/>
        </p:nvSpPr>
        <p:spPr>
          <a:xfrm>
            <a:off x="936750" y="754863"/>
            <a:ext cx="4802400" cy="5811600"/>
          </a:xfrm>
          <a:prstGeom prst="rect">
            <a:avLst/>
          </a:prstGeom>
          <a:solidFill>
            <a:srgbClr val="F3F3F3"/>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7" name="Google Shape;1057;h3173d30833cc6355_6_77"/>
          <p:cNvSpPr/>
          <p:nvPr/>
        </p:nvSpPr>
        <p:spPr>
          <a:xfrm>
            <a:off x="-373750" y="0"/>
            <a:ext cx="12191400" cy="658200"/>
          </a:xfrm>
          <a:prstGeom prst="rect">
            <a:avLst/>
          </a:prstGeom>
          <a:solidFill>
            <a:srgbClr val="12496F"/>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h3173d30833cc6355_6_77"/>
          <p:cNvSpPr/>
          <p:nvPr/>
        </p:nvSpPr>
        <p:spPr>
          <a:xfrm>
            <a:off x="0" y="0"/>
            <a:ext cx="11466300" cy="303900"/>
          </a:xfrm>
          <a:prstGeom prst="rect">
            <a:avLst/>
          </a:prstGeom>
          <a:noFill/>
          <a:ln>
            <a:noFill/>
          </a:ln>
        </p:spPr>
        <p:txBody>
          <a:bodyPr anchorCtr="0" anchor="t" bIns="45000" lIns="36700" spcFirstLastPara="1" rIns="36700" wrap="square" tIns="45000">
            <a:noAutofit/>
          </a:bodyPr>
          <a:lstStyle/>
          <a:p>
            <a:pPr indent="457200" lvl="0" marL="457200" marR="0" rtl="0" algn="l">
              <a:lnSpc>
                <a:spcPct val="100000"/>
              </a:lnSpc>
              <a:spcBef>
                <a:spcPts val="0"/>
              </a:spcBef>
              <a:spcAft>
                <a:spcPts val="0"/>
              </a:spcAft>
              <a:buNone/>
            </a:pPr>
            <a:r>
              <a:rPr b="1" i="0" lang="en-US" sz="2400" u="none" cap="none" strike="noStrike">
                <a:solidFill>
                  <a:srgbClr val="FFFFFF"/>
                </a:solidFill>
                <a:latin typeface="Arial"/>
                <a:ea typeface="Arial"/>
                <a:cs typeface="Arial"/>
                <a:sym typeface="Arial"/>
              </a:rPr>
              <a:t>19 · Síntesis y preparación de la práctica </a:t>
            </a:r>
            <a:r>
              <a:rPr b="1" lang="en-US" sz="2400">
                <a:solidFill>
                  <a:srgbClr val="FFFFFF"/>
                </a:solidFill>
              </a:rPr>
              <a:t>Juan Ramón Ventaja (Parte 2) </a:t>
            </a:r>
            <a:endParaRPr b="0" i="0" sz="2400" u="none" cap="none" strike="noStrike">
              <a:latin typeface="Arial"/>
              <a:ea typeface="Arial"/>
              <a:cs typeface="Arial"/>
              <a:sym typeface="Arial"/>
            </a:endParaRPr>
          </a:p>
        </p:txBody>
      </p:sp>
      <p:sp>
        <p:nvSpPr>
          <p:cNvPr id="1059" name="Google Shape;1059;h3173d30833cc6355_6_77"/>
          <p:cNvSpPr/>
          <p:nvPr/>
        </p:nvSpPr>
        <p:spPr>
          <a:xfrm>
            <a:off x="2867048" y="658200"/>
            <a:ext cx="10789500" cy="4407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t/>
            </a:r>
            <a:endParaRPr b="0" i="0" sz="2300" u="none" cap="none" strike="noStrike">
              <a:latin typeface="Arial"/>
              <a:ea typeface="Arial"/>
              <a:cs typeface="Arial"/>
              <a:sym typeface="Arial"/>
            </a:endParaRPr>
          </a:p>
        </p:txBody>
      </p:sp>
      <p:sp>
        <p:nvSpPr>
          <p:cNvPr id="1060" name="Google Shape;1060;h3173d30833cc6355_6_77"/>
          <p:cNvSpPr/>
          <p:nvPr/>
        </p:nvSpPr>
        <p:spPr>
          <a:xfrm>
            <a:off x="796730" y="3286877"/>
            <a:ext cx="5097600" cy="395400"/>
          </a:xfrm>
          <a:prstGeom prst="rect">
            <a:avLst/>
          </a:prstGeom>
          <a:noFill/>
          <a:ln>
            <a:noFill/>
          </a:ln>
        </p:spPr>
        <p:txBody>
          <a:bodyPr anchorCtr="0" anchor="t" bIns="45000" lIns="36700" spcFirstLastPara="1" rIns="36700" wrap="square" tIns="45000">
            <a:noAutofit/>
          </a:bodyPr>
          <a:lstStyle/>
          <a:p>
            <a:pPr indent="0" lvl="0" marL="0" rtl="0" algn="ctr">
              <a:lnSpc>
                <a:spcPct val="115000"/>
              </a:lnSpc>
              <a:spcBef>
                <a:spcPts val="0"/>
              </a:spcBef>
              <a:spcAft>
                <a:spcPts val="0"/>
              </a:spcAft>
              <a:buClr>
                <a:schemeClr val="dk1"/>
              </a:buClr>
              <a:buSzPts val="1100"/>
              <a:buFont typeface="Arial"/>
              <a:buNone/>
            </a:pPr>
            <a:r>
              <a:rPr b="1" lang="en-US" sz="1500">
                <a:solidFill>
                  <a:srgbClr val="0F172A"/>
                </a:solidFill>
                <a:highlight>
                  <a:srgbClr val="F8FAFC"/>
                </a:highlight>
              </a:rPr>
              <a:t>1. Hardware y Conectiva</a:t>
            </a:r>
            <a:endParaRPr b="1" sz="1500">
              <a:solidFill>
                <a:srgbClr val="0F172A"/>
              </a:solidFill>
              <a:highlight>
                <a:srgbClr val="F8FAFC"/>
              </a:highlight>
            </a:endParaRPr>
          </a:p>
          <a:p>
            <a:pPr indent="0" lvl="0" marL="0" marR="0" rtl="0" algn="l">
              <a:lnSpc>
                <a:spcPct val="100000"/>
              </a:lnSpc>
              <a:spcBef>
                <a:spcPts val="500"/>
              </a:spcBef>
              <a:spcAft>
                <a:spcPts val="0"/>
              </a:spcAft>
              <a:buNone/>
            </a:pPr>
            <a:r>
              <a:t/>
            </a:r>
            <a:endParaRPr b="1">
              <a:solidFill>
                <a:srgbClr val="D97706"/>
              </a:solidFill>
              <a:highlight>
                <a:srgbClr val="FEF3C7"/>
              </a:highlight>
              <a:latin typeface="Courier New"/>
              <a:ea typeface="Courier New"/>
              <a:cs typeface="Courier New"/>
              <a:sym typeface="Courier New"/>
            </a:endParaRPr>
          </a:p>
        </p:txBody>
      </p:sp>
      <p:sp>
        <p:nvSpPr>
          <p:cNvPr id="1061" name="Google Shape;1061;h3173d30833cc6355_6_77"/>
          <p:cNvSpPr txBox="1"/>
          <p:nvPr/>
        </p:nvSpPr>
        <p:spPr>
          <a:xfrm>
            <a:off x="1386275" y="4091538"/>
            <a:ext cx="4389000" cy="119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a:solidFill>
                  <a:srgbClr val="475569"/>
                </a:solidFill>
                <a:highlight>
                  <a:srgbClr val="F8FAFC"/>
                </a:highlight>
              </a:rPr>
              <a:t>Ejemplo: Montaje física en rack de Switch Managed de 24 puertos Gigabit + AP Wi-Fi 6 con latiguillos Cat6.</a:t>
            </a:r>
            <a:r>
              <a:rPr b="1" lang="en-US">
                <a:solidFill>
                  <a:schemeClr val="dk1"/>
                </a:solidFill>
              </a:rPr>
              <a:t> </a:t>
            </a:r>
            <a:endParaRPr b="1">
              <a:solidFill>
                <a:srgbClr val="0F172A"/>
              </a:solidFill>
            </a:endParaRPr>
          </a:p>
          <a:p>
            <a:pPr indent="0" lvl="0" marL="0" rtl="0" algn="l">
              <a:lnSpc>
                <a:spcPct val="115000"/>
              </a:lnSpc>
              <a:spcBef>
                <a:spcPts val="500"/>
              </a:spcBef>
              <a:spcAft>
                <a:spcPts val="500"/>
              </a:spcAft>
              <a:buNone/>
            </a:pPr>
            <a:r>
              <a:t/>
            </a:r>
            <a:endParaRPr b="1" sz="1300">
              <a:solidFill>
                <a:srgbClr val="0F172A"/>
              </a:solidFill>
            </a:endParaRPr>
          </a:p>
        </p:txBody>
      </p:sp>
      <p:sp>
        <p:nvSpPr>
          <p:cNvPr id="1062" name="Google Shape;1062;h3173d30833cc6355_6_77"/>
          <p:cNvSpPr/>
          <p:nvPr/>
        </p:nvSpPr>
        <p:spPr>
          <a:xfrm>
            <a:off x="796730" y="5693277"/>
            <a:ext cx="5097600" cy="395400"/>
          </a:xfrm>
          <a:prstGeom prst="rect">
            <a:avLst/>
          </a:prstGeom>
          <a:noFill/>
          <a:ln>
            <a:noFill/>
          </a:ln>
        </p:spPr>
        <p:txBody>
          <a:bodyPr anchorCtr="0" anchor="t" bIns="45000" lIns="36700" spcFirstLastPara="1" rIns="36700" wrap="square" tIns="45000">
            <a:noAutofit/>
          </a:bodyPr>
          <a:lstStyle/>
          <a:p>
            <a:pPr indent="0" lvl="0" marL="0" rtl="0" algn="ctr">
              <a:lnSpc>
                <a:spcPct val="115000"/>
              </a:lnSpc>
              <a:spcBef>
                <a:spcPts val="0"/>
              </a:spcBef>
              <a:spcAft>
                <a:spcPts val="0"/>
              </a:spcAft>
              <a:buSzPts val="1100"/>
              <a:buNone/>
            </a:pPr>
            <a:r>
              <a:rPr lang="en-US" sz="1100">
                <a:solidFill>
                  <a:srgbClr val="0284C7"/>
                </a:solidFill>
                <a:highlight>
                  <a:srgbClr val="F8FAFC"/>
                </a:highlight>
              </a:rPr>
              <a:t>✓ Justificación de rendimiento</a:t>
            </a:r>
            <a:r>
              <a:rPr lang="en-US" sz="1300">
                <a:solidFill>
                  <a:schemeClr val="dk1"/>
                </a:solidFill>
              </a:rPr>
              <a:t> </a:t>
            </a:r>
            <a:endParaRPr b="1" sz="1700">
              <a:solidFill>
                <a:srgbClr val="0F172A"/>
              </a:solidFill>
              <a:highlight>
                <a:srgbClr val="F8FAFC"/>
              </a:highlight>
            </a:endParaRPr>
          </a:p>
          <a:p>
            <a:pPr indent="0" lvl="0" marL="0" marR="0" rtl="0" algn="l">
              <a:lnSpc>
                <a:spcPct val="100000"/>
              </a:lnSpc>
              <a:spcBef>
                <a:spcPts val="500"/>
              </a:spcBef>
              <a:spcAft>
                <a:spcPts val="0"/>
              </a:spcAft>
              <a:buNone/>
            </a:pPr>
            <a:r>
              <a:t/>
            </a:r>
            <a:endParaRPr b="1">
              <a:solidFill>
                <a:srgbClr val="D97706"/>
              </a:solidFill>
              <a:highlight>
                <a:srgbClr val="FEF3C7"/>
              </a:highlight>
              <a:latin typeface="Courier New"/>
              <a:ea typeface="Courier New"/>
              <a:cs typeface="Courier New"/>
              <a:sym typeface="Courier New"/>
            </a:endParaRPr>
          </a:p>
        </p:txBody>
      </p:sp>
      <p:pic>
        <p:nvPicPr>
          <p:cNvPr id="1063" name="Google Shape;1063;h3173d30833cc6355_6_77"/>
          <p:cNvPicPr preferRelativeResize="0"/>
          <p:nvPr/>
        </p:nvPicPr>
        <p:blipFill>
          <a:blip r:embed="rId3">
            <a:alphaModFix/>
          </a:blip>
          <a:stretch>
            <a:fillRect/>
          </a:stretch>
        </p:blipFill>
        <p:spPr>
          <a:xfrm>
            <a:off x="916325" y="754863"/>
            <a:ext cx="4858424" cy="2435350"/>
          </a:xfrm>
          <a:prstGeom prst="rect">
            <a:avLst/>
          </a:prstGeom>
          <a:noFill/>
          <a:ln>
            <a:noFill/>
          </a:ln>
        </p:spPr>
      </p:pic>
      <p:sp>
        <p:nvSpPr>
          <p:cNvPr id="1064" name="Google Shape;1064;h3173d30833cc6355_6_77"/>
          <p:cNvSpPr/>
          <p:nvPr/>
        </p:nvSpPr>
        <p:spPr>
          <a:xfrm>
            <a:off x="6749150" y="754888"/>
            <a:ext cx="4973100" cy="5811600"/>
          </a:xfrm>
          <a:prstGeom prst="rect">
            <a:avLst/>
          </a:prstGeom>
          <a:solidFill>
            <a:srgbClr val="F3F3F3"/>
          </a:solidFill>
          <a:ln cap="flat" cmpd="sng" w="8750">
            <a:solidFill>
              <a:schemeClr val="lt1"/>
            </a:solidFill>
            <a:prstDash val="solid"/>
            <a:round/>
            <a:headEnd len="sm" w="sm" type="none"/>
            <a:tailEnd len="sm" w="sm" type="none"/>
          </a:ln>
        </p:spPr>
        <p:txBody>
          <a:bodyPr anchorCtr="0" anchor="ctr" bIns="84075" lIns="84075" spcFirstLastPara="1" rIns="84075" wrap="square" tIns="84075">
            <a:noAutofit/>
          </a:bodyPr>
          <a:lstStyle/>
          <a:p>
            <a:pPr indent="0" lvl="0" marL="0" rtl="0" algn="ctr">
              <a:spcBef>
                <a:spcPts val="0"/>
              </a:spcBef>
              <a:spcAft>
                <a:spcPts val="0"/>
              </a:spcAft>
              <a:buNone/>
            </a:pPr>
            <a:r>
              <a:t/>
            </a:r>
            <a:endParaRPr sz="1287"/>
          </a:p>
        </p:txBody>
      </p:sp>
      <p:sp>
        <p:nvSpPr>
          <p:cNvPr id="1065" name="Google Shape;1065;h3173d30833cc6355_6_77"/>
          <p:cNvSpPr/>
          <p:nvPr/>
        </p:nvSpPr>
        <p:spPr>
          <a:xfrm>
            <a:off x="7327312" y="658203"/>
            <a:ext cx="9921300" cy="444000"/>
          </a:xfrm>
          <a:prstGeom prst="rect">
            <a:avLst/>
          </a:prstGeom>
          <a:noFill/>
          <a:ln>
            <a:noFill/>
          </a:ln>
        </p:spPr>
        <p:txBody>
          <a:bodyPr anchorCtr="0" anchor="t" bIns="41375" lIns="33750" spcFirstLastPara="1" rIns="33750" wrap="square" tIns="41375">
            <a:noAutofit/>
          </a:bodyPr>
          <a:lstStyle/>
          <a:p>
            <a:pPr indent="0" lvl="0" marL="0" marR="0" rtl="0" algn="l">
              <a:lnSpc>
                <a:spcPct val="100000"/>
              </a:lnSpc>
              <a:spcBef>
                <a:spcPts val="0"/>
              </a:spcBef>
              <a:spcAft>
                <a:spcPts val="0"/>
              </a:spcAft>
              <a:buNone/>
            </a:pPr>
            <a:r>
              <a:t/>
            </a:r>
            <a:endParaRPr b="0" i="0" sz="2115" u="none" cap="none" strike="noStrike">
              <a:latin typeface="Arial"/>
              <a:ea typeface="Arial"/>
              <a:cs typeface="Arial"/>
              <a:sym typeface="Arial"/>
            </a:endParaRPr>
          </a:p>
        </p:txBody>
      </p:sp>
      <p:sp>
        <p:nvSpPr>
          <p:cNvPr id="1066" name="Google Shape;1066;h3173d30833cc6355_6_77"/>
          <p:cNvSpPr/>
          <p:nvPr/>
        </p:nvSpPr>
        <p:spPr>
          <a:xfrm>
            <a:off x="6833157" y="3282154"/>
            <a:ext cx="4687500" cy="398400"/>
          </a:xfrm>
          <a:prstGeom prst="rect">
            <a:avLst/>
          </a:prstGeom>
          <a:noFill/>
          <a:ln>
            <a:noFill/>
          </a:ln>
        </p:spPr>
        <p:txBody>
          <a:bodyPr anchorCtr="0" anchor="t" bIns="41375" lIns="33750" spcFirstLastPara="1" rIns="33750" wrap="square" tIns="41375">
            <a:noAutofit/>
          </a:bodyPr>
          <a:lstStyle/>
          <a:p>
            <a:pPr indent="0" lvl="0" marL="0" rtl="0" algn="ctr">
              <a:lnSpc>
                <a:spcPct val="115000"/>
              </a:lnSpc>
              <a:spcBef>
                <a:spcPts val="0"/>
              </a:spcBef>
              <a:spcAft>
                <a:spcPts val="0"/>
              </a:spcAft>
              <a:buClr>
                <a:schemeClr val="dk1"/>
              </a:buClr>
              <a:buSzPts val="1100"/>
              <a:buFont typeface="Arial"/>
              <a:buNone/>
            </a:pPr>
            <a:r>
              <a:rPr b="1" lang="en-US" sz="1300">
                <a:solidFill>
                  <a:srgbClr val="0F172A"/>
                </a:solidFill>
                <a:highlight>
                  <a:srgbClr val="F8FAFC"/>
                </a:highlight>
              </a:rPr>
              <a:t>2. Plano de Red Lógico</a:t>
            </a:r>
            <a:endParaRPr b="1" sz="1300">
              <a:solidFill>
                <a:srgbClr val="0F172A"/>
              </a:solidFill>
              <a:highlight>
                <a:srgbClr val="F8FAFC"/>
              </a:highlight>
            </a:endParaRPr>
          </a:p>
          <a:p>
            <a:pPr indent="0" lvl="0" marL="0" rtl="0" algn="ctr">
              <a:lnSpc>
                <a:spcPct val="115000"/>
              </a:lnSpc>
              <a:spcBef>
                <a:spcPts val="500"/>
              </a:spcBef>
              <a:spcAft>
                <a:spcPts val="0"/>
              </a:spcAft>
              <a:buSzPts val="1011"/>
              <a:buNone/>
            </a:pPr>
            <a:r>
              <a:t/>
            </a:r>
            <a:endParaRPr b="1" sz="1379">
              <a:solidFill>
                <a:srgbClr val="0F172A"/>
              </a:solidFill>
              <a:highlight>
                <a:srgbClr val="F8FAFC"/>
              </a:highlight>
            </a:endParaRPr>
          </a:p>
          <a:p>
            <a:pPr indent="0" lvl="0" marL="0" marR="0" rtl="0" algn="l">
              <a:lnSpc>
                <a:spcPct val="100000"/>
              </a:lnSpc>
              <a:spcBef>
                <a:spcPts val="460"/>
              </a:spcBef>
              <a:spcAft>
                <a:spcPts val="0"/>
              </a:spcAft>
              <a:buNone/>
            </a:pPr>
            <a:r>
              <a:t/>
            </a:r>
            <a:endParaRPr b="1" sz="1287">
              <a:solidFill>
                <a:srgbClr val="D97706"/>
              </a:solidFill>
              <a:highlight>
                <a:srgbClr val="FEF3C7"/>
              </a:highlight>
              <a:latin typeface="Courier New"/>
              <a:ea typeface="Courier New"/>
              <a:cs typeface="Courier New"/>
              <a:sym typeface="Courier New"/>
            </a:endParaRPr>
          </a:p>
        </p:txBody>
      </p:sp>
      <p:sp>
        <p:nvSpPr>
          <p:cNvPr id="1067" name="Google Shape;1067;h3173d30833cc6355_6_77"/>
          <p:cNvSpPr txBox="1"/>
          <p:nvPr/>
        </p:nvSpPr>
        <p:spPr>
          <a:xfrm>
            <a:off x="7159097" y="3959293"/>
            <a:ext cx="4035600" cy="1096500"/>
          </a:xfrm>
          <a:prstGeom prst="rect">
            <a:avLst/>
          </a:prstGeom>
          <a:noFill/>
          <a:ln>
            <a:noFill/>
          </a:ln>
        </p:spPr>
        <p:txBody>
          <a:bodyPr anchorCtr="0" anchor="t" bIns="84075" lIns="84075" spcFirstLastPara="1" rIns="84075" wrap="square" tIns="84075">
            <a:spAutoFit/>
          </a:bodyPr>
          <a:lstStyle/>
          <a:p>
            <a:pPr indent="0" lvl="0" marL="0" rtl="0" algn="l">
              <a:lnSpc>
                <a:spcPct val="115000"/>
              </a:lnSpc>
              <a:spcBef>
                <a:spcPts val="0"/>
              </a:spcBef>
              <a:spcAft>
                <a:spcPts val="0"/>
              </a:spcAft>
              <a:buNone/>
            </a:pPr>
            <a:r>
              <a:rPr b="1" lang="en-US" sz="1287">
                <a:solidFill>
                  <a:srgbClr val="475569"/>
                </a:solidFill>
                <a:highlight>
                  <a:srgbClr val="F8FAFC"/>
                </a:highlight>
              </a:rPr>
              <a:t>Ejemplo: Montaje física en rack de Switch Managed de 24 puertos Gigabit + AP Wi-Fi 6 con latiguillos Cat6.</a:t>
            </a:r>
            <a:r>
              <a:rPr b="1" lang="en-US" sz="1287">
                <a:solidFill>
                  <a:schemeClr val="dk1"/>
                </a:solidFill>
              </a:rPr>
              <a:t> </a:t>
            </a:r>
            <a:endParaRPr b="1" sz="1287">
              <a:solidFill>
                <a:srgbClr val="0F172A"/>
              </a:solidFill>
            </a:endParaRPr>
          </a:p>
          <a:p>
            <a:pPr indent="0" lvl="0" marL="0" rtl="0" algn="l">
              <a:lnSpc>
                <a:spcPct val="115000"/>
              </a:lnSpc>
              <a:spcBef>
                <a:spcPts val="460"/>
              </a:spcBef>
              <a:spcAft>
                <a:spcPts val="460"/>
              </a:spcAft>
              <a:buNone/>
            </a:pPr>
            <a:r>
              <a:t/>
            </a:r>
            <a:endParaRPr b="1" sz="1195">
              <a:solidFill>
                <a:srgbClr val="0F172A"/>
              </a:solidFill>
            </a:endParaRPr>
          </a:p>
        </p:txBody>
      </p:sp>
      <p:sp>
        <p:nvSpPr>
          <p:cNvPr id="1068" name="Google Shape;1068;h3173d30833cc6355_6_77"/>
          <p:cNvSpPr/>
          <p:nvPr/>
        </p:nvSpPr>
        <p:spPr>
          <a:xfrm>
            <a:off x="6883263" y="5549892"/>
            <a:ext cx="4687500" cy="398400"/>
          </a:xfrm>
          <a:prstGeom prst="rect">
            <a:avLst/>
          </a:prstGeom>
          <a:noFill/>
          <a:ln>
            <a:noFill/>
          </a:ln>
        </p:spPr>
        <p:txBody>
          <a:bodyPr anchorCtr="0" anchor="t" bIns="41375" lIns="33750" spcFirstLastPara="1" rIns="33750" wrap="square" tIns="41375">
            <a:noAutofit/>
          </a:bodyPr>
          <a:lstStyle/>
          <a:p>
            <a:pPr indent="0" lvl="0" marL="0" rtl="0" algn="ctr">
              <a:lnSpc>
                <a:spcPct val="115000"/>
              </a:lnSpc>
              <a:spcBef>
                <a:spcPts val="0"/>
              </a:spcBef>
              <a:spcAft>
                <a:spcPts val="0"/>
              </a:spcAft>
              <a:buSzPts val="1011"/>
              <a:buNone/>
            </a:pPr>
            <a:r>
              <a:rPr lang="en-US" sz="1100">
                <a:solidFill>
                  <a:srgbClr val="059669"/>
                </a:solidFill>
                <a:highlight>
                  <a:srgbClr val="F8FAFC"/>
                </a:highlight>
              </a:rPr>
              <a:t>✓ Mapeo de puertos e IPs</a:t>
            </a:r>
            <a:r>
              <a:rPr lang="en-US" sz="1100">
                <a:solidFill>
                  <a:schemeClr val="dk1"/>
                </a:solidFill>
              </a:rPr>
              <a:t> </a:t>
            </a:r>
            <a:endParaRPr b="1" sz="1100">
              <a:solidFill>
                <a:srgbClr val="0F172A"/>
              </a:solidFill>
              <a:highlight>
                <a:srgbClr val="F8FAFC"/>
              </a:highlight>
            </a:endParaRPr>
          </a:p>
          <a:p>
            <a:pPr indent="0" lvl="0" marL="0" marR="0" rtl="0" algn="l">
              <a:lnSpc>
                <a:spcPct val="100000"/>
              </a:lnSpc>
              <a:spcBef>
                <a:spcPts val="460"/>
              </a:spcBef>
              <a:spcAft>
                <a:spcPts val="0"/>
              </a:spcAft>
              <a:buNone/>
            </a:pPr>
            <a:r>
              <a:t/>
            </a:r>
            <a:endParaRPr b="1" sz="1287">
              <a:solidFill>
                <a:srgbClr val="D97706"/>
              </a:solidFill>
              <a:highlight>
                <a:srgbClr val="FEF3C7"/>
              </a:highlight>
              <a:latin typeface="Courier New"/>
              <a:ea typeface="Courier New"/>
              <a:cs typeface="Courier New"/>
              <a:sym typeface="Courier New"/>
            </a:endParaRPr>
          </a:p>
        </p:txBody>
      </p:sp>
      <p:pic>
        <p:nvPicPr>
          <p:cNvPr id="1069" name="Google Shape;1069;h3173d30833cc6355_6_77"/>
          <p:cNvPicPr preferRelativeResize="0"/>
          <p:nvPr/>
        </p:nvPicPr>
        <p:blipFill>
          <a:blip r:embed="rId4">
            <a:alphaModFix/>
          </a:blip>
          <a:stretch>
            <a:fillRect/>
          </a:stretch>
        </p:blipFill>
        <p:spPr>
          <a:xfrm>
            <a:off x="6749150" y="754888"/>
            <a:ext cx="4973100" cy="243535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3" name="Shape 1073"/>
        <p:cNvGrpSpPr/>
        <p:nvPr/>
      </p:nvGrpSpPr>
      <p:grpSpPr>
        <a:xfrm>
          <a:off x="0" y="0"/>
          <a:ext cx="0" cy="0"/>
          <a:chOff x="0" y="0"/>
          <a:chExt cx="0" cy="0"/>
        </a:xfrm>
      </p:grpSpPr>
      <p:sp>
        <p:nvSpPr>
          <p:cNvPr id="1074" name="Google Shape;1074;h3173d30833cc6355_26_3"/>
          <p:cNvSpPr/>
          <p:nvPr/>
        </p:nvSpPr>
        <p:spPr>
          <a:xfrm>
            <a:off x="0" y="0"/>
            <a:ext cx="12191400" cy="658200"/>
          </a:xfrm>
          <a:prstGeom prst="rect">
            <a:avLst/>
          </a:prstGeom>
          <a:solidFill>
            <a:srgbClr val="12496F"/>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h3173d30833cc6355_26_3"/>
          <p:cNvSpPr/>
          <p:nvPr/>
        </p:nvSpPr>
        <p:spPr>
          <a:xfrm>
            <a:off x="530225" y="101028"/>
            <a:ext cx="10972500" cy="4560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lang="en-US" sz="2400">
                <a:solidFill>
                  <a:srgbClr val="FFFFFF"/>
                </a:solidFill>
              </a:rPr>
              <a:t>XX</a:t>
            </a:r>
            <a:r>
              <a:rPr b="1" i="0" lang="en-US" sz="2400" u="none" cap="none" strike="noStrike">
                <a:solidFill>
                  <a:srgbClr val="FFFFFF"/>
                </a:solidFill>
                <a:latin typeface="Arial"/>
                <a:ea typeface="Arial"/>
                <a:cs typeface="Arial"/>
                <a:sym typeface="Arial"/>
              </a:rPr>
              <a:t>· </a:t>
            </a:r>
            <a:r>
              <a:rPr b="1" lang="en-US" sz="2400">
                <a:solidFill>
                  <a:srgbClr val="FFFFFF"/>
                </a:solidFill>
              </a:rPr>
              <a:t>Paneles de parcheo y racks:  Alejandro Patricio Toro </a:t>
            </a:r>
            <a:endParaRPr b="0" i="0" sz="2400" u="none" cap="none" strike="noStrike">
              <a:latin typeface="Arial"/>
              <a:ea typeface="Arial"/>
              <a:cs typeface="Arial"/>
              <a:sym typeface="Arial"/>
            </a:endParaRPr>
          </a:p>
        </p:txBody>
      </p:sp>
      <p:sp>
        <p:nvSpPr>
          <p:cNvPr id="1076" name="Google Shape;1076;h3173d30833cc6355_26_3"/>
          <p:cNvSpPr/>
          <p:nvPr/>
        </p:nvSpPr>
        <p:spPr>
          <a:xfrm>
            <a:off x="3936725" y="961132"/>
            <a:ext cx="4122600" cy="1848000"/>
          </a:xfrm>
          <a:prstGeom prst="roundRect">
            <a:avLst>
              <a:gd fmla="val 16667" name="adj"/>
            </a:avLst>
          </a:prstGeom>
          <a:solidFill>
            <a:srgbClr val="E7F1F9"/>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h3173d30833cc6355_26_3"/>
          <p:cNvSpPr/>
          <p:nvPr/>
        </p:nvSpPr>
        <p:spPr>
          <a:xfrm>
            <a:off x="3897450" y="3317175"/>
            <a:ext cx="4397100" cy="2579700"/>
          </a:xfrm>
          <a:prstGeom prst="roundRect">
            <a:avLst>
              <a:gd fmla="val 16667" name="adj"/>
            </a:avLst>
          </a:prstGeom>
          <a:solidFill>
            <a:schemeClr val="accent6"/>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h3173d30833cc6355_26_3"/>
          <p:cNvSpPr txBox="1"/>
          <p:nvPr/>
        </p:nvSpPr>
        <p:spPr>
          <a:xfrm>
            <a:off x="5247900" y="1136800"/>
            <a:ext cx="1696200" cy="34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t>RACK</a:t>
            </a:r>
            <a:endParaRPr sz="1800"/>
          </a:p>
        </p:txBody>
      </p:sp>
      <p:sp>
        <p:nvSpPr>
          <p:cNvPr id="1079" name="Google Shape;1079;h3173d30833cc6355_26_3"/>
          <p:cNvSpPr txBox="1"/>
          <p:nvPr/>
        </p:nvSpPr>
        <p:spPr>
          <a:xfrm>
            <a:off x="4922225" y="3486325"/>
            <a:ext cx="3137100" cy="34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t>Panel de parcheo</a:t>
            </a:r>
            <a:endParaRPr sz="1800"/>
          </a:p>
        </p:txBody>
      </p:sp>
      <p:pic>
        <p:nvPicPr>
          <p:cNvPr id="1080" name="Google Shape;1080;h3173d30833cc6355_26_3"/>
          <p:cNvPicPr preferRelativeResize="0"/>
          <p:nvPr/>
        </p:nvPicPr>
        <p:blipFill>
          <a:blip r:embed="rId3">
            <a:alphaModFix/>
          </a:blip>
          <a:stretch>
            <a:fillRect/>
          </a:stretch>
        </p:blipFill>
        <p:spPr>
          <a:xfrm>
            <a:off x="8329268" y="1356480"/>
            <a:ext cx="3773400" cy="4145033"/>
          </a:xfrm>
          <a:prstGeom prst="rect">
            <a:avLst/>
          </a:prstGeom>
          <a:noFill/>
          <a:ln>
            <a:noFill/>
          </a:ln>
        </p:spPr>
      </p:pic>
      <p:pic>
        <p:nvPicPr>
          <p:cNvPr id="1081" name="Google Shape;1081;h3173d30833cc6355_26_3"/>
          <p:cNvPicPr preferRelativeResize="0"/>
          <p:nvPr/>
        </p:nvPicPr>
        <p:blipFill>
          <a:blip r:embed="rId4">
            <a:alphaModFix/>
          </a:blip>
          <a:stretch>
            <a:fillRect/>
          </a:stretch>
        </p:blipFill>
        <p:spPr>
          <a:xfrm>
            <a:off x="195275" y="1496062"/>
            <a:ext cx="3316020" cy="4145025"/>
          </a:xfrm>
          <a:prstGeom prst="rect">
            <a:avLst/>
          </a:prstGeom>
          <a:noFill/>
          <a:ln>
            <a:noFill/>
          </a:ln>
        </p:spPr>
      </p:pic>
      <p:sp>
        <p:nvSpPr>
          <p:cNvPr id="1082" name="Google Shape;1082;h3173d30833cc6355_26_3"/>
          <p:cNvSpPr txBox="1"/>
          <p:nvPr/>
        </p:nvSpPr>
        <p:spPr>
          <a:xfrm>
            <a:off x="4264325" y="1599088"/>
            <a:ext cx="3467400" cy="84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t>Es una estructura metálica cuyo propósito es alojar y organizar equipos electrónicos de manera eficiente.</a:t>
            </a:r>
            <a:endParaRPr sz="1600"/>
          </a:p>
        </p:txBody>
      </p:sp>
      <p:sp>
        <p:nvSpPr>
          <p:cNvPr id="1083" name="Google Shape;1083;h3173d30833cc6355_26_3"/>
          <p:cNvSpPr txBox="1"/>
          <p:nvPr/>
        </p:nvSpPr>
        <p:spPr>
          <a:xfrm>
            <a:off x="3936725" y="3924000"/>
            <a:ext cx="4122600" cy="102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900"/>
              <a:t>Es un dispositivo que se encuentra en el rack capaz de organizar los cables de red para su correcta conexión. Estos dispositivos facilitan la </a:t>
            </a:r>
            <a:r>
              <a:rPr lang="en-US" sz="1900"/>
              <a:t>gestión</a:t>
            </a:r>
            <a:r>
              <a:rPr lang="en-US" sz="1900"/>
              <a:t> del cableado y los futuros ajustes en la </a:t>
            </a:r>
            <a:r>
              <a:rPr lang="en-US" sz="1900"/>
              <a:t>infraestructura.</a:t>
            </a:r>
            <a:endParaRPr sz="19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h3173d30833cc6355_39_11"/>
          <p:cNvSpPr/>
          <p:nvPr/>
        </p:nvSpPr>
        <p:spPr>
          <a:xfrm>
            <a:off x="0" y="0"/>
            <a:ext cx="12191400" cy="658200"/>
          </a:xfrm>
          <a:prstGeom prst="rect">
            <a:avLst/>
          </a:prstGeom>
          <a:solidFill>
            <a:srgbClr val="12496F"/>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h3173d30833cc6355_39_11"/>
          <p:cNvSpPr/>
          <p:nvPr/>
        </p:nvSpPr>
        <p:spPr>
          <a:xfrm>
            <a:off x="530225" y="101025"/>
            <a:ext cx="11544300" cy="456000"/>
          </a:xfrm>
          <a:prstGeom prst="rect">
            <a:avLst/>
          </a:prstGeom>
          <a:noFill/>
          <a:ln>
            <a:noFill/>
          </a:ln>
        </p:spPr>
        <p:txBody>
          <a:bodyPr anchorCtr="0" anchor="t" bIns="45000" lIns="36700" spcFirstLastPara="1" rIns="36700" wrap="square" tIns="45000">
            <a:noAutofit/>
          </a:bodyPr>
          <a:lstStyle/>
          <a:p>
            <a:pPr indent="0" lvl="0" marL="0" marR="0" rtl="0" algn="l">
              <a:lnSpc>
                <a:spcPct val="100000"/>
              </a:lnSpc>
              <a:spcBef>
                <a:spcPts val="0"/>
              </a:spcBef>
              <a:spcAft>
                <a:spcPts val="0"/>
              </a:spcAft>
              <a:buNone/>
            </a:pPr>
            <a:r>
              <a:rPr b="1" lang="en-US" sz="2400">
                <a:solidFill>
                  <a:srgbClr val="FFFFFF"/>
                </a:solidFill>
              </a:rPr>
              <a:t>XX</a:t>
            </a:r>
            <a:r>
              <a:rPr b="1" i="0" lang="en-US" sz="2400" u="none" cap="none" strike="noStrike">
                <a:solidFill>
                  <a:srgbClr val="FFFFFF"/>
                </a:solidFill>
                <a:latin typeface="Arial"/>
                <a:ea typeface="Arial"/>
                <a:cs typeface="Arial"/>
                <a:sym typeface="Arial"/>
              </a:rPr>
              <a:t>· </a:t>
            </a:r>
            <a:r>
              <a:rPr b="1" lang="en-US" sz="2400">
                <a:solidFill>
                  <a:srgbClr val="FFFFFF"/>
                </a:solidFill>
              </a:rPr>
              <a:t>Paneles de parcheo y racks parte 2 casos prácticos:  Alejandro Patricio Toro </a:t>
            </a:r>
            <a:endParaRPr b="0" i="0" sz="2400" u="none" cap="none" strike="noStrike">
              <a:latin typeface="Arial"/>
              <a:ea typeface="Arial"/>
              <a:cs typeface="Arial"/>
              <a:sym typeface="Arial"/>
            </a:endParaRPr>
          </a:p>
        </p:txBody>
      </p:sp>
      <p:sp>
        <p:nvSpPr>
          <p:cNvPr id="1090" name="Google Shape;1090;h3173d30833cc6355_39_11"/>
          <p:cNvSpPr/>
          <p:nvPr/>
        </p:nvSpPr>
        <p:spPr>
          <a:xfrm>
            <a:off x="290700" y="1354338"/>
            <a:ext cx="6457800" cy="3292500"/>
          </a:xfrm>
          <a:prstGeom prst="roundRect">
            <a:avLst>
              <a:gd fmla="val 16667" name="adj"/>
            </a:avLst>
          </a:prstGeom>
          <a:solidFill>
            <a:srgbClr val="00FF00"/>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h3173d30833cc6355_39_11"/>
          <p:cNvSpPr/>
          <p:nvPr/>
        </p:nvSpPr>
        <p:spPr>
          <a:xfrm>
            <a:off x="290700" y="4823875"/>
            <a:ext cx="11693400" cy="1916400"/>
          </a:xfrm>
          <a:prstGeom prst="roundRect">
            <a:avLst>
              <a:gd fmla="val 16667" name="adj"/>
            </a:avLst>
          </a:prstGeom>
          <a:solidFill>
            <a:schemeClr val="lt2"/>
          </a:solidFill>
          <a:ln>
            <a:noFill/>
          </a:ln>
          <a:effectLst>
            <a:outerShdw blurRad="39960" rotWithShape="0" dir="5400000" dist="2304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h3173d30833cc6355_39_11"/>
          <p:cNvSpPr txBox="1"/>
          <p:nvPr/>
        </p:nvSpPr>
        <p:spPr>
          <a:xfrm>
            <a:off x="619499" y="1656000"/>
            <a:ext cx="5800200" cy="83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2000">
                <a:solidFill>
                  <a:schemeClr val="dk1"/>
                </a:solidFill>
              </a:rPr>
              <a:t>¿Cómo se conectan las rosetas del aula con el switch?</a:t>
            </a:r>
            <a:endParaRPr sz="2400"/>
          </a:p>
        </p:txBody>
      </p:sp>
      <p:sp>
        <p:nvSpPr>
          <p:cNvPr id="1093" name="Google Shape;1093;h3173d30833cc6355_39_11"/>
          <p:cNvSpPr txBox="1"/>
          <p:nvPr/>
        </p:nvSpPr>
        <p:spPr>
          <a:xfrm>
            <a:off x="2721125" y="4749175"/>
            <a:ext cx="11142300" cy="83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t>¿por qué el panel no sustituye al switch?</a:t>
            </a:r>
            <a:endParaRPr sz="2400"/>
          </a:p>
        </p:txBody>
      </p:sp>
      <p:sp>
        <p:nvSpPr>
          <p:cNvPr id="1094" name="Google Shape;1094;h3173d30833cc6355_39_11"/>
          <p:cNvSpPr txBox="1"/>
          <p:nvPr/>
        </p:nvSpPr>
        <p:spPr>
          <a:xfrm>
            <a:off x="3087275" y="4367863"/>
            <a:ext cx="3882900" cy="45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h3173d30833cc6355_39_11"/>
          <p:cNvSpPr txBox="1"/>
          <p:nvPr/>
        </p:nvSpPr>
        <p:spPr>
          <a:xfrm>
            <a:off x="427800" y="5343000"/>
            <a:ext cx="11419200" cy="83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rPr>
              <a:t>Las funciones que desempeñan estos dispositivos son completamente opuestas y complementarias, mientras que el panel es un dispositivo pasivo que no necesita electricidad y su misión es recibir los cables y conectarlos al switch. El switch tiene la función de gestionar los datos entre los distintos racks para que los servidores puedan comunicarse entre sí mediante la red.</a:t>
            </a:r>
            <a:endParaRPr sz="1800">
              <a:solidFill>
                <a:schemeClr val="dk1"/>
              </a:solidFill>
            </a:endParaRPr>
          </a:p>
        </p:txBody>
      </p:sp>
      <p:pic>
        <p:nvPicPr>
          <p:cNvPr id="1096" name="Google Shape;1096;h3173d30833cc6355_39_11"/>
          <p:cNvPicPr preferRelativeResize="0"/>
          <p:nvPr/>
        </p:nvPicPr>
        <p:blipFill>
          <a:blip r:embed="rId3">
            <a:alphaModFix/>
          </a:blip>
          <a:stretch>
            <a:fillRect/>
          </a:stretch>
        </p:blipFill>
        <p:spPr>
          <a:xfrm>
            <a:off x="7066925" y="1655990"/>
            <a:ext cx="5268600" cy="2689185"/>
          </a:xfrm>
          <a:prstGeom prst="rect">
            <a:avLst/>
          </a:prstGeom>
          <a:noFill/>
          <a:ln>
            <a:noFill/>
          </a:ln>
        </p:spPr>
      </p:pic>
      <p:sp>
        <p:nvSpPr>
          <p:cNvPr id="1097" name="Google Shape;1097;h3173d30833cc6355_39_11"/>
          <p:cNvSpPr txBox="1"/>
          <p:nvPr/>
        </p:nvSpPr>
        <p:spPr>
          <a:xfrm>
            <a:off x="786950" y="2642625"/>
            <a:ext cx="52686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t>1.Del equipo a la roseta de pared.</a:t>
            </a:r>
            <a:endParaRPr sz="1800"/>
          </a:p>
          <a:p>
            <a:pPr indent="0" lvl="0" marL="0" rtl="0" algn="l">
              <a:spcBef>
                <a:spcPts val="0"/>
              </a:spcBef>
              <a:spcAft>
                <a:spcPts val="0"/>
              </a:spcAft>
              <a:buNone/>
            </a:pPr>
            <a:r>
              <a:rPr lang="en-US" sz="1800"/>
              <a:t>2.De la roseta al patch panel (cuarto de telecomunicaciones).</a:t>
            </a:r>
            <a:endParaRPr sz="1800"/>
          </a:p>
          <a:p>
            <a:pPr indent="0" lvl="0" marL="0" rtl="0" algn="l">
              <a:spcBef>
                <a:spcPts val="0"/>
              </a:spcBef>
              <a:spcAft>
                <a:spcPts val="0"/>
              </a:spcAft>
              <a:buNone/>
            </a:pPr>
            <a:r>
              <a:rPr lang="en-US" sz="1800"/>
              <a:t>3.Del patch panel al switch.</a:t>
            </a:r>
            <a:endParaRPr sz="1800"/>
          </a:p>
          <a:p>
            <a:pPr indent="0" lvl="0" marL="0" rtl="0" algn="l">
              <a:spcBef>
                <a:spcPts val="0"/>
              </a:spcBef>
              <a:spcAft>
                <a:spcPts val="0"/>
              </a:spcAft>
              <a:buNone/>
            </a:pPr>
            <a:r>
              <a:rPr lang="en-US" sz="1800"/>
              <a:t>4.Verificar la conexión.</a:t>
            </a:r>
            <a:endParaRPr sz="18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h3173d30833cc6355_30_98"/>
          <p:cNvSpPr/>
          <p:nvPr/>
        </p:nvSpPr>
        <p:spPr>
          <a:xfrm>
            <a:off x="0" y="0"/>
            <a:ext cx="12192000" cy="640200"/>
          </a:xfrm>
          <a:prstGeom prst="rect">
            <a:avLst/>
          </a:prstGeom>
          <a:solidFill>
            <a:srgbClr val="12496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4" name="Google Shape;1104;h3173d30833cc6355_30_98"/>
          <p:cNvSpPr txBox="1"/>
          <p:nvPr/>
        </p:nvSpPr>
        <p:spPr>
          <a:xfrm>
            <a:off x="502933" y="91440"/>
            <a:ext cx="111561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sz="2400">
                <a:solidFill>
                  <a:schemeClr val="lt1"/>
                </a:solidFill>
              </a:rPr>
              <a:t>YY· Herramientas y comprobación de cableado :  Sergio Pérez		 PARTE 1</a:t>
            </a:r>
            <a:endParaRPr b="1" sz="2400">
              <a:solidFill>
                <a:srgbClr val="FFFFFF"/>
              </a:solidFill>
            </a:endParaRPr>
          </a:p>
        </p:txBody>
      </p:sp>
      <p:sp>
        <p:nvSpPr>
          <p:cNvPr id="1105" name="Google Shape;1105;h3173d30833cc6355_30_98"/>
          <p:cNvSpPr txBox="1"/>
          <p:nvPr/>
        </p:nvSpPr>
        <p:spPr>
          <a:xfrm>
            <a:off x="658386" y="713232"/>
            <a:ext cx="108816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12496F"/>
                </a:solidFill>
                <a:latin typeface="Arial"/>
                <a:ea typeface="Arial"/>
                <a:cs typeface="Arial"/>
                <a:sym typeface="Arial"/>
              </a:rPr>
              <a:t>Montar el conector, terminar en el panel y comprobar: una herramienta para cada paso.</a:t>
            </a:r>
            <a:endParaRPr/>
          </a:p>
        </p:txBody>
      </p:sp>
      <p:sp>
        <p:nvSpPr>
          <p:cNvPr id="1106" name="Google Shape;1106;h3173d30833cc6355_30_98"/>
          <p:cNvSpPr txBox="1"/>
          <p:nvPr/>
        </p:nvSpPr>
        <p:spPr>
          <a:xfrm>
            <a:off x="411491" y="6053328"/>
            <a:ext cx="113664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12496F"/>
                </a:solidFill>
                <a:latin typeface="Arial"/>
                <a:ea typeface="Arial"/>
                <a:cs typeface="Arial"/>
                <a:sym typeface="Arial"/>
              </a:rPr>
              <a:t>Latiguillo</a:t>
            </a:r>
            <a:r>
              <a:rPr b="0" i="0" lang="en-US" sz="1500" u="none" cap="none" strike="noStrike">
                <a:solidFill>
                  <a:srgbClr val="656E76"/>
                </a:solidFill>
                <a:latin typeface="Arial"/>
                <a:ea typeface="Arial"/>
                <a:cs typeface="Arial"/>
                <a:sym typeface="Arial"/>
              </a:rPr>
              <a:t> (cable con RJ45 macho) → crimpadora   |   </a:t>
            </a:r>
            <a:r>
              <a:rPr b="1" i="0" lang="en-US" sz="1500" u="none" cap="none" strike="noStrike">
                <a:solidFill>
                  <a:srgbClr val="12496F"/>
                </a:solidFill>
                <a:latin typeface="Arial"/>
                <a:ea typeface="Arial"/>
                <a:cs typeface="Arial"/>
                <a:sym typeface="Arial"/>
              </a:rPr>
              <a:t>Panel, roseta o keystone</a:t>
            </a:r>
            <a:r>
              <a:rPr b="0" i="0" lang="en-US" sz="1500" u="none" cap="none" strike="noStrike">
                <a:solidFill>
                  <a:srgbClr val="656E76"/>
                </a:solidFill>
                <a:latin typeface="Arial"/>
                <a:ea typeface="Arial"/>
                <a:cs typeface="Arial"/>
                <a:sym typeface="Arial"/>
              </a:rPr>
              <a:t> → impactadora</a:t>
            </a:r>
            <a:endParaRPr/>
          </a:p>
        </p:txBody>
      </p:sp>
      <p:sp>
        <p:nvSpPr>
          <p:cNvPr id="1107" name="Google Shape;1107;h3173d30833cc6355_30_98"/>
          <p:cNvSpPr/>
          <p:nvPr/>
        </p:nvSpPr>
        <p:spPr>
          <a:xfrm>
            <a:off x="411491" y="1280160"/>
            <a:ext cx="3657600" cy="4663500"/>
          </a:xfrm>
          <a:prstGeom prst="roundRect">
            <a:avLst>
              <a:gd fmla="val 16667" name="adj"/>
            </a:avLst>
          </a:prstGeom>
          <a:solidFill>
            <a:srgbClr val="E7F1F9"/>
          </a:solidFill>
          <a:ln cap="flat" cmpd="sng" w="9525">
            <a:solidFill>
              <a:srgbClr val="BECED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8" name="Google Shape;1108;h3173d30833cc6355_30_98"/>
          <p:cNvSpPr txBox="1"/>
          <p:nvPr/>
        </p:nvSpPr>
        <p:spPr>
          <a:xfrm>
            <a:off x="502933" y="1371600"/>
            <a:ext cx="3474600" cy="411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12496F"/>
                </a:solidFill>
                <a:latin typeface="Arial"/>
                <a:ea typeface="Arial"/>
                <a:cs typeface="Arial"/>
                <a:sym typeface="Arial"/>
              </a:rPr>
              <a:t>CRIMPADORA (RJ45)</a:t>
            </a:r>
            <a:endParaRPr/>
          </a:p>
        </p:txBody>
      </p:sp>
      <p:sp>
        <p:nvSpPr>
          <p:cNvPr id="1109" name="Google Shape;1109;h3173d30833cc6355_30_98"/>
          <p:cNvSpPr txBox="1"/>
          <p:nvPr/>
        </p:nvSpPr>
        <p:spPr>
          <a:xfrm>
            <a:off x="539510" y="3611879"/>
            <a:ext cx="3401700" cy="2286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12496F"/>
                </a:solidFill>
                <a:latin typeface="Arial"/>
                <a:ea typeface="Arial"/>
                <a:cs typeface="Arial"/>
                <a:sym typeface="Arial"/>
              </a:rPr>
              <a:t>Función: </a:t>
            </a:r>
            <a:r>
              <a:rPr b="0" i="0" lang="en-US" sz="1250" u="none" cap="none" strike="noStrike">
                <a:solidFill>
                  <a:srgbClr val="20262C"/>
                </a:solidFill>
                <a:latin typeface="Arial"/>
                <a:ea typeface="Arial"/>
                <a:cs typeface="Arial"/>
                <a:sym typeface="Arial"/>
              </a:rPr>
              <a:t>fija un conector RJ45 (8P8C) en el extremo de un cable UTP para fabricar latiguillos.</a:t>
            </a:r>
            <a:endParaRPr/>
          </a:p>
          <a:p>
            <a:pPr indent="0" lvl="0" marL="0" marR="0" rtl="0" algn="l">
              <a:lnSpc>
                <a:spcPct val="100000"/>
              </a:lnSpc>
              <a:spcBef>
                <a:spcPts val="400"/>
              </a:spcBef>
              <a:spcAft>
                <a:spcPts val="0"/>
              </a:spcAft>
              <a:buClr>
                <a:srgbClr val="000000"/>
              </a:buClr>
              <a:buSzPts val="1250"/>
              <a:buFont typeface="Arial"/>
              <a:buNone/>
            </a:pPr>
            <a:r>
              <a:rPr b="1" i="0" lang="en-US" sz="1250" u="none" cap="none" strike="noStrike">
                <a:solidFill>
                  <a:srgbClr val="12496F"/>
                </a:solidFill>
                <a:latin typeface="Arial"/>
                <a:ea typeface="Arial"/>
                <a:cs typeface="Arial"/>
                <a:sym typeface="Arial"/>
              </a:rPr>
              <a:t>Cómo actúa: </a:t>
            </a:r>
            <a:r>
              <a:rPr b="0" i="0" lang="en-US" sz="1250" u="none" cap="none" strike="noStrike">
                <a:solidFill>
                  <a:srgbClr val="20262C"/>
                </a:solidFill>
                <a:latin typeface="Arial"/>
                <a:ea typeface="Arial"/>
                <a:cs typeface="Arial"/>
                <a:sym typeface="Arial"/>
              </a:rPr>
              <a:t>al apretar, empuja los 8 contactos del conector</a:t>
            </a:r>
            <a:r>
              <a:rPr lang="en-US" sz="1250">
                <a:solidFill>
                  <a:srgbClr val="20262C"/>
                </a:solidFill>
              </a:rPr>
              <a:t> y </a:t>
            </a:r>
            <a:r>
              <a:rPr b="0" i="0" lang="en-US" sz="1250" u="none" cap="none" strike="noStrike">
                <a:solidFill>
                  <a:srgbClr val="20262C"/>
                </a:solidFill>
                <a:latin typeface="Arial"/>
                <a:ea typeface="Arial"/>
                <a:cs typeface="Arial"/>
                <a:sym typeface="Arial"/>
              </a:rPr>
              <a:t>sus dientes </a:t>
            </a:r>
            <a:r>
              <a:rPr lang="en-US" sz="1250">
                <a:solidFill>
                  <a:srgbClr val="20262C"/>
                </a:solidFill>
              </a:rPr>
              <a:t>cortan </a:t>
            </a:r>
            <a:r>
              <a:rPr b="0" i="0" lang="en-US" sz="1250" u="none" cap="none" strike="noStrike">
                <a:solidFill>
                  <a:srgbClr val="20262C"/>
                </a:solidFill>
                <a:latin typeface="Arial"/>
                <a:ea typeface="Arial"/>
                <a:cs typeface="Arial"/>
                <a:sym typeface="Arial"/>
              </a:rPr>
              <a:t>el aislante de cada hilo.</a:t>
            </a:r>
            <a:endParaRPr/>
          </a:p>
          <a:p>
            <a:pPr indent="0" lvl="0" marL="0" marR="0" rtl="0" algn="l">
              <a:lnSpc>
                <a:spcPct val="100000"/>
              </a:lnSpc>
              <a:spcBef>
                <a:spcPts val="400"/>
              </a:spcBef>
              <a:spcAft>
                <a:spcPts val="400"/>
              </a:spcAft>
              <a:buClr>
                <a:srgbClr val="000000"/>
              </a:buClr>
              <a:buSzPts val="1250"/>
              <a:buFont typeface="Arial"/>
              <a:buNone/>
            </a:pPr>
            <a:r>
              <a:rPr b="1" i="0" lang="en-US" sz="1250" u="none" cap="none" strike="noStrike">
                <a:solidFill>
                  <a:srgbClr val="12496F"/>
                </a:solidFill>
                <a:latin typeface="Arial"/>
                <a:ea typeface="Arial"/>
                <a:cs typeface="Arial"/>
                <a:sym typeface="Arial"/>
              </a:rPr>
              <a:t>Antes de crimpar: </a:t>
            </a:r>
            <a:r>
              <a:rPr b="0" i="0" lang="en-US" sz="1250" u="none" cap="none" strike="noStrike">
                <a:solidFill>
                  <a:srgbClr val="20262C"/>
                </a:solidFill>
                <a:latin typeface="Arial"/>
                <a:ea typeface="Arial"/>
                <a:cs typeface="Arial"/>
                <a:sym typeface="Arial"/>
              </a:rPr>
              <a:t>ordenar los hilos según la norma y cortarlos rectos a ≈12,5 mm. Suele traer cuchillas de corte y pelado.</a:t>
            </a:r>
            <a:endParaRPr/>
          </a:p>
        </p:txBody>
      </p:sp>
      <p:sp>
        <p:nvSpPr>
          <p:cNvPr id="1110" name="Google Shape;1110;h3173d30833cc6355_30_98"/>
          <p:cNvSpPr/>
          <p:nvPr/>
        </p:nvSpPr>
        <p:spPr>
          <a:xfrm>
            <a:off x="4270362" y="1280160"/>
            <a:ext cx="3657600" cy="4663500"/>
          </a:xfrm>
          <a:prstGeom prst="roundRect">
            <a:avLst>
              <a:gd fmla="val 16667" name="adj"/>
            </a:avLst>
          </a:prstGeom>
          <a:solidFill>
            <a:srgbClr val="FFF1D6"/>
          </a:solidFill>
          <a:ln cap="flat" cmpd="sng" w="9525">
            <a:solidFill>
              <a:srgbClr val="BECED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11" name="Google Shape;1111;h3173d30833cc6355_30_98"/>
          <p:cNvSpPr txBox="1"/>
          <p:nvPr/>
        </p:nvSpPr>
        <p:spPr>
          <a:xfrm>
            <a:off x="4361804" y="1371600"/>
            <a:ext cx="3474600" cy="411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12496F"/>
                </a:solidFill>
                <a:latin typeface="Arial"/>
                <a:ea typeface="Arial"/>
                <a:cs typeface="Arial"/>
                <a:sym typeface="Arial"/>
              </a:rPr>
              <a:t>IMPACTADORA</a:t>
            </a:r>
            <a:endParaRPr/>
          </a:p>
        </p:txBody>
      </p:sp>
      <p:sp>
        <p:nvSpPr>
          <p:cNvPr id="1112" name="Google Shape;1112;h3173d30833cc6355_30_98"/>
          <p:cNvSpPr txBox="1"/>
          <p:nvPr/>
        </p:nvSpPr>
        <p:spPr>
          <a:xfrm>
            <a:off x="4398381" y="3611879"/>
            <a:ext cx="3401700" cy="2286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12496F"/>
                </a:solidFill>
                <a:latin typeface="Arial"/>
                <a:ea typeface="Arial"/>
                <a:cs typeface="Arial"/>
                <a:sym typeface="Arial"/>
              </a:rPr>
              <a:t>Función: </a:t>
            </a:r>
            <a:r>
              <a:rPr b="0" i="0" lang="en-US" sz="1250" u="none" cap="none" strike="noStrike">
                <a:solidFill>
                  <a:srgbClr val="20262C"/>
                </a:solidFill>
                <a:latin typeface="Arial"/>
                <a:ea typeface="Arial"/>
                <a:cs typeface="Arial"/>
                <a:sym typeface="Arial"/>
              </a:rPr>
              <a:t>inserta cada hilo en los contactos IDC de un panel de parcheo, una roseta o un conector keystone.</a:t>
            </a:r>
            <a:endParaRPr/>
          </a:p>
          <a:p>
            <a:pPr indent="0" lvl="0" marL="0" marR="0" rtl="0" algn="l">
              <a:lnSpc>
                <a:spcPct val="100000"/>
              </a:lnSpc>
              <a:spcBef>
                <a:spcPts val="400"/>
              </a:spcBef>
              <a:spcAft>
                <a:spcPts val="0"/>
              </a:spcAft>
              <a:buClr>
                <a:srgbClr val="000000"/>
              </a:buClr>
              <a:buSzPts val="1250"/>
              <a:buFont typeface="Arial"/>
              <a:buNone/>
            </a:pPr>
            <a:r>
              <a:rPr b="1" i="0" lang="en-US" sz="1250" u="none" cap="none" strike="noStrike">
                <a:solidFill>
                  <a:srgbClr val="12496F"/>
                </a:solidFill>
                <a:latin typeface="Arial"/>
                <a:ea typeface="Arial"/>
                <a:cs typeface="Arial"/>
                <a:sym typeface="Arial"/>
              </a:rPr>
              <a:t>Cómo actúa: </a:t>
            </a:r>
            <a:r>
              <a:rPr b="0" i="0" lang="en-US" sz="1250" u="none" cap="none" strike="noStrike">
                <a:solidFill>
                  <a:srgbClr val="20262C"/>
                </a:solidFill>
                <a:latin typeface="Arial"/>
                <a:ea typeface="Arial"/>
                <a:cs typeface="Arial"/>
                <a:sym typeface="Arial"/>
              </a:rPr>
              <a:t>se apoya el hilo en la ranura y se presiona; al llegar a la presión justa salta un muelle. Los bordes de la ranura cortan el aislante y hacen contacto.</a:t>
            </a:r>
            <a:endParaRPr/>
          </a:p>
          <a:p>
            <a:pPr indent="0" lvl="0" marL="0" marR="0" rtl="0" algn="l">
              <a:lnSpc>
                <a:spcPct val="100000"/>
              </a:lnSpc>
              <a:spcBef>
                <a:spcPts val="400"/>
              </a:spcBef>
              <a:spcAft>
                <a:spcPts val="0"/>
              </a:spcAft>
              <a:buClr>
                <a:srgbClr val="000000"/>
              </a:buClr>
              <a:buSzPts val="1250"/>
              <a:buFont typeface="Arial"/>
              <a:buNone/>
            </a:pPr>
            <a:r>
              <a:rPr b="1" i="0" lang="en-US" sz="1250" u="none" cap="none" strike="noStrike">
                <a:solidFill>
                  <a:srgbClr val="12496F"/>
                </a:solidFill>
                <a:latin typeface="Arial"/>
                <a:ea typeface="Arial"/>
                <a:cs typeface="Arial"/>
                <a:sym typeface="Arial"/>
              </a:rPr>
              <a:t>Corte: </a:t>
            </a:r>
            <a:r>
              <a:rPr b="0" i="0" lang="en-US" sz="1250" u="none" cap="none" strike="noStrike">
                <a:solidFill>
                  <a:srgbClr val="20262C"/>
                </a:solidFill>
                <a:latin typeface="Arial"/>
                <a:ea typeface="Arial"/>
                <a:cs typeface="Arial"/>
                <a:sym typeface="Arial"/>
              </a:rPr>
              <a:t>el filo de la cuchilla recorta el hilo sobrante en el mismo </a:t>
            </a:r>
            <a:r>
              <a:rPr lang="en-US" sz="1250">
                <a:solidFill>
                  <a:srgbClr val="20262C"/>
                </a:solidFill>
              </a:rPr>
              <a:t>salto</a:t>
            </a:r>
            <a:r>
              <a:rPr b="0" i="0" lang="en-US" sz="1250" u="none" cap="none" strike="noStrike">
                <a:solidFill>
                  <a:srgbClr val="20262C"/>
                </a:solidFill>
                <a:latin typeface="Arial"/>
                <a:ea typeface="Arial"/>
                <a:cs typeface="Arial"/>
                <a:sym typeface="Arial"/>
              </a:rPr>
              <a:t>.</a:t>
            </a:r>
            <a:endParaRPr/>
          </a:p>
        </p:txBody>
      </p:sp>
      <p:sp>
        <p:nvSpPr>
          <p:cNvPr id="1113" name="Google Shape;1113;h3173d30833cc6355_30_98"/>
          <p:cNvSpPr/>
          <p:nvPr/>
        </p:nvSpPr>
        <p:spPr>
          <a:xfrm>
            <a:off x="8129233" y="1280160"/>
            <a:ext cx="3657600" cy="4663500"/>
          </a:xfrm>
          <a:prstGeom prst="roundRect">
            <a:avLst>
              <a:gd fmla="val 16667" name="adj"/>
            </a:avLst>
          </a:prstGeom>
          <a:solidFill>
            <a:srgbClr val="E5F3E9"/>
          </a:solidFill>
          <a:ln cap="flat" cmpd="sng" w="9525">
            <a:solidFill>
              <a:srgbClr val="BECED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14" name="Google Shape;1114;h3173d30833cc6355_30_98"/>
          <p:cNvSpPr txBox="1"/>
          <p:nvPr/>
        </p:nvSpPr>
        <p:spPr>
          <a:xfrm>
            <a:off x="8220675" y="1371600"/>
            <a:ext cx="3474600" cy="411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12496F"/>
                </a:solidFill>
                <a:latin typeface="Arial"/>
                <a:ea typeface="Arial"/>
                <a:cs typeface="Arial"/>
                <a:sym typeface="Arial"/>
              </a:rPr>
              <a:t>COMPROBADOR DE CABLES</a:t>
            </a:r>
            <a:endParaRPr/>
          </a:p>
        </p:txBody>
      </p:sp>
      <p:sp>
        <p:nvSpPr>
          <p:cNvPr id="1115" name="Google Shape;1115;h3173d30833cc6355_30_98"/>
          <p:cNvSpPr txBox="1"/>
          <p:nvPr/>
        </p:nvSpPr>
        <p:spPr>
          <a:xfrm>
            <a:off x="8257252" y="3337866"/>
            <a:ext cx="3401700" cy="2286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12496F"/>
                </a:solidFill>
                <a:latin typeface="Arial"/>
                <a:ea typeface="Arial"/>
                <a:cs typeface="Arial"/>
                <a:sym typeface="Arial"/>
              </a:rPr>
              <a:t>Función: </a:t>
            </a:r>
            <a:r>
              <a:rPr b="0" i="0" lang="en-US" sz="1250" u="none" cap="none" strike="noStrike">
                <a:solidFill>
                  <a:srgbClr val="20262C"/>
                </a:solidFill>
                <a:latin typeface="Arial"/>
                <a:ea typeface="Arial"/>
                <a:cs typeface="Arial"/>
                <a:sym typeface="Arial"/>
              </a:rPr>
              <a:t>comprueba la continuidad de los 8 hilos (= 8 señales) y que cada uno llega a su pin en el otro extremo</a:t>
            </a:r>
            <a:r>
              <a:rPr lang="en-US" sz="1250">
                <a:solidFill>
                  <a:srgbClr val="20262C"/>
                </a:solidFill>
              </a:rPr>
              <a:t>, detecta continuidad y los posibles errores de conexiones (conexionado)</a:t>
            </a:r>
            <a:r>
              <a:rPr b="0" i="0" lang="en-US" sz="1250" u="none" cap="none" strike="noStrike">
                <a:solidFill>
                  <a:srgbClr val="20262C"/>
                </a:solidFill>
                <a:latin typeface="Arial"/>
                <a:ea typeface="Arial"/>
                <a:cs typeface="Arial"/>
                <a:sym typeface="Arial"/>
              </a:rPr>
              <a:t>.</a:t>
            </a:r>
            <a:endParaRPr/>
          </a:p>
          <a:p>
            <a:pPr indent="0" lvl="0" marL="0" marR="0" rtl="0" algn="l">
              <a:lnSpc>
                <a:spcPct val="100000"/>
              </a:lnSpc>
              <a:spcBef>
                <a:spcPts val="400"/>
              </a:spcBef>
              <a:spcAft>
                <a:spcPts val="0"/>
              </a:spcAft>
              <a:buClr>
                <a:srgbClr val="000000"/>
              </a:buClr>
              <a:buSzPts val="1250"/>
              <a:buFont typeface="Arial"/>
              <a:buNone/>
            </a:pPr>
            <a:r>
              <a:rPr b="1" i="0" lang="en-US" sz="1250" u="none" cap="none" strike="noStrike">
                <a:solidFill>
                  <a:srgbClr val="12496F"/>
                </a:solidFill>
                <a:latin typeface="Arial"/>
                <a:ea typeface="Arial"/>
                <a:cs typeface="Arial"/>
                <a:sym typeface="Arial"/>
              </a:rPr>
              <a:t>Cómo actúa: </a:t>
            </a:r>
            <a:r>
              <a:rPr b="0" i="0" lang="en-US" sz="1250" u="none" cap="none" strike="noStrike">
                <a:solidFill>
                  <a:srgbClr val="20262C"/>
                </a:solidFill>
                <a:latin typeface="Arial"/>
                <a:ea typeface="Arial"/>
                <a:cs typeface="Arial"/>
                <a:sym typeface="Arial"/>
              </a:rPr>
              <a:t>un extremo va a la unidad principal y el otro a la remota. Los LED 1→8 se encienden uno tras otro y deben coincidir en las dos.</a:t>
            </a:r>
            <a:endParaRPr/>
          </a:p>
          <a:p>
            <a:pPr indent="0" lvl="0" marL="0" marR="0" rtl="0" algn="l">
              <a:lnSpc>
                <a:spcPct val="100000"/>
              </a:lnSpc>
              <a:spcBef>
                <a:spcPts val="400"/>
              </a:spcBef>
              <a:spcAft>
                <a:spcPts val="0"/>
              </a:spcAft>
              <a:buClr>
                <a:srgbClr val="000000"/>
              </a:buClr>
              <a:buSzPts val="1250"/>
              <a:buFont typeface="Arial"/>
              <a:buNone/>
            </a:pPr>
            <a:r>
              <a:rPr b="1" i="0" lang="en-US" sz="1250" u="none" cap="none" strike="noStrike">
                <a:solidFill>
                  <a:srgbClr val="12496F"/>
                </a:solidFill>
                <a:latin typeface="Arial"/>
                <a:ea typeface="Arial"/>
                <a:cs typeface="Arial"/>
                <a:sym typeface="Arial"/>
              </a:rPr>
              <a:t>Tipos: </a:t>
            </a:r>
            <a:r>
              <a:rPr b="0" i="0" lang="en-US" sz="1250" u="none" cap="none" strike="noStrike">
                <a:solidFill>
                  <a:srgbClr val="20262C"/>
                </a:solidFill>
                <a:latin typeface="Arial"/>
                <a:ea typeface="Arial"/>
                <a:cs typeface="Arial"/>
                <a:sym typeface="Arial"/>
              </a:rPr>
              <a:t>el de LED ve aperturas, cortos y orden. </a:t>
            </a:r>
            <a:r>
              <a:rPr lang="en-US" sz="1250">
                <a:solidFill>
                  <a:srgbClr val="20262C"/>
                </a:solidFill>
              </a:rPr>
              <a:t>Con u</a:t>
            </a:r>
            <a:r>
              <a:rPr b="0" i="0" lang="en-US" sz="1250" u="none" cap="none" strike="noStrike">
                <a:solidFill>
                  <a:srgbClr val="20262C"/>
                </a:solidFill>
                <a:latin typeface="Arial"/>
                <a:ea typeface="Arial"/>
                <a:cs typeface="Arial"/>
                <a:sym typeface="Arial"/>
              </a:rPr>
              <a:t>n certificador podemos </a:t>
            </a:r>
            <a:r>
              <a:rPr lang="en-US" sz="1250">
                <a:solidFill>
                  <a:srgbClr val="20262C"/>
                </a:solidFill>
              </a:rPr>
              <a:t>medir </a:t>
            </a:r>
            <a:r>
              <a:rPr b="0" i="0" lang="en-US" sz="1250" u="none" cap="none" strike="noStrike">
                <a:solidFill>
                  <a:srgbClr val="20262C"/>
                </a:solidFill>
                <a:latin typeface="Arial"/>
                <a:ea typeface="Arial"/>
                <a:cs typeface="Arial"/>
                <a:sym typeface="Arial"/>
              </a:rPr>
              <a:t>longitud y diafonía también.</a:t>
            </a:r>
            <a:endParaRPr/>
          </a:p>
        </p:txBody>
      </p:sp>
      <p:pic>
        <p:nvPicPr>
          <p:cNvPr id="1116" name="Google Shape;1116;h3173d30833cc6355_30_98"/>
          <p:cNvPicPr preferRelativeResize="0"/>
          <p:nvPr/>
        </p:nvPicPr>
        <p:blipFill>
          <a:blip r:embed="rId3">
            <a:alphaModFix/>
          </a:blip>
          <a:stretch>
            <a:fillRect/>
          </a:stretch>
        </p:blipFill>
        <p:spPr>
          <a:xfrm>
            <a:off x="1966025" y="1800225"/>
            <a:ext cx="548650" cy="1627625"/>
          </a:xfrm>
          <a:prstGeom prst="rect">
            <a:avLst/>
          </a:prstGeom>
          <a:solidFill>
            <a:srgbClr val="E7F1F9"/>
          </a:solidFill>
          <a:ln cap="flat" cmpd="sng" w="9525">
            <a:solidFill>
              <a:srgbClr val="BECED9"/>
            </a:solidFill>
            <a:prstDash val="solid"/>
            <a:round/>
            <a:headEnd len="sm" w="sm" type="none"/>
            <a:tailEnd len="sm" w="sm" type="none"/>
          </a:ln>
          <a:effectLst>
            <a:outerShdw blurRad="40000" rotWithShape="0" dir="5400000" dist="23000">
              <a:srgbClr val="000000">
                <a:alpha val="34900"/>
              </a:srgbClr>
            </a:outerShdw>
          </a:effectLst>
        </p:spPr>
      </p:pic>
      <p:pic>
        <p:nvPicPr>
          <p:cNvPr id="1117" name="Google Shape;1117;h3173d30833cc6355_30_98"/>
          <p:cNvPicPr preferRelativeResize="0"/>
          <p:nvPr/>
        </p:nvPicPr>
        <p:blipFill>
          <a:blip r:embed="rId4">
            <a:alphaModFix/>
          </a:blip>
          <a:stretch>
            <a:fillRect/>
          </a:stretch>
        </p:blipFill>
        <p:spPr>
          <a:xfrm>
            <a:off x="5314200" y="1800225"/>
            <a:ext cx="1569912" cy="1569912"/>
          </a:xfrm>
          <a:prstGeom prst="rect">
            <a:avLst/>
          </a:prstGeom>
          <a:solidFill>
            <a:srgbClr val="FFF1D6"/>
          </a:solidFill>
          <a:ln cap="flat" cmpd="sng" w="9525">
            <a:solidFill>
              <a:srgbClr val="BECED9"/>
            </a:solidFill>
            <a:prstDash val="solid"/>
            <a:round/>
            <a:headEnd len="sm" w="sm" type="none"/>
            <a:tailEnd len="sm" w="sm" type="none"/>
          </a:ln>
          <a:effectLst>
            <a:outerShdw blurRad="40000" rotWithShape="0" dir="5400000" dist="23000">
              <a:srgbClr val="000000">
                <a:alpha val="34900"/>
              </a:srgbClr>
            </a:outerShdw>
          </a:effectLst>
        </p:spPr>
      </p:pic>
      <p:pic>
        <p:nvPicPr>
          <p:cNvPr id="1118" name="Google Shape;1118;h3173d30833cc6355_30_98"/>
          <p:cNvPicPr preferRelativeResize="0"/>
          <p:nvPr/>
        </p:nvPicPr>
        <p:blipFill>
          <a:blip r:embed="rId5">
            <a:alphaModFix/>
          </a:blip>
          <a:stretch>
            <a:fillRect/>
          </a:stretch>
        </p:blipFill>
        <p:spPr>
          <a:xfrm>
            <a:off x="9173025" y="1751472"/>
            <a:ext cx="1569900" cy="1569900"/>
          </a:xfrm>
          <a:prstGeom prst="rect">
            <a:avLst/>
          </a:prstGeom>
          <a:solidFill>
            <a:srgbClr val="E5F3E9"/>
          </a:solidFill>
          <a:ln cap="flat" cmpd="sng" w="9525">
            <a:solidFill>
              <a:srgbClr val="BECED9"/>
            </a:solidFill>
            <a:prstDash val="solid"/>
            <a:round/>
            <a:headEnd len="sm" w="sm" type="none"/>
            <a:tailEnd len="sm" w="sm" type="none"/>
          </a:ln>
          <a:effectLst>
            <a:outerShdw blurRad="40000" rotWithShape="0" dir="5400000" dist="23000">
              <a:srgbClr val="000000">
                <a:alpha val="34900"/>
              </a:srgbClr>
            </a:outerShdw>
          </a:effectLst>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h3173d30833cc6355_30_203"/>
          <p:cNvSpPr/>
          <p:nvPr/>
        </p:nvSpPr>
        <p:spPr>
          <a:xfrm>
            <a:off x="0" y="0"/>
            <a:ext cx="12192000" cy="640200"/>
          </a:xfrm>
          <a:prstGeom prst="rect">
            <a:avLst/>
          </a:prstGeom>
          <a:solidFill>
            <a:srgbClr val="12496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25" name="Google Shape;1125;h3173d30833cc6355_30_203"/>
          <p:cNvSpPr txBox="1"/>
          <p:nvPr/>
        </p:nvSpPr>
        <p:spPr>
          <a:xfrm>
            <a:off x="502933" y="91440"/>
            <a:ext cx="111561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sz="2400">
                <a:solidFill>
                  <a:schemeClr val="lt1"/>
                </a:solidFill>
              </a:rPr>
              <a:t>YY· Herramientas y comprobación de cableado :  Sergio Pérez		 PARTE 2</a:t>
            </a:r>
            <a:endParaRPr b="1" sz="2400">
              <a:solidFill>
                <a:srgbClr val="FFFFFF"/>
              </a:solidFill>
            </a:endParaRPr>
          </a:p>
        </p:txBody>
      </p:sp>
      <p:sp>
        <p:nvSpPr>
          <p:cNvPr id="1126" name="Google Shape;1126;h3173d30833cc6355_30_203"/>
          <p:cNvSpPr txBox="1"/>
          <p:nvPr/>
        </p:nvSpPr>
        <p:spPr>
          <a:xfrm>
            <a:off x="411491" y="6053328"/>
            <a:ext cx="113664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12496F"/>
                </a:solidFill>
                <a:latin typeface="Arial"/>
                <a:ea typeface="Arial"/>
                <a:cs typeface="Arial"/>
                <a:sym typeface="Arial"/>
              </a:rPr>
              <a:t>Diferencia entre A y B:</a:t>
            </a:r>
            <a:r>
              <a:rPr b="0" i="0" lang="en-US" sz="1500" u="none" cap="none" strike="noStrike">
                <a:solidFill>
                  <a:srgbClr val="656E76"/>
                </a:solidFill>
                <a:latin typeface="Arial"/>
                <a:ea typeface="Arial"/>
                <a:cs typeface="Arial"/>
                <a:sym typeface="Arial"/>
              </a:rPr>
              <a:t> se intercambian el par 2 (naranja) y el par 3 (verde), pines 1-2 ↔ 3-6. </a:t>
            </a:r>
            <a:endParaRPr b="0" i="0" sz="1500" u="none" cap="none" strike="noStrike">
              <a:solidFill>
                <a:srgbClr val="656E76"/>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500"/>
              <a:buFont typeface="Arial"/>
              <a:buNone/>
            </a:pPr>
            <a:r>
              <a:rPr b="0" i="0" lang="en-US" sz="1500" u="none" cap="none" strike="noStrike">
                <a:solidFill>
                  <a:srgbClr val="656E76"/>
                </a:solidFill>
                <a:latin typeface="Arial"/>
                <a:ea typeface="Arial"/>
                <a:cs typeface="Arial"/>
                <a:sym typeface="Arial"/>
              </a:rPr>
              <a:t>No c</a:t>
            </a:r>
            <a:r>
              <a:rPr lang="en-US" sz="1500">
                <a:solidFill>
                  <a:srgbClr val="656E76"/>
                </a:solidFill>
              </a:rPr>
              <a:t>ambian: a</a:t>
            </a:r>
            <a:r>
              <a:rPr b="0" i="0" lang="en-US" sz="1500" u="none" cap="none" strike="noStrike">
                <a:solidFill>
                  <a:srgbClr val="656E76"/>
                </a:solidFill>
                <a:latin typeface="Arial"/>
                <a:ea typeface="Arial"/>
                <a:cs typeface="Arial"/>
                <a:sym typeface="Arial"/>
              </a:rPr>
              <a:t>zul (4-5) y marrón (7-8).</a:t>
            </a:r>
            <a:endParaRPr/>
          </a:p>
        </p:txBody>
      </p:sp>
      <p:graphicFrame>
        <p:nvGraphicFramePr>
          <p:cNvPr id="1127" name="Google Shape;1127;h3173d30833cc6355_30_203"/>
          <p:cNvGraphicFramePr/>
          <p:nvPr/>
        </p:nvGraphicFramePr>
        <p:xfrm>
          <a:off x="411491" y="868680"/>
          <a:ext cx="3000000" cy="3000000"/>
        </p:xfrm>
        <a:graphic>
          <a:graphicData uri="http://schemas.openxmlformats.org/drawingml/2006/table">
            <a:tbl>
              <a:tblPr>
                <a:noFill/>
                <a:tableStyleId>{9548BDD8-A056-4A46-A58A-19B6B5B065C2}</a:tableStyleId>
              </a:tblPr>
              <a:tblGrid>
                <a:gridCol w="685825"/>
                <a:gridCol w="2103175"/>
                <a:gridCol w="2103175"/>
              </a:tblGrid>
              <a:tr h="324600">
                <a:tc>
                  <a:txBody>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Arial"/>
                          <a:ea typeface="Arial"/>
                          <a:cs typeface="Arial"/>
                          <a:sym typeface="Arial"/>
                        </a:rPr>
                        <a:t>Pin</a:t>
                      </a:r>
                      <a:endParaRPr sz="1400" u="none" cap="none" strike="noStrike"/>
                    </a:p>
                  </a:txBody>
                  <a:tcPr marT="45725" marB="45725" marR="91450" marL="91450" anchor="ctr">
                    <a:lnL cap="flat" cmpd="sng" w="9525">
                      <a:solidFill>
                        <a:srgbClr val="C5D3DD"/>
                      </a:solidFill>
                      <a:prstDash val="solid"/>
                      <a:round/>
                      <a:headEnd len="sm" w="sm" type="none"/>
                      <a:tailEnd len="sm" w="sm" type="none"/>
                    </a:lnL>
                    <a:lnR cap="flat" cmpd="sng" w="9525">
                      <a:solidFill>
                        <a:srgbClr val="C5D3DD"/>
                      </a:solidFill>
                      <a:prstDash val="solid"/>
                      <a:round/>
                      <a:headEnd len="sm" w="sm" type="none"/>
                      <a:tailEnd len="sm" w="sm" type="none"/>
                    </a:lnR>
                    <a:lnT cap="flat" cmpd="sng" w="9525">
                      <a:solidFill>
                        <a:srgbClr val="C5D3DD"/>
                      </a:solidFill>
                      <a:prstDash val="solid"/>
                      <a:round/>
                      <a:headEnd len="sm" w="sm" type="none"/>
                      <a:tailEnd len="sm" w="sm" type="none"/>
                    </a:lnT>
                    <a:lnB cap="flat" cmpd="sng" w="9525">
                      <a:solidFill>
                        <a:srgbClr val="C5D3DD"/>
                      </a:solidFill>
                      <a:prstDash val="solid"/>
                      <a:round/>
                      <a:headEnd len="sm" w="sm" type="none"/>
                      <a:tailEnd len="sm" w="sm" type="none"/>
                    </a:lnB>
                    <a:solidFill>
                      <a:srgbClr val="12496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Arial"/>
                          <a:ea typeface="Arial"/>
                          <a:cs typeface="Arial"/>
                          <a:sym typeface="Arial"/>
                        </a:rPr>
                        <a:t>T568A</a:t>
                      </a:r>
                      <a:endParaRPr sz="1400" u="none" cap="none" strike="noStrike"/>
                    </a:p>
                  </a:txBody>
                  <a:tcPr marT="45725" marB="45725" marR="91450" marL="91450" anchor="ctr">
                    <a:lnL cap="flat" cmpd="sng" w="9525">
                      <a:solidFill>
                        <a:srgbClr val="C5D3DD"/>
                      </a:solidFill>
                      <a:prstDash val="solid"/>
                      <a:round/>
                      <a:headEnd len="sm" w="sm" type="none"/>
                      <a:tailEnd len="sm" w="sm" type="none"/>
                    </a:lnL>
                    <a:lnR cap="flat" cmpd="sng" w="9525">
                      <a:solidFill>
                        <a:srgbClr val="C5D3DD"/>
                      </a:solidFill>
                      <a:prstDash val="solid"/>
                      <a:round/>
                      <a:headEnd len="sm" w="sm" type="none"/>
                      <a:tailEnd len="sm" w="sm" type="none"/>
                    </a:lnR>
                    <a:lnT cap="flat" cmpd="sng" w="9525">
                      <a:solidFill>
                        <a:srgbClr val="C5D3DD"/>
                      </a:solidFill>
                      <a:prstDash val="solid"/>
                      <a:round/>
                      <a:headEnd len="sm" w="sm" type="none"/>
                      <a:tailEnd len="sm" w="sm" type="none"/>
                    </a:lnT>
                    <a:lnB cap="flat" cmpd="sng" w="9525">
                      <a:solidFill>
                        <a:srgbClr val="C5D3DD"/>
                      </a:solidFill>
                      <a:prstDash val="solid"/>
                      <a:round/>
                      <a:headEnd len="sm" w="sm" type="none"/>
                      <a:tailEnd len="sm" w="sm" type="none"/>
                    </a:lnB>
                    <a:solidFill>
                      <a:srgbClr val="12496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Arial"/>
                          <a:ea typeface="Arial"/>
                          <a:cs typeface="Arial"/>
                          <a:sym typeface="Arial"/>
                        </a:rPr>
                        <a:t>T568B</a:t>
                      </a:r>
                      <a:endParaRPr sz="1400" u="none" cap="none" strike="noStrike"/>
                    </a:p>
                  </a:txBody>
                  <a:tcPr marT="45725" marB="45725" marR="91450" marL="91450" anchor="ctr">
                    <a:lnL cap="flat" cmpd="sng" w="9525">
                      <a:solidFill>
                        <a:srgbClr val="C5D3DD"/>
                      </a:solidFill>
                      <a:prstDash val="solid"/>
                      <a:round/>
                      <a:headEnd len="sm" w="sm" type="none"/>
                      <a:tailEnd len="sm" w="sm" type="none"/>
                    </a:lnL>
                    <a:lnR cap="flat" cmpd="sng" w="9525">
                      <a:solidFill>
                        <a:srgbClr val="C5D3DD"/>
                      </a:solidFill>
                      <a:prstDash val="solid"/>
                      <a:round/>
                      <a:headEnd len="sm" w="sm" type="none"/>
                      <a:tailEnd len="sm" w="sm" type="none"/>
                    </a:lnR>
                    <a:lnT cap="flat" cmpd="sng" w="9525">
                      <a:solidFill>
                        <a:srgbClr val="C5D3DD"/>
                      </a:solidFill>
                      <a:prstDash val="solid"/>
                      <a:round/>
                      <a:headEnd len="sm" w="sm" type="none"/>
                      <a:tailEnd len="sm" w="sm" type="none"/>
                    </a:lnT>
                    <a:lnB cap="flat" cmpd="sng" w="9525">
                      <a:solidFill>
                        <a:srgbClr val="C5D3DD"/>
                      </a:solidFill>
                      <a:prstDash val="solid"/>
                      <a:round/>
                      <a:headEnd len="sm" w="sm" type="none"/>
                      <a:tailEnd len="sm" w="sm" type="none"/>
                    </a:lnB>
                    <a:solidFill>
                      <a:srgbClr val="12496F"/>
                    </a:solidFill>
                  </a:tcPr>
                </a:tc>
              </a:tr>
              <a:tr h="324600">
                <a:tc>
                  <a:txBody>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2496F"/>
                          </a:solidFill>
                          <a:latin typeface="Arial"/>
                          <a:ea typeface="Arial"/>
                          <a:cs typeface="Arial"/>
                          <a:sym typeface="Arial"/>
                        </a:rPr>
                        <a:t>1</a:t>
                      </a:r>
                      <a:endParaRPr sz="1400" u="none" cap="none" strike="noStrike"/>
                    </a:p>
                  </a:txBody>
                  <a:tcPr marT="45725" marB="45725" marR="91450" marL="91450" anchor="ctr">
                    <a:lnL cap="flat" cmpd="sng" w="9525">
                      <a:solidFill>
                        <a:srgbClr val="C5D3DD"/>
                      </a:solidFill>
                      <a:prstDash val="solid"/>
                      <a:round/>
                      <a:headEnd len="sm" w="sm" type="none"/>
                      <a:tailEnd len="sm" w="sm" type="none"/>
                    </a:lnL>
                    <a:lnR cap="flat" cmpd="sng" w="9525">
                      <a:solidFill>
                        <a:srgbClr val="C5D3DD"/>
                      </a:solidFill>
                      <a:prstDash val="solid"/>
                      <a:round/>
                      <a:headEnd len="sm" w="sm" type="none"/>
                      <a:tailEnd len="sm" w="sm" type="none"/>
                    </a:lnR>
                    <a:lnT cap="flat" cmpd="sng" w="9525">
                      <a:solidFill>
                        <a:srgbClr val="C5D3DD"/>
                      </a:solidFill>
                      <a:prstDash val="solid"/>
                      <a:round/>
                      <a:headEnd len="sm" w="sm" type="none"/>
                      <a:tailEnd len="sm" w="sm" type="none"/>
                    </a:lnT>
                    <a:lnB cap="flat" cmpd="sng" w="9525">
                      <a:solidFill>
                        <a:srgbClr val="C5D3DD"/>
                      </a:solidFill>
                      <a:prstDash val="solid"/>
                      <a:round/>
                      <a:headEnd len="sm" w="sm" type="none"/>
                      <a:tailEnd len="sm" w="sm" type="none"/>
                    </a:lnB>
                    <a:solidFill>
                      <a:srgbClr val="FFF1D6"/>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20262C"/>
                          </a:solidFill>
                          <a:latin typeface="Arial"/>
                          <a:ea typeface="Arial"/>
                          <a:cs typeface="Arial"/>
                          <a:sym typeface="Arial"/>
                        </a:rPr>
                        <a:t>Blanco-verde</a:t>
                      </a:r>
                      <a:endParaRPr sz="1400" u="none" cap="none" strike="noStrike"/>
                    </a:p>
                  </a:txBody>
                  <a:tcPr marT="45725" marB="45725" marR="91450" marL="91450" anchor="ctr">
                    <a:lnL cap="flat" cmpd="sng" w="9525">
                      <a:solidFill>
                        <a:srgbClr val="C5D3DD"/>
                      </a:solidFill>
                      <a:prstDash val="solid"/>
                      <a:round/>
                      <a:headEnd len="sm" w="sm" type="none"/>
                      <a:tailEnd len="sm" w="sm" type="none"/>
                    </a:lnL>
                    <a:lnR cap="flat" cmpd="sng" w="9525">
                      <a:solidFill>
                        <a:srgbClr val="C5D3DD"/>
                      </a:solidFill>
                      <a:prstDash val="solid"/>
                      <a:round/>
                      <a:headEnd len="sm" w="sm" type="none"/>
                      <a:tailEnd len="sm" w="sm" type="none"/>
                    </a:lnR>
                    <a:lnT cap="flat" cmpd="sng" w="9525">
                      <a:solidFill>
                        <a:srgbClr val="C5D3DD"/>
                      </a:solidFill>
                      <a:prstDash val="solid"/>
                      <a:round/>
                      <a:headEnd len="sm" w="sm" type="none"/>
                      <a:tailEnd len="sm" w="sm" type="none"/>
                    </a:lnT>
                    <a:lnB cap="flat" cmpd="sng" w="9525">
                      <a:solidFill>
                        <a:srgbClr val="C5D3DD"/>
                      </a:solidFill>
                      <a:prstDash val="solid"/>
                      <a:round/>
                      <a:headEnd len="sm" w="sm" type="none"/>
                      <a:tailEnd len="sm" w="sm" type="none"/>
                    </a:lnB>
                    <a:solidFill>
                      <a:srgbClr val="FFF1D6"/>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20262C"/>
                          </a:solidFill>
                          <a:latin typeface="Arial"/>
                          <a:ea typeface="Arial"/>
                          <a:cs typeface="Arial"/>
                          <a:sym typeface="Arial"/>
                        </a:rPr>
                        <a:t>Blanco-naranja</a:t>
                      </a:r>
                      <a:endParaRPr sz="1400" u="none" cap="none" strike="noStrike"/>
                    </a:p>
                  </a:txBody>
                  <a:tcPr marT="45725" marB="45725" marR="91450" marL="91450" anchor="ctr">
                    <a:lnL cap="flat" cmpd="sng" w="9525">
                      <a:solidFill>
                        <a:srgbClr val="C5D3DD"/>
                      </a:solidFill>
                      <a:prstDash val="solid"/>
                      <a:round/>
                      <a:headEnd len="sm" w="sm" type="none"/>
                      <a:tailEnd len="sm" w="sm" type="none"/>
                    </a:lnL>
                    <a:lnR cap="flat" cmpd="sng" w="9525">
                      <a:solidFill>
                        <a:srgbClr val="C5D3DD"/>
                      </a:solidFill>
                      <a:prstDash val="solid"/>
                      <a:round/>
                      <a:headEnd len="sm" w="sm" type="none"/>
                      <a:tailEnd len="sm" w="sm" type="none"/>
                    </a:lnR>
                    <a:lnT cap="flat" cmpd="sng" w="9525">
                      <a:solidFill>
                        <a:srgbClr val="C5D3DD"/>
                      </a:solidFill>
                      <a:prstDash val="solid"/>
                      <a:round/>
                      <a:headEnd len="sm" w="sm" type="none"/>
                      <a:tailEnd len="sm" w="sm" type="none"/>
                    </a:lnT>
                    <a:lnB cap="flat" cmpd="sng" w="9525">
                      <a:solidFill>
                        <a:srgbClr val="C5D3DD"/>
                      </a:solidFill>
                      <a:prstDash val="solid"/>
                      <a:round/>
                      <a:headEnd len="sm" w="sm" type="none"/>
                      <a:tailEnd len="sm" w="sm" type="none"/>
                    </a:lnB>
                    <a:solidFill>
                      <a:srgbClr val="FFF1D6"/>
                    </a:solidFill>
                  </a:tcPr>
                </a:tc>
              </a:tr>
              <a:tr h="324600">
                <a:tc>
                  <a:txBody>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2496F"/>
                          </a:solidFill>
                          <a:latin typeface="Arial"/>
                          <a:ea typeface="Arial"/>
                          <a:cs typeface="Arial"/>
                          <a:sym typeface="Arial"/>
                        </a:rPr>
                        <a:t>2</a:t>
                      </a:r>
                      <a:endParaRPr sz="1400" u="none" cap="none" strike="noStrike"/>
                    </a:p>
                  </a:txBody>
                  <a:tcPr marT="45725" marB="45725" marR="91450" marL="91450" anchor="ctr">
                    <a:lnL cap="flat" cmpd="sng" w="9525">
                      <a:solidFill>
                        <a:srgbClr val="C5D3DD"/>
                      </a:solidFill>
                      <a:prstDash val="solid"/>
                      <a:round/>
                      <a:headEnd len="sm" w="sm" type="none"/>
                      <a:tailEnd len="sm" w="sm" type="none"/>
                    </a:lnL>
                    <a:lnR cap="flat" cmpd="sng" w="9525">
                      <a:solidFill>
                        <a:srgbClr val="C5D3DD"/>
                      </a:solidFill>
                      <a:prstDash val="solid"/>
                      <a:round/>
                      <a:headEnd len="sm" w="sm" type="none"/>
                      <a:tailEnd len="sm" w="sm" type="none"/>
                    </a:lnR>
                    <a:lnT cap="flat" cmpd="sng" w="9525">
                      <a:solidFill>
                        <a:srgbClr val="C5D3DD"/>
                      </a:solidFill>
                      <a:prstDash val="solid"/>
                      <a:round/>
                      <a:headEnd len="sm" w="sm" type="none"/>
                      <a:tailEnd len="sm" w="sm" type="none"/>
                    </a:lnT>
                    <a:lnB cap="flat" cmpd="sng" w="9525">
                      <a:solidFill>
                        <a:srgbClr val="C5D3DD"/>
                      </a:solidFill>
                      <a:prstDash val="solid"/>
                      <a:round/>
                      <a:headEnd len="sm" w="sm" type="none"/>
                      <a:tailEnd len="sm" w="sm" type="none"/>
                    </a:lnB>
                    <a:solidFill>
                      <a:srgbClr val="FFF1D6"/>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20262C"/>
                          </a:solidFill>
                          <a:latin typeface="Arial"/>
                          <a:ea typeface="Arial"/>
                          <a:cs typeface="Arial"/>
                          <a:sym typeface="Arial"/>
                        </a:rPr>
                        <a:t>Verde</a:t>
                      </a:r>
                      <a:endParaRPr sz="1400" u="none" cap="none" strike="noStrike"/>
                    </a:p>
                  </a:txBody>
                  <a:tcPr marT="45725" marB="45725" marR="91450" marL="91450" anchor="ctr">
                    <a:lnL cap="flat" cmpd="sng" w="9525">
                      <a:solidFill>
                        <a:srgbClr val="C5D3DD"/>
                      </a:solidFill>
                      <a:prstDash val="solid"/>
                      <a:round/>
                      <a:headEnd len="sm" w="sm" type="none"/>
                      <a:tailEnd len="sm" w="sm" type="none"/>
                    </a:lnL>
                    <a:lnR cap="flat" cmpd="sng" w="9525">
                      <a:solidFill>
                        <a:srgbClr val="C5D3DD"/>
                      </a:solidFill>
                      <a:prstDash val="solid"/>
                      <a:round/>
                      <a:headEnd len="sm" w="sm" type="none"/>
                      <a:tailEnd len="sm" w="sm" type="none"/>
                    </a:lnR>
                    <a:lnT cap="flat" cmpd="sng" w="9525">
                      <a:solidFill>
                        <a:srgbClr val="C5D3DD"/>
                      </a:solidFill>
                      <a:prstDash val="solid"/>
                      <a:round/>
                      <a:headEnd len="sm" w="sm" type="none"/>
                      <a:tailEnd len="sm" w="sm" type="none"/>
                    </a:lnT>
                    <a:lnB cap="flat" cmpd="sng" w="9525">
                      <a:solidFill>
                        <a:srgbClr val="C5D3DD"/>
                      </a:solidFill>
                      <a:prstDash val="solid"/>
                      <a:round/>
                      <a:headEnd len="sm" w="sm" type="none"/>
                      <a:tailEnd len="sm" w="sm" type="none"/>
                    </a:lnB>
                    <a:solidFill>
                      <a:srgbClr val="FFF1D6"/>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20262C"/>
                          </a:solidFill>
                          <a:latin typeface="Arial"/>
                          <a:ea typeface="Arial"/>
                          <a:cs typeface="Arial"/>
                          <a:sym typeface="Arial"/>
                        </a:rPr>
                        <a:t>Naranja</a:t>
                      </a:r>
                      <a:endParaRPr sz="1400" u="none" cap="none" strike="noStrike"/>
                    </a:p>
                  </a:txBody>
                  <a:tcPr marT="45725" marB="45725" marR="91450" marL="91450" anchor="ctr">
                    <a:lnL cap="flat" cmpd="sng" w="9525">
                      <a:solidFill>
                        <a:srgbClr val="C5D3DD"/>
                      </a:solidFill>
                      <a:prstDash val="solid"/>
                      <a:round/>
                      <a:headEnd len="sm" w="sm" type="none"/>
                      <a:tailEnd len="sm" w="sm" type="none"/>
                    </a:lnL>
                    <a:lnR cap="flat" cmpd="sng" w="9525">
                      <a:solidFill>
                        <a:srgbClr val="C5D3DD"/>
                      </a:solidFill>
                      <a:prstDash val="solid"/>
                      <a:round/>
                      <a:headEnd len="sm" w="sm" type="none"/>
                      <a:tailEnd len="sm" w="sm" type="none"/>
                    </a:lnR>
                    <a:lnT cap="flat" cmpd="sng" w="9525">
                      <a:solidFill>
                        <a:srgbClr val="C5D3DD"/>
                      </a:solidFill>
                      <a:prstDash val="solid"/>
                      <a:round/>
                      <a:headEnd len="sm" w="sm" type="none"/>
                      <a:tailEnd len="sm" w="sm" type="none"/>
                    </a:lnT>
                    <a:lnB cap="flat" cmpd="sng" w="9525">
                      <a:solidFill>
                        <a:srgbClr val="C5D3DD"/>
                      </a:solidFill>
                      <a:prstDash val="solid"/>
                      <a:round/>
                      <a:headEnd len="sm" w="sm" type="none"/>
                      <a:tailEnd len="sm" w="sm" type="none"/>
                    </a:lnB>
                    <a:solidFill>
                      <a:srgbClr val="FFF1D6"/>
                    </a:solidFill>
                  </a:tcPr>
                </a:tc>
              </a:tr>
              <a:tr h="324600">
                <a:tc>
                  <a:txBody>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2496F"/>
                          </a:solidFill>
                          <a:latin typeface="Arial"/>
                          <a:ea typeface="Arial"/>
                          <a:cs typeface="Arial"/>
                          <a:sym typeface="Arial"/>
                        </a:rPr>
                        <a:t>3</a:t>
                      </a:r>
                      <a:endParaRPr sz="1400" u="none" cap="none" strike="noStrike"/>
                    </a:p>
                  </a:txBody>
                  <a:tcPr marT="45725" marB="45725" marR="91450" marL="91450" anchor="ctr">
                    <a:lnL cap="flat" cmpd="sng" w="9525">
                      <a:solidFill>
                        <a:srgbClr val="C5D3DD"/>
                      </a:solidFill>
                      <a:prstDash val="solid"/>
                      <a:round/>
                      <a:headEnd len="sm" w="sm" type="none"/>
                      <a:tailEnd len="sm" w="sm" type="none"/>
                    </a:lnL>
                    <a:lnR cap="flat" cmpd="sng" w="9525">
                      <a:solidFill>
                        <a:srgbClr val="C5D3DD"/>
                      </a:solidFill>
                      <a:prstDash val="solid"/>
                      <a:round/>
                      <a:headEnd len="sm" w="sm" type="none"/>
                      <a:tailEnd len="sm" w="sm" type="none"/>
                    </a:lnR>
                    <a:lnT cap="flat" cmpd="sng" w="9525">
                      <a:solidFill>
                        <a:srgbClr val="C5D3DD"/>
                      </a:solidFill>
                      <a:prstDash val="solid"/>
                      <a:round/>
                      <a:headEnd len="sm" w="sm" type="none"/>
                      <a:tailEnd len="sm" w="sm" type="none"/>
                    </a:lnT>
                    <a:lnB cap="flat" cmpd="sng" w="9525">
                      <a:solidFill>
                        <a:srgbClr val="C5D3DD"/>
                      </a:solidFill>
                      <a:prstDash val="solid"/>
                      <a:round/>
                      <a:headEnd len="sm" w="sm" type="none"/>
                      <a:tailEnd len="sm" w="sm" type="none"/>
                    </a:lnB>
                    <a:solidFill>
                      <a:srgbClr val="FFF1D6"/>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20262C"/>
                          </a:solidFill>
                          <a:latin typeface="Arial"/>
                          <a:ea typeface="Arial"/>
                          <a:cs typeface="Arial"/>
                          <a:sym typeface="Arial"/>
                        </a:rPr>
                        <a:t>Blanco-naranja</a:t>
                      </a:r>
                      <a:endParaRPr sz="1400" u="none" cap="none" strike="noStrike"/>
                    </a:p>
                  </a:txBody>
                  <a:tcPr marT="45725" marB="45725" marR="91450" marL="91450" anchor="ctr">
                    <a:lnL cap="flat" cmpd="sng" w="9525">
                      <a:solidFill>
                        <a:srgbClr val="C5D3DD"/>
                      </a:solidFill>
                      <a:prstDash val="solid"/>
                      <a:round/>
                      <a:headEnd len="sm" w="sm" type="none"/>
                      <a:tailEnd len="sm" w="sm" type="none"/>
                    </a:lnL>
                    <a:lnR cap="flat" cmpd="sng" w="9525">
                      <a:solidFill>
                        <a:srgbClr val="C5D3DD"/>
                      </a:solidFill>
                      <a:prstDash val="solid"/>
                      <a:round/>
                      <a:headEnd len="sm" w="sm" type="none"/>
                      <a:tailEnd len="sm" w="sm" type="none"/>
                    </a:lnR>
                    <a:lnT cap="flat" cmpd="sng" w="9525">
                      <a:solidFill>
                        <a:srgbClr val="C5D3DD"/>
                      </a:solidFill>
                      <a:prstDash val="solid"/>
                      <a:round/>
                      <a:headEnd len="sm" w="sm" type="none"/>
                      <a:tailEnd len="sm" w="sm" type="none"/>
                    </a:lnT>
                    <a:lnB cap="flat" cmpd="sng" w="9525">
                      <a:solidFill>
                        <a:srgbClr val="C5D3DD"/>
                      </a:solidFill>
                      <a:prstDash val="solid"/>
                      <a:round/>
                      <a:headEnd len="sm" w="sm" type="none"/>
                      <a:tailEnd len="sm" w="sm" type="none"/>
                    </a:lnB>
                    <a:solidFill>
                      <a:srgbClr val="FFF1D6"/>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20262C"/>
                          </a:solidFill>
                          <a:latin typeface="Arial"/>
                          <a:ea typeface="Arial"/>
                          <a:cs typeface="Arial"/>
                          <a:sym typeface="Arial"/>
                        </a:rPr>
                        <a:t>Blanco-verde</a:t>
                      </a:r>
                      <a:endParaRPr sz="1400" u="none" cap="none" strike="noStrike"/>
                    </a:p>
                  </a:txBody>
                  <a:tcPr marT="45725" marB="45725" marR="91450" marL="91450" anchor="ctr">
                    <a:lnL cap="flat" cmpd="sng" w="9525">
                      <a:solidFill>
                        <a:srgbClr val="C5D3DD"/>
                      </a:solidFill>
                      <a:prstDash val="solid"/>
                      <a:round/>
                      <a:headEnd len="sm" w="sm" type="none"/>
                      <a:tailEnd len="sm" w="sm" type="none"/>
                    </a:lnL>
                    <a:lnR cap="flat" cmpd="sng" w="9525">
                      <a:solidFill>
                        <a:srgbClr val="C5D3DD"/>
                      </a:solidFill>
                      <a:prstDash val="solid"/>
                      <a:round/>
                      <a:headEnd len="sm" w="sm" type="none"/>
                      <a:tailEnd len="sm" w="sm" type="none"/>
                    </a:lnR>
                    <a:lnT cap="flat" cmpd="sng" w="9525">
                      <a:solidFill>
                        <a:srgbClr val="C5D3DD"/>
                      </a:solidFill>
                      <a:prstDash val="solid"/>
                      <a:round/>
                      <a:headEnd len="sm" w="sm" type="none"/>
                      <a:tailEnd len="sm" w="sm" type="none"/>
                    </a:lnT>
                    <a:lnB cap="flat" cmpd="sng" w="9525">
                      <a:solidFill>
                        <a:srgbClr val="C5D3DD"/>
                      </a:solidFill>
                      <a:prstDash val="solid"/>
                      <a:round/>
                      <a:headEnd len="sm" w="sm" type="none"/>
                      <a:tailEnd len="sm" w="sm" type="none"/>
                    </a:lnB>
                    <a:solidFill>
                      <a:srgbClr val="FFF1D6"/>
                    </a:solidFill>
                  </a:tcPr>
                </a:tc>
              </a:tr>
              <a:tr h="324600">
                <a:tc>
                  <a:txBody>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2496F"/>
                          </a:solidFill>
                          <a:latin typeface="Arial"/>
                          <a:ea typeface="Arial"/>
                          <a:cs typeface="Arial"/>
                          <a:sym typeface="Arial"/>
                        </a:rPr>
                        <a:t>4</a:t>
                      </a:r>
                      <a:endParaRPr sz="1400" u="none" cap="none" strike="noStrike"/>
                    </a:p>
                  </a:txBody>
                  <a:tcPr marT="45725" marB="45725" marR="91450" marL="91450" anchor="ctr">
                    <a:lnL cap="flat" cmpd="sng" w="9525">
                      <a:solidFill>
                        <a:srgbClr val="C5D3DD"/>
                      </a:solidFill>
                      <a:prstDash val="solid"/>
                      <a:round/>
                      <a:headEnd len="sm" w="sm" type="none"/>
                      <a:tailEnd len="sm" w="sm" type="none"/>
                    </a:lnL>
                    <a:lnR cap="flat" cmpd="sng" w="9525">
                      <a:solidFill>
                        <a:srgbClr val="C5D3DD"/>
                      </a:solidFill>
                      <a:prstDash val="solid"/>
                      <a:round/>
                      <a:headEnd len="sm" w="sm" type="none"/>
                      <a:tailEnd len="sm" w="sm" type="none"/>
                    </a:lnR>
                    <a:lnT cap="flat" cmpd="sng" w="9525">
                      <a:solidFill>
                        <a:srgbClr val="C5D3DD"/>
                      </a:solidFill>
                      <a:prstDash val="solid"/>
                      <a:round/>
                      <a:headEnd len="sm" w="sm" type="none"/>
                      <a:tailEnd len="sm" w="sm" type="none"/>
                    </a:lnT>
                    <a:lnB cap="flat" cmpd="sng" w="9525">
                      <a:solidFill>
                        <a:srgbClr val="C5D3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20262C"/>
                          </a:solidFill>
                          <a:latin typeface="Arial"/>
                          <a:ea typeface="Arial"/>
                          <a:cs typeface="Arial"/>
                          <a:sym typeface="Arial"/>
                        </a:rPr>
                        <a:t>Azul</a:t>
                      </a:r>
                      <a:endParaRPr sz="1400" u="none" cap="none" strike="noStrike"/>
                    </a:p>
                  </a:txBody>
                  <a:tcPr marT="45725" marB="45725" marR="91450" marL="91450" anchor="ctr">
                    <a:lnL cap="flat" cmpd="sng" w="9525">
                      <a:solidFill>
                        <a:srgbClr val="C5D3DD"/>
                      </a:solidFill>
                      <a:prstDash val="solid"/>
                      <a:round/>
                      <a:headEnd len="sm" w="sm" type="none"/>
                      <a:tailEnd len="sm" w="sm" type="none"/>
                    </a:lnL>
                    <a:lnR cap="flat" cmpd="sng" w="9525">
                      <a:solidFill>
                        <a:srgbClr val="C5D3DD"/>
                      </a:solidFill>
                      <a:prstDash val="solid"/>
                      <a:round/>
                      <a:headEnd len="sm" w="sm" type="none"/>
                      <a:tailEnd len="sm" w="sm" type="none"/>
                    </a:lnR>
                    <a:lnT cap="flat" cmpd="sng" w="9525">
                      <a:solidFill>
                        <a:srgbClr val="C5D3DD"/>
                      </a:solidFill>
                      <a:prstDash val="solid"/>
                      <a:round/>
                      <a:headEnd len="sm" w="sm" type="none"/>
                      <a:tailEnd len="sm" w="sm" type="none"/>
                    </a:lnT>
                    <a:lnB cap="flat" cmpd="sng" w="9525">
                      <a:solidFill>
                        <a:srgbClr val="C5D3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20262C"/>
                          </a:solidFill>
                          <a:latin typeface="Arial"/>
                          <a:ea typeface="Arial"/>
                          <a:cs typeface="Arial"/>
                          <a:sym typeface="Arial"/>
                        </a:rPr>
                        <a:t>Azul</a:t>
                      </a:r>
                      <a:endParaRPr sz="1400" u="none" cap="none" strike="noStrike"/>
                    </a:p>
                  </a:txBody>
                  <a:tcPr marT="45725" marB="45725" marR="91450" marL="91450" anchor="ctr">
                    <a:lnL cap="flat" cmpd="sng" w="9525">
                      <a:solidFill>
                        <a:srgbClr val="C5D3DD"/>
                      </a:solidFill>
                      <a:prstDash val="solid"/>
                      <a:round/>
                      <a:headEnd len="sm" w="sm" type="none"/>
                      <a:tailEnd len="sm" w="sm" type="none"/>
                    </a:lnL>
                    <a:lnR cap="flat" cmpd="sng" w="9525">
                      <a:solidFill>
                        <a:srgbClr val="C5D3DD"/>
                      </a:solidFill>
                      <a:prstDash val="solid"/>
                      <a:round/>
                      <a:headEnd len="sm" w="sm" type="none"/>
                      <a:tailEnd len="sm" w="sm" type="none"/>
                    </a:lnR>
                    <a:lnT cap="flat" cmpd="sng" w="9525">
                      <a:solidFill>
                        <a:srgbClr val="C5D3DD"/>
                      </a:solidFill>
                      <a:prstDash val="solid"/>
                      <a:round/>
                      <a:headEnd len="sm" w="sm" type="none"/>
                      <a:tailEnd len="sm" w="sm" type="none"/>
                    </a:lnT>
                    <a:lnB cap="flat" cmpd="sng" w="9525">
                      <a:solidFill>
                        <a:srgbClr val="C5D3DD"/>
                      </a:solidFill>
                      <a:prstDash val="solid"/>
                      <a:round/>
                      <a:headEnd len="sm" w="sm" type="none"/>
                      <a:tailEnd len="sm" w="sm" type="none"/>
                    </a:lnB>
                    <a:solidFill>
                      <a:srgbClr val="FFFFFF"/>
                    </a:solidFill>
                  </a:tcPr>
                </a:tc>
              </a:tr>
              <a:tr h="324600">
                <a:tc>
                  <a:txBody>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2496F"/>
                          </a:solidFill>
                          <a:latin typeface="Arial"/>
                          <a:ea typeface="Arial"/>
                          <a:cs typeface="Arial"/>
                          <a:sym typeface="Arial"/>
                        </a:rPr>
                        <a:t>5</a:t>
                      </a:r>
                      <a:endParaRPr sz="1400" u="none" cap="none" strike="noStrike"/>
                    </a:p>
                  </a:txBody>
                  <a:tcPr marT="45725" marB="45725" marR="91450" marL="91450" anchor="ctr">
                    <a:lnL cap="flat" cmpd="sng" w="9525">
                      <a:solidFill>
                        <a:srgbClr val="C5D3DD"/>
                      </a:solidFill>
                      <a:prstDash val="solid"/>
                      <a:round/>
                      <a:headEnd len="sm" w="sm" type="none"/>
                      <a:tailEnd len="sm" w="sm" type="none"/>
                    </a:lnL>
                    <a:lnR cap="flat" cmpd="sng" w="9525">
                      <a:solidFill>
                        <a:srgbClr val="C5D3DD"/>
                      </a:solidFill>
                      <a:prstDash val="solid"/>
                      <a:round/>
                      <a:headEnd len="sm" w="sm" type="none"/>
                      <a:tailEnd len="sm" w="sm" type="none"/>
                    </a:lnR>
                    <a:lnT cap="flat" cmpd="sng" w="9525">
                      <a:solidFill>
                        <a:srgbClr val="C5D3DD"/>
                      </a:solidFill>
                      <a:prstDash val="solid"/>
                      <a:round/>
                      <a:headEnd len="sm" w="sm" type="none"/>
                      <a:tailEnd len="sm" w="sm" type="none"/>
                    </a:lnT>
                    <a:lnB cap="flat" cmpd="sng" w="9525">
                      <a:solidFill>
                        <a:srgbClr val="C5D3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20262C"/>
                          </a:solidFill>
                          <a:latin typeface="Arial"/>
                          <a:ea typeface="Arial"/>
                          <a:cs typeface="Arial"/>
                          <a:sym typeface="Arial"/>
                        </a:rPr>
                        <a:t>Blanco-azul</a:t>
                      </a:r>
                      <a:endParaRPr sz="1400" u="none" cap="none" strike="noStrike"/>
                    </a:p>
                  </a:txBody>
                  <a:tcPr marT="45725" marB="45725" marR="91450" marL="91450" anchor="ctr">
                    <a:lnL cap="flat" cmpd="sng" w="9525">
                      <a:solidFill>
                        <a:srgbClr val="C5D3DD"/>
                      </a:solidFill>
                      <a:prstDash val="solid"/>
                      <a:round/>
                      <a:headEnd len="sm" w="sm" type="none"/>
                      <a:tailEnd len="sm" w="sm" type="none"/>
                    </a:lnL>
                    <a:lnR cap="flat" cmpd="sng" w="9525">
                      <a:solidFill>
                        <a:srgbClr val="C5D3DD"/>
                      </a:solidFill>
                      <a:prstDash val="solid"/>
                      <a:round/>
                      <a:headEnd len="sm" w="sm" type="none"/>
                      <a:tailEnd len="sm" w="sm" type="none"/>
                    </a:lnR>
                    <a:lnT cap="flat" cmpd="sng" w="9525">
                      <a:solidFill>
                        <a:srgbClr val="C5D3DD"/>
                      </a:solidFill>
                      <a:prstDash val="solid"/>
                      <a:round/>
                      <a:headEnd len="sm" w="sm" type="none"/>
                      <a:tailEnd len="sm" w="sm" type="none"/>
                    </a:lnT>
                    <a:lnB cap="flat" cmpd="sng" w="9525">
                      <a:solidFill>
                        <a:srgbClr val="C5D3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20262C"/>
                          </a:solidFill>
                          <a:latin typeface="Arial"/>
                          <a:ea typeface="Arial"/>
                          <a:cs typeface="Arial"/>
                          <a:sym typeface="Arial"/>
                        </a:rPr>
                        <a:t>Blanco-azul</a:t>
                      </a:r>
                      <a:endParaRPr sz="1400" u="none" cap="none" strike="noStrike"/>
                    </a:p>
                  </a:txBody>
                  <a:tcPr marT="45725" marB="45725" marR="91450" marL="91450" anchor="ctr">
                    <a:lnL cap="flat" cmpd="sng" w="9525">
                      <a:solidFill>
                        <a:srgbClr val="C5D3DD"/>
                      </a:solidFill>
                      <a:prstDash val="solid"/>
                      <a:round/>
                      <a:headEnd len="sm" w="sm" type="none"/>
                      <a:tailEnd len="sm" w="sm" type="none"/>
                    </a:lnL>
                    <a:lnR cap="flat" cmpd="sng" w="9525">
                      <a:solidFill>
                        <a:srgbClr val="C5D3DD"/>
                      </a:solidFill>
                      <a:prstDash val="solid"/>
                      <a:round/>
                      <a:headEnd len="sm" w="sm" type="none"/>
                      <a:tailEnd len="sm" w="sm" type="none"/>
                    </a:lnR>
                    <a:lnT cap="flat" cmpd="sng" w="9525">
                      <a:solidFill>
                        <a:srgbClr val="C5D3DD"/>
                      </a:solidFill>
                      <a:prstDash val="solid"/>
                      <a:round/>
                      <a:headEnd len="sm" w="sm" type="none"/>
                      <a:tailEnd len="sm" w="sm" type="none"/>
                    </a:lnT>
                    <a:lnB cap="flat" cmpd="sng" w="9525">
                      <a:solidFill>
                        <a:srgbClr val="C5D3DD"/>
                      </a:solidFill>
                      <a:prstDash val="solid"/>
                      <a:round/>
                      <a:headEnd len="sm" w="sm" type="none"/>
                      <a:tailEnd len="sm" w="sm" type="none"/>
                    </a:lnB>
                    <a:solidFill>
                      <a:srgbClr val="FFFFFF"/>
                    </a:solidFill>
                  </a:tcPr>
                </a:tc>
              </a:tr>
              <a:tr h="324600">
                <a:tc>
                  <a:txBody>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2496F"/>
                          </a:solidFill>
                          <a:latin typeface="Arial"/>
                          <a:ea typeface="Arial"/>
                          <a:cs typeface="Arial"/>
                          <a:sym typeface="Arial"/>
                        </a:rPr>
                        <a:t>6</a:t>
                      </a:r>
                      <a:endParaRPr sz="1400" u="none" cap="none" strike="noStrike"/>
                    </a:p>
                  </a:txBody>
                  <a:tcPr marT="45725" marB="45725" marR="91450" marL="91450" anchor="ctr">
                    <a:lnL cap="flat" cmpd="sng" w="9525">
                      <a:solidFill>
                        <a:srgbClr val="C5D3DD"/>
                      </a:solidFill>
                      <a:prstDash val="solid"/>
                      <a:round/>
                      <a:headEnd len="sm" w="sm" type="none"/>
                      <a:tailEnd len="sm" w="sm" type="none"/>
                    </a:lnL>
                    <a:lnR cap="flat" cmpd="sng" w="9525">
                      <a:solidFill>
                        <a:srgbClr val="C5D3DD"/>
                      </a:solidFill>
                      <a:prstDash val="solid"/>
                      <a:round/>
                      <a:headEnd len="sm" w="sm" type="none"/>
                      <a:tailEnd len="sm" w="sm" type="none"/>
                    </a:lnR>
                    <a:lnT cap="flat" cmpd="sng" w="9525">
                      <a:solidFill>
                        <a:srgbClr val="C5D3DD"/>
                      </a:solidFill>
                      <a:prstDash val="solid"/>
                      <a:round/>
                      <a:headEnd len="sm" w="sm" type="none"/>
                      <a:tailEnd len="sm" w="sm" type="none"/>
                    </a:lnT>
                    <a:lnB cap="flat" cmpd="sng" w="9525">
                      <a:solidFill>
                        <a:srgbClr val="C5D3DD"/>
                      </a:solidFill>
                      <a:prstDash val="solid"/>
                      <a:round/>
                      <a:headEnd len="sm" w="sm" type="none"/>
                      <a:tailEnd len="sm" w="sm" type="none"/>
                    </a:lnB>
                    <a:solidFill>
                      <a:srgbClr val="FFF1D6"/>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20262C"/>
                          </a:solidFill>
                          <a:latin typeface="Arial"/>
                          <a:ea typeface="Arial"/>
                          <a:cs typeface="Arial"/>
                          <a:sym typeface="Arial"/>
                        </a:rPr>
                        <a:t>Naranja</a:t>
                      </a:r>
                      <a:endParaRPr sz="1400" u="none" cap="none" strike="noStrike"/>
                    </a:p>
                  </a:txBody>
                  <a:tcPr marT="45725" marB="45725" marR="91450" marL="91450" anchor="ctr">
                    <a:lnL cap="flat" cmpd="sng" w="9525">
                      <a:solidFill>
                        <a:srgbClr val="C5D3DD"/>
                      </a:solidFill>
                      <a:prstDash val="solid"/>
                      <a:round/>
                      <a:headEnd len="sm" w="sm" type="none"/>
                      <a:tailEnd len="sm" w="sm" type="none"/>
                    </a:lnL>
                    <a:lnR cap="flat" cmpd="sng" w="9525">
                      <a:solidFill>
                        <a:srgbClr val="C5D3DD"/>
                      </a:solidFill>
                      <a:prstDash val="solid"/>
                      <a:round/>
                      <a:headEnd len="sm" w="sm" type="none"/>
                      <a:tailEnd len="sm" w="sm" type="none"/>
                    </a:lnR>
                    <a:lnT cap="flat" cmpd="sng" w="9525">
                      <a:solidFill>
                        <a:srgbClr val="C5D3DD"/>
                      </a:solidFill>
                      <a:prstDash val="solid"/>
                      <a:round/>
                      <a:headEnd len="sm" w="sm" type="none"/>
                      <a:tailEnd len="sm" w="sm" type="none"/>
                    </a:lnT>
                    <a:lnB cap="flat" cmpd="sng" w="9525">
                      <a:solidFill>
                        <a:srgbClr val="C5D3DD"/>
                      </a:solidFill>
                      <a:prstDash val="solid"/>
                      <a:round/>
                      <a:headEnd len="sm" w="sm" type="none"/>
                      <a:tailEnd len="sm" w="sm" type="none"/>
                    </a:lnB>
                    <a:solidFill>
                      <a:srgbClr val="FFF1D6"/>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20262C"/>
                          </a:solidFill>
                          <a:latin typeface="Arial"/>
                          <a:ea typeface="Arial"/>
                          <a:cs typeface="Arial"/>
                          <a:sym typeface="Arial"/>
                        </a:rPr>
                        <a:t>Verde</a:t>
                      </a:r>
                      <a:endParaRPr sz="1400" u="none" cap="none" strike="noStrike"/>
                    </a:p>
                  </a:txBody>
                  <a:tcPr marT="45725" marB="45725" marR="91450" marL="91450" anchor="ctr">
                    <a:lnL cap="flat" cmpd="sng" w="9525">
                      <a:solidFill>
                        <a:srgbClr val="C5D3DD"/>
                      </a:solidFill>
                      <a:prstDash val="solid"/>
                      <a:round/>
                      <a:headEnd len="sm" w="sm" type="none"/>
                      <a:tailEnd len="sm" w="sm" type="none"/>
                    </a:lnL>
                    <a:lnR cap="flat" cmpd="sng" w="9525">
                      <a:solidFill>
                        <a:srgbClr val="C5D3DD"/>
                      </a:solidFill>
                      <a:prstDash val="solid"/>
                      <a:round/>
                      <a:headEnd len="sm" w="sm" type="none"/>
                      <a:tailEnd len="sm" w="sm" type="none"/>
                    </a:lnR>
                    <a:lnT cap="flat" cmpd="sng" w="9525">
                      <a:solidFill>
                        <a:srgbClr val="C5D3DD"/>
                      </a:solidFill>
                      <a:prstDash val="solid"/>
                      <a:round/>
                      <a:headEnd len="sm" w="sm" type="none"/>
                      <a:tailEnd len="sm" w="sm" type="none"/>
                    </a:lnT>
                    <a:lnB cap="flat" cmpd="sng" w="9525">
                      <a:solidFill>
                        <a:srgbClr val="C5D3DD"/>
                      </a:solidFill>
                      <a:prstDash val="solid"/>
                      <a:round/>
                      <a:headEnd len="sm" w="sm" type="none"/>
                      <a:tailEnd len="sm" w="sm" type="none"/>
                    </a:lnB>
                    <a:solidFill>
                      <a:srgbClr val="FFF1D6"/>
                    </a:solidFill>
                  </a:tcPr>
                </a:tc>
              </a:tr>
              <a:tr h="324600">
                <a:tc>
                  <a:txBody>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2496F"/>
                          </a:solidFill>
                          <a:latin typeface="Arial"/>
                          <a:ea typeface="Arial"/>
                          <a:cs typeface="Arial"/>
                          <a:sym typeface="Arial"/>
                        </a:rPr>
                        <a:t>7</a:t>
                      </a:r>
                      <a:endParaRPr sz="1400" u="none" cap="none" strike="noStrike"/>
                    </a:p>
                  </a:txBody>
                  <a:tcPr marT="45725" marB="45725" marR="91450" marL="91450" anchor="ctr">
                    <a:lnL cap="flat" cmpd="sng" w="9525">
                      <a:solidFill>
                        <a:srgbClr val="C5D3DD"/>
                      </a:solidFill>
                      <a:prstDash val="solid"/>
                      <a:round/>
                      <a:headEnd len="sm" w="sm" type="none"/>
                      <a:tailEnd len="sm" w="sm" type="none"/>
                    </a:lnL>
                    <a:lnR cap="flat" cmpd="sng" w="9525">
                      <a:solidFill>
                        <a:srgbClr val="C5D3DD"/>
                      </a:solidFill>
                      <a:prstDash val="solid"/>
                      <a:round/>
                      <a:headEnd len="sm" w="sm" type="none"/>
                      <a:tailEnd len="sm" w="sm" type="none"/>
                    </a:lnR>
                    <a:lnT cap="flat" cmpd="sng" w="9525">
                      <a:solidFill>
                        <a:srgbClr val="C5D3DD"/>
                      </a:solidFill>
                      <a:prstDash val="solid"/>
                      <a:round/>
                      <a:headEnd len="sm" w="sm" type="none"/>
                      <a:tailEnd len="sm" w="sm" type="none"/>
                    </a:lnT>
                    <a:lnB cap="flat" cmpd="sng" w="9525">
                      <a:solidFill>
                        <a:srgbClr val="C5D3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20262C"/>
                          </a:solidFill>
                          <a:latin typeface="Arial"/>
                          <a:ea typeface="Arial"/>
                          <a:cs typeface="Arial"/>
                          <a:sym typeface="Arial"/>
                        </a:rPr>
                        <a:t>Blanco-marrón</a:t>
                      </a:r>
                      <a:endParaRPr sz="1400" u="none" cap="none" strike="noStrike"/>
                    </a:p>
                  </a:txBody>
                  <a:tcPr marT="45725" marB="45725" marR="91450" marL="91450" anchor="ctr">
                    <a:lnL cap="flat" cmpd="sng" w="9525">
                      <a:solidFill>
                        <a:srgbClr val="C5D3DD"/>
                      </a:solidFill>
                      <a:prstDash val="solid"/>
                      <a:round/>
                      <a:headEnd len="sm" w="sm" type="none"/>
                      <a:tailEnd len="sm" w="sm" type="none"/>
                    </a:lnL>
                    <a:lnR cap="flat" cmpd="sng" w="9525">
                      <a:solidFill>
                        <a:srgbClr val="C5D3DD"/>
                      </a:solidFill>
                      <a:prstDash val="solid"/>
                      <a:round/>
                      <a:headEnd len="sm" w="sm" type="none"/>
                      <a:tailEnd len="sm" w="sm" type="none"/>
                    </a:lnR>
                    <a:lnT cap="flat" cmpd="sng" w="9525">
                      <a:solidFill>
                        <a:srgbClr val="C5D3DD"/>
                      </a:solidFill>
                      <a:prstDash val="solid"/>
                      <a:round/>
                      <a:headEnd len="sm" w="sm" type="none"/>
                      <a:tailEnd len="sm" w="sm" type="none"/>
                    </a:lnT>
                    <a:lnB cap="flat" cmpd="sng" w="9525">
                      <a:solidFill>
                        <a:srgbClr val="C5D3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20262C"/>
                          </a:solidFill>
                          <a:latin typeface="Arial"/>
                          <a:ea typeface="Arial"/>
                          <a:cs typeface="Arial"/>
                          <a:sym typeface="Arial"/>
                        </a:rPr>
                        <a:t>Blanco-marrón</a:t>
                      </a:r>
                      <a:endParaRPr sz="1400" u="none" cap="none" strike="noStrike"/>
                    </a:p>
                  </a:txBody>
                  <a:tcPr marT="45725" marB="45725" marR="91450" marL="91450" anchor="ctr">
                    <a:lnL cap="flat" cmpd="sng" w="9525">
                      <a:solidFill>
                        <a:srgbClr val="C5D3DD"/>
                      </a:solidFill>
                      <a:prstDash val="solid"/>
                      <a:round/>
                      <a:headEnd len="sm" w="sm" type="none"/>
                      <a:tailEnd len="sm" w="sm" type="none"/>
                    </a:lnL>
                    <a:lnR cap="flat" cmpd="sng" w="9525">
                      <a:solidFill>
                        <a:srgbClr val="C5D3DD"/>
                      </a:solidFill>
                      <a:prstDash val="solid"/>
                      <a:round/>
                      <a:headEnd len="sm" w="sm" type="none"/>
                      <a:tailEnd len="sm" w="sm" type="none"/>
                    </a:lnR>
                    <a:lnT cap="flat" cmpd="sng" w="9525">
                      <a:solidFill>
                        <a:srgbClr val="C5D3DD"/>
                      </a:solidFill>
                      <a:prstDash val="solid"/>
                      <a:round/>
                      <a:headEnd len="sm" w="sm" type="none"/>
                      <a:tailEnd len="sm" w="sm" type="none"/>
                    </a:lnT>
                    <a:lnB cap="flat" cmpd="sng" w="9525">
                      <a:solidFill>
                        <a:srgbClr val="C5D3DD"/>
                      </a:solidFill>
                      <a:prstDash val="solid"/>
                      <a:round/>
                      <a:headEnd len="sm" w="sm" type="none"/>
                      <a:tailEnd len="sm" w="sm" type="none"/>
                    </a:lnB>
                    <a:solidFill>
                      <a:srgbClr val="FFFFFF"/>
                    </a:solidFill>
                  </a:tcPr>
                </a:tc>
              </a:tr>
              <a:tr h="324600">
                <a:tc>
                  <a:txBody>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2496F"/>
                          </a:solidFill>
                          <a:latin typeface="Arial"/>
                          <a:ea typeface="Arial"/>
                          <a:cs typeface="Arial"/>
                          <a:sym typeface="Arial"/>
                        </a:rPr>
                        <a:t>8</a:t>
                      </a:r>
                      <a:endParaRPr sz="1400" u="none" cap="none" strike="noStrike"/>
                    </a:p>
                  </a:txBody>
                  <a:tcPr marT="45725" marB="45725" marR="91450" marL="91450" anchor="ctr">
                    <a:lnL cap="flat" cmpd="sng" w="9525">
                      <a:solidFill>
                        <a:srgbClr val="C5D3DD"/>
                      </a:solidFill>
                      <a:prstDash val="solid"/>
                      <a:round/>
                      <a:headEnd len="sm" w="sm" type="none"/>
                      <a:tailEnd len="sm" w="sm" type="none"/>
                    </a:lnL>
                    <a:lnR cap="flat" cmpd="sng" w="9525">
                      <a:solidFill>
                        <a:srgbClr val="C5D3DD"/>
                      </a:solidFill>
                      <a:prstDash val="solid"/>
                      <a:round/>
                      <a:headEnd len="sm" w="sm" type="none"/>
                      <a:tailEnd len="sm" w="sm" type="none"/>
                    </a:lnR>
                    <a:lnT cap="flat" cmpd="sng" w="9525">
                      <a:solidFill>
                        <a:srgbClr val="C5D3DD"/>
                      </a:solidFill>
                      <a:prstDash val="solid"/>
                      <a:round/>
                      <a:headEnd len="sm" w="sm" type="none"/>
                      <a:tailEnd len="sm" w="sm" type="none"/>
                    </a:lnT>
                    <a:lnB cap="flat" cmpd="sng" w="9525">
                      <a:solidFill>
                        <a:srgbClr val="C5D3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20262C"/>
                          </a:solidFill>
                          <a:latin typeface="Arial"/>
                          <a:ea typeface="Arial"/>
                          <a:cs typeface="Arial"/>
                          <a:sym typeface="Arial"/>
                        </a:rPr>
                        <a:t>Marrón</a:t>
                      </a:r>
                      <a:endParaRPr sz="1400" u="none" cap="none" strike="noStrike"/>
                    </a:p>
                  </a:txBody>
                  <a:tcPr marT="45725" marB="45725" marR="91450" marL="91450" anchor="ctr">
                    <a:lnL cap="flat" cmpd="sng" w="9525">
                      <a:solidFill>
                        <a:srgbClr val="C5D3DD"/>
                      </a:solidFill>
                      <a:prstDash val="solid"/>
                      <a:round/>
                      <a:headEnd len="sm" w="sm" type="none"/>
                      <a:tailEnd len="sm" w="sm" type="none"/>
                    </a:lnL>
                    <a:lnR cap="flat" cmpd="sng" w="9525">
                      <a:solidFill>
                        <a:srgbClr val="C5D3DD"/>
                      </a:solidFill>
                      <a:prstDash val="solid"/>
                      <a:round/>
                      <a:headEnd len="sm" w="sm" type="none"/>
                      <a:tailEnd len="sm" w="sm" type="none"/>
                    </a:lnR>
                    <a:lnT cap="flat" cmpd="sng" w="9525">
                      <a:solidFill>
                        <a:srgbClr val="C5D3DD"/>
                      </a:solidFill>
                      <a:prstDash val="solid"/>
                      <a:round/>
                      <a:headEnd len="sm" w="sm" type="none"/>
                      <a:tailEnd len="sm" w="sm" type="none"/>
                    </a:lnT>
                    <a:lnB cap="flat" cmpd="sng" w="9525">
                      <a:solidFill>
                        <a:srgbClr val="C5D3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20262C"/>
                          </a:solidFill>
                          <a:latin typeface="Arial"/>
                          <a:ea typeface="Arial"/>
                          <a:cs typeface="Arial"/>
                          <a:sym typeface="Arial"/>
                        </a:rPr>
                        <a:t>Marrón</a:t>
                      </a:r>
                      <a:endParaRPr sz="1400" u="none" cap="none" strike="noStrike"/>
                    </a:p>
                  </a:txBody>
                  <a:tcPr marT="45725" marB="45725" marR="91450" marL="91450" anchor="ctr">
                    <a:lnL cap="flat" cmpd="sng" w="9525">
                      <a:solidFill>
                        <a:srgbClr val="C5D3DD"/>
                      </a:solidFill>
                      <a:prstDash val="solid"/>
                      <a:round/>
                      <a:headEnd len="sm" w="sm" type="none"/>
                      <a:tailEnd len="sm" w="sm" type="none"/>
                    </a:lnL>
                    <a:lnR cap="flat" cmpd="sng" w="9525">
                      <a:solidFill>
                        <a:srgbClr val="C5D3DD"/>
                      </a:solidFill>
                      <a:prstDash val="solid"/>
                      <a:round/>
                      <a:headEnd len="sm" w="sm" type="none"/>
                      <a:tailEnd len="sm" w="sm" type="none"/>
                    </a:lnR>
                    <a:lnT cap="flat" cmpd="sng" w="9525">
                      <a:solidFill>
                        <a:srgbClr val="C5D3DD"/>
                      </a:solidFill>
                      <a:prstDash val="solid"/>
                      <a:round/>
                      <a:headEnd len="sm" w="sm" type="none"/>
                      <a:tailEnd len="sm" w="sm" type="none"/>
                    </a:lnT>
                    <a:lnB cap="flat" cmpd="sng" w="9525">
                      <a:solidFill>
                        <a:srgbClr val="C5D3DD"/>
                      </a:solidFill>
                      <a:prstDash val="solid"/>
                      <a:round/>
                      <a:headEnd len="sm" w="sm" type="none"/>
                      <a:tailEnd len="sm" w="sm" type="none"/>
                    </a:lnB>
                    <a:solidFill>
                      <a:srgbClr val="FFFFFF"/>
                    </a:solidFill>
                  </a:tcPr>
                </a:tc>
              </a:tr>
            </a:tbl>
          </a:graphicData>
        </a:graphic>
      </p:graphicFrame>
      <p:sp>
        <p:nvSpPr>
          <p:cNvPr id="1128" name="Google Shape;1128;h3173d30833cc6355_30_203"/>
          <p:cNvSpPr txBox="1"/>
          <p:nvPr/>
        </p:nvSpPr>
        <p:spPr>
          <a:xfrm>
            <a:off x="411500" y="5468105"/>
            <a:ext cx="2377500" cy="28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12496F"/>
                </a:solidFill>
                <a:latin typeface="Arial"/>
                <a:ea typeface="Arial"/>
                <a:cs typeface="Arial"/>
                <a:sym typeface="Arial"/>
              </a:rPr>
              <a:t>Esquema T568A</a:t>
            </a:r>
            <a:endParaRPr/>
          </a:p>
        </p:txBody>
      </p:sp>
      <p:sp>
        <p:nvSpPr>
          <p:cNvPr id="1129" name="Google Shape;1129;h3173d30833cc6355_30_203"/>
          <p:cNvSpPr txBox="1"/>
          <p:nvPr/>
        </p:nvSpPr>
        <p:spPr>
          <a:xfrm>
            <a:off x="2926150" y="5468106"/>
            <a:ext cx="2377500" cy="246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12496F"/>
                </a:solidFill>
                <a:latin typeface="Arial"/>
                <a:ea typeface="Arial"/>
                <a:cs typeface="Arial"/>
                <a:sym typeface="Arial"/>
              </a:rPr>
              <a:t>Esquema T568B</a:t>
            </a:r>
            <a:endParaRPr/>
          </a:p>
        </p:txBody>
      </p:sp>
      <p:sp>
        <p:nvSpPr>
          <p:cNvPr id="1130" name="Google Shape;1130;h3173d30833cc6355_30_203"/>
          <p:cNvSpPr/>
          <p:nvPr/>
        </p:nvSpPr>
        <p:spPr>
          <a:xfrm>
            <a:off x="5623710" y="868680"/>
            <a:ext cx="6154200" cy="1783200"/>
          </a:xfrm>
          <a:prstGeom prst="roundRect">
            <a:avLst>
              <a:gd fmla="val 16667" name="adj"/>
            </a:avLst>
          </a:prstGeom>
          <a:solidFill>
            <a:srgbClr val="E7F1F9"/>
          </a:solidFill>
          <a:ln cap="flat" cmpd="sng" w="9525">
            <a:solidFill>
              <a:srgbClr val="BECED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1" name="Google Shape;1131;h3173d30833cc6355_30_203"/>
          <p:cNvSpPr txBox="1"/>
          <p:nvPr/>
        </p:nvSpPr>
        <p:spPr>
          <a:xfrm>
            <a:off x="5760874" y="975360"/>
            <a:ext cx="5880000" cy="365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12496F"/>
                </a:solidFill>
                <a:latin typeface="Arial"/>
                <a:ea typeface="Arial"/>
                <a:cs typeface="Arial"/>
                <a:sym typeface="Arial"/>
              </a:rPr>
              <a:t>CABLE DIRECTO Y CABLE CRUZADO</a:t>
            </a:r>
            <a:endParaRPr/>
          </a:p>
        </p:txBody>
      </p:sp>
      <p:sp>
        <p:nvSpPr>
          <p:cNvPr id="1132" name="Google Shape;1132;h3173d30833cc6355_30_203"/>
          <p:cNvSpPr txBox="1"/>
          <p:nvPr/>
        </p:nvSpPr>
        <p:spPr>
          <a:xfrm>
            <a:off x="5824925" y="1464262"/>
            <a:ext cx="5751900" cy="1021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12496F"/>
                </a:solidFill>
                <a:latin typeface="Arial"/>
                <a:ea typeface="Arial"/>
                <a:cs typeface="Arial"/>
                <a:sym typeface="Arial"/>
              </a:rPr>
              <a:t>Directo: </a:t>
            </a:r>
            <a:r>
              <a:rPr lang="en-US" sz="1250">
                <a:solidFill>
                  <a:srgbClr val="20262C"/>
                </a:solidFill>
              </a:rPr>
              <a:t>el mismo </a:t>
            </a:r>
            <a:r>
              <a:rPr b="0" i="0" lang="en-US" sz="1250" u="none" cap="none" strike="noStrike">
                <a:solidFill>
                  <a:srgbClr val="20262C"/>
                </a:solidFill>
                <a:latin typeface="Arial"/>
                <a:ea typeface="Arial"/>
                <a:cs typeface="Arial"/>
                <a:sym typeface="Arial"/>
              </a:rPr>
              <a:t>en los dos extremos (B-B o A-A). </a:t>
            </a:r>
            <a:endParaRPr b="0" i="0" sz="1250" u="none" cap="none" strike="noStrike">
              <a:solidFill>
                <a:srgbClr val="20262C"/>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50"/>
              <a:buFont typeface="Arial"/>
              <a:buNone/>
            </a:pPr>
            <a:r>
              <a:rPr b="0" i="0" lang="en-US" sz="1250" u="none" cap="none" strike="noStrike">
                <a:solidFill>
                  <a:srgbClr val="20262C"/>
                </a:solidFill>
                <a:latin typeface="Arial"/>
                <a:ea typeface="Arial"/>
                <a:cs typeface="Arial"/>
                <a:sym typeface="Arial"/>
              </a:rPr>
              <a:t>Une equipos distintos: PC ↔ switch.</a:t>
            </a:r>
            <a:r>
              <a:rPr lang="en-US" sz="1250">
                <a:solidFill>
                  <a:srgbClr val="20262C"/>
                </a:solidFill>
              </a:rPr>
              <a:t> M</a:t>
            </a:r>
            <a:r>
              <a:rPr b="0" i="0" lang="en-US" sz="1250" u="none" cap="none" strike="noStrike">
                <a:solidFill>
                  <a:srgbClr val="20262C"/>
                </a:solidFill>
                <a:latin typeface="Arial"/>
                <a:ea typeface="Arial"/>
                <a:cs typeface="Arial"/>
                <a:sym typeface="Arial"/>
              </a:rPr>
              <a:t>ás habitual </a:t>
            </a:r>
            <a:r>
              <a:rPr lang="en-US" sz="1250">
                <a:solidFill>
                  <a:srgbClr val="20262C"/>
                </a:solidFill>
              </a:rPr>
              <a:t>→</a:t>
            </a:r>
            <a:r>
              <a:rPr b="0" i="0" lang="en-US" sz="1250" u="none" cap="none" strike="noStrike">
                <a:solidFill>
                  <a:srgbClr val="20262C"/>
                </a:solidFill>
                <a:latin typeface="Arial"/>
                <a:ea typeface="Arial"/>
                <a:cs typeface="Arial"/>
                <a:sym typeface="Arial"/>
              </a:rPr>
              <a:t> T568B en ambos.</a:t>
            </a:r>
            <a:endParaRPr/>
          </a:p>
          <a:p>
            <a:pPr indent="0" lvl="0" marL="0" marR="0" rtl="0" algn="l">
              <a:lnSpc>
                <a:spcPct val="100000"/>
              </a:lnSpc>
              <a:spcBef>
                <a:spcPts val="400"/>
              </a:spcBef>
              <a:spcAft>
                <a:spcPts val="400"/>
              </a:spcAft>
              <a:buClr>
                <a:srgbClr val="000000"/>
              </a:buClr>
              <a:buSzPts val="1250"/>
              <a:buFont typeface="Arial"/>
              <a:buNone/>
            </a:pPr>
            <a:r>
              <a:rPr b="1" i="0" lang="en-US" sz="1250" u="none" cap="none" strike="noStrike">
                <a:solidFill>
                  <a:srgbClr val="12496F"/>
                </a:solidFill>
                <a:latin typeface="Arial"/>
                <a:ea typeface="Arial"/>
                <a:cs typeface="Arial"/>
                <a:sym typeface="Arial"/>
              </a:rPr>
              <a:t>Cruzado: </a:t>
            </a:r>
            <a:r>
              <a:rPr b="0" i="0" lang="en-US" sz="1250" u="none" cap="none" strike="noStrike">
                <a:solidFill>
                  <a:srgbClr val="20262C"/>
                </a:solidFill>
                <a:latin typeface="Arial"/>
                <a:ea typeface="Arial"/>
                <a:cs typeface="Arial"/>
                <a:sym typeface="Arial"/>
              </a:rPr>
              <a:t>T568A en un extremo y T568B en el otro: el TX de un equipo llega al RX del otro. Une PC ↔ PC.</a:t>
            </a:r>
            <a:endParaRPr/>
          </a:p>
        </p:txBody>
      </p:sp>
      <p:sp>
        <p:nvSpPr>
          <p:cNvPr id="1133" name="Google Shape;1133;h3173d30833cc6355_30_203"/>
          <p:cNvSpPr/>
          <p:nvPr/>
        </p:nvSpPr>
        <p:spPr>
          <a:xfrm>
            <a:off x="5623700" y="2875787"/>
            <a:ext cx="2976300" cy="3067800"/>
          </a:xfrm>
          <a:prstGeom prst="roundRect">
            <a:avLst>
              <a:gd fmla="val 16667" name="adj"/>
            </a:avLst>
          </a:prstGeom>
          <a:solidFill>
            <a:srgbClr val="FFF1D6"/>
          </a:solidFill>
          <a:ln cap="flat" cmpd="sng" w="9525">
            <a:solidFill>
              <a:srgbClr val="BECED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4" name="Google Shape;1134;h3173d30833cc6355_30_203"/>
          <p:cNvSpPr txBox="1"/>
          <p:nvPr/>
        </p:nvSpPr>
        <p:spPr>
          <a:xfrm>
            <a:off x="5715152" y="2956560"/>
            <a:ext cx="2793600" cy="365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00"/>
              <a:buFont typeface="Arial"/>
              <a:buNone/>
            </a:pPr>
            <a:r>
              <a:rPr b="1" lang="en-US" sz="1500">
                <a:solidFill>
                  <a:srgbClr val="12496F"/>
                </a:solidFill>
              </a:rPr>
              <a:t>1. </a:t>
            </a:r>
            <a:r>
              <a:rPr b="1" i="0" lang="en-US" sz="1500" u="none" cap="none" strike="noStrike">
                <a:solidFill>
                  <a:srgbClr val="12496F"/>
                </a:solidFill>
                <a:latin typeface="Arial"/>
                <a:ea typeface="Arial"/>
                <a:cs typeface="Arial"/>
                <a:sym typeface="Arial"/>
              </a:rPr>
              <a:t>INSPECCIÓN VISUAL</a:t>
            </a:r>
            <a:endParaRPr/>
          </a:p>
        </p:txBody>
      </p:sp>
      <p:sp>
        <p:nvSpPr>
          <p:cNvPr id="1135" name="Google Shape;1135;h3173d30833cc6355_30_203"/>
          <p:cNvSpPr txBox="1"/>
          <p:nvPr/>
        </p:nvSpPr>
        <p:spPr>
          <a:xfrm>
            <a:off x="5770018" y="3310128"/>
            <a:ext cx="2702100" cy="265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12496F"/>
                </a:solidFill>
                <a:latin typeface="Arial"/>
                <a:ea typeface="Arial"/>
                <a:cs typeface="Arial"/>
                <a:sym typeface="Arial"/>
              </a:rPr>
              <a:t>Cubierta: </a:t>
            </a:r>
            <a:r>
              <a:rPr b="0" i="0" lang="en-US" sz="1200" u="none" cap="none" strike="noStrike">
                <a:solidFill>
                  <a:srgbClr val="20262C"/>
                </a:solidFill>
                <a:latin typeface="Arial"/>
                <a:ea typeface="Arial"/>
                <a:cs typeface="Arial"/>
                <a:sym typeface="Arial"/>
              </a:rPr>
              <a:t>entra en el conector y la </a:t>
            </a:r>
            <a:r>
              <a:rPr lang="en-US" sz="1200">
                <a:solidFill>
                  <a:srgbClr val="20262C"/>
                </a:solidFill>
              </a:rPr>
              <a:t>sujeción</a:t>
            </a:r>
            <a:r>
              <a:rPr lang="en-US" sz="1200">
                <a:solidFill>
                  <a:srgbClr val="20262C"/>
                </a:solidFill>
              </a:rPr>
              <a:t> presiona</a:t>
            </a:r>
            <a:r>
              <a:rPr b="0" i="0" lang="en-US" sz="1200" u="none" cap="none" strike="noStrike">
                <a:solidFill>
                  <a:srgbClr val="20262C"/>
                </a:solidFill>
                <a:latin typeface="Arial"/>
                <a:ea typeface="Arial"/>
                <a:cs typeface="Arial"/>
                <a:sym typeface="Arial"/>
              </a:rPr>
              <a:t>.</a:t>
            </a:r>
            <a:endParaRPr/>
          </a:p>
          <a:p>
            <a:pPr indent="0" lvl="0" marL="0" marR="0" rtl="0" algn="l">
              <a:lnSpc>
                <a:spcPct val="100000"/>
              </a:lnSpc>
              <a:spcBef>
                <a:spcPts val="300"/>
              </a:spcBef>
              <a:spcAft>
                <a:spcPts val="0"/>
              </a:spcAft>
              <a:buClr>
                <a:srgbClr val="000000"/>
              </a:buClr>
              <a:buSzPts val="1200"/>
              <a:buFont typeface="Arial"/>
              <a:buNone/>
            </a:pPr>
            <a:r>
              <a:rPr b="1" i="0" lang="en-US" sz="1200" u="none" cap="none" strike="noStrike">
                <a:solidFill>
                  <a:srgbClr val="12496F"/>
                </a:solidFill>
                <a:latin typeface="Arial"/>
                <a:ea typeface="Arial"/>
                <a:cs typeface="Arial"/>
                <a:sym typeface="Arial"/>
              </a:rPr>
              <a:t>Hilos al fondo: </a:t>
            </a:r>
            <a:r>
              <a:rPr b="0" i="0" lang="en-US" sz="1200" u="none" cap="none" strike="noStrike">
                <a:solidFill>
                  <a:srgbClr val="20262C"/>
                </a:solidFill>
                <a:latin typeface="Arial"/>
                <a:ea typeface="Arial"/>
                <a:cs typeface="Arial"/>
                <a:sym typeface="Arial"/>
              </a:rPr>
              <a:t>los 8 llegan al final</a:t>
            </a:r>
            <a:r>
              <a:rPr lang="en-US" sz="1200">
                <a:solidFill>
                  <a:srgbClr val="20262C"/>
                </a:solidFill>
              </a:rPr>
              <a:t> y</a:t>
            </a:r>
            <a:r>
              <a:rPr b="0" i="0" lang="en-US" sz="1200" u="none" cap="none" strike="noStrike">
                <a:solidFill>
                  <a:srgbClr val="20262C"/>
                </a:solidFill>
                <a:latin typeface="Arial"/>
                <a:ea typeface="Arial"/>
                <a:cs typeface="Arial"/>
                <a:sym typeface="Arial"/>
              </a:rPr>
              <a:t> se ven las puntas de cobre por delante.</a:t>
            </a:r>
            <a:endParaRPr/>
          </a:p>
          <a:p>
            <a:pPr indent="0" lvl="0" marL="0" marR="0" rtl="0" algn="l">
              <a:lnSpc>
                <a:spcPct val="100000"/>
              </a:lnSpc>
              <a:spcBef>
                <a:spcPts val="300"/>
              </a:spcBef>
              <a:spcAft>
                <a:spcPts val="0"/>
              </a:spcAft>
              <a:buClr>
                <a:srgbClr val="000000"/>
              </a:buClr>
              <a:buSzPts val="1200"/>
              <a:buFont typeface="Arial"/>
              <a:buNone/>
            </a:pPr>
            <a:r>
              <a:rPr b="1" i="0" lang="en-US" sz="1200" u="none" cap="none" strike="noStrike">
                <a:solidFill>
                  <a:srgbClr val="12496F"/>
                </a:solidFill>
                <a:latin typeface="Arial"/>
                <a:ea typeface="Arial"/>
                <a:cs typeface="Arial"/>
                <a:sym typeface="Arial"/>
              </a:rPr>
              <a:t>Orden: </a:t>
            </a:r>
            <a:r>
              <a:rPr b="0" i="0" lang="en-US" sz="1200" u="none" cap="none" strike="noStrike">
                <a:solidFill>
                  <a:srgbClr val="20262C"/>
                </a:solidFill>
                <a:latin typeface="Arial"/>
                <a:ea typeface="Arial"/>
                <a:cs typeface="Arial"/>
                <a:sym typeface="Arial"/>
              </a:rPr>
              <a:t>colores según la norma.</a:t>
            </a:r>
            <a:endParaRPr/>
          </a:p>
          <a:p>
            <a:pPr indent="0" lvl="0" marL="0" marR="0" rtl="0" algn="l">
              <a:lnSpc>
                <a:spcPct val="100000"/>
              </a:lnSpc>
              <a:spcBef>
                <a:spcPts val="300"/>
              </a:spcBef>
              <a:spcAft>
                <a:spcPts val="0"/>
              </a:spcAft>
              <a:buClr>
                <a:srgbClr val="000000"/>
              </a:buClr>
              <a:buSzPts val="1200"/>
              <a:buFont typeface="Arial"/>
              <a:buNone/>
            </a:pPr>
            <a:r>
              <a:rPr b="1" i="0" lang="en-US" sz="1200" u="none" cap="none" strike="noStrike">
                <a:solidFill>
                  <a:srgbClr val="12496F"/>
                </a:solidFill>
                <a:latin typeface="Arial"/>
                <a:ea typeface="Arial"/>
                <a:cs typeface="Arial"/>
                <a:sym typeface="Arial"/>
              </a:rPr>
              <a:t>Contactos: </a:t>
            </a:r>
            <a:r>
              <a:rPr b="0" i="0" lang="en-US" sz="1200" u="none" cap="none" strike="noStrike">
                <a:solidFill>
                  <a:srgbClr val="20262C"/>
                </a:solidFill>
                <a:latin typeface="Arial"/>
                <a:ea typeface="Arial"/>
                <a:cs typeface="Arial"/>
                <a:sym typeface="Arial"/>
              </a:rPr>
              <a:t>bajados, por debajo de la superficie y alineados.</a:t>
            </a:r>
            <a:endParaRPr/>
          </a:p>
          <a:p>
            <a:pPr indent="0" lvl="0" marL="0" marR="0" rtl="0" algn="l">
              <a:lnSpc>
                <a:spcPct val="100000"/>
              </a:lnSpc>
              <a:spcBef>
                <a:spcPts val="300"/>
              </a:spcBef>
              <a:spcAft>
                <a:spcPts val="300"/>
              </a:spcAft>
              <a:buClr>
                <a:srgbClr val="000000"/>
              </a:buClr>
              <a:buSzPts val="1200"/>
              <a:buFont typeface="Arial"/>
              <a:buNone/>
            </a:pPr>
            <a:r>
              <a:rPr b="1" i="0" lang="en-US" sz="1200" u="none" cap="none" strike="noStrike">
                <a:solidFill>
                  <a:srgbClr val="12496F"/>
                </a:solidFill>
                <a:latin typeface="Arial"/>
                <a:ea typeface="Arial"/>
                <a:cs typeface="Arial"/>
                <a:sym typeface="Arial"/>
              </a:rPr>
              <a:t>Tirón suave: </a:t>
            </a:r>
            <a:r>
              <a:rPr lang="en-US" sz="1200">
                <a:solidFill>
                  <a:srgbClr val="20262C"/>
                </a:solidFill>
              </a:rPr>
              <a:t>comprobar que </a:t>
            </a:r>
            <a:r>
              <a:rPr b="0" i="0" lang="en-US" sz="1200" u="none" cap="none" strike="noStrike">
                <a:solidFill>
                  <a:srgbClr val="20262C"/>
                </a:solidFill>
                <a:latin typeface="Arial"/>
                <a:ea typeface="Arial"/>
                <a:cs typeface="Arial"/>
                <a:sym typeface="Arial"/>
              </a:rPr>
              <a:t>el conector no se suelta.</a:t>
            </a:r>
            <a:endParaRPr/>
          </a:p>
        </p:txBody>
      </p:sp>
      <p:sp>
        <p:nvSpPr>
          <p:cNvPr id="1136" name="Google Shape;1136;h3173d30833cc6355_30_203"/>
          <p:cNvSpPr/>
          <p:nvPr/>
        </p:nvSpPr>
        <p:spPr>
          <a:xfrm>
            <a:off x="8801325" y="2875787"/>
            <a:ext cx="2976300" cy="3067800"/>
          </a:xfrm>
          <a:prstGeom prst="roundRect">
            <a:avLst>
              <a:gd fmla="val 16667" name="adj"/>
            </a:avLst>
          </a:prstGeom>
          <a:solidFill>
            <a:srgbClr val="FBE5E7"/>
          </a:solidFill>
          <a:ln cap="flat" cmpd="sng" w="9525">
            <a:solidFill>
              <a:srgbClr val="BECED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7" name="Google Shape;1137;h3173d30833cc6355_30_203"/>
          <p:cNvSpPr txBox="1"/>
          <p:nvPr/>
        </p:nvSpPr>
        <p:spPr>
          <a:xfrm>
            <a:off x="8892777" y="2956560"/>
            <a:ext cx="2793600" cy="365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00"/>
              <a:buFont typeface="Arial"/>
              <a:buNone/>
            </a:pPr>
            <a:r>
              <a:rPr b="1" lang="en-US" sz="1500">
                <a:solidFill>
                  <a:srgbClr val="12496F"/>
                </a:solidFill>
              </a:rPr>
              <a:t>2.</a:t>
            </a:r>
            <a:r>
              <a:rPr b="1" i="0" lang="en-US" sz="1500" u="none" cap="none" strike="noStrike">
                <a:solidFill>
                  <a:srgbClr val="12496F"/>
                </a:solidFill>
                <a:latin typeface="Arial"/>
                <a:ea typeface="Arial"/>
                <a:cs typeface="Arial"/>
                <a:sym typeface="Arial"/>
              </a:rPr>
              <a:t> COMPROBADOR</a:t>
            </a:r>
            <a:endParaRPr/>
          </a:p>
        </p:txBody>
      </p:sp>
      <p:sp>
        <p:nvSpPr>
          <p:cNvPr id="1138" name="Google Shape;1138;h3173d30833cc6355_30_203"/>
          <p:cNvSpPr txBox="1"/>
          <p:nvPr/>
        </p:nvSpPr>
        <p:spPr>
          <a:xfrm>
            <a:off x="8947643" y="3310128"/>
            <a:ext cx="2702100" cy="265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12496F"/>
                </a:solidFill>
                <a:latin typeface="Arial"/>
                <a:ea typeface="Arial"/>
                <a:cs typeface="Arial"/>
                <a:sym typeface="Arial"/>
              </a:rPr>
              <a:t>Correcto: </a:t>
            </a:r>
            <a:r>
              <a:rPr b="0" i="0" lang="en-US" sz="1200" u="none" cap="none" strike="noStrike">
                <a:solidFill>
                  <a:srgbClr val="20262C"/>
                </a:solidFill>
                <a:latin typeface="Arial"/>
                <a:ea typeface="Arial"/>
                <a:cs typeface="Arial"/>
                <a:sym typeface="Arial"/>
              </a:rPr>
              <a:t>LED 1→8 en el mismo orden en ambas </a:t>
            </a:r>
            <a:r>
              <a:rPr lang="en-US" sz="1200">
                <a:solidFill>
                  <a:srgbClr val="20262C"/>
                </a:solidFill>
              </a:rPr>
              <a:t>partes</a:t>
            </a:r>
            <a:r>
              <a:rPr b="0" i="0" lang="en-US" sz="1200" u="none" cap="none" strike="noStrike">
                <a:solidFill>
                  <a:srgbClr val="20262C"/>
                </a:solidFill>
                <a:latin typeface="Arial"/>
                <a:ea typeface="Arial"/>
                <a:cs typeface="Arial"/>
                <a:sym typeface="Arial"/>
              </a:rPr>
              <a:t>.</a:t>
            </a:r>
            <a:endParaRPr/>
          </a:p>
          <a:p>
            <a:pPr indent="0" lvl="0" marL="0" marR="0" rtl="0" algn="l">
              <a:lnSpc>
                <a:spcPct val="100000"/>
              </a:lnSpc>
              <a:spcBef>
                <a:spcPts val="300"/>
              </a:spcBef>
              <a:spcAft>
                <a:spcPts val="0"/>
              </a:spcAft>
              <a:buClr>
                <a:srgbClr val="000000"/>
              </a:buClr>
              <a:buSzPts val="1200"/>
              <a:buFont typeface="Arial"/>
              <a:buNone/>
            </a:pPr>
            <a:r>
              <a:rPr b="1" i="0" lang="en-US" sz="1200" u="none" cap="none" strike="noStrike">
                <a:solidFill>
                  <a:srgbClr val="12496F"/>
                </a:solidFill>
                <a:latin typeface="Arial"/>
                <a:ea typeface="Arial"/>
                <a:cs typeface="Arial"/>
                <a:sym typeface="Arial"/>
              </a:rPr>
              <a:t>Abierto: </a:t>
            </a:r>
            <a:r>
              <a:rPr b="0" i="0" lang="en-US" sz="1200" u="none" cap="none" strike="noStrike">
                <a:solidFill>
                  <a:srgbClr val="20262C"/>
                </a:solidFill>
                <a:latin typeface="Arial"/>
                <a:ea typeface="Arial"/>
                <a:cs typeface="Arial"/>
                <a:sym typeface="Arial"/>
              </a:rPr>
              <a:t>algún LED no se enciende (fallo: hilo cortado o sin contacto).</a:t>
            </a:r>
            <a:endParaRPr/>
          </a:p>
          <a:p>
            <a:pPr indent="0" lvl="0" marL="0" marR="0" rtl="0" algn="l">
              <a:lnSpc>
                <a:spcPct val="100000"/>
              </a:lnSpc>
              <a:spcBef>
                <a:spcPts val="300"/>
              </a:spcBef>
              <a:spcAft>
                <a:spcPts val="0"/>
              </a:spcAft>
              <a:buClr>
                <a:srgbClr val="000000"/>
              </a:buClr>
              <a:buSzPts val="1200"/>
              <a:buFont typeface="Arial"/>
              <a:buNone/>
            </a:pPr>
            <a:r>
              <a:rPr b="1" i="0" lang="en-US" sz="1200" u="none" cap="none" strike="noStrike">
                <a:solidFill>
                  <a:srgbClr val="12496F"/>
                </a:solidFill>
                <a:latin typeface="Arial"/>
                <a:ea typeface="Arial"/>
                <a:cs typeface="Arial"/>
                <a:sym typeface="Arial"/>
              </a:rPr>
              <a:t>Cortocircuito: </a:t>
            </a:r>
            <a:r>
              <a:rPr b="0" i="0" lang="en-US" sz="1200" u="none" cap="none" strike="noStrike">
                <a:solidFill>
                  <a:srgbClr val="20262C"/>
                </a:solidFill>
                <a:latin typeface="Arial"/>
                <a:ea typeface="Arial"/>
                <a:cs typeface="Arial"/>
                <a:sym typeface="Arial"/>
              </a:rPr>
              <a:t>un LED en la principal enciende varios en la remota.</a:t>
            </a:r>
            <a:endParaRPr/>
          </a:p>
          <a:p>
            <a:pPr indent="0" lvl="0" marL="0" marR="0" rtl="0" algn="l">
              <a:lnSpc>
                <a:spcPct val="100000"/>
              </a:lnSpc>
              <a:spcBef>
                <a:spcPts val="300"/>
              </a:spcBef>
              <a:spcAft>
                <a:spcPts val="0"/>
              </a:spcAft>
              <a:buClr>
                <a:srgbClr val="000000"/>
              </a:buClr>
              <a:buSzPts val="1200"/>
              <a:buFont typeface="Arial"/>
              <a:buNone/>
            </a:pPr>
            <a:r>
              <a:rPr b="1" i="0" lang="en-US" sz="1200" u="none" cap="none" strike="noStrike">
                <a:solidFill>
                  <a:srgbClr val="12496F"/>
                </a:solidFill>
                <a:latin typeface="Arial"/>
                <a:ea typeface="Arial"/>
                <a:cs typeface="Arial"/>
                <a:sym typeface="Arial"/>
              </a:rPr>
              <a:t>Cruzado: </a:t>
            </a:r>
            <a:r>
              <a:rPr b="0" i="0" lang="en-US" sz="1200" u="none" cap="none" strike="noStrike">
                <a:solidFill>
                  <a:srgbClr val="20262C"/>
                </a:solidFill>
                <a:latin typeface="Arial"/>
                <a:ea typeface="Arial"/>
                <a:cs typeface="Arial"/>
                <a:sym typeface="Arial"/>
              </a:rPr>
              <a:t>el orden cambia. Cable A-B: 3-6-1-4-5-2-7-8.</a:t>
            </a:r>
            <a:endParaRPr/>
          </a:p>
          <a:p>
            <a:pPr indent="0" lvl="0" marL="0" marR="0" rtl="0" algn="l">
              <a:lnSpc>
                <a:spcPct val="100000"/>
              </a:lnSpc>
              <a:spcBef>
                <a:spcPts val="300"/>
              </a:spcBef>
              <a:spcAft>
                <a:spcPts val="300"/>
              </a:spcAft>
              <a:buClr>
                <a:srgbClr val="000000"/>
              </a:buClr>
              <a:buSzPts val="1200"/>
              <a:buFont typeface="Arial"/>
              <a:buNone/>
            </a:pPr>
            <a:r>
              <a:rPr b="1" i="0" lang="en-US" sz="1200" u="none" cap="none" strike="noStrike">
                <a:solidFill>
                  <a:srgbClr val="12496F"/>
                </a:solidFill>
                <a:latin typeface="Arial"/>
                <a:ea typeface="Arial"/>
                <a:cs typeface="Arial"/>
                <a:sym typeface="Arial"/>
              </a:rPr>
              <a:t>Par separado: </a:t>
            </a:r>
            <a:r>
              <a:rPr b="0" i="0" lang="en-US" sz="1200" u="none" cap="none" strike="noStrike">
                <a:solidFill>
                  <a:srgbClr val="20262C"/>
                </a:solidFill>
                <a:latin typeface="Arial"/>
                <a:ea typeface="Arial"/>
                <a:cs typeface="Arial"/>
                <a:sym typeface="Arial"/>
              </a:rPr>
              <a:t>pasa la prueba de LED; solo lo detecta un certificador (diafonía).</a:t>
            </a:r>
            <a:endParaRPr/>
          </a:p>
        </p:txBody>
      </p:sp>
      <p:pic>
        <p:nvPicPr>
          <p:cNvPr id="1139" name="Google Shape;1139;h3173d30833cc6355_30_203"/>
          <p:cNvPicPr preferRelativeResize="0"/>
          <p:nvPr/>
        </p:nvPicPr>
        <p:blipFill>
          <a:blip r:embed="rId3">
            <a:alphaModFix/>
          </a:blip>
          <a:stretch>
            <a:fillRect/>
          </a:stretch>
        </p:blipFill>
        <p:spPr>
          <a:xfrm>
            <a:off x="465825" y="4251005"/>
            <a:ext cx="2377501" cy="1190619"/>
          </a:xfrm>
          <a:prstGeom prst="rect">
            <a:avLst/>
          </a:prstGeom>
          <a:noFill/>
          <a:ln>
            <a:noFill/>
          </a:ln>
        </p:spPr>
      </p:pic>
      <p:pic>
        <p:nvPicPr>
          <p:cNvPr id="1140" name="Google Shape;1140;h3173d30833cc6355_30_203"/>
          <p:cNvPicPr preferRelativeResize="0"/>
          <p:nvPr/>
        </p:nvPicPr>
        <p:blipFill>
          <a:blip r:embed="rId4">
            <a:alphaModFix/>
          </a:blip>
          <a:stretch>
            <a:fillRect/>
          </a:stretch>
        </p:blipFill>
        <p:spPr>
          <a:xfrm>
            <a:off x="2920214" y="4251949"/>
            <a:ext cx="2373712" cy="11887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3782DB"/>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
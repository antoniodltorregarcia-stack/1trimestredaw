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249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11556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Aptos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914400" y="1234440"/>
            <a:ext cx="103327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800" b="1">
                <a:solidFill>
                  <a:srgbClr val="12496F"/>
                </a:solidFill>
                <a:latin typeface="Aptos"/>
              </a:defRPr>
            </a:pPr>
            <a:r>
              <a:t>Componentes de un Sistema Informático.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300" b="1">
                <a:solidFill>
                  <a:srgbClr val="2070B5"/>
                </a:solidFill>
                <a:latin typeface="Aptos"/>
              </a:defRPr>
            </a:pPr>
            <a:r>
              <a:t>RA1 · Redes (1/4) · Tipos, medios y topologías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971800"/>
            <a:ext cx="1014984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300" b="0">
                <a:solidFill>
                  <a:srgbClr val="20262C"/>
                </a:solidFill>
                <a:latin typeface="Aptos"/>
              </a:defRPr>
            </a:pPr>
            <a:r>
              <a:t>¿Cómo se organizan los dispositivos para comunicarse y compartir recursos?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4800600"/>
            <a:ext cx="101498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0">
                <a:solidFill>
                  <a:srgbClr val="656E76"/>
                </a:solidFill>
                <a:latin typeface="Aptos"/>
              </a:defRPr>
            </a:pPr>
            <a:r>
              <a:t>Alcance · medios · topologías · criterios de elección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249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11556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Aptos"/>
              </a:defRPr>
            </a:pPr>
            <a:r>
              <a:t>1 · ¿Qué es una red informática?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04672"/>
            <a:ext cx="1088136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300" b="0">
                <a:solidFill>
                  <a:srgbClr val="12496F"/>
                </a:solidFill>
                <a:latin typeface="Aptos"/>
              </a:defRPr>
            </a:pPr>
            <a:r>
              <a:t>Conjunto de dispositivos conectados para compartir información, recursos y servicios.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080760"/>
            <a:ext cx="10927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0">
                <a:solidFill>
                  <a:srgbClr val="656E76"/>
                </a:solidFill>
                <a:latin typeface="Aptos"/>
              </a:defRPr>
            </a:pPr>
            <a:r>
              <a:t>Una red local puede funcionar aunque no tenga conexión a Internet.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7784" y="1847088"/>
            <a:ext cx="3541775" cy="3767328"/>
          </a:xfrm>
          <a:prstGeom prst="roundRect">
            <a:avLst/>
          </a:prstGeom>
          <a:solidFill>
            <a:srgbClr val="E7F1F9"/>
          </a:solidFill>
          <a:ln>
            <a:solidFill>
              <a:srgbClr val="C5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1956816"/>
            <a:ext cx="3267456" cy="5212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12496F"/>
                </a:solidFill>
                <a:latin typeface="Aptos"/>
              </a:defRPr>
            </a:pPr>
            <a:r>
              <a:t>NODOS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587752"/>
            <a:ext cx="3102864" cy="2898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0">
                <a:solidFill>
                  <a:srgbClr val="20262C"/>
                </a:solidFill>
                <a:latin typeface="Aptos"/>
              </a:defRPr>
            </a:pPr>
            <a:r>
              <a:t>Ordenadores, servidores, móviles, impresoras y otros dispositivos.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9016" y="1847088"/>
            <a:ext cx="3541775" cy="3767328"/>
          </a:xfrm>
          <a:prstGeom prst="roundRect">
            <a:avLst/>
          </a:prstGeom>
          <a:solidFill>
            <a:srgbClr val="FFF1D6"/>
          </a:solidFill>
          <a:ln>
            <a:solidFill>
              <a:srgbClr val="C5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56176" y="1956816"/>
            <a:ext cx="3267456" cy="5212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12496F"/>
                </a:solidFill>
                <a:latin typeface="Aptos"/>
              </a:defRPr>
            </a:pPr>
            <a:r>
              <a:t>ENLACES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8472" y="2587752"/>
            <a:ext cx="3102864" cy="2898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0">
                <a:solidFill>
                  <a:srgbClr val="20262C"/>
                </a:solidFill>
                <a:latin typeface="Aptos"/>
              </a:defRPr>
            </a:pPr>
            <a:r>
              <a:t>Medios que transportan datos: cobre, fibra óptica o radio.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80247" y="1847088"/>
            <a:ext cx="3541775" cy="3767328"/>
          </a:xfrm>
          <a:prstGeom prst="roundRect">
            <a:avLst/>
          </a:prstGeom>
          <a:solidFill>
            <a:srgbClr val="FBE5E7"/>
          </a:solidFill>
          <a:ln>
            <a:solidFill>
              <a:srgbClr val="C5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17408" y="1956816"/>
            <a:ext cx="3267456" cy="5212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12496F"/>
                </a:solidFill>
                <a:latin typeface="Aptos"/>
              </a:defRPr>
            </a:pPr>
            <a:r>
              <a:t>SERVICIOS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99704" y="2587752"/>
            <a:ext cx="3102864" cy="2898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0">
                <a:solidFill>
                  <a:srgbClr val="20262C"/>
                </a:solidFill>
                <a:latin typeface="Aptos"/>
              </a:defRPr>
            </a:pPr>
            <a:r>
              <a:t>Archivos compartidos, impresión, acceso a aplicaciones y comunicación.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249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11556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Aptos"/>
              </a:defRPr>
            </a:pPr>
            <a:r>
              <a:t>2 · Tipos de redes según su alcance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04672"/>
            <a:ext cx="1088136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300" b="0">
                <a:solidFill>
                  <a:srgbClr val="12496F"/>
                </a:solidFill>
                <a:latin typeface="Aptos"/>
              </a:defRPr>
            </a:pPr>
            <a:r>
              <a:t>La clasificación responde a qué espacio geográfico o personal abarca la red.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080760"/>
            <a:ext cx="10927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0">
                <a:solidFill>
                  <a:srgbClr val="656E76"/>
                </a:solidFill>
                <a:latin typeface="Aptos"/>
              </a:defRPr>
            </a:pPr>
            <a:r>
              <a:t>Internet es una red de redes global; Wi-Fi es una tecnología de acceso inalámbrico.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7784" y="1847088"/>
            <a:ext cx="3541775" cy="3767328"/>
          </a:xfrm>
          <a:prstGeom prst="roundRect">
            <a:avLst/>
          </a:prstGeom>
          <a:solidFill>
            <a:srgbClr val="E7F1F9"/>
          </a:solidFill>
          <a:ln>
            <a:solidFill>
              <a:srgbClr val="C5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1956816"/>
            <a:ext cx="3267456" cy="5212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12496F"/>
                </a:solidFill>
                <a:latin typeface="Aptos"/>
              </a:defRPr>
            </a:pPr>
            <a:r>
              <a:t>PAN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587752"/>
            <a:ext cx="3102864" cy="2898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0">
                <a:solidFill>
                  <a:srgbClr val="20262C"/>
                </a:solidFill>
                <a:latin typeface="Aptos"/>
              </a:defRPr>
            </a:pPr>
            <a:r>
              <a:t>Red de área personal.</a:t>
            </a:r>
          </a:p>
          <a:p>
            <a:pPr algn="l">
              <a:defRPr sz="2000" b="0">
                <a:solidFill>
                  <a:srgbClr val="20262C"/>
                </a:solidFill>
                <a:latin typeface="Aptos"/>
              </a:defRPr>
            </a:pPr>
          </a:p>
          <a:p>
            <a:pPr algn="l">
              <a:defRPr sz="2000" b="0">
                <a:solidFill>
                  <a:srgbClr val="20262C"/>
                </a:solidFill>
                <a:latin typeface="Aptos"/>
              </a:defRPr>
            </a:pPr>
            <a:r>
              <a:t>Ej.: móvil y auriculares Bluetooth.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9016" y="1847088"/>
            <a:ext cx="3541775" cy="3767328"/>
          </a:xfrm>
          <a:prstGeom prst="roundRect">
            <a:avLst/>
          </a:prstGeom>
          <a:solidFill>
            <a:srgbClr val="FFF1D6"/>
          </a:solidFill>
          <a:ln>
            <a:solidFill>
              <a:srgbClr val="C5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56176" y="1956816"/>
            <a:ext cx="3267456" cy="5212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12496F"/>
                </a:solidFill>
                <a:latin typeface="Aptos"/>
              </a:defRPr>
            </a:pPr>
            <a:r>
              <a:t>LAN / WLAN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8472" y="2587752"/>
            <a:ext cx="3102864" cy="2898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0">
                <a:solidFill>
                  <a:srgbClr val="20262C"/>
                </a:solidFill>
                <a:latin typeface="Aptos"/>
              </a:defRPr>
            </a:pPr>
            <a:r>
              <a:t>Red local de vivienda, aula o centro.</a:t>
            </a:r>
          </a:p>
          <a:p>
            <a:pPr algn="l">
              <a:defRPr sz="2000" b="0">
                <a:solidFill>
                  <a:srgbClr val="20262C"/>
                </a:solidFill>
                <a:latin typeface="Aptos"/>
              </a:defRPr>
            </a:pPr>
          </a:p>
          <a:p>
            <a:pPr algn="l">
              <a:defRPr sz="2000" b="0">
                <a:solidFill>
                  <a:srgbClr val="20262C"/>
                </a:solidFill>
                <a:latin typeface="Aptos"/>
              </a:defRPr>
            </a:pPr>
            <a:r>
              <a:t>WLAN: LAN inalámbrica.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80247" y="1847088"/>
            <a:ext cx="3541775" cy="3767328"/>
          </a:xfrm>
          <a:prstGeom prst="roundRect">
            <a:avLst/>
          </a:prstGeom>
          <a:solidFill>
            <a:srgbClr val="FBE5E7"/>
          </a:solidFill>
          <a:ln>
            <a:solidFill>
              <a:srgbClr val="C5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17408" y="1956816"/>
            <a:ext cx="3267456" cy="5212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12496F"/>
                </a:solidFill>
                <a:latin typeface="Aptos"/>
              </a:defRPr>
            </a:pPr>
            <a:r>
              <a:t>WAN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99704" y="2587752"/>
            <a:ext cx="3102864" cy="2898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0">
                <a:solidFill>
                  <a:srgbClr val="20262C"/>
                </a:solidFill>
                <a:latin typeface="Aptos"/>
              </a:defRPr>
            </a:pPr>
            <a:r>
              <a:t>Conecta redes a grandes distancias.</a:t>
            </a:r>
          </a:p>
          <a:p>
            <a:pPr algn="l">
              <a:defRPr sz="2000" b="0">
                <a:solidFill>
                  <a:srgbClr val="20262C"/>
                </a:solidFill>
                <a:latin typeface="Aptos"/>
              </a:defRPr>
            </a:pPr>
          </a:p>
          <a:p>
            <a:pPr algn="l">
              <a:defRPr sz="2000" b="0">
                <a:solidFill>
                  <a:srgbClr val="20262C"/>
                </a:solidFill>
                <a:latin typeface="Aptos"/>
              </a:defRPr>
            </a:pPr>
            <a:r>
              <a:t>Ej.: sedes en ciudades distintas.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249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11556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Aptos"/>
              </a:defRPr>
            </a:pPr>
            <a:r>
              <a:t>3 · ¿Qué elementos forman una red?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04672"/>
            <a:ext cx="1088136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300" b="0">
                <a:solidFill>
                  <a:srgbClr val="12496F"/>
                </a:solidFill>
                <a:latin typeface="Aptos"/>
              </a:defRPr>
            </a:pPr>
            <a:r>
              <a:t>Identificamos tres familias de componentes.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080760"/>
            <a:ext cx="10927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0">
                <a:solidFill>
                  <a:srgbClr val="656E76"/>
                </a:solidFill>
                <a:latin typeface="Aptos"/>
              </a:defRPr>
            </a:pPr>
            <a:r>
              <a:t>Los dispositivos de interconexión se desarrollarán en la presentación 2/4.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" y="1856231"/>
            <a:ext cx="3639312" cy="3767328"/>
          </a:xfrm>
          <a:prstGeom prst="roundRect">
            <a:avLst/>
          </a:prstGeom>
          <a:solidFill>
            <a:srgbClr val="E7F1F9"/>
          </a:solidFill>
          <a:ln>
            <a:solidFill>
              <a:srgbClr val="BECE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993392"/>
            <a:ext cx="33832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12496F"/>
                </a:solidFill>
                <a:latin typeface="Aptos"/>
              </a:defRPr>
            </a:pPr>
            <a:r>
              <a:t>DISPOSITIVOS FINALES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697480"/>
            <a:ext cx="3200400" cy="2624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0">
                <a:solidFill>
                  <a:srgbClr val="20262C"/>
                </a:solidFill>
                <a:latin typeface="Aptos"/>
              </a:defRPr>
            </a:pPr>
            <a:r>
              <a:t>Son el origen o destino de la información.</a:t>
            </a:r>
            <a:br/>
            <a:br/>
            <a:r>
              <a:t>Ejemplos: PC, móvil, impresora y servidor.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5112" y="1856231"/>
            <a:ext cx="3639312" cy="3767328"/>
          </a:xfrm>
          <a:prstGeom prst="roundRect">
            <a:avLst/>
          </a:prstGeom>
          <a:solidFill>
            <a:srgbClr val="FFF1D6"/>
          </a:solidFill>
          <a:ln>
            <a:solidFill>
              <a:srgbClr val="BECE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53128" y="1993392"/>
            <a:ext cx="33832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12496F"/>
                </a:solidFill>
                <a:latin typeface="Aptos"/>
              </a:defRPr>
            </a:pPr>
            <a:r>
              <a:t>INTERCONEXIÓN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4568" y="2697480"/>
            <a:ext cx="3200400" cy="2624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0">
                <a:solidFill>
                  <a:srgbClr val="20262C"/>
                </a:solidFill>
                <a:latin typeface="Aptos"/>
              </a:defRPr>
            </a:pPr>
            <a:r>
              <a:t>Switch: conecta equipos de una LAN.</a:t>
            </a:r>
            <a:br/>
            <a:br/>
            <a:r>
              <a:t>Router: comunica redes.</a:t>
            </a:r>
            <a:br/>
            <a:br/>
            <a:r>
              <a:t>AP: da acceso inalámbrico a la LAN.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11312" y="1856231"/>
            <a:ext cx="3639312" cy="3767328"/>
          </a:xfrm>
          <a:prstGeom prst="roundRect">
            <a:avLst/>
          </a:prstGeom>
          <a:solidFill>
            <a:srgbClr val="E5F3E9"/>
          </a:solidFill>
          <a:ln>
            <a:solidFill>
              <a:srgbClr val="BECE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39328" y="1993392"/>
            <a:ext cx="33832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12496F"/>
                </a:solidFill>
                <a:latin typeface="Aptos"/>
              </a:defRPr>
            </a:pPr>
            <a:r>
              <a:t>MEDIOS DE TRANSMISIÓN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30768" y="2697480"/>
            <a:ext cx="3200400" cy="2624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0">
                <a:solidFill>
                  <a:srgbClr val="20262C"/>
                </a:solidFill>
                <a:latin typeface="Aptos"/>
              </a:defRPr>
            </a:pPr>
            <a:r>
              <a:t>Transportan los datos entre dispositivos.</a:t>
            </a:r>
            <a:br/>
            <a:br/>
            <a:r>
              <a:t>Cobre y fibra: guiados.</a:t>
            </a:r>
            <a:br/>
            <a:br/>
            <a:r>
              <a:t>Wi-Fi y Bluetooth: inalámbricos.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249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11556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Aptos"/>
              </a:defRPr>
            </a:pPr>
            <a:r>
              <a:t>4 · Medios guiados: cobre y fibra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04672"/>
            <a:ext cx="1088136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300" b="0">
                <a:solidFill>
                  <a:srgbClr val="12496F"/>
                </a:solidFill>
                <a:latin typeface="Aptos"/>
              </a:defRPr>
            </a:pPr>
            <a:r>
              <a:t>La información se transmite mediante señales eléctricas o luz.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080760"/>
            <a:ext cx="10927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0">
                <a:solidFill>
                  <a:srgbClr val="656E76"/>
                </a:solidFill>
                <a:latin typeface="Aptos"/>
              </a:defRPr>
            </a:pPr>
            <a:r>
              <a:t>En muchas instalaciones Ethernet de par trenzado se diseña un canal de hasta 100 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7784" y="1847088"/>
            <a:ext cx="5422392" cy="3767328"/>
          </a:xfrm>
          <a:prstGeom prst="roundRect">
            <a:avLst/>
          </a:prstGeom>
          <a:solidFill>
            <a:srgbClr val="E7F1F9"/>
          </a:solidFill>
          <a:ln>
            <a:solidFill>
              <a:srgbClr val="C5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1956816"/>
            <a:ext cx="5148072" cy="5212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12496F"/>
                </a:solidFill>
                <a:latin typeface="Aptos"/>
              </a:defRPr>
            </a:pPr>
            <a:r>
              <a:t>COBRE: PAR TRENZADO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587752"/>
            <a:ext cx="4983479" cy="2898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0">
                <a:solidFill>
                  <a:srgbClr val="20262C"/>
                </a:solidFill>
                <a:latin typeface="Aptos"/>
              </a:defRPr>
            </a:pPr>
            <a:r>
              <a:t>Señales eléctricas. Cable UTP o apantallado.</a:t>
            </a:r>
          </a:p>
          <a:p>
            <a:pPr algn="l">
              <a:defRPr sz="2000" b="0">
                <a:solidFill>
                  <a:srgbClr val="20262C"/>
                </a:solidFill>
                <a:latin typeface="Aptos"/>
              </a:defRPr>
            </a:pPr>
          </a:p>
          <a:p>
            <a:pPr algn="l">
              <a:defRPr sz="2000" b="0">
                <a:solidFill>
                  <a:srgbClr val="20262C"/>
                </a:solidFill>
                <a:latin typeface="Aptos"/>
              </a:defRPr>
            </a:pPr>
            <a:r>
              <a:t>Uso habitual: Ethernet en edificios.</a:t>
            </a:r>
          </a:p>
          <a:p>
            <a:pPr algn="l">
              <a:defRPr sz="2000" b="0">
                <a:solidFill>
                  <a:srgbClr val="20262C"/>
                </a:solidFill>
                <a:latin typeface="Aptos"/>
              </a:defRPr>
            </a:pPr>
          </a:p>
          <a:p>
            <a:pPr algn="l">
              <a:defRPr sz="2000" b="0">
                <a:solidFill>
                  <a:srgbClr val="20262C"/>
                </a:solidFill>
                <a:latin typeface="Aptos"/>
              </a:defRPr>
            </a:pPr>
            <a:r>
              <a:t>Económico y sencillo; distancia e interferencias dependen del estándar y la instalación.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1847088"/>
            <a:ext cx="5422392" cy="3767328"/>
          </a:xfrm>
          <a:prstGeom prst="roundRect">
            <a:avLst/>
          </a:prstGeom>
          <a:solidFill>
            <a:srgbClr val="FFF1D6"/>
          </a:solidFill>
          <a:ln>
            <a:solidFill>
              <a:srgbClr val="C5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36792" y="1956816"/>
            <a:ext cx="5148072" cy="5212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12496F"/>
                </a:solidFill>
                <a:latin typeface="Aptos"/>
              </a:defRPr>
            </a:pPr>
            <a:r>
              <a:t>FIBRA ÓPTICA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9088" y="2587752"/>
            <a:ext cx="4983479" cy="2898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0">
                <a:solidFill>
                  <a:srgbClr val="20262C"/>
                </a:solidFill>
                <a:latin typeface="Aptos"/>
              </a:defRPr>
            </a:pPr>
            <a:r>
              <a:t>Pulsos de luz en filamentos ópticos.</a:t>
            </a:r>
          </a:p>
          <a:p>
            <a:pPr algn="l">
              <a:defRPr sz="2000" b="0">
                <a:solidFill>
                  <a:srgbClr val="20262C"/>
                </a:solidFill>
                <a:latin typeface="Aptos"/>
              </a:defRPr>
            </a:pPr>
          </a:p>
          <a:p>
            <a:pPr algn="l">
              <a:defRPr sz="2000" b="0">
                <a:solidFill>
                  <a:srgbClr val="20262C"/>
                </a:solidFill>
                <a:latin typeface="Aptos"/>
              </a:defRPr>
            </a:pPr>
            <a:r>
              <a:t>Gran capacidad y distancias elevadas. Inmune a interferencias electromagnéticas.</a:t>
            </a:r>
          </a:p>
          <a:p>
            <a:pPr algn="l">
              <a:defRPr sz="2000" b="0">
                <a:solidFill>
                  <a:srgbClr val="20262C"/>
                </a:solidFill>
                <a:latin typeface="Aptos"/>
              </a:defRPr>
            </a:pPr>
          </a:p>
          <a:p>
            <a:pPr algn="l">
              <a:defRPr sz="2000" b="0">
                <a:solidFill>
                  <a:srgbClr val="20262C"/>
                </a:solidFill>
                <a:latin typeface="Aptos"/>
              </a:defRPr>
            </a:pPr>
            <a:r>
              <a:t>Exige equipos y conectores ópticos.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249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11556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Aptos"/>
              </a:defRPr>
            </a:pPr>
            <a:r>
              <a:t>5 · Medios inalámbricos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04672"/>
            <a:ext cx="1088136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300" b="0">
                <a:solidFill>
                  <a:srgbClr val="12496F"/>
                </a:solidFill>
                <a:latin typeface="Aptos"/>
              </a:defRPr>
            </a:pPr>
            <a:r>
              <a:t>Transmiten información mediante ondas electromagnéticas.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080760"/>
            <a:ext cx="10927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0">
                <a:solidFill>
                  <a:srgbClr val="656E76"/>
                </a:solidFill>
                <a:latin typeface="Aptos"/>
              </a:defRPr>
            </a:pPr>
            <a:r>
              <a:t>Bluetooth no es exclusivamente punto a punto: también admite otras modalidades.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7784" y="1847088"/>
            <a:ext cx="3541775" cy="3767328"/>
          </a:xfrm>
          <a:prstGeom prst="roundRect">
            <a:avLst/>
          </a:prstGeom>
          <a:solidFill>
            <a:srgbClr val="E7F1F9"/>
          </a:solidFill>
          <a:ln>
            <a:solidFill>
              <a:srgbClr val="C5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1956816"/>
            <a:ext cx="3267456" cy="5212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12496F"/>
                </a:solidFill>
                <a:latin typeface="Aptos"/>
              </a:defRPr>
            </a:pPr>
            <a:r>
              <a:t>WI-FI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587752"/>
            <a:ext cx="3102864" cy="2898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0">
                <a:solidFill>
                  <a:srgbClr val="20262C"/>
                </a:solidFill>
                <a:latin typeface="Aptos"/>
              </a:defRPr>
            </a:pPr>
            <a:r>
              <a:t>Familia IEEE 802.11.</a:t>
            </a:r>
          </a:p>
          <a:p>
            <a:pPr algn="l">
              <a:defRPr sz="2000" b="0">
                <a:solidFill>
                  <a:srgbClr val="20262C"/>
                </a:solidFill>
                <a:latin typeface="Aptos"/>
              </a:defRPr>
            </a:pPr>
          </a:p>
          <a:p>
            <a:pPr algn="l">
              <a:defRPr sz="2000" b="0">
                <a:solidFill>
                  <a:srgbClr val="20262C"/>
                </a:solidFill>
                <a:latin typeface="Aptos"/>
              </a:defRPr>
            </a:pPr>
            <a:r>
              <a:t>Conecta equipos a una WLAN; el alcance depende del entorno.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9016" y="1847088"/>
            <a:ext cx="3541775" cy="3767328"/>
          </a:xfrm>
          <a:prstGeom prst="roundRect">
            <a:avLst/>
          </a:prstGeom>
          <a:solidFill>
            <a:srgbClr val="FFF1D6"/>
          </a:solidFill>
          <a:ln>
            <a:solidFill>
              <a:srgbClr val="C5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56176" y="1956816"/>
            <a:ext cx="3267456" cy="5212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12496F"/>
                </a:solidFill>
                <a:latin typeface="Aptos"/>
              </a:defRPr>
            </a:pPr>
            <a:r>
              <a:t>BLUETOOTH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8472" y="2587752"/>
            <a:ext cx="3102864" cy="2898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0">
                <a:solidFill>
                  <a:srgbClr val="20262C"/>
                </a:solidFill>
                <a:latin typeface="Aptos"/>
              </a:defRPr>
            </a:pPr>
            <a:r>
              <a:t>Conexiones personales próximas y de bajo consumo.</a:t>
            </a:r>
          </a:p>
          <a:p>
            <a:pPr algn="l">
              <a:defRPr sz="2000" b="0">
                <a:solidFill>
                  <a:srgbClr val="20262C"/>
                </a:solidFill>
                <a:latin typeface="Aptos"/>
              </a:defRPr>
            </a:pPr>
          </a:p>
          <a:p>
            <a:pPr algn="l">
              <a:defRPr sz="2000" b="0">
                <a:solidFill>
                  <a:srgbClr val="20262C"/>
                </a:solidFill>
                <a:latin typeface="Aptos"/>
              </a:defRPr>
            </a:pPr>
            <a:r>
              <a:t>Auriculares, teclados y wearables.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80247" y="1847088"/>
            <a:ext cx="3541775" cy="3767328"/>
          </a:xfrm>
          <a:prstGeom prst="roundRect">
            <a:avLst/>
          </a:prstGeom>
          <a:solidFill>
            <a:srgbClr val="FBE5E7"/>
          </a:solidFill>
          <a:ln>
            <a:solidFill>
              <a:srgbClr val="C5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17408" y="1956816"/>
            <a:ext cx="3267456" cy="5212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12496F"/>
                </a:solidFill>
                <a:latin typeface="Aptos"/>
              </a:defRPr>
            </a:pPr>
            <a:r>
              <a:t>REDES MÓVILES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99704" y="2587752"/>
            <a:ext cx="3102864" cy="2898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0">
                <a:solidFill>
                  <a:srgbClr val="20262C"/>
                </a:solidFill>
                <a:latin typeface="Aptos"/>
              </a:defRPr>
            </a:pPr>
            <a:r>
              <a:t>4G y 5G: acceso a redes mediante infraestructura celular.</a:t>
            </a:r>
          </a:p>
          <a:p>
            <a:pPr algn="l">
              <a:defRPr sz="2000" b="0">
                <a:solidFill>
                  <a:srgbClr val="20262C"/>
                </a:solidFill>
                <a:latin typeface="Aptos"/>
              </a:defRPr>
            </a:pPr>
          </a:p>
          <a:p>
            <a:pPr algn="l">
              <a:defRPr sz="2000" b="0">
                <a:solidFill>
                  <a:srgbClr val="20262C"/>
                </a:solidFill>
                <a:latin typeface="Aptos"/>
              </a:defRPr>
            </a:pPr>
            <a:r>
              <a:t>Cobertura más amplia.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249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11556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Aptos"/>
              </a:defRPr>
            </a:pPr>
            <a:r>
              <a:t>6 · ¿Qué es la topología de una red?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04672"/>
            <a:ext cx="1088136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300" b="0">
                <a:solidFill>
                  <a:srgbClr val="12496F"/>
                </a:solidFill>
                <a:latin typeface="Aptos"/>
              </a:defRPr>
            </a:pPr>
            <a:r>
              <a:t>Describe la organización de los nodos y de sus conexiones.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080760"/>
            <a:ext cx="10927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0">
                <a:solidFill>
                  <a:srgbClr val="656E76"/>
                </a:solidFill>
                <a:latin typeface="Aptos"/>
              </a:defRPr>
            </a:pPr>
            <a:r>
              <a:t>La interpretación detallada de mapas físicos y lógicos se trabajará en Redes 4/4.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7784" y="1847088"/>
            <a:ext cx="5422392" cy="3767328"/>
          </a:xfrm>
          <a:prstGeom prst="roundRect">
            <a:avLst/>
          </a:prstGeom>
          <a:solidFill>
            <a:srgbClr val="E7F1F9"/>
          </a:solidFill>
          <a:ln>
            <a:solidFill>
              <a:srgbClr val="C5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1956816"/>
            <a:ext cx="5148072" cy="5212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12496F"/>
                </a:solidFill>
                <a:latin typeface="Aptos"/>
              </a:defRPr>
            </a:pPr>
            <a:r>
              <a:t>TOPOLOGÍA FÍSICA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587752"/>
            <a:ext cx="4983479" cy="2898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0">
                <a:solidFill>
                  <a:srgbClr val="20262C"/>
                </a:solidFill>
                <a:latin typeface="Aptos"/>
              </a:defRPr>
            </a:pPr>
            <a:r>
              <a:t>Disposición real de dispositivos, cables, puertos y enlaces.</a:t>
            </a:r>
          </a:p>
          <a:p>
            <a:pPr algn="l">
              <a:defRPr sz="2000" b="0">
                <a:solidFill>
                  <a:srgbClr val="20262C"/>
                </a:solidFill>
                <a:latin typeface="Aptos"/>
              </a:defRPr>
            </a:pPr>
          </a:p>
          <a:p>
            <a:pPr algn="l">
              <a:defRPr sz="2000" b="0">
                <a:solidFill>
                  <a:srgbClr val="20262C"/>
                </a:solidFill>
                <a:latin typeface="Aptos"/>
              </a:defRPr>
            </a:pPr>
            <a:r>
              <a:t>Pregunta: ¿qué está conectado físicamente a qué?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1847088"/>
            <a:ext cx="5422392" cy="3767328"/>
          </a:xfrm>
          <a:prstGeom prst="roundRect">
            <a:avLst/>
          </a:prstGeom>
          <a:solidFill>
            <a:srgbClr val="FFF1D6"/>
          </a:solidFill>
          <a:ln>
            <a:solidFill>
              <a:srgbClr val="C5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36792" y="1956816"/>
            <a:ext cx="5148072" cy="5212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12496F"/>
                </a:solidFill>
                <a:latin typeface="Aptos"/>
              </a:defRPr>
            </a:pPr>
            <a:r>
              <a:t>TOPOLOGÍA LÓGICA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9088" y="2587752"/>
            <a:ext cx="4983479" cy="2898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0">
                <a:solidFill>
                  <a:srgbClr val="20262C"/>
                </a:solidFill>
                <a:latin typeface="Aptos"/>
              </a:defRPr>
            </a:pPr>
            <a:r>
              <a:t>Cómo se comunican los equipos y circulan los datos.</a:t>
            </a:r>
          </a:p>
          <a:p>
            <a:pPr algn="l">
              <a:defRPr sz="2000" b="0">
                <a:solidFill>
                  <a:srgbClr val="20262C"/>
                </a:solidFill>
                <a:latin typeface="Aptos"/>
              </a:defRPr>
            </a:pPr>
          </a:p>
          <a:p>
            <a:pPr algn="l">
              <a:defRPr sz="2000" b="0">
                <a:solidFill>
                  <a:srgbClr val="20262C"/>
                </a:solidFill>
                <a:latin typeface="Aptos"/>
              </a:defRPr>
            </a:pPr>
            <a:r>
              <a:t>Puede incluir subredes, direcciones y recorridos del tráfico.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249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11556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Aptos"/>
              </a:defRPr>
            </a:pPr>
            <a:r>
              <a:t>7 · Topología punto a punto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04672"/>
            <a:ext cx="1088136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300" b="0">
                <a:solidFill>
                  <a:srgbClr val="12496F"/>
                </a:solidFill>
                <a:latin typeface="Aptos"/>
              </a:defRPr>
            </a:pPr>
            <a:r>
              <a:t>Dos nodos se comunican mediante un enlace directo.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080760"/>
            <a:ext cx="10927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0">
                <a:solidFill>
                  <a:srgbClr val="656E76"/>
                </a:solidFill>
                <a:latin typeface="Aptos"/>
              </a:defRPr>
            </a:pPr>
            <a:r>
              <a:t>Ventaja · simplicidad y pocos elementos    |    Límite · un enlace único puede fallar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1371600" y="2176272"/>
            <a:ext cx="1645920" cy="749808"/>
          </a:xfrm>
          <a:prstGeom prst="line">
            <a:avLst/>
          </a:prstGeom>
          <a:ln w="38100">
            <a:solidFill>
              <a:srgbClr val="2070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188720" y="2743200"/>
            <a:ext cx="393192" cy="393192"/>
          </a:xfrm>
          <a:prstGeom prst="ellipse">
            <a:avLst/>
          </a:prstGeom>
          <a:solidFill>
            <a:srgbClr val="1249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834640" y="1993392"/>
            <a:ext cx="393192" cy="393192"/>
          </a:xfrm>
          <a:prstGeom prst="ellipse">
            <a:avLst/>
          </a:prstGeom>
          <a:solidFill>
            <a:srgbClr val="1249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806440" y="1938528"/>
            <a:ext cx="5532120" cy="3611880"/>
          </a:xfrm>
          <a:prstGeom prst="roundRect">
            <a:avLst/>
          </a:prstGeom>
          <a:solidFill>
            <a:srgbClr val="E5F3E9"/>
          </a:solidFill>
          <a:ln>
            <a:solidFill>
              <a:srgbClr val="C5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0" y="2048256"/>
            <a:ext cx="5257800" cy="5212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12496F"/>
                </a:solidFill>
                <a:latin typeface="Aptos"/>
              </a:defRPr>
            </a:pPr>
            <a:r>
              <a:t>Ejemplo de aplicación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25896" y="2679192"/>
            <a:ext cx="5093208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0">
                <a:solidFill>
                  <a:srgbClr val="20262C"/>
                </a:solidFill>
                <a:latin typeface="Aptos"/>
              </a:defRPr>
            </a:pPr>
            <a:r>
              <a:t>Dos equipos conectados directamente o un enlace dedicado entre dos dispositivos.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249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11556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Aptos"/>
              </a:defRPr>
            </a:pPr>
            <a:r>
              <a:t>8 · Topología en bus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04672"/>
            <a:ext cx="1088136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300" b="0">
                <a:solidFill>
                  <a:srgbClr val="12496F"/>
                </a:solidFill>
                <a:latin typeface="Aptos"/>
              </a:defRPr>
            </a:pPr>
            <a:r>
              <a:t>Varios nodos comparten un mismo medio principal.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080760"/>
            <a:ext cx="10927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0">
                <a:solidFill>
                  <a:srgbClr val="656E76"/>
                </a:solidFill>
                <a:latin typeface="Aptos"/>
              </a:defRPr>
            </a:pPr>
            <a:r>
              <a:t>Ventaja · poco cableado    |    Límite · dependencia del medio común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1371600" y="2176272"/>
            <a:ext cx="1645920" cy="749808"/>
          </a:xfrm>
          <a:prstGeom prst="line">
            <a:avLst/>
          </a:prstGeom>
          <a:ln w="38100">
            <a:solidFill>
              <a:srgbClr val="2070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017520" y="2176272"/>
            <a:ext cx="1645920" cy="749808"/>
          </a:xfrm>
          <a:prstGeom prst="line">
            <a:avLst/>
          </a:prstGeom>
          <a:ln w="38100">
            <a:solidFill>
              <a:srgbClr val="2070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663440" y="2926080"/>
            <a:ext cx="0" cy="1371600"/>
          </a:xfrm>
          <a:prstGeom prst="line">
            <a:avLst/>
          </a:prstGeom>
          <a:ln w="38100">
            <a:solidFill>
              <a:srgbClr val="2070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1188720" y="2743200"/>
            <a:ext cx="393192" cy="393192"/>
          </a:xfrm>
          <a:prstGeom prst="ellipse">
            <a:avLst/>
          </a:prstGeom>
          <a:solidFill>
            <a:srgbClr val="1249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834640" y="1993392"/>
            <a:ext cx="393192" cy="393192"/>
          </a:xfrm>
          <a:prstGeom prst="ellipse">
            <a:avLst/>
          </a:prstGeom>
          <a:solidFill>
            <a:srgbClr val="1249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480560" y="2743200"/>
            <a:ext cx="393192" cy="393192"/>
          </a:xfrm>
          <a:prstGeom prst="ellipse">
            <a:avLst/>
          </a:prstGeom>
          <a:solidFill>
            <a:srgbClr val="1249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480560" y="4114800"/>
            <a:ext cx="393192" cy="393192"/>
          </a:xfrm>
          <a:prstGeom prst="ellipse">
            <a:avLst/>
          </a:prstGeom>
          <a:solidFill>
            <a:srgbClr val="1249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806440" y="1938528"/>
            <a:ext cx="5532120" cy="3611880"/>
          </a:xfrm>
          <a:prstGeom prst="roundRect">
            <a:avLst/>
          </a:prstGeom>
          <a:solidFill>
            <a:srgbClr val="E5F3E9"/>
          </a:solidFill>
          <a:ln>
            <a:solidFill>
              <a:srgbClr val="C5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0" y="2048256"/>
            <a:ext cx="5257800" cy="5212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12496F"/>
                </a:solidFill>
                <a:latin typeface="Aptos"/>
              </a:defRPr>
            </a:pPr>
            <a:r>
              <a:t>Ejemplo de aplicación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25896" y="2679192"/>
            <a:ext cx="5093208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0">
                <a:solidFill>
                  <a:srgbClr val="20262C"/>
                </a:solidFill>
                <a:latin typeface="Aptos"/>
              </a:defRPr>
            </a:pPr>
            <a:r>
              <a:t>Ethernet coaxial histórico y determinados entornos industriales.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249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11556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Aptos"/>
              </a:defRPr>
            </a:pPr>
            <a:r>
              <a:t>9 · Topología en anillo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04672"/>
            <a:ext cx="1088136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300" b="0">
                <a:solidFill>
                  <a:srgbClr val="12496F"/>
                </a:solidFill>
                <a:latin typeface="Aptos"/>
              </a:defRPr>
            </a:pPr>
            <a:r>
              <a:t>Cada nodo se enlaza con dos vecinos, formando un circuito.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080760"/>
            <a:ext cx="10927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0">
                <a:solidFill>
                  <a:srgbClr val="656E76"/>
                </a:solidFill>
                <a:latin typeface="Aptos"/>
              </a:defRPr>
            </a:pPr>
            <a:r>
              <a:t>Ventaja · circulación organizada    |    Límite · fallos si no hay redundancia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1371600" y="2176272"/>
            <a:ext cx="1645920" cy="749808"/>
          </a:xfrm>
          <a:prstGeom prst="line">
            <a:avLst/>
          </a:prstGeom>
          <a:ln w="38100">
            <a:solidFill>
              <a:srgbClr val="2070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017520" y="2176272"/>
            <a:ext cx="1645920" cy="749808"/>
          </a:xfrm>
          <a:prstGeom prst="line">
            <a:avLst/>
          </a:prstGeom>
          <a:ln w="38100">
            <a:solidFill>
              <a:srgbClr val="2070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3017520" y="2926080"/>
            <a:ext cx="1645920" cy="1280160"/>
          </a:xfrm>
          <a:prstGeom prst="line">
            <a:avLst/>
          </a:prstGeom>
          <a:ln w="38100">
            <a:solidFill>
              <a:srgbClr val="2070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 flipV="1">
            <a:off x="1371600" y="2926080"/>
            <a:ext cx="1645920" cy="1280160"/>
          </a:xfrm>
          <a:prstGeom prst="line">
            <a:avLst/>
          </a:prstGeom>
          <a:ln w="38100">
            <a:solidFill>
              <a:srgbClr val="2070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1188720" y="2743200"/>
            <a:ext cx="393192" cy="393192"/>
          </a:xfrm>
          <a:prstGeom prst="ellipse">
            <a:avLst/>
          </a:prstGeom>
          <a:solidFill>
            <a:srgbClr val="1249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834640" y="1993392"/>
            <a:ext cx="393192" cy="393192"/>
          </a:xfrm>
          <a:prstGeom prst="ellipse">
            <a:avLst/>
          </a:prstGeom>
          <a:solidFill>
            <a:srgbClr val="1249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480560" y="2743200"/>
            <a:ext cx="393192" cy="393192"/>
          </a:xfrm>
          <a:prstGeom prst="ellipse">
            <a:avLst/>
          </a:prstGeom>
          <a:solidFill>
            <a:srgbClr val="1249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834640" y="4023360"/>
            <a:ext cx="393192" cy="393192"/>
          </a:xfrm>
          <a:prstGeom prst="ellipse">
            <a:avLst/>
          </a:prstGeom>
          <a:solidFill>
            <a:srgbClr val="1249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806440" y="1938528"/>
            <a:ext cx="5532120" cy="3611880"/>
          </a:xfrm>
          <a:prstGeom prst="roundRect">
            <a:avLst/>
          </a:prstGeom>
          <a:solidFill>
            <a:srgbClr val="E5F3E9"/>
          </a:solidFill>
          <a:ln>
            <a:solidFill>
              <a:srgbClr val="C5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0" y="2048256"/>
            <a:ext cx="5257800" cy="5212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12496F"/>
                </a:solidFill>
                <a:latin typeface="Aptos"/>
              </a:defRPr>
            </a:pPr>
            <a:r>
              <a:t>Ejemplo de aplicación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25896" y="2679192"/>
            <a:ext cx="5093208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0">
                <a:solidFill>
                  <a:srgbClr val="20262C"/>
                </a:solidFill>
                <a:latin typeface="Aptos"/>
              </a:defRPr>
            </a:pPr>
            <a:r>
              <a:t>Algunas redes industriales y de transporte; puede existir doble anillo.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249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11556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Aptos"/>
              </a:defRPr>
            </a:pPr>
            <a:r>
              <a:t>10 · Topología en estrella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04672"/>
            <a:ext cx="1088136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300" b="0">
                <a:solidFill>
                  <a:srgbClr val="12496F"/>
                </a:solidFill>
                <a:latin typeface="Aptos"/>
              </a:defRPr>
            </a:pPr>
            <a:r>
              <a:t>Los dispositivos se conectan a un equipo central.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080760"/>
            <a:ext cx="10927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0">
                <a:solidFill>
                  <a:srgbClr val="656E76"/>
                </a:solidFill>
                <a:latin typeface="Aptos"/>
              </a:defRPr>
            </a:pPr>
            <a:r>
              <a:t>Ventaja · fallos fáciles de aislar    |    Límite · dependencia del centro</a:t>
            </a:r>
          </a:p>
        </p:txBody>
      </p:sp>
      <p:cxnSp>
        <p:nvCxnSpPr>
          <p:cNvPr id="6" name="Connector 5"/>
          <p:cNvCxnSpPr/>
          <p:nvPr/>
        </p:nvCxnSpPr>
        <p:spPr>
          <a:xfrm flipH="1" flipV="1">
            <a:off x="1371600" y="2926080"/>
            <a:ext cx="1645920" cy="320040"/>
          </a:xfrm>
          <a:prstGeom prst="line">
            <a:avLst/>
          </a:prstGeom>
          <a:ln w="38100">
            <a:solidFill>
              <a:srgbClr val="2070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3017520" y="2176272"/>
            <a:ext cx="0" cy="1069848"/>
          </a:xfrm>
          <a:prstGeom prst="line">
            <a:avLst/>
          </a:prstGeom>
          <a:ln w="38100">
            <a:solidFill>
              <a:srgbClr val="2070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3017520" y="2926080"/>
            <a:ext cx="1645920" cy="320040"/>
          </a:xfrm>
          <a:prstGeom prst="line">
            <a:avLst/>
          </a:prstGeom>
          <a:ln w="38100">
            <a:solidFill>
              <a:srgbClr val="2070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017520" y="3246120"/>
            <a:ext cx="0" cy="960120"/>
          </a:xfrm>
          <a:prstGeom prst="line">
            <a:avLst/>
          </a:prstGeom>
          <a:ln w="38100">
            <a:solidFill>
              <a:srgbClr val="2070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1371600" y="3246120"/>
            <a:ext cx="1645920" cy="1051560"/>
          </a:xfrm>
          <a:prstGeom prst="line">
            <a:avLst/>
          </a:prstGeom>
          <a:ln w="38100">
            <a:solidFill>
              <a:srgbClr val="2070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017520" y="3246120"/>
            <a:ext cx="1645920" cy="1051560"/>
          </a:xfrm>
          <a:prstGeom prst="line">
            <a:avLst/>
          </a:prstGeom>
          <a:ln w="38100">
            <a:solidFill>
              <a:srgbClr val="2070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2834640" y="3063240"/>
            <a:ext cx="393192" cy="393192"/>
          </a:xfrm>
          <a:prstGeom prst="ellipse">
            <a:avLst/>
          </a:prstGeom>
          <a:solidFill>
            <a:srgbClr val="1249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88720" y="2743200"/>
            <a:ext cx="393192" cy="393192"/>
          </a:xfrm>
          <a:prstGeom prst="ellipse">
            <a:avLst/>
          </a:prstGeom>
          <a:solidFill>
            <a:srgbClr val="1249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834640" y="1993392"/>
            <a:ext cx="393192" cy="393192"/>
          </a:xfrm>
          <a:prstGeom prst="ellipse">
            <a:avLst/>
          </a:prstGeom>
          <a:solidFill>
            <a:srgbClr val="1249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80560" y="2743200"/>
            <a:ext cx="393192" cy="393192"/>
          </a:xfrm>
          <a:prstGeom prst="ellipse">
            <a:avLst/>
          </a:prstGeom>
          <a:solidFill>
            <a:srgbClr val="1249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834640" y="4023360"/>
            <a:ext cx="393192" cy="393192"/>
          </a:xfrm>
          <a:prstGeom prst="ellipse">
            <a:avLst/>
          </a:prstGeom>
          <a:solidFill>
            <a:srgbClr val="1249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88720" y="4114800"/>
            <a:ext cx="393192" cy="393192"/>
          </a:xfrm>
          <a:prstGeom prst="ellipse">
            <a:avLst/>
          </a:prstGeom>
          <a:solidFill>
            <a:srgbClr val="1249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480560" y="4114800"/>
            <a:ext cx="393192" cy="393192"/>
          </a:xfrm>
          <a:prstGeom prst="ellipse">
            <a:avLst/>
          </a:prstGeom>
          <a:solidFill>
            <a:srgbClr val="1249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806440" y="1938528"/>
            <a:ext cx="5532120" cy="3611880"/>
          </a:xfrm>
          <a:prstGeom prst="roundRect">
            <a:avLst/>
          </a:prstGeom>
          <a:solidFill>
            <a:srgbClr val="E5F3E9"/>
          </a:solidFill>
          <a:ln>
            <a:solidFill>
              <a:srgbClr val="C5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0" y="2048256"/>
            <a:ext cx="5257800" cy="5212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12496F"/>
                </a:solidFill>
                <a:latin typeface="Aptos"/>
              </a:defRPr>
            </a:pPr>
            <a:r>
              <a:t>Ejemplo de aplicación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25896" y="2679192"/>
            <a:ext cx="5093208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0">
                <a:solidFill>
                  <a:srgbClr val="20262C"/>
                </a:solidFill>
                <a:latin typeface="Aptos"/>
              </a:defRPr>
            </a:pPr>
            <a:r>
              <a:t>Red Ethernet del aula: varios PC conectados a un switch central.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249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11556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Aptos"/>
              </a:defRPr>
            </a:pPr>
            <a:r>
              <a:t>11 · Topología en árbol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04672"/>
            <a:ext cx="1088136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300" b="0">
                <a:solidFill>
                  <a:srgbClr val="12496F"/>
                </a:solidFill>
                <a:latin typeface="Aptos"/>
              </a:defRPr>
            </a:pPr>
            <a:r>
              <a:t>Varias estrellas se organizan jerárquicamente.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080760"/>
            <a:ext cx="10927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0">
                <a:solidFill>
                  <a:srgbClr val="656E76"/>
                </a:solidFill>
                <a:latin typeface="Aptos"/>
              </a:defRPr>
            </a:pPr>
            <a:r>
              <a:t>Ventaja · crecimiento por niveles    |    Límite · dependencia de enlaces superiores</a:t>
            </a:r>
          </a:p>
        </p:txBody>
      </p:sp>
      <p:cxnSp>
        <p:nvCxnSpPr>
          <p:cNvPr id="6" name="Connector 5"/>
          <p:cNvCxnSpPr/>
          <p:nvPr/>
        </p:nvCxnSpPr>
        <p:spPr>
          <a:xfrm flipH="1">
            <a:off x="1371600" y="2176272"/>
            <a:ext cx="1645920" cy="749808"/>
          </a:xfrm>
          <a:prstGeom prst="line">
            <a:avLst/>
          </a:prstGeom>
          <a:ln w="38100">
            <a:solidFill>
              <a:srgbClr val="2070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017520" y="2176272"/>
            <a:ext cx="1645920" cy="749808"/>
          </a:xfrm>
          <a:prstGeom prst="line">
            <a:avLst/>
          </a:prstGeom>
          <a:ln w="38100">
            <a:solidFill>
              <a:srgbClr val="2070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017520" y="2176272"/>
            <a:ext cx="0" cy="2029968"/>
          </a:xfrm>
          <a:prstGeom prst="line">
            <a:avLst/>
          </a:prstGeom>
          <a:ln w="38100">
            <a:solidFill>
              <a:srgbClr val="2070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1371600" y="4206240"/>
            <a:ext cx="1645920" cy="91440"/>
          </a:xfrm>
          <a:prstGeom prst="line">
            <a:avLst/>
          </a:prstGeom>
          <a:ln w="38100">
            <a:solidFill>
              <a:srgbClr val="2070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017520" y="4206240"/>
            <a:ext cx="1645920" cy="91440"/>
          </a:xfrm>
          <a:prstGeom prst="line">
            <a:avLst/>
          </a:prstGeom>
          <a:ln w="38100">
            <a:solidFill>
              <a:srgbClr val="2070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1188720" y="2743200"/>
            <a:ext cx="393192" cy="393192"/>
          </a:xfrm>
          <a:prstGeom prst="ellipse">
            <a:avLst/>
          </a:prstGeom>
          <a:solidFill>
            <a:srgbClr val="1249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834640" y="1993392"/>
            <a:ext cx="393192" cy="393192"/>
          </a:xfrm>
          <a:prstGeom prst="ellipse">
            <a:avLst/>
          </a:prstGeom>
          <a:solidFill>
            <a:srgbClr val="1249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480560" y="2743200"/>
            <a:ext cx="393192" cy="393192"/>
          </a:xfrm>
          <a:prstGeom prst="ellipse">
            <a:avLst/>
          </a:prstGeom>
          <a:solidFill>
            <a:srgbClr val="1249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834640" y="4023360"/>
            <a:ext cx="393192" cy="393192"/>
          </a:xfrm>
          <a:prstGeom prst="ellipse">
            <a:avLst/>
          </a:prstGeom>
          <a:solidFill>
            <a:srgbClr val="1249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88720" y="4114800"/>
            <a:ext cx="393192" cy="393192"/>
          </a:xfrm>
          <a:prstGeom prst="ellipse">
            <a:avLst/>
          </a:prstGeom>
          <a:solidFill>
            <a:srgbClr val="1249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80560" y="4114800"/>
            <a:ext cx="393192" cy="393192"/>
          </a:xfrm>
          <a:prstGeom prst="ellipse">
            <a:avLst/>
          </a:prstGeom>
          <a:solidFill>
            <a:srgbClr val="1249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806440" y="1938528"/>
            <a:ext cx="5532120" cy="3611880"/>
          </a:xfrm>
          <a:prstGeom prst="roundRect">
            <a:avLst/>
          </a:prstGeom>
          <a:solidFill>
            <a:srgbClr val="E5F3E9"/>
          </a:solidFill>
          <a:ln>
            <a:solidFill>
              <a:srgbClr val="C5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0" y="2048256"/>
            <a:ext cx="5257800" cy="5212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12496F"/>
                </a:solidFill>
                <a:latin typeface="Aptos"/>
              </a:defRPr>
            </a:pPr>
            <a:r>
              <a:t>Ejemplo de aplicación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25896" y="2679192"/>
            <a:ext cx="5093208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0">
                <a:solidFill>
                  <a:srgbClr val="20262C"/>
                </a:solidFill>
                <a:latin typeface="Aptos"/>
              </a:defRPr>
            </a:pPr>
            <a:r>
              <a:t>Red de un centro educativo con switches de aula, planta y distribución.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249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11556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Aptos"/>
              </a:defRPr>
            </a:pPr>
            <a:r>
              <a:t>12 · Topología en malla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04672"/>
            <a:ext cx="1088136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300" b="0">
                <a:solidFill>
                  <a:srgbClr val="12496F"/>
                </a:solidFill>
                <a:latin typeface="Aptos"/>
              </a:defRPr>
            </a:pPr>
            <a:r>
              <a:t>Existen múltiples enlaces y caminos entre nodos.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080760"/>
            <a:ext cx="10927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0">
                <a:solidFill>
                  <a:srgbClr val="656E76"/>
                </a:solidFill>
                <a:latin typeface="Aptos"/>
              </a:defRPr>
            </a:pPr>
            <a:r>
              <a:t>Ventaja · rutas alternativas    |    Límite · más enlaces y complejidad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1371600" y="2176272"/>
            <a:ext cx="1645920" cy="749808"/>
          </a:xfrm>
          <a:prstGeom prst="line">
            <a:avLst/>
          </a:prstGeom>
          <a:ln w="38100">
            <a:solidFill>
              <a:srgbClr val="2070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017520" y="2176272"/>
            <a:ext cx="1645920" cy="749808"/>
          </a:xfrm>
          <a:prstGeom prst="line">
            <a:avLst/>
          </a:prstGeom>
          <a:ln w="38100">
            <a:solidFill>
              <a:srgbClr val="2070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3017520" y="2926080"/>
            <a:ext cx="1645920" cy="1280160"/>
          </a:xfrm>
          <a:prstGeom prst="line">
            <a:avLst/>
          </a:prstGeom>
          <a:ln w="38100">
            <a:solidFill>
              <a:srgbClr val="2070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 flipV="1">
            <a:off x="1371600" y="2926080"/>
            <a:ext cx="1645920" cy="1280160"/>
          </a:xfrm>
          <a:prstGeom prst="line">
            <a:avLst/>
          </a:prstGeom>
          <a:ln w="38100">
            <a:solidFill>
              <a:srgbClr val="2070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371600" y="2926080"/>
            <a:ext cx="3291840" cy="0"/>
          </a:xfrm>
          <a:prstGeom prst="line">
            <a:avLst/>
          </a:prstGeom>
          <a:ln w="38100">
            <a:solidFill>
              <a:srgbClr val="2070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017520" y="2176272"/>
            <a:ext cx="0" cy="2029968"/>
          </a:xfrm>
          <a:prstGeom prst="line">
            <a:avLst/>
          </a:prstGeom>
          <a:ln w="38100">
            <a:solidFill>
              <a:srgbClr val="2070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1188720" y="2743200"/>
            <a:ext cx="393192" cy="393192"/>
          </a:xfrm>
          <a:prstGeom prst="ellipse">
            <a:avLst/>
          </a:prstGeom>
          <a:solidFill>
            <a:srgbClr val="1249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834640" y="1993392"/>
            <a:ext cx="393192" cy="393192"/>
          </a:xfrm>
          <a:prstGeom prst="ellipse">
            <a:avLst/>
          </a:prstGeom>
          <a:solidFill>
            <a:srgbClr val="1249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480560" y="2743200"/>
            <a:ext cx="393192" cy="393192"/>
          </a:xfrm>
          <a:prstGeom prst="ellipse">
            <a:avLst/>
          </a:prstGeom>
          <a:solidFill>
            <a:srgbClr val="1249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834640" y="4023360"/>
            <a:ext cx="393192" cy="393192"/>
          </a:xfrm>
          <a:prstGeom prst="ellipse">
            <a:avLst/>
          </a:prstGeom>
          <a:solidFill>
            <a:srgbClr val="1249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806440" y="1938528"/>
            <a:ext cx="5532120" cy="3611880"/>
          </a:xfrm>
          <a:prstGeom prst="roundRect">
            <a:avLst/>
          </a:prstGeom>
          <a:solidFill>
            <a:srgbClr val="E5F3E9"/>
          </a:solidFill>
          <a:ln>
            <a:solidFill>
              <a:srgbClr val="C5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0" y="2048256"/>
            <a:ext cx="5257800" cy="5212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12496F"/>
                </a:solidFill>
                <a:latin typeface="Aptos"/>
              </a:defRPr>
            </a:pPr>
            <a:r>
              <a:t>Ejemplo de aplicación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25896" y="2679192"/>
            <a:ext cx="5093208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0">
                <a:solidFill>
                  <a:srgbClr val="20262C"/>
                </a:solidFill>
                <a:latin typeface="Aptos"/>
              </a:defRPr>
            </a:pPr>
            <a:r>
              <a:t>Backbone de comunicaciones y sistemas donde importa la disponibilidad. Malla total o parcial.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249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11556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Aptos"/>
              </a:defRPr>
            </a:pPr>
            <a:r>
              <a:t>13 · Topología híbrida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04672"/>
            <a:ext cx="1088136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300" b="0">
                <a:solidFill>
                  <a:srgbClr val="12496F"/>
                </a:solidFill>
                <a:latin typeface="Aptos"/>
              </a:defRPr>
            </a:pPr>
            <a:r>
              <a:t>Combina estructuras diferentes según las necesidades.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080760"/>
            <a:ext cx="10927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0">
                <a:solidFill>
                  <a:srgbClr val="656E76"/>
                </a:solidFill>
                <a:latin typeface="Aptos"/>
              </a:defRPr>
            </a:pPr>
            <a:r>
              <a:t>Ventaja · flexibilidad    |    Límite · planificación más exigente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1371600" y="2176272"/>
            <a:ext cx="1645920" cy="749808"/>
          </a:xfrm>
          <a:prstGeom prst="line">
            <a:avLst/>
          </a:prstGeom>
          <a:ln w="38100">
            <a:solidFill>
              <a:srgbClr val="2070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017520" y="2176272"/>
            <a:ext cx="1645920" cy="749808"/>
          </a:xfrm>
          <a:prstGeom prst="line">
            <a:avLst/>
          </a:prstGeom>
          <a:ln w="38100">
            <a:solidFill>
              <a:srgbClr val="2070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017520" y="2176272"/>
            <a:ext cx="0" cy="2029968"/>
          </a:xfrm>
          <a:prstGeom prst="line">
            <a:avLst/>
          </a:prstGeom>
          <a:ln w="38100">
            <a:solidFill>
              <a:srgbClr val="2070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1371600" y="4206240"/>
            <a:ext cx="1645920" cy="91440"/>
          </a:xfrm>
          <a:prstGeom prst="line">
            <a:avLst/>
          </a:prstGeom>
          <a:ln w="38100">
            <a:solidFill>
              <a:srgbClr val="2070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371600" y="4297680"/>
            <a:ext cx="3291840" cy="0"/>
          </a:xfrm>
          <a:prstGeom prst="line">
            <a:avLst/>
          </a:prstGeom>
          <a:ln w="38100">
            <a:solidFill>
              <a:srgbClr val="2070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017520" y="4206240"/>
            <a:ext cx="1645920" cy="91440"/>
          </a:xfrm>
          <a:prstGeom prst="line">
            <a:avLst/>
          </a:prstGeom>
          <a:ln w="38100">
            <a:solidFill>
              <a:srgbClr val="2070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1188720" y="2743200"/>
            <a:ext cx="393192" cy="393192"/>
          </a:xfrm>
          <a:prstGeom prst="ellipse">
            <a:avLst/>
          </a:prstGeom>
          <a:solidFill>
            <a:srgbClr val="1249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834640" y="1993392"/>
            <a:ext cx="393192" cy="393192"/>
          </a:xfrm>
          <a:prstGeom prst="ellipse">
            <a:avLst/>
          </a:prstGeom>
          <a:solidFill>
            <a:srgbClr val="1249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480560" y="2743200"/>
            <a:ext cx="393192" cy="393192"/>
          </a:xfrm>
          <a:prstGeom prst="ellipse">
            <a:avLst/>
          </a:prstGeom>
          <a:solidFill>
            <a:srgbClr val="1249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834640" y="4023360"/>
            <a:ext cx="393192" cy="393192"/>
          </a:xfrm>
          <a:prstGeom prst="ellipse">
            <a:avLst/>
          </a:prstGeom>
          <a:solidFill>
            <a:srgbClr val="1249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88720" y="4114800"/>
            <a:ext cx="393192" cy="393192"/>
          </a:xfrm>
          <a:prstGeom prst="ellipse">
            <a:avLst/>
          </a:prstGeom>
          <a:solidFill>
            <a:srgbClr val="1249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480560" y="4114800"/>
            <a:ext cx="393192" cy="393192"/>
          </a:xfrm>
          <a:prstGeom prst="ellipse">
            <a:avLst/>
          </a:prstGeom>
          <a:solidFill>
            <a:srgbClr val="1249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806440" y="1938528"/>
            <a:ext cx="5532120" cy="3611880"/>
          </a:xfrm>
          <a:prstGeom prst="roundRect">
            <a:avLst/>
          </a:prstGeom>
          <a:solidFill>
            <a:srgbClr val="E5F3E9"/>
          </a:solidFill>
          <a:ln>
            <a:solidFill>
              <a:srgbClr val="C5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0" y="2048256"/>
            <a:ext cx="5257800" cy="5212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12496F"/>
                </a:solidFill>
                <a:latin typeface="Aptos"/>
              </a:defRPr>
            </a:pPr>
            <a:r>
              <a:t>Ejemplo de aplicación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25896" y="2679192"/>
            <a:ext cx="5093208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0">
                <a:solidFill>
                  <a:srgbClr val="20262C"/>
                </a:solidFill>
                <a:latin typeface="Aptos"/>
              </a:defRPr>
            </a:pPr>
            <a:r>
              <a:t>Empresa con redes en estrella por departamento y enlaces redundantes entre sedes.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249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11556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Aptos"/>
              </a:defRPr>
            </a:pPr>
            <a:r>
              <a:t>14 · ¿Cómo elegir una topología?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04672"/>
            <a:ext cx="1088136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300" b="0">
                <a:solidFill>
                  <a:srgbClr val="12496F"/>
                </a:solidFill>
                <a:latin typeface="Aptos"/>
              </a:defRPr>
            </a:pPr>
            <a:r>
              <a:t>La elección exige equilibrar objetivos, riesgos y presupuesto.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080760"/>
            <a:ext cx="10927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0">
                <a:solidFill>
                  <a:srgbClr val="656E76"/>
                </a:solidFill>
                <a:latin typeface="Aptos"/>
              </a:defRPr>
            </a:pPr>
            <a:r>
              <a:t>No existe una topología mejor para todos los escenarios.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7784" y="1847088"/>
            <a:ext cx="3541775" cy="3767328"/>
          </a:xfrm>
          <a:prstGeom prst="roundRect">
            <a:avLst/>
          </a:prstGeom>
          <a:solidFill>
            <a:srgbClr val="E7F1F9"/>
          </a:solidFill>
          <a:ln>
            <a:solidFill>
              <a:srgbClr val="C5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1956816"/>
            <a:ext cx="3267456" cy="5212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12496F"/>
                </a:solidFill>
                <a:latin typeface="Aptos"/>
              </a:defRPr>
            </a:pPr>
            <a:r>
              <a:t>COSTE Y ESCALA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587752"/>
            <a:ext cx="3102864" cy="2898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0">
                <a:solidFill>
                  <a:srgbClr val="20262C"/>
                </a:solidFill>
                <a:latin typeface="Aptos"/>
              </a:defRPr>
            </a:pPr>
            <a:r>
              <a:t>Cableado, equipos, mantenimiento y facilidad de ampliar la red.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9016" y="1847088"/>
            <a:ext cx="3541775" cy="3767328"/>
          </a:xfrm>
          <a:prstGeom prst="roundRect">
            <a:avLst/>
          </a:prstGeom>
          <a:solidFill>
            <a:srgbClr val="FFF1D6"/>
          </a:solidFill>
          <a:ln>
            <a:solidFill>
              <a:srgbClr val="C5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56176" y="1956816"/>
            <a:ext cx="3267456" cy="5212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12496F"/>
                </a:solidFill>
                <a:latin typeface="Aptos"/>
              </a:defRPr>
            </a:pPr>
            <a:r>
              <a:t>DISPONIBILIDAD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8472" y="2587752"/>
            <a:ext cx="3102864" cy="2898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0">
                <a:solidFill>
                  <a:srgbClr val="20262C"/>
                </a:solidFill>
                <a:latin typeface="Aptos"/>
              </a:defRPr>
            </a:pPr>
            <a:r>
              <a:t>¿Qué ocurre si falla un nodo, un enlace o el equipo central?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80247" y="1847088"/>
            <a:ext cx="3541775" cy="3767328"/>
          </a:xfrm>
          <a:prstGeom prst="roundRect">
            <a:avLst/>
          </a:prstGeom>
          <a:solidFill>
            <a:srgbClr val="FBE5E7"/>
          </a:solidFill>
          <a:ln>
            <a:solidFill>
              <a:srgbClr val="C5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17408" y="1956816"/>
            <a:ext cx="3267456" cy="5212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12496F"/>
                </a:solidFill>
                <a:latin typeface="Aptos"/>
              </a:defRPr>
            </a:pPr>
            <a:r>
              <a:t>USO Y GESTIÓN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99704" y="2587752"/>
            <a:ext cx="3102864" cy="2898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0">
                <a:solidFill>
                  <a:srgbClr val="20262C"/>
                </a:solidFill>
                <a:latin typeface="Aptos"/>
              </a:defRPr>
            </a:pPr>
            <a:r>
              <a:t>Número de usuarios, organización, rendimiento y facilidad para diagnosticar.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249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11556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Aptos"/>
              </a:defRPr>
            </a:pPr>
            <a:r>
              <a:t>15 · Comparación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04672"/>
            <a:ext cx="1088136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300" b="0">
                <a:solidFill>
                  <a:srgbClr val="12496F"/>
                </a:solidFill>
                <a:latin typeface="Aptos"/>
              </a:defRPr>
            </a:pPr>
            <a:r>
              <a:t>Una red debe justificarse por su contexto, no solo por su forma.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080760"/>
            <a:ext cx="10927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0">
                <a:solidFill>
                  <a:srgbClr val="656E76"/>
                </a:solidFill>
                <a:latin typeface="Aptos"/>
              </a:defRPr>
            </a:pPr>
            <a:r>
              <a:t>Razonar ventajas e inconvenientes es más útil que memorizar un dibujo.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7784" y="1847088"/>
            <a:ext cx="5422392" cy="3767328"/>
          </a:xfrm>
          <a:prstGeom prst="roundRect">
            <a:avLst/>
          </a:prstGeom>
          <a:solidFill>
            <a:srgbClr val="E7F1F9"/>
          </a:solidFill>
          <a:ln>
            <a:solidFill>
              <a:srgbClr val="C5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1956816"/>
            <a:ext cx="5148072" cy="5212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12496F"/>
                </a:solidFill>
                <a:latin typeface="Aptos"/>
              </a:defRPr>
            </a:pPr>
            <a:r>
              <a:t>AULA DE 25 EQUIPOS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587752"/>
            <a:ext cx="4983479" cy="2898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Recuerda: el switch conecta los equipos de la LAN.</a:t>
            </a:r>
          </a:p>
          <a:p/>
          <a:p>
            <a:r>
              <a:t>¿Por qué elegir una estrella?</a:t>
            </a:r>
          </a:p>
          <a:p/>
          <a:p>
            <a:r>
              <a:t>¿Qué ocurre si falla un cable? ¿Y el switch?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1847088"/>
            <a:ext cx="5422392" cy="3767328"/>
          </a:xfrm>
          <a:prstGeom prst="roundRect">
            <a:avLst/>
          </a:prstGeom>
          <a:solidFill>
            <a:srgbClr val="FFF1D6"/>
          </a:solidFill>
          <a:ln>
            <a:solidFill>
              <a:srgbClr val="C5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36792" y="1956816"/>
            <a:ext cx="5148072" cy="5212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12496F"/>
                </a:solidFill>
                <a:latin typeface="Aptos"/>
              </a:defRPr>
            </a:pPr>
            <a:r>
              <a:t>CENTRO CON VARIAS PLANTAS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9088" y="2587752"/>
            <a:ext cx="4983479" cy="2898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Un switch puede conectar equipos de cada planta.</a:t>
            </a:r>
          </a:p>
          <a:p/>
          <a:p>
            <a:r>
              <a:t>¿Qué aporta unir varios switches por niveles?</a:t>
            </a:r>
          </a:p>
          <a:p/>
          <a:p>
            <a:r>
              <a:t>¿Qué enlace sería crítico?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249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11556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Aptos"/>
              </a:defRPr>
            </a:pPr>
            <a:r>
              <a:t>16 · Repaso para la actividad conjunta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04672"/>
            <a:ext cx="1088136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300" b="0">
                <a:solidFill>
                  <a:srgbClr val="12496F"/>
                </a:solidFill>
                <a:latin typeface="Aptos"/>
              </a:defRPr>
            </a:pPr>
            <a:r>
              <a:t>Relaciona alcance, medio, topología y necesidades reales.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080760"/>
            <a:ext cx="10927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0">
                <a:solidFill>
                  <a:srgbClr val="656E76"/>
                </a:solidFill>
                <a:latin typeface="Aptos"/>
              </a:defRPr>
            </a:pPr>
            <a:r>
              <a:t>Continuamos en Redes 2/4: switch, router, AP, cableado y conexiones.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7784" y="1847088"/>
            <a:ext cx="3541775" cy="3767328"/>
          </a:xfrm>
          <a:prstGeom prst="roundRect">
            <a:avLst/>
          </a:prstGeom>
          <a:solidFill>
            <a:srgbClr val="E7F1F9"/>
          </a:solidFill>
          <a:ln>
            <a:solidFill>
              <a:srgbClr val="C5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1956816"/>
            <a:ext cx="3267456" cy="5212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12496F"/>
                </a:solidFill>
                <a:latin typeface="Aptos"/>
              </a:defRPr>
            </a:pPr>
            <a:r>
              <a:t>IDENTIFICAR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587752"/>
            <a:ext cx="3102864" cy="2898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0">
                <a:solidFill>
                  <a:srgbClr val="20262C"/>
                </a:solidFill>
                <a:latin typeface="Aptos"/>
              </a:defRPr>
            </a:pPr>
            <a:r>
              <a:t>PAN, LAN, WLAN, WAN; cobre, fibra, Wi-Fi y Bluetooth.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9016" y="1847088"/>
            <a:ext cx="3541775" cy="3767328"/>
          </a:xfrm>
          <a:prstGeom prst="roundRect">
            <a:avLst/>
          </a:prstGeom>
          <a:solidFill>
            <a:srgbClr val="FFF1D6"/>
          </a:solidFill>
          <a:ln>
            <a:solidFill>
              <a:srgbClr val="C5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56176" y="1956816"/>
            <a:ext cx="3267456" cy="5212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12496F"/>
                </a:solidFill>
                <a:latin typeface="Aptos"/>
              </a:defRPr>
            </a:pPr>
            <a:r>
              <a:t>INTERPRETAR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8472" y="2587752"/>
            <a:ext cx="3102864" cy="2898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0">
                <a:solidFill>
                  <a:srgbClr val="20262C"/>
                </a:solidFill>
                <a:latin typeface="Aptos"/>
              </a:defRPr>
            </a:pPr>
            <a:r>
              <a:t>Punto a punto, bus, anillo, estrella, árbol, malla e híbrida.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80247" y="1847088"/>
            <a:ext cx="3541775" cy="3767328"/>
          </a:xfrm>
          <a:prstGeom prst="roundRect">
            <a:avLst/>
          </a:prstGeom>
          <a:solidFill>
            <a:srgbClr val="FBE5E7"/>
          </a:solidFill>
          <a:ln>
            <a:solidFill>
              <a:srgbClr val="C5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17408" y="1956816"/>
            <a:ext cx="3267456" cy="5212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12496F"/>
                </a:solidFill>
                <a:latin typeface="Aptos"/>
              </a:defRPr>
            </a:pPr>
            <a:r>
              <a:t>JUSTIFICAR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99704" y="2587752"/>
            <a:ext cx="3102864" cy="2898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0">
                <a:solidFill>
                  <a:srgbClr val="20262C"/>
                </a:solidFill>
                <a:latin typeface="Aptos"/>
              </a:defRPr>
            </a:pPr>
            <a:r>
              <a:t>Seleccionar una estructura según coste, fallos, escalabilidad y uso.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249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11556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Aptos"/>
              </a:defRPr>
            </a:pPr>
            <a:r>
              <a:t>17 · Fuente y ampliación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04672"/>
            <a:ext cx="1088136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300" b="0">
                <a:solidFill>
                  <a:srgbClr val="12496F"/>
                </a:solidFill>
                <a:latin typeface="Aptos"/>
              </a:defRPr>
            </a:pPr>
            <a:r>
              <a:t>Lectura de referencia para ventajas, inconvenientes y casos de uso.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057400"/>
            <a:ext cx="100584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300" b="1">
                <a:solidFill>
                  <a:srgbClr val="12496F"/>
                </a:solidFill>
                <a:latin typeface="Aptos"/>
              </a:defRPr>
            </a:pPr>
            <a:r>
              <a:t>Cibersafety (2025): «Topología de red: tipos, ventajas y cuál elegir para tu infraestructura».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383280"/>
            <a:ext cx="100584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0">
                <a:solidFill>
                  <a:srgbClr val="2070B5"/>
                </a:solidFill>
                <a:latin typeface="Aptos"/>
              </a:defRPr>
            </a:pPr>
            <a:r>
              <a:t>https://cibersafety.com/topologia-red-tipos-ventajas-cual-elegir/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4663440"/>
            <a:ext cx="97840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0">
                <a:solidFill>
                  <a:srgbClr val="656E76"/>
                </a:solidFill>
                <a:latin typeface="Aptos"/>
              </a:defRPr>
            </a:pPr>
            <a:r>
              <a:t>Material adaptado y ampliado para SIINF · 1.º DAW.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